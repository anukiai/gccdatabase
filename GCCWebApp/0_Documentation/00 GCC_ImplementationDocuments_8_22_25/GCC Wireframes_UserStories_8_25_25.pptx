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omments/modernComment_16F_38404EE6.xml" ContentType="application/vnd.ms-powerpoint.comment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omments/modernComment_1F2_23F17660.xml" ContentType="application/vnd.ms-powerpoint.comment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omments/modernComment_1D2_C28FF9C0.xml" ContentType="application/vnd.ms-powerpoint.comment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omments/modernComment_192_92FE78C8.xml" ContentType="application/vnd.ms-powerpoint.comment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omments/modernComment_1DE_B08F2197.xml" ContentType="application/vnd.ms-powerpoint.comments+xml"/>
  <Override PartName="/ppt/notesSlides/notesSlide45.xml" ContentType="application/vnd.openxmlformats-officedocument.presentationml.notesSlide+xml"/>
  <Override PartName="/ppt/comments/modernComment_193_FBE5591B.xml" ContentType="application/vnd.ms-powerpoint.comments+xml"/>
  <Override PartName="/ppt/notesSlides/notesSlide46.xml" ContentType="application/vnd.openxmlformats-officedocument.presentationml.notesSlide+xml"/>
  <Override PartName="/ppt/comments/modernComment_18B_7907B08A.xml" ContentType="application/vnd.ms-powerpoint.comments+xml"/>
  <Override PartName="/ppt/notesSlides/notesSlide47.xml" ContentType="application/vnd.openxmlformats-officedocument.presentationml.notesSlide+xml"/>
  <Override PartName="/ppt/comments/modernComment_196_E8C294A1.xml" ContentType="application/vnd.ms-powerpoint.comments+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comments/modernComment_1E6_B49544B.xml" ContentType="application/vnd.ms-powerpoint.comments+xml"/>
  <Override PartName="/ppt/notesSlides/notesSlide56.xml" ContentType="application/vnd.openxmlformats-officedocument.presentationml.notesSlide+xml"/>
  <Override PartName="/ppt/comments/modernComment_17D_D953812.xml" ContentType="application/vnd.ms-powerpoint.comments+xml"/>
  <Override PartName="/ppt/notesSlides/notesSlide57.xml" ContentType="application/vnd.openxmlformats-officedocument.presentationml.notesSlide+xml"/>
  <Override PartName="/ppt/comments/modernComment_1FA_699C0889.xml" ContentType="application/vnd.ms-powerpoint.comments+xml"/>
  <Override PartName="/ppt/notesSlides/notesSlide58.xml" ContentType="application/vnd.openxmlformats-officedocument.presentationml.notesSlide+xml"/>
  <Override PartName="/ppt/comments/modernComment_1F8_FFED70DE.xml" ContentType="application/vnd.ms-powerpoint.comments+xml"/>
  <Override PartName="/ppt/notesSlides/notesSlide59.xml" ContentType="application/vnd.openxmlformats-officedocument.presentationml.notesSlide+xml"/>
  <Override PartName="/ppt/comments/modernComment_1F7_F2AEEA55.xml" ContentType="application/vnd.ms-powerpoint.comments+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comments/modernComment_1A1_171560A0.xml" ContentType="application/vnd.ms-powerpoint.comments+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1"/>
  </p:notesMasterIdLst>
  <p:sldIdLst>
    <p:sldId id="353" r:id="rId2"/>
    <p:sldId id="354" r:id="rId3"/>
    <p:sldId id="375" r:id="rId4"/>
    <p:sldId id="356" r:id="rId5"/>
    <p:sldId id="369" r:id="rId6"/>
    <p:sldId id="370" r:id="rId7"/>
    <p:sldId id="371" r:id="rId8"/>
    <p:sldId id="372" r:id="rId9"/>
    <p:sldId id="451" r:id="rId10"/>
    <p:sldId id="452" r:id="rId11"/>
    <p:sldId id="373" r:id="rId12"/>
    <p:sldId id="374" r:id="rId13"/>
    <p:sldId id="368" r:id="rId14"/>
    <p:sldId id="362" r:id="rId15"/>
    <p:sldId id="422" r:id="rId16"/>
    <p:sldId id="502" r:id="rId17"/>
    <p:sldId id="470" r:id="rId18"/>
    <p:sldId id="454" r:id="rId19"/>
    <p:sldId id="455" r:id="rId20"/>
    <p:sldId id="456" r:id="rId21"/>
    <p:sldId id="457" r:id="rId22"/>
    <p:sldId id="458" r:id="rId23"/>
    <p:sldId id="459" r:id="rId24"/>
    <p:sldId id="460" r:id="rId25"/>
    <p:sldId id="367" r:id="rId26"/>
    <p:sldId id="499" r:id="rId27"/>
    <p:sldId id="515" r:id="rId28"/>
    <p:sldId id="509" r:id="rId29"/>
    <p:sldId id="498" r:id="rId30"/>
    <p:sldId id="399" r:id="rId31"/>
    <p:sldId id="453" r:id="rId32"/>
    <p:sldId id="497" r:id="rId33"/>
    <p:sldId id="378" r:id="rId34"/>
    <p:sldId id="517" r:id="rId35"/>
    <p:sldId id="518" r:id="rId36"/>
    <p:sldId id="516" r:id="rId37"/>
    <p:sldId id="465" r:id="rId38"/>
    <p:sldId id="526" r:id="rId39"/>
    <p:sldId id="527" r:id="rId40"/>
    <p:sldId id="466" r:id="rId41"/>
    <p:sldId id="396" r:id="rId42"/>
    <p:sldId id="519" r:id="rId43"/>
    <p:sldId id="405" r:id="rId44"/>
    <p:sldId id="379" r:id="rId45"/>
    <p:sldId id="528" r:id="rId46"/>
    <p:sldId id="529" r:id="rId47"/>
    <p:sldId id="402" r:id="rId48"/>
    <p:sldId id="394" r:id="rId49"/>
    <p:sldId id="478" r:id="rId50"/>
    <p:sldId id="403" r:id="rId51"/>
    <p:sldId id="395" r:id="rId52"/>
    <p:sldId id="406" r:id="rId53"/>
    <p:sldId id="471" r:id="rId54"/>
    <p:sldId id="513" r:id="rId55"/>
    <p:sldId id="482" r:id="rId56"/>
    <p:sldId id="514" r:id="rId57"/>
    <p:sldId id="525" r:id="rId58"/>
    <p:sldId id="472" r:id="rId59"/>
    <p:sldId id="384" r:id="rId60"/>
    <p:sldId id="486" r:id="rId61"/>
    <p:sldId id="381" r:id="rId62"/>
    <p:sldId id="506" r:id="rId63"/>
    <p:sldId id="504" r:id="rId64"/>
    <p:sldId id="503" r:id="rId65"/>
    <p:sldId id="473" r:id="rId66"/>
    <p:sldId id="474" r:id="rId67"/>
    <p:sldId id="475" r:id="rId68"/>
    <p:sldId id="476" r:id="rId69"/>
    <p:sldId id="505" r:id="rId70"/>
    <p:sldId id="386" r:id="rId71"/>
    <p:sldId id="521" r:id="rId72"/>
    <p:sldId id="520" r:id="rId73"/>
    <p:sldId id="388" r:id="rId74"/>
    <p:sldId id="524" r:id="rId75"/>
    <p:sldId id="510" r:id="rId76"/>
    <p:sldId id="523" r:id="rId77"/>
    <p:sldId id="508" r:id="rId78"/>
    <p:sldId id="522" r:id="rId79"/>
    <p:sldId id="512" r:id="rId80"/>
    <p:sldId id="511" r:id="rId81"/>
    <p:sldId id="484" r:id="rId82"/>
    <p:sldId id="417" r:id="rId83"/>
    <p:sldId id="485" r:id="rId84"/>
    <p:sldId id="507" r:id="rId85"/>
    <p:sldId id="540" r:id="rId86"/>
    <p:sldId id="541" r:id="rId87"/>
    <p:sldId id="542" r:id="rId88"/>
    <p:sldId id="543" r:id="rId89"/>
    <p:sldId id="544" r:id="rId90"/>
    <p:sldId id="530" r:id="rId91"/>
    <p:sldId id="531" r:id="rId92"/>
    <p:sldId id="532" r:id="rId93"/>
    <p:sldId id="533" r:id="rId94"/>
    <p:sldId id="534" r:id="rId95"/>
    <p:sldId id="535" r:id="rId96"/>
    <p:sldId id="536" r:id="rId97"/>
    <p:sldId id="537" r:id="rId98"/>
    <p:sldId id="538" r:id="rId99"/>
    <p:sldId id="539" r:id="rId100"/>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ireframe Mockups" id="{E9E2EBA9-E2D7-432C-9B28-B1BFC88819B1}">
          <p14:sldIdLst>
            <p14:sldId id="353"/>
            <p14:sldId id="354"/>
            <p14:sldId id="375"/>
            <p14:sldId id="356"/>
            <p14:sldId id="369"/>
            <p14:sldId id="370"/>
            <p14:sldId id="371"/>
            <p14:sldId id="372"/>
            <p14:sldId id="451"/>
            <p14:sldId id="452"/>
            <p14:sldId id="373"/>
            <p14:sldId id="374"/>
            <p14:sldId id="368"/>
            <p14:sldId id="362"/>
            <p14:sldId id="422"/>
            <p14:sldId id="502"/>
            <p14:sldId id="470"/>
            <p14:sldId id="454"/>
            <p14:sldId id="455"/>
            <p14:sldId id="456"/>
            <p14:sldId id="457"/>
            <p14:sldId id="458"/>
            <p14:sldId id="459"/>
            <p14:sldId id="460"/>
            <p14:sldId id="367"/>
            <p14:sldId id="499"/>
            <p14:sldId id="515"/>
            <p14:sldId id="509"/>
            <p14:sldId id="498"/>
            <p14:sldId id="399"/>
            <p14:sldId id="453"/>
            <p14:sldId id="497"/>
            <p14:sldId id="378"/>
            <p14:sldId id="517"/>
            <p14:sldId id="518"/>
            <p14:sldId id="516"/>
            <p14:sldId id="465"/>
            <p14:sldId id="526"/>
            <p14:sldId id="527"/>
            <p14:sldId id="466"/>
            <p14:sldId id="396"/>
            <p14:sldId id="519"/>
            <p14:sldId id="405"/>
            <p14:sldId id="379"/>
            <p14:sldId id="528"/>
            <p14:sldId id="529"/>
            <p14:sldId id="402"/>
            <p14:sldId id="394"/>
            <p14:sldId id="478"/>
            <p14:sldId id="403"/>
            <p14:sldId id="395"/>
            <p14:sldId id="406"/>
            <p14:sldId id="471"/>
            <p14:sldId id="513"/>
            <p14:sldId id="482"/>
            <p14:sldId id="514"/>
            <p14:sldId id="525"/>
            <p14:sldId id="472"/>
            <p14:sldId id="384"/>
            <p14:sldId id="486"/>
            <p14:sldId id="381"/>
            <p14:sldId id="506"/>
            <p14:sldId id="504"/>
            <p14:sldId id="503"/>
            <p14:sldId id="473"/>
            <p14:sldId id="474"/>
            <p14:sldId id="475"/>
            <p14:sldId id="476"/>
            <p14:sldId id="505"/>
            <p14:sldId id="386"/>
            <p14:sldId id="521"/>
            <p14:sldId id="520"/>
            <p14:sldId id="388"/>
            <p14:sldId id="524"/>
            <p14:sldId id="510"/>
            <p14:sldId id="523"/>
            <p14:sldId id="508"/>
            <p14:sldId id="522"/>
            <p14:sldId id="512"/>
            <p14:sldId id="511"/>
            <p14:sldId id="484"/>
            <p14:sldId id="417"/>
            <p14:sldId id="485"/>
            <p14:sldId id="507"/>
          </p14:sldIdLst>
        </p14:section>
        <p14:section name="Data Migration" id="{4005AB65-419A-4E3F-A978-EA20011A5DC7}">
          <p14:sldIdLst>
            <p14:sldId id="540"/>
            <p14:sldId id="541"/>
            <p14:sldId id="542"/>
            <p14:sldId id="543"/>
            <p14:sldId id="544"/>
          </p14:sldIdLst>
        </p14:section>
        <p14:section name="Testing Observations" id="{0846AB9F-128F-4A0B-8587-F95DD01DEDC7}">
          <p14:sldIdLst>
            <p14:sldId id="530"/>
            <p14:sldId id="531"/>
            <p14:sldId id="532"/>
            <p14:sldId id="533"/>
            <p14:sldId id="534"/>
            <p14:sldId id="535"/>
            <p14:sldId id="536"/>
            <p14:sldId id="537"/>
            <p14:sldId id="538"/>
            <p14:sldId id="539"/>
          </p14:sldIdLst>
        </p14:section>
        <p14:section name="SUT" id="{672233F3-5F28-4F76-958A-636BC47ADDA8}">
          <p14:sldIdLst/>
        </p14:section>
        <p14:section name="UAT" id="{D2416A28-E184-4BA4-A1E0-159777A47942}">
          <p14:sldIdLst/>
        </p14:section>
        <p14:section name="Deployment" id="{86A4A7EF-59B7-467E-83BD-981A7C8CFCB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892B05B-E117-52AD-3F68-AE601404E83B}" name="Shawn West" initials="SW" userId="S::Swest@anukiconsulting.com::bcaf3c6b-bfc1-40d2-81dc-c3fa941236d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FCFDEB"/>
    <a:srgbClr val="FFEDB3"/>
    <a:srgbClr val="DEECEF"/>
    <a:srgbClr val="FCE6E4"/>
    <a:srgbClr val="FDECEA"/>
    <a:srgbClr val="FFF8E1"/>
    <a:srgbClr val="D0F0C0"/>
    <a:srgbClr val="4A66AC"/>
    <a:srgbClr val="5AA2A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10AE41-4A6D-495C-94D7-0ADA35C82824}" v="2" dt="2025-09-18T13:37:47.1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076" autoAdjust="0"/>
    <p:restoredTop sz="96247" autoAdjust="0"/>
  </p:normalViewPr>
  <p:slideViewPr>
    <p:cSldViewPr snapToGrid="0">
      <p:cViewPr varScale="1">
        <p:scale>
          <a:sx n="99" d="100"/>
          <a:sy n="99" d="100"/>
        </p:scale>
        <p:origin x="1176" y="30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microsoft.com/office/2015/10/relationships/revisionInfo" Target="revisionInfo.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108" Type="http://schemas.microsoft.com/office/2018/10/relationships/authors" Targe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wn West" userId="bcaf3c6b-bfc1-40d2-81dc-c3fa941236d7" providerId="ADAL" clId="{467551A2-991A-4358-A154-407342822574}"/>
    <pc:docChg chg="custSel addSld delSld modSld sldOrd addSection modSection">
      <pc:chgData name="Shawn West" userId="bcaf3c6b-bfc1-40d2-81dc-c3fa941236d7" providerId="ADAL" clId="{467551A2-991A-4358-A154-407342822574}" dt="2025-09-18T13:38:02.315" v="34" actId="47"/>
      <pc:docMkLst>
        <pc:docMk/>
      </pc:docMkLst>
      <pc:sldChg chg="modSp add mod">
        <pc:chgData name="Shawn West" userId="bcaf3c6b-bfc1-40d2-81dc-c3fa941236d7" providerId="ADAL" clId="{467551A2-991A-4358-A154-407342822574}" dt="2025-09-08T16:27:34.500" v="3" actId="20577"/>
        <pc:sldMkLst>
          <pc:docMk/>
          <pc:sldMk cId="1467243663" sldId="543"/>
        </pc:sldMkLst>
        <pc:spChg chg="mod">
          <ac:chgData name="Shawn West" userId="bcaf3c6b-bfc1-40d2-81dc-c3fa941236d7" providerId="ADAL" clId="{467551A2-991A-4358-A154-407342822574}" dt="2025-09-08T16:27:34.500" v="3" actId="20577"/>
          <ac:spMkLst>
            <pc:docMk/>
            <pc:sldMk cId="1467243663" sldId="543"/>
            <ac:spMk id="2" creationId="{5B244E0D-7886-C641-9345-9A78D792A00C}"/>
          </ac:spMkLst>
        </pc:spChg>
      </pc:sldChg>
      <pc:sldChg chg="modSp add mod">
        <pc:chgData name="Shawn West" userId="bcaf3c6b-bfc1-40d2-81dc-c3fa941236d7" providerId="ADAL" clId="{467551A2-991A-4358-A154-407342822574}" dt="2025-09-08T16:43:33.847" v="23" actId="20577"/>
        <pc:sldMkLst>
          <pc:docMk/>
          <pc:sldMk cId="626801048" sldId="544"/>
        </pc:sldMkLst>
        <pc:spChg chg="mod">
          <ac:chgData name="Shawn West" userId="bcaf3c6b-bfc1-40d2-81dc-c3fa941236d7" providerId="ADAL" clId="{467551A2-991A-4358-A154-407342822574}" dt="2025-09-08T16:43:33.847" v="23" actId="20577"/>
          <ac:spMkLst>
            <pc:docMk/>
            <pc:sldMk cId="626801048" sldId="544"/>
            <ac:spMk id="2" creationId="{7F9CE76A-7A44-5F17-A15E-29DDCBB0470C}"/>
          </ac:spMkLst>
        </pc:spChg>
      </pc:sldChg>
      <pc:sldChg chg="delSp add del mod">
        <pc:chgData name="Shawn West" userId="bcaf3c6b-bfc1-40d2-81dc-c3fa941236d7" providerId="ADAL" clId="{467551A2-991A-4358-A154-407342822574}" dt="2025-09-18T13:38:02.315" v="34" actId="47"/>
        <pc:sldMkLst>
          <pc:docMk/>
          <pc:sldMk cId="3785806545" sldId="545"/>
        </pc:sldMkLst>
        <pc:picChg chg="del">
          <ac:chgData name="Shawn West" userId="bcaf3c6b-bfc1-40d2-81dc-c3fa941236d7" providerId="ADAL" clId="{467551A2-991A-4358-A154-407342822574}" dt="2025-09-18T13:37:52.869" v="33" actId="478"/>
          <ac:picMkLst>
            <pc:docMk/>
            <pc:sldMk cId="3785806545" sldId="545"/>
            <ac:picMk id="10" creationId="{38028BA4-6BC4-AE46-918E-8100E40049B6}"/>
          </ac:picMkLst>
        </pc:picChg>
      </pc:sldChg>
    </pc:docChg>
  </pc:docChgLst>
  <pc:docChgLst>
    <pc:chgData name="Shawn West" userId="bcaf3c6b-bfc1-40d2-81dc-c3fa941236d7" providerId="ADAL" clId="{596607C7-6642-4BEE-859A-36CD3FB3046B}"/>
    <pc:docChg chg="undo custSel addSld delSld modSld sldOrd addSection delSection modSection">
      <pc:chgData name="Shawn West" userId="bcaf3c6b-bfc1-40d2-81dc-c3fa941236d7" providerId="ADAL" clId="{596607C7-6642-4BEE-859A-36CD3FB3046B}" dt="2025-08-12T16:57:09.286" v="2633" actId="2890"/>
      <pc:docMkLst>
        <pc:docMk/>
      </pc:docMkLst>
      <pc:sldChg chg="modNotesTx">
        <pc:chgData name="Shawn West" userId="bcaf3c6b-bfc1-40d2-81dc-c3fa941236d7" providerId="ADAL" clId="{596607C7-6642-4BEE-859A-36CD3FB3046B}" dt="2025-07-08T23:18:56.383" v="0" actId="6549"/>
        <pc:sldMkLst>
          <pc:docMk/>
          <pc:sldMk cId="1482514581" sldId="354"/>
        </pc:sldMkLst>
      </pc:sldChg>
      <pc:sldChg chg="modNotesTx">
        <pc:chgData name="Shawn West" userId="bcaf3c6b-bfc1-40d2-81dc-c3fa941236d7" providerId="ADAL" clId="{596607C7-6642-4BEE-859A-36CD3FB3046B}" dt="2025-07-08T23:19:09.219" v="1" actId="6549"/>
        <pc:sldMkLst>
          <pc:docMk/>
          <pc:sldMk cId="3746237643" sldId="356"/>
        </pc:sldMkLst>
      </pc:sldChg>
      <pc:sldChg chg="modSp mod">
        <pc:chgData name="Shawn West" userId="bcaf3c6b-bfc1-40d2-81dc-c3fa941236d7" providerId="ADAL" clId="{596607C7-6642-4BEE-859A-36CD3FB3046B}" dt="2025-07-08T23:59:01.631" v="113" actId="948"/>
        <pc:sldMkLst>
          <pc:docMk/>
          <pc:sldMk cId="1811411981" sldId="362"/>
        </pc:sldMkLst>
      </pc:sldChg>
      <pc:sldChg chg="modNotesTx">
        <pc:chgData name="Shawn West" userId="bcaf3c6b-bfc1-40d2-81dc-c3fa941236d7" providerId="ADAL" clId="{596607C7-6642-4BEE-859A-36CD3FB3046B}" dt="2025-07-08T23:19:14.071" v="2" actId="6549"/>
        <pc:sldMkLst>
          <pc:docMk/>
          <pc:sldMk cId="2383232296" sldId="369"/>
        </pc:sldMkLst>
      </pc:sldChg>
      <pc:sldChg chg="modNotesTx">
        <pc:chgData name="Shawn West" userId="bcaf3c6b-bfc1-40d2-81dc-c3fa941236d7" providerId="ADAL" clId="{596607C7-6642-4BEE-859A-36CD3FB3046B}" dt="2025-07-08T23:19:17.749" v="3" actId="6549"/>
        <pc:sldMkLst>
          <pc:docMk/>
          <pc:sldMk cId="4252886365" sldId="370"/>
        </pc:sldMkLst>
      </pc:sldChg>
      <pc:sldChg chg="modNotesTx">
        <pc:chgData name="Shawn West" userId="bcaf3c6b-bfc1-40d2-81dc-c3fa941236d7" providerId="ADAL" clId="{596607C7-6642-4BEE-859A-36CD3FB3046B}" dt="2025-07-08T23:20:30.933" v="4" actId="6549"/>
        <pc:sldMkLst>
          <pc:docMk/>
          <pc:sldMk cId="3457284407" sldId="371"/>
        </pc:sldMkLst>
      </pc:sldChg>
      <pc:sldChg chg="modNotesTx">
        <pc:chgData name="Shawn West" userId="bcaf3c6b-bfc1-40d2-81dc-c3fa941236d7" providerId="ADAL" clId="{596607C7-6642-4BEE-859A-36CD3FB3046B}" dt="2025-07-08T23:21:08.105" v="6" actId="6549"/>
        <pc:sldMkLst>
          <pc:docMk/>
          <pc:sldMk cId="470559758" sldId="372"/>
        </pc:sldMkLst>
      </pc:sldChg>
      <pc:sldChg chg="modNotesTx">
        <pc:chgData name="Shawn West" userId="bcaf3c6b-bfc1-40d2-81dc-c3fa941236d7" providerId="ADAL" clId="{596607C7-6642-4BEE-859A-36CD3FB3046B}" dt="2025-07-08T23:56:27.287" v="98" actId="6549"/>
        <pc:sldMkLst>
          <pc:docMk/>
          <pc:sldMk cId="2700032176" sldId="374"/>
        </pc:sldMkLst>
      </pc:sldChg>
      <pc:sldChg chg="addSp delSp modSp mod">
        <pc:chgData name="Shawn West" userId="bcaf3c6b-bfc1-40d2-81dc-c3fa941236d7" providerId="ADAL" clId="{596607C7-6642-4BEE-859A-36CD3FB3046B}" dt="2025-07-14T13:46:30.354" v="1863" actId="20577"/>
        <pc:sldMkLst>
          <pc:docMk/>
          <pc:sldMk cId="1274692601" sldId="378"/>
        </pc:sldMkLst>
      </pc:sldChg>
      <pc:sldChg chg="addSp delSp modSp mod">
        <pc:chgData name="Shawn West" userId="bcaf3c6b-bfc1-40d2-81dc-c3fa941236d7" providerId="ADAL" clId="{596607C7-6642-4BEE-859A-36CD3FB3046B}" dt="2025-07-16T23:17:21.766" v="2568" actId="14100"/>
        <pc:sldMkLst>
          <pc:docMk/>
          <pc:sldMk cId="1772971190" sldId="379"/>
        </pc:sldMkLst>
      </pc:sldChg>
      <pc:sldChg chg="addSp delSp modSp mod">
        <pc:chgData name="Shawn West" userId="bcaf3c6b-bfc1-40d2-81dc-c3fa941236d7" providerId="ADAL" clId="{596607C7-6642-4BEE-859A-36CD3FB3046B}" dt="2025-07-15T17:49:35.652" v="2255" actId="1076"/>
        <pc:sldMkLst>
          <pc:docMk/>
          <pc:sldMk cId="227883026" sldId="381"/>
        </pc:sldMkLst>
      </pc:sldChg>
      <pc:sldChg chg="del ord">
        <pc:chgData name="Shawn West" userId="bcaf3c6b-bfc1-40d2-81dc-c3fa941236d7" providerId="ADAL" clId="{596607C7-6642-4BEE-859A-36CD3FB3046B}" dt="2025-07-15T17:56:05.366" v="2297" actId="47"/>
        <pc:sldMkLst>
          <pc:docMk/>
          <pc:sldMk cId="3879008643" sldId="383"/>
        </pc:sldMkLst>
      </pc:sldChg>
      <pc:sldChg chg="addSp delSp modSp mod">
        <pc:chgData name="Shawn West" userId="bcaf3c6b-bfc1-40d2-81dc-c3fa941236d7" providerId="ADAL" clId="{596607C7-6642-4BEE-859A-36CD3FB3046B}" dt="2025-07-15T16:12:56.170" v="2248" actId="478"/>
        <pc:sldMkLst>
          <pc:docMk/>
          <pc:sldMk cId="3061614695" sldId="386"/>
        </pc:sldMkLst>
      </pc:sldChg>
      <pc:sldChg chg="addSp delSp modSp mod">
        <pc:chgData name="Shawn West" userId="bcaf3c6b-bfc1-40d2-81dc-c3fa941236d7" providerId="ADAL" clId="{596607C7-6642-4BEE-859A-36CD3FB3046B}" dt="2025-07-15T11:28:27.155" v="2191" actId="478"/>
        <pc:sldMkLst>
          <pc:docMk/>
          <pc:sldMk cId="4016462383" sldId="388"/>
        </pc:sldMkLst>
      </pc:sldChg>
      <pc:sldChg chg="addSp delSp modSp mod">
        <pc:chgData name="Shawn West" userId="bcaf3c6b-bfc1-40d2-81dc-c3fa941236d7" providerId="ADAL" clId="{596607C7-6642-4BEE-859A-36CD3FB3046B}" dt="2025-07-16T23:44:29.845" v="2582"/>
        <pc:sldMkLst>
          <pc:docMk/>
          <pc:sldMk cId="2030547082" sldId="395"/>
        </pc:sldMkLst>
      </pc:sldChg>
      <pc:sldChg chg="addSp delSp modSp mod">
        <pc:chgData name="Shawn West" userId="bcaf3c6b-bfc1-40d2-81dc-c3fa941236d7" providerId="ADAL" clId="{596607C7-6642-4BEE-859A-36CD3FB3046B}" dt="2025-07-14T13:52:17.113" v="1901" actId="1076"/>
        <pc:sldMkLst>
          <pc:docMk/>
          <pc:sldMk cId="1152932816" sldId="396"/>
        </pc:sldMkLst>
      </pc:sldChg>
      <pc:sldChg chg="modSp mod">
        <pc:chgData name="Shawn West" userId="bcaf3c6b-bfc1-40d2-81dc-c3fa941236d7" providerId="ADAL" clId="{596607C7-6642-4BEE-859A-36CD3FB3046B}" dt="2025-07-16T22:40:18.016" v="2374" actId="14100"/>
        <pc:sldMkLst>
          <pc:docMk/>
          <pc:sldMk cId="2466150600" sldId="402"/>
        </pc:sldMkLst>
      </pc:sldChg>
      <pc:sldChg chg="modSp mod modCm">
        <pc:chgData name="Shawn West" userId="bcaf3c6b-bfc1-40d2-81dc-c3fa941236d7" providerId="ADAL" clId="{596607C7-6642-4BEE-859A-36CD3FB3046B}" dt="2025-07-15T17:59:52.416" v="2318" actId="20577"/>
        <pc:sldMkLst>
          <pc:docMk/>
          <pc:sldMk cId="4226111771" sldId="403"/>
        </pc:sldMkLst>
        <pc:extLst>
          <p:ext xmlns:p="http://schemas.openxmlformats.org/presentationml/2006/main" uri="{D6D511B9-2390-475A-947B-AFAB55BFBCF1}">
            <pc226:cmChg xmlns:pc226="http://schemas.microsoft.com/office/powerpoint/2022/06/main/command" chg="mod">
              <pc226:chgData name="Shawn West" userId="bcaf3c6b-bfc1-40d2-81dc-c3fa941236d7" providerId="ADAL" clId="{596607C7-6642-4BEE-859A-36CD3FB3046B}" dt="2025-07-15T17:59:52.416" v="2318" actId="20577"/>
              <pc2:cmMkLst xmlns:pc2="http://schemas.microsoft.com/office/powerpoint/2019/9/main/command">
                <pc:docMk/>
                <pc:sldMk cId="4226111771" sldId="403"/>
                <pc2:cmMk id="{5120BB2C-5A66-415A-9A94-4C8F5FD175E0}"/>
              </pc2:cmMkLst>
            </pc226:cmChg>
          </p:ext>
        </pc:extLst>
      </pc:sldChg>
      <pc:sldChg chg="addSp delSp modSp mod modNotesTx">
        <pc:chgData name="Shawn West" userId="bcaf3c6b-bfc1-40d2-81dc-c3fa941236d7" providerId="ADAL" clId="{596607C7-6642-4BEE-859A-36CD3FB3046B}" dt="2025-07-09T16:51:28.665" v="956" actId="6549"/>
        <pc:sldMkLst>
          <pc:docMk/>
          <pc:sldMk cId="387276960" sldId="417"/>
        </pc:sldMkLst>
      </pc:sldChg>
      <pc:sldChg chg="addSp modSp mod modCm modNotesTx">
        <pc:chgData name="Shawn West" userId="bcaf3c6b-bfc1-40d2-81dc-c3fa941236d7" providerId="ADAL" clId="{596607C7-6642-4BEE-859A-36CD3FB3046B}" dt="2025-07-09T16:27:30.708" v="915" actId="6549"/>
        <pc:sldMkLst>
          <pc:docMk/>
          <pc:sldMk cId="2331263732" sldId="451"/>
        </pc:sldMkLst>
        <pc:extLst>
          <p:ext xmlns:p="http://schemas.openxmlformats.org/presentationml/2006/main" uri="{D6D511B9-2390-475A-947B-AFAB55BFBCF1}">
            <pc226:cmChg xmlns:pc226="http://schemas.microsoft.com/office/powerpoint/2022/06/main/command" chg="mod">
              <pc226:chgData name="Shawn West" userId="bcaf3c6b-bfc1-40d2-81dc-c3fa941236d7" providerId="ADAL" clId="{596607C7-6642-4BEE-859A-36CD3FB3046B}" dt="2025-07-09T16:27:30.708" v="915" actId="6549"/>
              <pc2:cmMkLst xmlns:pc2="http://schemas.microsoft.com/office/powerpoint/2019/9/main/command">
                <pc:docMk/>
                <pc:sldMk cId="2331263732" sldId="451"/>
                <pc2:cmMk id="{F666A07E-6625-403F-9399-D2F98D61FACC}"/>
              </pc2:cmMkLst>
            </pc226:cmChg>
          </p:ext>
        </pc:extLst>
      </pc:sldChg>
      <pc:sldChg chg="modSp mod modNotesTx">
        <pc:chgData name="Shawn West" userId="bcaf3c6b-bfc1-40d2-81dc-c3fa941236d7" providerId="ADAL" clId="{596607C7-6642-4BEE-859A-36CD3FB3046B}" dt="2025-07-08T23:50:15.090" v="97" actId="6549"/>
        <pc:sldMkLst>
          <pc:docMk/>
          <pc:sldMk cId="1214815442" sldId="452"/>
        </pc:sldMkLst>
      </pc:sldChg>
      <pc:sldChg chg="addSp delSp modSp mod">
        <pc:chgData name="Shawn West" userId="bcaf3c6b-bfc1-40d2-81dc-c3fa941236d7" providerId="ADAL" clId="{596607C7-6642-4BEE-859A-36CD3FB3046B}" dt="2025-07-14T13:17:45.799" v="1659" actId="1076"/>
        <pc:sldMkLst>
          <pc:docMk/>
          <pc:sldMk cId="2179535694" sldId="453"/>
        </pc:sldMkLst>
      </pc:sldChg>
      <pc:sldChg chg="addSp delSp modSp mod modNotesTx">
        <pc:chgData name="Shawn West" userId="bcaf3c6b-bfc1-40d2-81dc-c3fa941236d7" providerId="ADAL" clId="{596607C7-6642-4BEE-859A-36CD3FB3046B}" dt="2025-07-09T16:23:46.379" v="892" actId="403"/>
        <pc:sldMkLst>
          <pc:docMk/>
          <pc:sldMk cId="1211089408" sldId="454"/>
        </pc:sldMkLst>
      </pc:sldChg>
      <pc:sldChg chg="modSp mod modNotesTx">
        <pc:chgData name="Shawn West" userId="bcaf3c6b-bfc1-40d2-81dc-c3fa941236d7" providerId="ADAL" clId="{596607C7-6642-4BEE-859A-36CD3FB3046B}" dt="2025-07-09T16:23:53.681" v="893" actId="403"/>
        <pc:sldMkLst>
          <pc:docMk/>
          <pc:sldMk cId="3249715403" sldId="455"/>
        </pc:sldMkLst>
      </pc:sldChg>
      <pc:sldChg chg="modSp mod modNotesTx">
        <pc:chgData name="Shawn West" userId="bcaf3c6b-bfc1-40d2-81dc-c3fa941236d7" providerId="ADAL" clId="{596607C7-6642-4BEE-859A-36CD3FB3046B}" dt="2025-07-09T16:24:33.328" v="896" actId="2711"/>
        <pc:sldMkLst>
          <pc:docMk/>
          <pc:sldMk cId="1333759390" sldId="456"/>
        </pc:sldMkLst>
      </pc:sldChg>
      <pc:sldChg chg="modSp mod modNotesTx">
        <pc:chgData name="Shawn West" userId="bcaf3c6b-bfc1-40d2-81dc-c3fa941236d7" providerId="ADAL" clId="{596607C7-6642-4BEE-859A-36CD3FB3046B}" dt="2025-07-09T16:24:40.619" v="897" actId="2711"/>
        <pc:sldMkLst>
          <pc:docMk/>
          <pc:sldMk cId="3532450876" sldId="457"/>
        </pc:sldMkLst>
      </pc:sldChg>
      <pc:sldChg chg="modSp mod modNotesTx">
        <pc:chgData name="Shawn West" userId="bcaf3c6b-bfc1-40d2-81dc-c3fa941236d7" providerId="ADAL" clId="{596607C7-6642-4BEE-859A-36CD3FB3046B}" dt="2025-07-09T16:24:49.057" v="898" actId="2711"/>
        <pc:sldMkLst>
          <pc:docMk/>
          <pc:sldMk cId="3543505054" sldId="458"/>
        </pc:sldMkLst>
      </pc:sldChg>
      <pc:sldChg chg="modSp mod modNotesTx">
        <pc:chgData name="Shawn West" userId="bcaf3c6b-bfc1-40d2-81dc-c3fa941236d7" providerId="ADAL" clId="{596607C7-6642-4BEE-859A-36CD3FB3046B}" dt="2025-07-09T16:24:58.807" v="900" actId="2711"/>
        <pc:sldMkLst>
          <pc:docMk/>
          <pc:sldMk cId="2920801307" sldId="459"/>
        </pc:sldMkLst>
      </pc:sldChg>
      <pc:sldChg chg="modSp mod modNotesTx">
        <pc:chgData name="Shawn West" userId="bcaf3c6b-bfc1-40d2-81dc-c3fa941236d7" providerId="ADAL" clId="{596607C7-6642-4BEE-859A-36CD3FB3046B}" dt="2025-07-09T16:25:09.369" v="901" actId="403"/>
        <pc:sldMkLst>
          <pc:docMk/>
          <pc:sldMk cId="4266317718" sldId="460"/>
        </pc:sldMkLst>
      </pc:sldChg>
      <pc:sldChg chg="addSp delSp modSp mod modClrScheme chgLayout">
        <pc:chgData name="Shawn West" userId="bcaf3c6b-bfc1-40d2-81dc-c3fa941236d7" providerId="ADAL" clId="{596607C7-6642-4BEE-859A-36CD3FB3046B}" dt="2025-07-16T23:06:30.867" v="2503" actId="26606"/>
        <pc:sldMkLst>
          <pc:docMk/>
          <pc:sldMk cId="215740017" sldId="465"/>
        </pc:sldMkLst>
      </pc:sldChg>
      <pc:sldChg chg="addSp modSp mod">
        <pc:chgData name="Shawn West" userId="bcaf3c6b-bfc1-40d2-81dc-c3fa941236d7" providerId="ADAL" clId="{596607C7-6642-4BEE-859A-36CD3FB3046B}" dt="2025-07-16T22:49:05.562" v="2497" actId="113"/>
        <pc:sldMkLst>
          <pc:docMk/>
          <pc:sldMk cId="3264215488" sldId="466"/>
        </pc:sldMkLst>
      </pc:sldChg>
      <pc:sldChg chg="del">
        <pc:chgData name="Shawn West" userId="bcaf3c6b-bfc1-40d2-81dc-c3fa941236d7" providerId="ADAL" clId="{596607C7-6642-4BEE-859A-36CD3FB3046B}" dt="2025-07-09T12:47:24.136" v="623" actId="47"/>
        <pc:sldMkLst>
          <pc:docMk/>
          <pc:sldMk cId="4092271043" sldId="468"/>
        </pc:sldMkLst>
      </pc:sldChg>
      <pc:sldChg chg="addSp delSp modSp mod">
        <pc:chgData name="Shawn West" userId="bcaf3c6b-bfc1-40d2-81dc-c3fa941236d7" providerId="ADAL" clId="{596607C7-6642-4BEE-859A-36CD3FB3046B}" dt="2025-07-10T18:09:36.420" v="994" actId="1076"/>
        <pc:sldMkLst>
          <pc:docMk/>
          <pc:sldMk cId="26432446" sldId="470"/>
        </pc:sldMkLst>
      </pc:sldChg>
      <pc:sldChg chg="addSp delSp modSp mod modNotesTx">
        <pc:chgData name="Shawn West" userId="bcaf3c6b-bfc1-40d2-81dc-c3fa941236d7" providerId="ADAL" clId="{596607C7-6642-4BEE-859A-36CD3FB3046B}" dt="2025-07-15T18:24:37.154" v="2327" actId="208"/>
        <pc:sldMkLst>
          <pc:docMk/>
          <pc:sldMk cId="574261375" sldId="471"/>
        </pc:sldMkLst>
      </pc:sldChg>
      <pc:sldChg chg="addSp delSp modSp mod">
        <pc:chgData name="Shawn West" userId="bcaf3c6b-bfc1-40d2-81dc-c3fa941236d7" providerId="ADAL" clId="{596607C7-6642-4BEE-859A-36CD3FB3046B}" dt="2025-07-11T12:36:37.868" v="1311" actId="1036"/>
        <pc:sldMkLst>
          <pc:docMk/>
          <pc:sldMk cId="2359309608" sldId="474"/>
        </pc:sldMkLst>
      </pc:sldChg>
      <pc:sldChg chg="addSp delSp modSp mod">
        <pc:chgData name="Shawn West" userId="bcaf3c6b-bfc1-40d2-81dc-c3fa941236d7" providerId="ADAL" clId="{596607C7-6642-4BEE-859A-36CD3FB3046B}" dt="2025-07-11T12:47:00.364" v="1345" actId="20577"/>
        <pc:sldMkLst>
          <pc:docMk/>
          <pc:sldMk cId="3552952891" sldId="475"/>
        </pc:sldMkLst>
      </pc:sldChg>
      <pc:sldChg chg="addSp delSp modSp mod modNotesTx">
        <pc:chgData name="Shawn West" userId="bcaf3c6b-bfc1-40d2-81dc-c3fa941236d7" providerId="ADAL" clId="{596607C7-6642-4BEE-859A-36CD3FB3046B}" dt="2025-07-11T03:44:04.941" v="1266" actId="478"/>
        <pc:sldMkLst>
          <pc:docMk/>
          <pc:sldMk cId="2230329795" sldId="476"/>
        </pc:sldMkLst>
      </pc:sldChg>
      <pc:sldChg chg="addSp delSp modSp mod">
        <pc:chgData name="Shawn West" userId="bcaf3c6b-bfc1-40d2-81dc-c3fa941236d7" providerId="ADAL" clId="{596607C7-6642-4BEE-859A-36CD3FB3046B}" dt="2025-07-15T17:59:13.088" v="2307" actId="113"/>
        <pc:sldMkLst>
          <pc:docMk/>
          <pc:sldMk cId="2962170263" sldId="478"/>
        </pc:sldMkLst>
      </pc:sldChg>
      <pc:sldChg chg="del">
        <pc:chgData name="Shawn West" userId="bcaf3c6b-bfc1-40d2-81dc-c3fa941236d7" providerId="ADAL" clId="{596607C7-6642-4BEE-859A-36CD3FB3046B}" dt="2025-07-10T19:13:52.309" v="1129" actId="47"/>
        <pc:sldMkLst>
          <pc:docMk/>
          <pc:sldMk cId="2443618947" sldId="480"/>
        </pc:sldMkLst>
      </pc:sldChg>
      <pc:sldChg chg="del">
        <pc:chgData name="Shawn West" userId="bcaf3c6b-bfc1-40d2-81dc-c3fa941236d7" providerId="ADAL" clId="{596607C7-6642-4BEE-859A-36CD3FB3046B}" dt="2025-07-09T14:24:10.797" v="673" actId="2696"/>
        <pc:sldMkLst>
          <pc:docMk/>
          <pc:sldMk cId="136139271" sldId="482"/>
        </pc:sldMkLst>
      </pc:sldChg>
      <pc:sldChg chg="addSp delSp modSp add mod modNotesTx">
        <pc:chgData name="Shawn West" userId="bcaf3c6b-bfc1-40d2-81dc-c3fa941236d7" providerId="ADAL" clId="{596607C7-6642-4BEE-859A-36CD3FB3046B}" dt="2025-07-15T21:11:01.269" v="2342" actId="1076"/>
        <pc:sldMkLst>
          <pc:docMk/>
          <pc:sldMk cId="1914074151" sldId="482"/>
        </pc:sldMkLst>
      </pc:sldChg>
      <pc:sldChg chg="addSp delSp modSp mod modNotesTx">
        <pc:chgData name="Shawn West" userId="bcaf3c6b-bfc1-40d2-81dc-c3fa941236d7" providerId="ADAL" clId="{596607C7-6642-4BEE-859A-36CD3FB3046B}" dt="2025-07-14T21:59:23.426" v="1985" actId="1076"/>
        <pc:sldMkLst>
          <pc:docMk/>
          <pc:sldMk cId="708599067" sldId="484"/>
        </pc:sldMkLst>
      </pc:sldChg>
      <pc:sldChg chg="addSp delSp modSp mod modNotesTx">
        <pc:chgData name="Shawn West" userId="bcaf3c6b-bfc1-40d2-81dc-c3fa941236d7" providerId="ADAL" clId="{596607C7-6642-4BEE-859A-36CD3FB3046B}" dt="2025-07-09T12:09:23.147" v="622" actId="404"/>
        <pc:sldMkLst>
          <pc:docMk/>
          <pc:sldMk cId="3937413718" sldId="485"/>
        </pc:sldMkLst>
      </pc:sldChg>
      <pc:sldChg chg="del">
        <pc:chgData name="Shawn West" userId="bcaf3c6b-bfc1-40d2-81dc-c3fa941236d7" providerId="ADAL" clId="{596607C7-6642-4BEE-859A-36CD3FB3046B}" dt="2025-07-11T13:20:04.878" v="1437" actId="47"/>
        <pc:sldMkLst>
          <pc:docMk/>
          <pc:sldMk cId="1506956132" sldId="487"/>
        </pc:sldMkLst>
      </pc:sldChg>
      <pc:sldChg chg="del ord">
        <pc:chgData name="Shawn West" userId="bcaf3c6b-bfc1-40d2-81dc-c3fa941236d7" providerId="ADAL" clId="{596607C7-6642-4BEE-859A-36CD3FB3046B}" dt="2025-07-15T17:56:08.995" v="2298" actId="47"/>
        <pc:sldMkLst>
          <pc:docMk/>
          <pc:sldMk cId="2682253299" sldId="488"/>
        </pc:sldMkLst>
      </pc:sldChg>
      <pc:sldChg chg="addSp delSp modSp add del mod">
        <pc:chgData name="Shawn West" userId="bcaf3c6b-bfc1-40d2-81dc-c3fa941236d7" providerId="ADAL" clId="{596607C7-6642-4BEE-859A-36CD3FB3046B}" dt="2025-07-14T13:26:06.072" v="1697" actId="47"/>
        <pc:sldMkLst>
          <pc:docMk/>
          <pc:sldMk cId="3389145949" sldId="497"/>
        </pc:sldMkLst>
      </pc:sldChg>
      <pc:sldChg chg="addSp modSp mod modNotesTx">
        <pc:chgData name="Shawn West" userId="bcaf3c6b-bfc1-40d2-81dc-c3fa941236d7" providerId="ADAL" clId="{596607C7-6642-4BEE-859A-36CD3FB3046B}" dt="2025-07-13T15:23:15.490" v="1643" actId="403"/>
        <pc:sldMkLst>
          <pc:docMk/>
          <pc:sldMk cId="603027040" sldId="498"/>
        </pc:sldMkLst>
      </pc:sldChg>
      <pc:sldChg chg="addSp delSp modSp mod modNotesTx">
        <pc:chgData name="Shawn West" userId="bcaf3c6b-bfc1-40d2-81dc-c3fa941236d7" providerId="ADAL" clId="{596607C7-6642-4BEE-859A-36CD3FB3046B}" dt="2025-07-13T15:22:27.894" v="1641" actId="1076"/>
        <pc:sldMkLst>
          <pc:docMk/>
          <pc:sldMk cId="3645261291" sldId="499"/>
        </pc:sldMkLst>
      </pc:sldChg>
      <pc:sldChg chg="del">
        <pc:chgData name="Shawn West" userId="bcaf3c6b-bfc1-40d2-81dc-c3fa941236d7" providerId="ADAL" clId="{596607C7-6642-4BEE-859A-36CD3FB3046B}" dt="2025-07-14T21:25:32.995" v="1949" actId="47"/>
        <pc:sldMkLst>
          <pc:docMk/>
          <pc:sldMk cId="799782535" sldId="500"/>
        </pc:sldMkLst>
      </pc:sldChg>
      <pc:sldChg chg="addSp modSp mod">
        <pc:chgData name="Shawn West" userId="bcaf3c6b-bfc1-40d2-81dc-c3fa941236d7" providerId="ADAL" clId="{596607C7-6642-4BEE-859A-36CD3FB3046B}" dt="2025-07-09T16:43:32.953" v="921" actId="1076"/>
        <pc:sldMkLst>
          <pc:docMk/>
          <pc:sldMk cId="3362821763" sldId="502"/>
        </pc:sldMkLst>
      </pc:sldChg>
      <pc:sldChg chg="addSp delSp modSp mod">
        <pc:chgData name="Shawn West" userId="bcaf3c6b-bfc1-40d2-81dc-c3fa941236d7" providerId="ADAL" clId="{596607C7-6642-4BEE-859A-36CD3FB3046B}" dt="2025-07-11T03:24:43.183" v="1208" actId="1076"/>
        <pc:sldMkLst>
          <pc:docMk/>
          <pc:sldMk cId="4071549525" sldId="503"/>
        </pc:sldMkLst>
      </pc:sldChg>
      <pc:sldChg chg="addSp modSp mod">
        <pc:chgData name="Shawn West" userId="bcaf3c6b-bfc1-40d2-81dc-c3fa941236d7" providerId="ADAL" clId="{596607C7-6642-4BEE-859A-36CD3FB3046B}" dt="2025-07-15T17:53:14.751" v="2296" actId="1036"/>
        <pc:sldMkLst>
          <pc:docMk/>
          <pc:sldMk cId="1771833481" sldId="506"/>
        </pc:sldMkLst>
      </pc:sldChg>
      <pc:sldChg chg="addSp delSp modSp add mod">
        <pc:chgData name="Shawn West" userId="bcaf3c6b-bfc1-40d2-81dc-c3fa941236d7" providerId="ADAL" clId="{596607C7-6642-4BEE-859A-36CD3FB3046B}" dt="2025-07-09T16:48:02.517" v="926" actId="1076"/>
        <pc:sldMkLst>
          <pc:docMk/>
          <pc:sldMk cId="2007554152" sldId="507"/>
        </pc:sldMkLst>
      </pc:sldChg>
      <pc:sldChg chg="addSp delSp modSp add mod ord">
        <pc:chgData name="Shawn West" userId="bcaf3c6b-bfc1-40d2-81dc-c3fa941236d7" providerId="ADAL" clId="{596607C7-6642-4BEE-859A-36CD3FB3046B}" dt="2025-07-15T11:25:18.686" v="2145" actId="1076"/>
        <pc:sldMkLst>
          <pc:docMk/>
          <pc:sldMk cId="1428288110" sldId="508"/>
        </pc:sldMkLst>
      </pc:sldChg>
      <pc:sldChg chg="addSp delSp modSp add mod modNotesTx">
        <pc:chgData name="Shawn West" userId="bcaf3c6b-bfc1-40d2-81dc-c3fa941236d7" providerId="ADAL" clId="{596607C7-6642-4BEE-859A-36CD3FB3046B}" dt="2025-07-13T15:17:39.191" v="1490" actId="6549"/>
        <pc:sldMkLst>
          <pc:docMk/>
          <pc:sldMk cId="843874103" sldId="509"/>
        </pc:sldMkLst>
      </pc:sldChg>
      <pc:sldChg chg="addSp delSp modSp add mod">
        <pc:chgData name="Shawn West" userId="bcaf3c6b-bfc1-40d2-81dc-c3fa941236d7" providerId="ADAL" clId="{596607C7-6642-4BEE-859A-36CD3FB3046B}" dt="2025-07-14T22:28:46.678" v="2130" actId="5793"/>
        <pc:sldMkLst>
          <pc:docMk/>
          <pc:sldMk cId="1706916399" sldId="510"/>
        </pc:sldMkLst>
      </pc:sldChg>
      <pc:sldChg chg="addSp delSp modSp add del mod modNotesTx">
        <pc:chgData name="Shawn West" userId="bcaf3c6b-bfc1-40d2-81dc-c3fa941236d7" providerId="ADAL" clId="{596607C7-6642-4BEE-859A-36CD3FB3046B}" dt="2025-07-10T18:18:35.013" v="1050" actId="47"/>
        <pc:sldMkLst>
          <pc:docMk/>
          <pc:sldMk cId="3640400127" sldId="510"/>
        </pc:sldMkLst>
      </pc:sldChg>
      <pc:sldChg chg="addSp delSp modSp add mod ord modClrScheme chgLayout">
        <pc:chgData name="Shawn West" userId="bcaf3c6b-bfc1-40d2-81dc-c3fa941236d7" providerId="ADAL" clId="{596607C7-6642-4BEE-859A-36CD3FB3046B}" dt="2025-07-11T12:38:40.420" v="1337" actId="1038"/>
        <pc:sldMkLst>
          <pc:docMk/>
          <pc:sldMk cId="174158597" sldId="511"/>
        </pc:sldMkLst>
      </pc:sldChg>
      <pc:sldChg chg="addSp delSp modSp add mod ord">
        <pc:chgData name="Shawn West" userId="bcaf3c6b-bfc1-40d2-81dc-c3fa941236d7" providerId="ADAL" clId="{596607C7-6642-4BEE-859A-36CD3FB3046B}" dt="2025-07-15T11:27:08.679" v="2187" actId="1038"/>
        <pc:sldMkLst>
          <pc:docMk/>
          <pc:sldMk cId="3212228885" sldId="512"/>
        </pc:sldMkLst>
      </pc:sldChg>
      <pc:sldChg chg="addSp delSp modSp add mod">
        <pc:chgData name="Shawn West" userId="bcaf3c6b-bfc1-40d2-81dc-c3fa941236d7" providerId="ADAL" clId="{596607C7-6642-4BEE-859A-36CD3FB3046B}" dt="2025-07-11T13:17:40.026" v="1435" actId="113"/>
        <pc:sldMkLst>
          <pc:docMk/>
          <pc:sldMk cId="2581903038" sldId="513"/>
        </pc:sldMkLst>
      </pc:sldChg>
      <pc:sldChg chg="addSp delSp modSp add mod">
        <pc:chgData name="Shawn West" userId="bcaf3c6b-bfc1-40d2-81dc-c3fa941236d7" providerId="ADAL" clId="{596607C7-6642-4BEE-859A-36CD3FB3046B}" dt="2025-07-15T23:57:40.081" v="2366" actId="14100"/>
        <pc:sldMkLst>
          <pc:docMk/>
          <pc:sldMk cId="2402824684" sldId="514"/>
        </pc:sldMkLst>
      </pc:sldChg>
      <pc:sldChg chg="delSp modSp add mod modNotesTx">
        <pc:chgData name="Shawn West" userId="bcaf3c6b-bfc1-40d2-81dc-c3fa941236d7" providerId="ADAL" clId="{596607C7-6642-4BEE-859A-36CD3FB3046B}" dt="2025-07-13T15:18:16.215" v="1497" actId="478"/>
        <pc:sldMkLst>
          <pc:docMk/>
          <pc:sldMk cId="1806071529" sldId="515"/>
        </pc:sldMkLst>
      </pc:sldChg>
      <pc:sldChg chg="addSp delSp modSp add mod">
        <pc:chgData name="Shawn West" userId="bcaf3c6b-bfc1-40d2-81dc-c3fa941236d7" providerId="ADAL" clId="{596607C7-6642-4BEE-859A-36CD3FB3046B}" dt="2025-07-14T13:43:03.767" v="1807" actId="14100"/>
        <pc:sldMkLst>
          <pc:docMk/>
          <pc:sldMk cId="2585810962" sldId="516"/>
        </pc:sldMkLst>
      </pc:sldChg>
      <pc:sldChg chg="delSp modSp add del mod">
        <pc:chgData name="Shawn West" userId="bcaf3c6b-bfc1-40d2-81dc-c3fa941236d7" providerId="ADAL" clId="{596607C7-6642-4BEE-859A-36CD3FB3046B}" dt="2025-07-14T13:26:08.667" v="1698" actId="47"/>
        <pc:sldMkLst>
          <pc:docMk/>
          <pc:sldMk cId="3053352299" sldId="516"/>
        </pc:sldMkLst>
      </pc:sldChg>
      <pc:sldChg chg="addSp delSp modSp add mod">
        <pc:chgData name="Shawn West" userId="bcaf3c6b-bfc1-40d2-81dc-c3fa941236d7" providerId="ADAL" clId="{596607C7-6642-4BEE-859A-36CD3FB3046B}" dt="2025-07-14T13:49:08.964" v="1881" actId="1076"/>
        <pc:sldMkLst>
          <pc:docMk/>
          <pc:sldMk cId="2108637143" sldId="517"/>
        </pc:sldMkLst>
      </pc:sldChg>
      <pc:sldChg chg="addSp delSp modSp add mod">
        <pc:chgData name="Shawn West" userId="bcaf3c6b-bfc1-40d2-81dc-c3fa941236d7" providerId="ADAL" clId="{596607C7-6642-4BEE-859A-36CD3FB3046B}" dt="2025-07-14T13:49:41.856" v="1887" actId="1076"/>
        <pc:sldMkLst>
          <pc:docMk/>
          <pc:sldMk cId="3781088635" sldId="518"/>
        </pc:sldMkLst>
      </pc:sldChg>
      <pc:sldChg chg="addSp delSp modSp add mod">
        <pc:chgData name="Shawn West" userId="bcaf3c6b-bfc1-40d2-81dc-c3fa941236d7" providerId="ADAL" clId="{596607C7-6642-4BEE-859A-36CD3FB3046B}" dt="2025-07-15T17:58:23.378" v="2303" actId="1038"/>
        <pc:sldMkLst>
          <pc:docMk/>
          <pc:sldMk cId="2843620858" sldId="519"/>
        </pc:sldMkLst>
      </pc:sldChg>
      <pc:sldChg chg="addSp delSp modSp add mod">
        <pc:chgData name="Shawn West" userId="bcaf3c6b-bfc1-40d2-81dc-c3fa941236d7" providerId="ADAL" clId="{596607C7-6642-4BEE-859A-36CD3FB3046B}" dt="2025-07-15T16:10:59.793" v="2238" actId="14100"/>
        <pc:sldMkLst>
          <pc:docMk/>
          <pc:sldMk cId="2431030714" sldId="520"/>
        </pc:sldMkLst>
      </pc:sldChg>
      <pc:sldChg chg="addSp delSp modSp add mod">
        <pc:chgData name="Shawn West" userId="bcaf3c6b-bfc1-40d2-81dc-c3fa941236d7" providerId="ADAL" clId="{596607C7-6642-4BEE-859A-36CD3FB3046B}" dt="2025-07-15T16:11:53.422" v="2244" actId="14100"/>
        <pc:sldMkLst>
          <pc:docMk/>
          <pc:sldMk cId="2208874966" sldId="521"/>
        </pc:sldMkLst>
      </pc:sldChg>
      <pc:sldChg chg="addSp delSp modSp add mod ord">
        <pc:chgData name="Shawn West" userId="bcaf3c6b-bfc1-40d2-81dc-c3fa941236d7" providerId="ADAL" clId="{596607C7-6642-4BEE-859A-36CD3FB3046B}" dt="2025-07-15T11:26:02.244" v="2150" actId="1076"/>
        <pc:sldMkLst>
          <pc:docMk/>
          <pc:sldMk cId="1623353446" sldId="522"/>
        </pc:sldMkLst>
      </pc:sldChg>
      <pc:sldChg chg="addSp delSp modSp add mod">
        <pc:chgData name="Shawn West" userId="bcaf3c6b-bfc1-40d2-81dc-c3fa941236d7" providerId="ADAL" clId="{596607C7-6642-4BEE-859A-36CD3FB3046B}" dt="2025-07-15T15:16:33.102" v="2229" actId="20577"/>
        <pc:sldMkLst>
          <pc:docMk/>
          <pc:sldMk cId="2614423631" sldId="523"/>
        </pc:sldMkLst>
      </pc:sldChg>
      <pc:sldChg chg="addSp delSp modSp add mod ord">
        <pc:chgData name="Shawn West" userId="bcaf3c6b-bfc1-40d2-81dc-c3fa941236d7" providerId="ADAL" clId="{596607C7-6642-4BEE-859A-36CD3FB3046B}" dt="2025-07-15T15:12:47.541" v="2216" actId="1036"/>
        <pc:sldMkLst>
          <pc:docMk/>
          <pc:sldMk cId="4055256599" sldId="524"/>
        </pc:sldMkLst>
      </pc:sldChg>
      <pc:sldChg chg="addSp modSp add mod">
        <pc:chgData name="Shawn West" userId="bcaf3c6b-bfc1-40d2-81dc-c3fa941236d7" providerId="ADAL" clId="{596607C7-6642-4BEE-859A-36CD3FB3046B}" dt="2025-07-15T23:56:43.340" v="2362" actId="1076"/>
        <pc:sldMkLst>
          <pc:docMk/>
          <pc:sldMk cId="3245160715" sldId="525"/>
        </pc:sldMkLst>
      </pc:sldChg>
      <pc:sldChg chg="addSp delSp modSp add mod">
        <pc:chgData name="Shawn West" userId="bcaf3c6b-bfc1-40d2-81dc-c3fa941236d7" providerId="ADAL" clId="{596607C7-6642-4BEE-859A-36CD3FB3046B}" dt="2025-07-16T23:09:32.335" v="2522" actId="478"/>
        <pc:sldMkLst>
          <pc:docMk/>
          <pc:sldMk cId="176349951" sldId="526"/>
        </pc:sldMkLst>
      </pc:sldChg>
      <pc:sldChg chg="addSp delSp modSp add mod">
        <pc:chgData name="Shawn West" userId="bcaf3c6b-bfc1-40d2-81dc-c3fa941236d7" providerId="ADAL" clId="{596607C7-6642-4BEE-859A-36CD3FB3046B}" dt="2025-07-16T23:10:47.643" v="2560" actId="1076"/>
        <pc:sldMkLst>
          <pc:docMk/>
          <pc:sldMk cId="2422813172" sldId="527"/>
        </pc:sldMkLst>
      </pc:sldChg>
      <pc:sldChg chg="addSp delSp modSp add mod">
        <pc:chgData name="Shawn West" userId="bcaf3c6b-bfc1-40d2-81dc-c3fa941236d7" providerId="ADAL" clId="{596607C7-6642-4BEE-859A-36CD3FB3046B}" dt="2025-07-16T23:19:30.443" v="2580" actId="1076"/>
        <pc:sldMkLst>
          <pc:docMk/>
          <pc:sldMk cId="280035150" sldId="528"/>
        </pc:sldMkLst>
      </pc:sldChg>
      <pc:sldChg chg="addSp delSp modSp add mod">
        <pc:chgData name="Shawn West" userId="bcaf3c6b-bfc1-40d2-81dc-c3fa941236d7" providerId="ADAL" clId="{596607C7-6642-4BEE-859A-36CD3FB3046B}" dt="2025-07-16T23:19:26.235" v="2579" actId="1076"/>
        <pc:sldMkLst>
          <pc:docMk/>
          <pc:sldMk cId="2599910485" sldId="529"/>
        </pc:sldMkLst>
      </pc:sldChg>
      <pc:sldChg chg="addSp new mod">
        <pc:chgData name="Shawn West" userId="bcaf3c6b-bfc1-40d2-81dc-c3fa941236d7" providerId="ADAL" clId="{596607C7-6642-4BEE-859A-36CD3FB3046B}" dt="2025-08-04T18:28:01.306" v="2586" actId="22"/>
        <pc:sldMkLst>
          <pc:docMk/>
          <pc:sldMk cId="2713986425" sldId="530"/>
        </pc:sldMkLst>
      </pc:sldChg>
      <pc:sldChg chg="new">
        <pc:chgData name="Shawn West" userId="bcaf3c6b-bfc1-40d2-81dc-c3fa941236d7" providerId="ADAL" clId="{596607C7-6642-4BEE-859A-36CD3FB3046B}" dt="2025-08-04T18:28:10.445" v="2587" actId="680"/>
        <pc:sldMkLst>
          <pc:docMk/>
          <pc:sldMk cId="3842745601" sldId="531"/>
        </pc:sldMkLst>
      </pc:sldChg>
      <pc:sldChg chg="addSp new mod">
        <pc:chgData name="Shawn West" userId="bcaf3c6b-bfc1-40d2-81dc-c3fa941236d7" providerId="ADAL" clId="{596607C7-6642-4BEE-859A-36CD3FB3046B}" dt="2025-08-08T14:29:50.219" v="2596" actId="22"/>
        <pc:sldMkLst>
          <pc:docMk/>
          <pc:sldMk cId="1390878416" sldId="532"/>
        </pc:sldMkLst>
      </pc:sldChg>
      <pc:sldChg chg="new">
        <pc:chgData name="Shawn West" userId="bcaf3c6b-bfc1-40d2-81dc-c3fa941236d7" providerId="ADAL" clId="{596607C7-6642-4BEE-859A-36CD3FB3046B}" dt="2025-08-04T18:28:12.253" v="2589" actId="680"/>
        <pc:sldMkLst>
          <pc:docMk/>
          <pc:sldMk cId="1866330424" sldId="533"/>
        </pc:sldMkLst>
      </pc:sldChg>
      <pc:sldChg chg="new">
        <pc:chgData name="Shawn West" userId="bcaf3c6b-bfc1-40d2-81dc-c3fa941236d7" providerId="ADAL" clId="{596607C7-6642-4BEE-859A-36CD3FB3046B}" dt="2025-08-04T18:28:12.503" v="2590" actId="680"/>
        <pc:sldMkLst>
          <pc:docMk/>
          <pc:sldMk cId="2511787984" sldId="534"/>
        </pc:sldMkLst>
      </pc:sldChg>
      <pc:sldChg chg="new">
        <pc:chgData name="Shawn West" userId="bcaf3c6b-bfc1-40d2-81dc-c3fa941236d7" providerId="ADAL" clId="{596607C7-6642-4BEE-859A-36CD3FB3046B}" dt="2025-08-04T18:28:12.642" v="2591" actId="680"/>
        <pc:sldMkLst>
          <pc:docMk/>
          <pc:sldMk cId="185616512" sldId="535"/>
        </pc:sldMkLst>
      </pc:sldChg>
      <pc:sldChg chg="new">
        <pc:chgData name="Shawn West" userId="bcaf3c6b-bfc1-40d2-81dc-c3fa941236d7" providerId="ADAL" clId="{596607C7-6642-4BEE-859A-36CD3FB3046B}" dt="2025-08-04T18:28:12.819" v="2592" actId="680"/>
        <pc:sldMkLst>
          <pc:docMk/>
          <pc:sldMk cId="197171800" sldId="536"/>
        </pc:sldMkLst>
      </pc:sldChg>
      <pc:sldChg chg="new">
        <pc:chgData name="Shawn West" userId="bcaf3c6b-bfc1-40d2-81dc-c3fa941236d7" providerId="ADAL" clId="{596607C7-6642-4BEE-859A-36CD3FB3046B}" dt="2025-08-04T18:28:12.987" v="2593" actId="680"/>
        <pc:sldMkLst>
          <pc:docMk/>
          <pc:sldMk cId="4027706499" sldId="537"/>
        </pc:sldMkLst>
      </pc:sldChg>
      <pc:sldChg chg="new">
        <pc:chgData name="Shawn West" userId="bcaf3c6b-bfc1-40d2-81dc-c3fa941236d7" providerId="ADAL" clId="{596607C7-6642-4BEE-859A-36CD3FB3046B}" dt="2025-08-04T18:28:13.188" v="2594" actId="680"/>
        <pc:sldMkLst>
          <pc:docMk/>
          <pc:sldMk cId="2728688423" sldId="538"/>
        </pc:sldMkLst>
      </pc:sldChg>
      <pc:sldChg chg="new">
        <pc:chgData name="Shawn West" userId="bcaf3c6b-bfc1-40d2-81dc-c3fa941236d7" providerId="ADAL" clId="{596607C7-6642-4BEE-859A-36CD3FB3046B}" dt="2025-08-04T18:28:13.386" v="2595" actId="680"/>
        <pc:sldMkLst>
          <pc:docMk/>
          <pc:sldMk cId="1409370847" sldId="539"/>
        </pc:sldMkLst>
      </pc:sldChg>
      <pc:sldChg chg="modSp add mod">
        <pc:chgData name="Shawn West" userId="bcaf3c6b-bfc1-40d2-81dc-c3fa941236d7" providerId="ADAL" clId="{596607C7-6642-4BEE-859A-36CD3FB3046B}" dt="2025-08-12T15:13:44.246" v="2620" actId="20577"/>
        <pc:sldMkLst>
          <pc:docMk/>
          <pc:sldMk cId="1975353543" sldId="540"/>
        </pc:sldMkLst>
      </pc:sldChg>
      <pc:sldChg chg="delSp modSp add mod">
        <pc:chgData name="Shawn West" userId="bcaf3c6b-bfc1-40d2-81dc-c3fa941236d7" providerId="ADAL" clId="{596607C7-6642-4BEE-859A-36CD3FB3046B}" dt="2025-08-12T15:18:04.736" v="2632" actId="1076"/>
        <pc:sldMkLst>
          <pc:docMk/>
          <pc:sldMk cId="3634598589" sldId="541"/>
        </pc:sldMkLst>
      </pc:sldChg>
      <pc:sldChg chg="add">
        <pc:chgData name="Shawn West" userId="bcaf3c6b-bfc1-40d2-81dc-c3fa941236d7" providerId="ADAL" clId="{596607C7-6642-4BEE-859A-36CD3FB3046B}" dt="2025-08-12T16:57:09.286" v="2633" actId="2890"/>
        <pc:sldMkLst>
          <pc:docMk/>
          <pc:sldMk cId="257920672" sldId="542"/>
        </pc:sldMkLst>
      </pc:sldChg>
    </pc:docChg>
  </pc:docChgLst>
</pc:chgInfo>
</file>

<file path=ppt/comments/modernComment_1A1_171560A0.xml><?xml version="1.0" encoding="utf-8"?>
<p188:cmLst xmlns:a="http://schemas.openxmlformats.org/drawingml/2006/main" xmlns:r="http://schemas.openxmlformats.org/officeDocument/2006/relationships" xmlns:p188="http://schemas.microsoft.com/office/powerpoint/2018/8/main">
  <p188:cm id="{3A01405C-7D6A-486E-AB78-A0800629DE8A}" authorId="{8892B05B-E117-52AD-3F68-AE601404E83B}" created="2025-06-11T12:18:39.373">
    <ac:deMkLst xmlns:ac="http://schemas.microsoft.com/office/drawing/2013/main/command">
      <pc:docMk xmlns:pc="http://schemas.microsoft.com/office/powerpoint/2013/main/command"/>
      <pc:sldMk xmlns:pc="http://schemas.microsoft.com/office/powerpoint/2013/main/command" cId="387276960" sldId="417"/>
      <ac:picMk id="10" creationId="{013FBF8F-0F5B-8007-07A4-F4793D41FF59}"/>
    </ac:deMkLst>
    <p188:txBody>
      <a:bodyPr/>
      <a:lstStyle/>
      <a:p>
        <a:r>
          <a:rPr lang="en-US"/>
          <a:t>Remove Import Button</a:t>
        </a:r>
      </a:p>
    </p188:txBody>
  </p188:cm>
</p188:cmLst>
</file>

<file path=ppt/comments/modernComment_1D2_C28FF9C0.xml><?xml version="1.0" encoding="utf-8"?>
<p188:cmLst xmlns:a="http://schemas.openxmlformats.org/drawingml/2006/main" xmlns:r="http://schemas.openxmlformats.org/officeDocument/2006/relationships" xmlns:p188="http://schemas.microsoft.com/office/powerpoint/2018/8/main">
  <p188:cm id="{264E6736-88E3-48FF-ADBC-3437BFC35246}" authorId="{8892B05B-E117-52AD-3F68-AE601404E83B}" status="resolved" created="2025-03-13T23:06:58.973" complete="100000">
    <ac:txMkLst xmlns:ac="http://schemas.microsoft.com/office/drawing/2013/main/command">
      <pc:docMk xmlns:pc="http://schemas.microsoft.com/office/powerpoint/2013/main/command"/>
      <pc:sldMk xmlns:pc="http://schemas.microsoft.com/office/powerpoint/2013/main/command" cId="3264215488" sldId="466"/>
      <ac:spMk id="3" creationId="{C958CCF9-4296-9E9E-0FD9-BBC67F43188D}"/>
      <ac:txMk cp="43">
        <ac:context len="567" hash="2755132478"/>
      </ac:txMk>
    </ac:txMkLst>
    <p188:pos x="8653781" y="1285599"/>
    <p188:txBody>
      <a:bodyPr/>
      <a:lstStyle/>
      <a:p>
        <a:r>
          <a:rPr lang="en-US"/>
          <a:t>this is for when adding cert -- but they can download cert</a:t>
        </a:r>
      </a:p>
    </p188:txBody>
  </p188:cm>
</p188:cmLst>
</file>

<file path=ppt/comments/modernComment_1DE_B08F2197.xml><?xml version="1.0" encoding="utf-8"?>
<p188:cmLst xmlns:a="http://schemas.openxmlformats.org/drawingml/2006/main" xmlns:r="http://schemas.openxmlformats.org/officeDocument/2006/relationships" xmlns:p188="http://schemas.microsoft.com/office/powerpoint/2018/8/main">
  <p188:cm id="{0D15BCD9-2D3A-4C93-B212-FDC502E3FE49}" authorId="{8892B05B-E117-52AD-3F68-AE601404E83B}" created="2025-06-11T00:45:33.886">
    <ac:deMkLst xmlns:ac="http://schemas.microsoft.com/office/drawing/2013/main/command">
      <pc:docMk xmlns:pc="http://schemas.microsoft.com/office/powerpoint/2013/main/command"/>
      <pc:sldMk xmlns:pc="http://schemas.microsoft.com/office/powerpoint/2013/main/command" cId="2962170263" sldId="478"/>
      <ac:spMk id="2" creationId="{BC14CFFD-1203-4EA4-E69C-74E500406D1A}"/>
    </ac:deMkLst>
    <p188:txBody>
      <a:bodyPr/>
      <a:lstStyle/>
      <a:p>
        <a:r>
          <a:rPr lang="en-US"/>
          <a:t>Review documents for Clarity</a:t>
        </a:r>
      </a:p>
    </p188:txBody>
  </p188:cm>
</p188:cmLst>
</file>

<file path=ppt/comments/modernComment_1E6_B49544B.xml><?xml version="1.0" encoding="utf-8"?>
<p188:cmLst xmlns:a="http://schemas.openxmlformats.org/drawingml/2006/main" xmlns:r="http://schemas.openxmlformats.org/officeDocument/2006/relationships" xmlns:p188="http://schemas.microsoft.com/office/powerpoint/2018/8/main">
  <p188:cm id="{D70264BD-F703-4BEB-A01F-E62BF3D4CECE}" authorId="{8892B05B-E117-52AD-3F68-AE601404E83B}" created="2025-06-11T03:13:51.580">
    <ac:deMkLst xmlns:ac="http://schemas.microsoft.com/office/drawing/2013/main/command">
      <pc:docMk xmlns:pc="http://schemas.microsoft.com/office/powerpoint/2013/main/command"/>
      <pc:sldMk xmlns:pc="http://schemas.microsoft.com/office/powerpoint/2013/main/command" cId="189355083" sldId="486"/>
      <ac:spMk id="2" creationId="{8193203F-71F5-B6FA-4289-26A39CFBAAE0}"/>
    </ac:deMkLst>
    <p188:replyLst>
      <p188:reply id="{12DC3590-620F-4E51-AAB2-BB2BB33A077E}" authorId="{8892B05B-E117-52AD-3F68-AE601404E83B}" created="2025-06-11T03:14:47.753">
        <p188:txBody>
          <a:bodyPr/>
          <a:lstStyle/>
          <a:p>
            <a:r>
              <a:rPr lang="en-US"/>
              <a:t>View Certificate - with it being public, do we really need it listed?</a:t>
            </a:r>
          </a:p>
        </p188:txBody>
      </p188:reply>
      <p188:reply id="{96DBE419-823D-424F-97CA-F60452392ECA}" authorId="{8892B05B-E117-52AD-3F68-AE601404E83B}" created="2025-06-11T03:15:46.258">
        <p188:txBody>
          <a:bodyPr/>
          <a:lstStyle/>
          <a:p>
            <a:r>
              <a:rPr lang="en-US"/>
              <a:t>DISCUSS: Adding Status access (can they only see active certs, expired, confidential, etc. )</a:t>
            </a:r>
          </a:p>
        </p188:txBody>
      </p188:reply>
      <p188:reply id="{7501116E-8FCD-4BA4-91FE-217F506319E1}" authorId="{8892B05B-E117-52AD-3F68-AE601404E83B}" created="2025-06-11T03:18:49.218">
        <p188:txBody>
          <a:bodyPr/>
          <a:lstStyle/>
          <a:p>
            <a:r>
              <a:rPr lang="en-US"/>
              <a:t>How is field access handled by role user?</a:t>
            </a:r>
          </a:p>
        </p188:txBody>
      </p188:reply>
    </p188:replyLst>
    <p188:txBody>
      <a:bodyPr/>
      <a:lstStyle/>
      <a:p>
        <a:r>
          <a:rPr lang="en-US"/>
          <a:t>Certificate Management: 
- REVIEW: May need to extend this to view products vs manage based on giving access to products to clients and partners. </a:t>
        </a:r>
      </a:p>
    </p188:txBody>
  </p188:cm>
</p188:cmLst>
</file>

<file path=ppt/comments/modernComment_1F2_23F17660.xml><?xml version="1.0" encoding="utf-8"?>
<p188:cmLst xmlns:a="http://schemas.openxmlformats.org/drawingml/2006/main" xmlns:r="http://schemas.openxmlformats.org/officeDocument/2006/relationships" xmlns:p188="http://schemas.microsoft.com/office/powerpoint/2018/8/main">
  <p188:cm id="{CA3E18F1-7FAB-4BDC-ABD8-4F84C53AA328}" authorId="{8892B05B-E117-52AD-3F68-AE601404E83B}" status="resolved" created="2025-03-12T16:06:10.434">
    <ac:deMkLst xmlns:ac="http://schemas.microsoft.com/office/drawing/2013/main/command">
      <pc:docMk xmlns:pc="http://schemas.microsoft.com/office/powerpoint/2013/main/command"/>
      <pc:sldMk xmlns:pc="http://schemas.microsoft.com/office/powerpoint/2013/main/command" cId="3647497128" sldId="377"/>
      <ac:picMk id="8" creationId="{84AC0DB4-99DE-B809-4525-5D9CFCD3A66E}"/>
    </ac:deMkLst>
    <p188:txBody>
      <a:bodyPr/>
      <a:lstStyle/>
      <a:p>
        <a:r>
          <a:rPr lang="en-US"/>
          <a:t>What are the options for Sort By?</a:t>
        </a:r>
      </a:p>
    </p188:txBody>
  </p188:cm>
</p188:cmLst>
</file>

<file path=ppt/comments/modernComment_1F7_F2AEEA55.xml><?xml version="1.0" encoding="utf-8"?>
<p188:cmLst xmlns:a="http://schemas.openxmlformats.org/drawingml/2006/main" xmlns:r="http://schemas.openxmlformats.org/officeDocument/2006/relationships" xmlns:p188="http://schemas.microsoft.com/office/powerpoint/2018/8/main">
  <p188:cm id="{1C2BFF30-4A6A-4D64-9AA3-AF5BA4FBB7A8}" authorId="{8892B05B-E117-52AD-3F68-AE601404E83B}" created="2025-06-11T04:54:49.973">
    <pc:sldMkLst xmlns:pc="http://schemas.microsoft.com/office/powerpoint/2013/main/command">
      <pc:docMk/>
      <pc:sldMk cId="227883026" sldId="381"/>
    </pc:sldMkLst>
    <p188:txBody>
      <a:bodyPr/>
      <a:lstStyle/>
      <a:p>
        <a:r>
          <a:rPr lang="en-US"/>
          <a:t>Add Column Company between Name and Email.</a:t>
        </a:r>
      </a:p>
    </p188:txBody>
  </p188:cm>
</p188:cmLst>
</file>

<file path=ppt/comments/modernComment_1F8_FFED70DE.xml><?xml version="1.0" encoding="utf-8"?>
<p188:cmLst xmlns:a="http://schemas.openxmlformats.org/drawingml/2006/main" xmlns:r="http://schemas.openxmlformats.org/officeDocument/2006/relationships" xmlns:p188="http://schemas.microsoft.com/office/powerpoint/2018/8/main">
  <p188:cm id="{FEA71F2D-DF8C-44F6-80CC-0304A4218C9E}" authorId="{8892B05B-E117-52AD-3F68-AE601404E83B}" created="2025-06-11T04:54:49.973">
    <pc:sldMkLst xmlns:pc="http://schemas.microsoft.com/office/powerpoint/2013/main/command">
      <pc:docMk/>
      <pc:sldMk cId="227883026" sldId="381"/>
    </pc:sldMkLst>
    <p188:txBody>
      <a:bodyPr/>
      <a:lstStyle/>
      <a:p>
        <a:r>
          <a:rPr lang="en-US"/>
          <a:t>Add Column Company between Name and Email.</a:t>
        </a:r>
      </a:p>
    </p188:txBody>
  </p188:cm>
</p188:cmLst>
</file>

<file path=ppt/comments/modernComment_1FA_699C0889.xml><?xml version="1.0" encoding="utf-8"?>
<p188:cmLst xmlns:a="http://schemas.openxmlformats.org/drawingml/2006/main" xmlns:r="http://schemas.openxmlformats.org/officeDocument/2006/relationships" xmlns:p188="http://schemas.microsoft.com/office/powerpoint/2018/8/main">
  <p188:cm id="{DC9B51BC-545B-463B-BCA0-8F33A49B3044}" authorId="{8892B05B-E117-52AD-3F68-AE601404E83B}" created="2025-06-11T04:54:49.973">
    <pc:sldMkLst xmlns:pc="http://schemas.microsoft.com/office/powerpoint/2013/main/command">
      <pc:docMk/>
      <pc:sldMk cId="227883026" sldId="381"/>
    </pc:sldMkLst>
    <p188:txBody>
      <a:bodyPr/>
      <a:lstStyle/>
      <a:p>
        <a:r>
          <a:rPr lang="en-US"/>
          <a:t>Add Column Company between Name and Email.</a:t>
        </a:r>
      </a:p>
    </p188:txBody>
  </p188:cm>
</p188:cmLst>
</file>

<file path=ppt/comments/modernComment_16F_38404EE6.xml><?xml version="1.0" encoding="utf-8"?>
<p188:cmLst xmlns:a="http://schemas.openxmlformats.org/drawingml/2006/main" xmlns:r="http://schemas.openxmlformats.org/officeDocument/2006/relationships" xmlns:p188="http://schemas.microsoft.com/office/powerpoint/2018/8/main">
  <p188:cm id="{DC0FEDB2-41C6-4E1F-BE47-54BD80303C72}" authorId="{8892B05B-E117-52AD-3F68-AE601404E83B}" created="2025-03-12T15:59:46.717">
    <ac:txMkLst xmlns:ac="http://schemas.microsoft.com/office/drawing/2013/main/command">
      <pc:docMk xmlns:pc="http://schemas.microsoft.com/office/powerpoint/2013/main/command"/>
      <pc:sldMk xmlns:pc="http://schemas.microsoft.com/office/powerpoint/2013/main/command" cId="943738598" sldId="367"/>
      <ac:spMk id="2" creationId="{5BA61F2D-8802-6399-2D12-834453AE289D}"/>
      <ac:txMk cp="0" len="10">
        <ac:context len="11" hash="3438511650"/>
      </ac:txMk>
    </ac:txMkLst>
    <p188:pos x="6677025" y="1863127"/>
    <p188:txBody>
      <a:bodyPr/>
      <a:lstStyle/>
      <a:p>
        <a:r>
          <a:rPr lang="en-US"/>
          <a:t>Where is the list of backend functionality that is happening behind the scenes - certification numbering, public listing based on status, etc. </a:t>
        </a:r>
      </a:p>
    </p188:txBody>
  </p188:cm>
</p188:cmLst>
</file>

<file path=ppt/comments/modernComment_17D_D953812.xml><?xml version="1.0" encoding="utf-8"?>
<p188:cmLst xmlns:a="http://schemas.openxmlformats.org/drawingml/2006/main" xmlns:r="http://schemas.openxmlformats.org/officeDocument/2006/relationships" xmlns:p188="http://schemas.microsoft.com/office/powerpoint/2018/8/main">
  <p188:cm id="{C178F186-CE6C-41FC-83A3-BB463543B263}" authorId="{8892B05B-E117-52AD-3F68-AE601404E83B}" created="2025-06-11T04:54:49.973">
    <pc:sldMkLst xmlns:pc="http://schemas.microsoft.com/office/powerpoint/2013/main/command">
      <pc:docMk/>
      <pc:sldMk cId="227883026" sldId="381"/>
    </pc:sldMkLst>
    <p188:txBody>
      <a:bodyPr/>
      <a:lstStyle/>
      <a:p>
        <a:r>
          <a:rPr lang="en-US"/>
          <a:t>Add Column Company between Name and Email.</a:t>
        </a:r>
      </a:p>
    </p188:txBody>
  </p188:cm>
</p188:cmLst>
</file>

<file path=ppt/comments/modernComment_18B_7907B08A.xml><?xml version="1.0" encoding="utf-8"?>
<p188:cmLst xmlns:a="http://schemas.openxmlformats.org/drawingml/2006/main" xmlns:r="http://schemas.openxmlformats.org/officeDocument/2006/relationships" xmlns:p188="http://schemas.microsoft.com/office/powerpoint/2018/8/main">
  <p188:cm id="{E96715DB-A402-4AD0-A249-4F30E278FE95}" authorId="{8892B05B-E117-52AD-3F68-AE601404E83B}" created="2025-06-11T01:44:10.191">
    <ac:deMkLst xmlns:ac="http://schemas.microsoft.com/office/drawing/2013/main/command">
      <pc:docMk xmlns:pc="http://schemas.microsoft.com/office/powerpoint/2013/main/command"/>
      <pc:sldMk xmlns:pc="http://schemas.microsoft.com/office/powerpoint/2013/main/command" cId="2030547082" sldId="395"/>
      <ac:spMk id="2" creationId="{992E59C9-0367-9241-BE81-8D150A9F70A7}"/>
    </ac:deMkLst>
    <p188:txBody>
      <a:bodyPr/>
      <a:lstStyle/>
      <a:p>
        <a:r>
          <a:rPr lang="en-US"/>
          <a:t>This page is the same as Add with the exception of CRUD operations. 
Per Carly: combine these to reduce confusion. </a:t>
        </a:r>
      </a:p>
    </p188:txBody>
  </p188:cm>
</p188:cmLst>
</file>

<file path=ppt/comments/modernComment_192_92FE78C8.xml><?xml version="1.0" encoding="utf-8"?>
<p188:cmLst xmlns:a="http://schemas.openxmlformats.org/drawingml/2006/main" xmlns:r="http://schemas.openxmlformats.org/officeDocument/2006/relationships" xmlns:p188="http://schemas.microsoft.com/office/powerpoint/2018/8/main">
  <p188:cm id="{9355F843-F015-47A9-B2F1-1F25007E801D}" authorId="{8892B05B-E117-52AD-3F68-AE601404E83B}" created="2025-03-13T23:06:58.973">
    <ac:txMkLst xmlns:ac="http://schemas.microsoft.com/office/drawing/2013/main/command">
      <pc:docMk xmlns:pc="http://schemas.microsoft.com/office/powerpoint/2013/main/command"/>
      <pc:sldMk xmlns:pc="http://schemas.microsoft.com/office/powerpoint/2013/main/command" cId="2466150600" sldId="402"/>
      <ac:spMk id="3" creationId="{F3FE0DA2-A439-40C8-28CB-A2C43F57C672}"/>
      <ac:txMk cp="43">
        <ac:context len="703" hash="3965113112"/>
      </ac:txMk>
    </ac:txMkLst>
    <p188:pos x="8653781" y="1285599"/>
    <p188:txBody>
      <a:bodyPr/>
      <a:lstStyle/>
      <a:p>
        <a:r>
          <a:rPr lang="en-US"/>
          <a:t>this is for when adding cert -- but they can download cert</a:t>
        </a:r>
      </a:p>
    </p188:txBody>
  </p188:cm>
  <p188:cm id="{CC471090-0CCD-41FA-BD10-2575013F76CE}" authorId="{8892B05B-E117-52AD-3F68-AE601404E83B}" created="2025-03-13T23:07:48.878">
    <ac:txMkLst xmlns:ac="http://schemas.microsoft.com/office/drawing/2013/main/command">
      <pc:docMk xmlns:pc="http://schemas.microsoft.com/office/powerpoint/2013/main/command"/>
      <pc:sldMk xmlns:pc="http://schemas.microsoft.com/office/powerpoint/2013/main/command" cId="2466150600" sldId="402"/>
      <ac:spMk id="3" creationId="{F3FE0DA2-A439-40C8-28CB-A2C43F57C672}"/>
      <ac:txMk cp="43">
        <ac:context len="703" hash="3965113112"/>
      </ac:txMk>
    </ac:txMkLst>
    <p188:pos x="2433455" y="1285599"/>
    <p188:txBody>
      <a:bodyPr/>
      <a:lstStyle/>
      <a:p>
        <a:r>
          <a:rPr lang="en-US"/>
          <a:t>this doesn't make sense to list</a:t>
        </a:r>
      </a:p>
    </p188:txBody>
  </p188:cm>
  <p188:cm id="{3CAEE60A-5BD7-436C-999A-4458F84B8A67}" authorId="{8892B05B-E117-52AD-3F68-AE601404E83B}" created="2025-03-13T23:08:33.413">
    <ac:txMkLst xmlns:ac="http://schemas.microsoft.com/office/drawing/2013/main/command">
      <pc:docMk xmlns:pc="http://schemas.microsoft.com/office/powerpoint/2013/main/command"/>
      <pc:sldMk xmlns:pc="http://schemas.microsoft.com/office/powerpoint/2013/main/command" cId="2466150600" sldId="402"/>
      <ac:spMk id="3" creationId="{F3FE0DA2-A439-40C8-28CB-A2C43F57C672}"/>
      <ac:txMk cp="195" len="4">
        <ac:context len="703" hash="3965113112"/>
      </ac:txMk>
    </ac:txMkLst>
    <p188:pos x="1675465" y="2031557"/>
    <p188:txBody>
      <a:bodyPr/>
      <a:lstStyle/>
      <a:p>
        <a:r>
          <a:rPr lang="en-US"/>
          <a:t>What sort option are available?</a:t>
        </a:r>
      </a:p>
    </p188:txBody>
  </p188:cm>
</p188:cmLst>
</file>

<file path=ppt/comments/modernComment_193_FBE5591B.xml><?xml version="1.0" encoding="utf-8"?>
<p188:cmLst xmlns:a="http://schemas.openxmlformats.org/drawingml/2006/main" xmlns:r="http://schemas.openxmlformats.org/officeDocument/2006/relationships" xmlns:p188="http://schemas.microsoft.com/office/powerpoint/2018/8/main">
  <p188:cm id="{5120BB2C-5A66-415A-9A94-4C8F5FD175E0}" authorId="{8892B05B-E117-52AD-3F68-AE601404E83B}" created="2025-03-13T23:21:38.384">
    <ac:txMkLst xmlns:ac="http://schemas.microsoft.com/office/drawing/2013/main/command">
      <pc:docMk xmlns:pc="http://schemas.microsoft.com/office/powerpoint/2013/main/command"/>
      <pc:sldMk xmlns:pc="http://schemas.microsoft.com/office/powerpoint/2013/main/command" cId="4226111771" sldId="403"/>
      <ac:spMk id="3" creationId="{EB5E93FB-5332-ECA6-9089-AFF532D27CD9}"/>
      <ac:txMk cp="1131" len="91">
        <ac:context len="1223" hash="2621742321"/>
      </ac:txMk>
    </ac:txMkLst>
    <p188:pos x="5461103" y="2721307"/>
    <p188:replyLst>
      <p188:reply id="{EDD022A6-7D09-490A-8E15-66DFF229025E}" authorId="{8892B05B-E117-52AD-3F68-AE601404E83B}" created="2025-06-11T01:38:45.378">
        <p188:txBody>
          <a:bodyPr/>
          <a:lstStyle/>
          <a:p>
            <a:r>
              <a:rPr lang="en-US"/>
              <a:t>Not right now. </a:t>
            </a:r>
          </a:p>
        </p188:txBody>
      </p188:reply>
    </p188:replyLst>
    <p188:txBody>
      <a:bodyPr/>
      <a:lstStyle/>
      <a:p>
        <a:r>
          <a:rPr lang="en-US"/>
          <a:t>Will not be something we do right away but could use later if it's there (but then would need different tile layout)</a:t>
        </a:r>
      </a:p>
    </p188:txBody>
  </p188:cm>
  <p188:cm id="{DD6E5187-43CA-4E72-AD78-261868ED668E}" authorId="{8892B05B-E117-52AD-3F68-AE601404E83B}" created="2025-06-11T01:18:33.569">
    <ac:deMkLst xmlns:ac="http://schemas.microsoft.com/office/drawing/2013/main/command">
      <pc:docMk xmlns:pc="http://schemas.microsoft.com/office/powerpoint/2013/main/command"/>
      <pc:sldMk xmlns:pc="http://schemas.microsoft.com/office/powerpoint/2013/main/command" cId="4226111771" sldId="403"/>
      <ac:spMk id="3" creationId="{EB5E93FB-5332-ECA6-9089-AFF532D27CD9}"/>
    </ac:deMkLst>
    <p188:txBody>
      <a:bodyPr/>
      <a:lstStyle/>
      <a:p>
        <a:r>
          <a:rPr lang="en-US"/>
          <a:t>The repeat is to list what will be displayed on that page and by role. 
</a:t>
        </a:r>
      </a:p>
    </p188:txBody>
  </p188:cm>
</p188:cmLst>
</file>

<file path=ppt/comments/modernComment_196_E8C294A1.xml><?xml version="1.0" encoding="utf-8"?>
<p188:cmLst xmlns:a="http://schemas.openxmlformats.org/drawingml/2006/main" xmlns:r="http://schemas.openxmlformats.org/officeDocument/2006/relationships" xmlns:p188="http://schemas.microsoft.com/office/powerpoint/2018/8/main">
  <p188:cm id="{2DCDAB7B-25A1-4F62-A970-1B7B8FAA8B00}" authorId="{8892B05B-E117-52AD-3F68-AE601404E83B}" created="2025-03-14T20:45:19.741">
    <pc:sldMkLst xmlns:pc="http://schemas.microsoft.com/office/powerpoint/2013/main/command">
      <pc:docMk/>
      <pc:sldMk cId="3905066145" sldId="406"/>
    </pc:sldMkLst>
    <p188:txBody>
      <a:bodyPr/>
      <a:lstStyle/>
      <a:p>
        <a:r>
          <a:rPr lang="en-US"/>
          <a:t>Add the metrics that will be attached, GCC wants to know what would these be?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53" tIns="48327" rIns="96653" bIns="48327" rtlCol="0"/>
          <a:lstStyle>
            <a:lvl1pPr algn="l">
              <a:defRPr sz="12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53" tIns="48327" rIns="96653" bIns="48327" rtlCol="0"/>
          <a:lstStyle>
            <a:lvl1pPr algn="r">
              <a:defRPr sz="1200"/>
            </a:lvl1pPr>
          </a:lstStyle>
          <a:p>
            <a:fld id="{1904ED56-815F-4152-9F12-EA9FD3F07DC0}" type="datetimeFigureOut">
              <a:t>9/18/2025</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53" tIns="48327" rIns="96653" bIns="48327"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53" tIns="48327" rIns="96653" bIns="4832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1726"/>
          </a:xfrm>
          <a:prstGeom prst="rect">
            <a:avLst/>
          </a:prstGeom>
        </p:spPr>
        <p:txBody>
          <a:bodyPr vert="horz" lIns="96653" tIns="48327" rIns="96653" bIns="48327"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6653" tIns="48327" rIns="96653" bIns="48327" rtlCol="0" anchor="b"/>
          <a:lstStyle>
            <a:lvl1pPr algn="r">
              <a:defRPr sz="1200"/>
            </a:lvl1pPr>
          </a:lstStyle>
          <a:p>
            <a:fld id="{AFF60533-1213-4FCB-A4AA-C44494E2E2E7}" type="slidenum">
              <a:t>‹#›</a:t>
            </a:fld>
            <a:endParaRPr lang="en-US"/>
          </a:p>
        </p:txBody>
      </p:sp>
    </p:spTree>
    <p:extLst>
      <p:ext uri="{BB962C8B-B14F-4D97-AF65-F5344CB8AC3E}">
        <p14:creationId xmlns:p14="http://schemas.microsoft.com/office/powerpoint/2010/main" val="3155014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2</a:t>
            </a:fld>
            <a:endParaRPr lang="en-US"/>
          </a:p>
        </p:txBody>
      </p:sp>
    </p:spTree>
    <p:extLst>
      <p:ext uri="{BB962C8B-B14F-4D97-AF65-F5344CB8AC3E}">
        <p14:creationId xmlns:p14="http://schemas.microsoft.com/office/powerpoint/2010/main" val="22224372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4</a:t>
            </a:fld>
            <a:endParaRPr lang="en-US"/>
          </a:p>
        </p:txBody>
      </p:sp>
    </p:spTree>
    <p:extLst>
      <p:ext uri="{BB962C8B-B14F-4D97-AF65-F5344CB8AC3E}">
        <p14:creationId xmlns:p14="http://schemas.microsoft.com/office/powerpoint/2010/main" val="40631284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5</a:t>
            </a:fld>
            <a:endParaRPr lang="en-US"/>
          </a:p>
        </p:txBody>
      </p:sp>
    </p:spTree>
    <p:extLst>
      <p:ext uri="{BB962C8B-B14F-4D97-AF65-F5344CB8AC3E}">
        <p14:creationId xmlns:p14="http://schemas.microsoft.com/office/powerpoint/2010/main" val="20248629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6</a:t>
            </a:fld>
            <a:endParaRPr lang="en-US"/>
          </a:p>
        </p:txBody>
      </p:sp>
    </p:spTree>
    <p:extLst>
      <p:ext uri="{BB962C8B-B14F-4D97-AF65-F5344CB8AC3E}">
        <p14:creationId xmlns:p14="http://schemas.microsoft.com/office/powerpoint/2010/main" val="5303679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7</a:t>
            </a:fld>
            <a:endParaRPr lang="en-US"/>
          </a:p>
        </p:txBody>
      </p:sp>
    </p:spTree>
    <p:extLst>
      <p:ext uri="{BB962C8B-B14F-4D97-AF65-F5344CB8AC3E}">
        <p14:creationId xmlns:p14="http://schemas.microsoft.com/office/powerpoint/2010/main" val="1039410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64488" lvl="1" indent="-181225">
              <a:buFontTx/>
              <a:buChar char="-"/>
            </a:pPr>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8</a:t>
            </a:fld>
            <a:endParaRPr lang="en-US"/>
          </a:p>
        </p:txBody>
      </p:sp>
    </p:spTree>
    <p:extLst>
      <p:ext uri="{BB962C8B-B14F-4D97-AF65-F5344CB8AC3E}">
        <p14:creationId xmlns:p14="http://schemas.microsoft.com/office/powerpoint/2010/main" val="21064312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622C7-E3EB-2E27-1C11-A65076D959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AF3AB5-A71A-50E8-359A-5639646771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A5268C-A935-8AC5-A4C1-2C647B4A7F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2D97C5-DADC-CDBE-4866-104B4663019B}"/>
              </a:ext>
            </a:extLst>
          </p:cNvPr>
          <p:cNvSpPr>
            <a:spLocks noGrp="1"/>
          </p:cNvSpPr>
          <p:nvPr>
            <p:ph type="sldNum" sz="quarter" idx="5"/>
          </p:nvPr>
        </p:nvSpPr>
        <p:spPr/>
        <p:txBody>
          <a:bodyPr/>
          <a:lstStyle/>
          <a:p>
            <a:fld id="{AFF60533-1213-4FCB-A4AA-C44494E2E2E7}" type="slidenum">
              <a:rPr lang="en-US" smtClean="0"/>
              <a:t>9</a:t>
            </a:fld>
            <a:endParaRPr lang="en-US"/>
          </a:p>
        </p:txBody>
      </p:sp>
    </p:spTree>
    <p:extLst>
      <p:ext uri="{BB962C8B-B14F-4D97-AF65-F5344CB8AC3E}">
        <p14:creationId xmlns:p14="http://schemas.microsoft.com/office/powerpoint/2010/main" val="41125975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B1695-3A39-BBA0-13CD-1148EBFB5D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758592-DAAB-54B8-27C9-D033308132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831DD5-2BB9-991A-893E-090502D96D3F}"/>
              </a:ext>
            </a:extLst>
          </p:cNvPr>
          <p:cNvSpPr>
            <a:spLocks noGrp="1"/>
          </p:cNvSpPr>
          <p:nvPr>
            <p:ph type="body" idx="1"/>
          </p:nvPr>
        </p:nvSpPr>
        <p:spPr/>
        <p:txBody>
          <a:bodyPr/>
          <a:lstStyle/>
          <a:p>
            <a:pPr marL="664488" lvl="1" indent="-181225">
              <a:buFontTx/>
              <a:buChar char="-"/>
            </a:pPr>
            <a:endParaRPr lang="en-US" dirty="0"/>
          </a:p>
        </p:txBody>
      </p:sp>
      <p:sp>
        <p:nvSpPr>
          <p:cNvPr id="4" name="Slide Number Placeholder 3">
            <a:extLst>
              <a:ext uri="{FF2B5EF4-FFF2-40B4-BE49-F238E27FC236}">
                <a16:creationId xmlns:a16="http://schemas.microsoft.com/office/drawing/2014/main" id="{7F98E825-3A4C-3EA7-A4A6-ABB6D4A8DE70}"/>
              </a:ext>
            </a:extLst>
          </p:cNvPr>
          <p:cNvSpPr>
            <a:spLocks noGrp="1"/>
          </p:cNvSpPr>
          <p:nvPr>
            <p:ph type="sldNum" sz="quarter" idx="5"/>
          </p:nvPr>
        </p:nvSpPr>
        <p:spPr/>
        <p:txBody>
          <a:bodyPr/>
          <a:lstStyle/>
          <a:p>
            <a:fld id="{AFF60533-1213-4FCB-A4AA-C44494E2E2E7}" type="slidenum">
              <a:rPr lang="en-US" smtClean="0"/>
              <a:t>10</a:t>
            </a:fld>
            <a:endParaRPr lang="en-US"/>
          </a:p>
        </p:txBody>
      </p:sp>
    </p:spTree>
    <p:extLst>
      <p:ext uri="{BB962C8B-B14F-4D97-AF65-F5344CB8AC3E}">
        <p14:creationId xmlns:p14="http://schemas.microsoft.com/office/powerpoint/2010/main" val="3106052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529">
              <a:defRPr/>
            </a:pPr>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11</a:t>
            </a:fld>
            <a:endParaRPr lang="en-US"/>
          </a:p>
        </p:txBody>
      </p:sp>
    </p:spTree>
    <p:extLst>
      <p:ext uri="{BB962C8B-B14F-4D97-AF65-F5344CB8AC3E}">
        <p14:creationId xmlns:p14="http://schemas.microsoft.com/office/powerpoint/2010/main" val="38373190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12</a:t>
            </a:fld>
            <a:endParaRPr lang="en-US"/>
          </a:p>
        </p:txBody>
      </p:sp>
    </p:spTree>
    <p:extLst>
      <p:ext uri="{BB962C8B-B14F-4D97-AF65-F5344CB8AC3E}">
        <p14:creationId xmlns:p14="http://schemas.microsoft.com/office/powerpoint/2010/main" val="23258426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F2936-5578-EB64-E5AA-B0BCE29333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F61456-81A7-B6AE-BEBF-B806605B99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848D60-E7C0-C0C1-6090-35A140FC0A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B12399-33A7-33EC-1581-CE2AD53F90DC}"/>
              </a:ext>
            </a:extLst>
          </p:cNvPr>
          <p:cNvSpPr>
            <a:spLocks noGrp="1"/>
          </p:cNvSpPr>
          <p:nvPr>
            <p:ph type="sldNum" sz="quarter" idx="5"/>
          </p:nvPr>
        </p:nvSpPr>
        <p:spPr/>
        <p:txBody>
          <a:bodyPr/>
          <a:lstStyle/>
          <a:p>
            <a:fld id="{AFF60533-1213-4FCB-A4AA-C44494E2E2E7}" type="slidenum">
              <a:rPr lang="en-US" smtClean="0"/>
              <a:t>16</a:t>
            </a:fld>
            <a:endParaRPr lang="en-US"/>
          </a:p>
        </p:txBody>
      </p:sp>
    </p:spTree>
    <p:extLst>
      <p:ext uri="{BB962C8B-B14F-4D97-AF65-F5344CB8AC3E}">
        <p14:creationId xmlns:p14="http://schemas.microsoft.com/office/powerpoint/2010/main" val="13598071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AEB4F-0C00-699B-FB88-AD292FF9A9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7568CA-7BA8-5F4F-1006-3CDBAD7D8F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88B801-1C2D-C386-9753-BD5123E5DC20}"/>
              </a:ext>
            </a:extLst>
          </p:cNvPr>
          <p:cNvSpPr>
            <a:spLocks noGrp="1"/>
          </p:cNvSpPr>
          <p:nvPr>
            <p:ph type="body" idx="1"/>
          </p:nvPr>
        </p:nvSpPr>
        <p:spPr/>
        <p:txBody>
          <a:bodyPr/>
          <a:lstStyle/>
          <a:p>
            <a:r>
              <a:rPr lang="en-US" b="1" dirty="0"/>
              <a:t>Primary Colors</a:t>
            </a:r>
          </a:p>
          <a:p>
            <a:r>
              <a:rPr lang="en-US" b="1" dirty="0"/>
              <a:t>Green Primary</a:t>
            </a:r>
            <a:r>
              <a:rPr lang="en-US" dirty="0"/>
              <a:t>: #92C83E (Used for success actions, add buttons, positive feedback)</a:t>
            </a:r>
          </a:p>
          <a:p>
            <a:r>
              <a:rPr lang="en-US" b="1" dirty="0"/>
              <a:t>Green Secondary</a:t>
            </a:r>
            <a:r>
              <a:rPr lang="en-US" dirty="0"/>
              <a:t>: #447638 (Darker green variant)</a:t>
            </a:r>
          </a:p>
          <a:p>
            <a:r>
              <a:rPr lang="en-US" b="1" dirty="0"/>
              <a:t>Blue Primary</a:t>
            </a:r>
            <a:r>
              <a:rPr lang="en-US" dirty="0"/>
              <a:t>: #00AEEF (Used for primary actions, navigation links, focus states)</a:t>
            </a:r>
          </a:p>
          <a:p>
            <a:r>
              <a:rPr lang="en-US" b="1" dirty="0"/>
              <a:t>Blue Dark</a:t>
            </a:r>
            <a:r>
              <a:rPr lang="en-US" dirty="0"/>
              <a:t>: #002B76 (Used for headers, titles, dark text)</a:t>
            </a:r>
          </a:p>
          <a:p>
            <a:r>
              <a:rPr lang="en-US" b="1" dirty="0"/>
              <a:t>Functional Colors</a:t>
            </a:r>
          </a:p>
          <a:p>
            <a:r>
              <a:rPr lang="en-US" b="1" dirty="0"/>
              <a:t>Success</a:t>
            </a:r>
            <a:r>
              <a:rPr lang="en-US" dirty="0"/>
              <a:t>: #92C83E (Same as Green Primary)</a:t>
            </a:r>
          </a:p>
          <a:p>
            <a:r>
              <a:rPr lang="en-US" b="1" dirty="0"/>
              <a:t>Error/Warning</a:t>
            </a:r>
            <a:r>
              <a:rPr lang="en-US" dirty="0"/>
              <a:t>: #ff5252 (Red for errors and destructive actions)</a:t>
            </a:r>
          </a:p>
          <a:p>
            <a:r>
              <a:rPr lang="en-US" b="1" dirty="0"/>
              <a:t>Warning Background</a:t>
            </a:r>
            <a:r>
              <a:rPr lang="en-US" dirty="0"/>
              <a:t>: #FFE9A3 (Light yellow for warning notifications)</a:t>
            </a:r>
          </a:p>
          <a:p>
            <a:r>
              <a:rPr lang="en-US" b="1" dirty="0"/>
              <a:t>Info</a:t>
            </a:r>
            <a:r>
              <a:rPr lang="en-US" dirty="0"/>
              <a:t>: #336699 (For informational messages)</a:t>
            </a:r>
          </a:p>
          <a:p>
            <a:endParaRPr lang="en-US" dirty="0"/>
          </a:p>
        </p:txBody>
      </p:sp>
      <p:sp>
        <p:nvSpPr>
          <p:cNvPr id="4" name="Slide Number Placeholder 3">
            <a:extLst>
              <a:ext uri="{FF2B5EF4-FFF2-40B4-BE49-F238E27FC236}">
                <a16:creationId xmlns:a16="http://schemas.microsoft.com/office/drawing/2014/main" id="{332D74DC-269E-7586-A842-358B90B95C87}"/>
              </a:ext>
            </a:extLst>
          </p:cNvPr>
          <p:cNvSpPr>
            <a:spLocks noGrp="1"/>
          </p:cNvSpPr>
          <p:nvPr>
            <p:ph type="sldNum" sz="quarter" idx="5"/>
          </p:nvPr>
        </p:nvSpPr>
        <p:spPr/>
        <p:txBody>
          <a:bodyPr/>
          <a:lstStyle/>
          <a:p>
            <a:fld id="{AFF60533-1213-4FCB-A4AA-C44494E2E2E7}" type="slidenum">
              <a:rPr lang="en-US" smtClean="0"/>
              <a:t>17</a:t>
            </a:fld>
            <a:endParaRPr lang="en-US"/>
          </a:p>
        </p:txBody>
      </p:sp>
    </p:spTree>
    <p:extLst>
      <p:ext uri="{BB962C8B-B14F-4D97-AF65-F5344CB8AC3E}">
        <p14:creationId xmlns:p14="http://schemas.microsoft.com/office/powerpoint/2010/main" val="19479873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40591-09B0-2E2A-E70D-100AD02493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E3C15B-BA46-AAB2-5AD6-8A8A48DB89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8F22A8-EAD1-55CE-77C4-D8E4FF74F553}"/>
              </a:ext>
            </a:extLst>
          </p:cNvPr>
          <p:cNvSpPr>
            <a:spLocks noGrp="1"/>
          </p:cNvSpPr>
          <p:nvPr>
            <p:ph type="body" idx="1"/>
          </p:nvPr>
        </p:nvSpPr>
        <p:spPr/>
        <p:txBody>
          <a:bodyPr/>
          <a:lstStyle/>
          <a:p>
            <a:pPr marL="483265" lvl="1"/>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AD657C02-2C14-C39D-7BAF-AA8E42973A59}"/>
              </a:ext>
            </a:extLst>
          </p:cNvPr>
          <p:cNvSpPr>
            <a:spLocks noGrp="1"/>
          </p:cNvSpPr>
          <p:nvPr>
            <p:ph type="sldNum" sz="quarter" idx="5"/>
          </p:nvPr>
        </p:nvSpPr>
        <p:spPr/>
        <p:txBody>
          <a:bodyPr/>
          <a:lstStyle/>
          <a:p>
            <a:fld id="{AFF60533-1213-4FCB-A4AA-C44494E2E2E7}" type="slidenum">
              <a:rPr lang="en-US" smtClean="0"/>
              <a:t>18</a:t>
            </a:fld>
            <a:endParaRPr lang="en-US"/>
          </a:p>
        </p:txBody>
      </p:sp>
    </p:spTree>
    <p:extLst>
      <p:ext uri="{BB962C8B-B14F-4D97-AF65-F5344CB8AC3E}">
        <p14:creationId xmlns:p14="http://schemas.microsoft.com/office/powerpoint/2010/main" val="3013282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E892C-DDC6-9829-020D-63B1095C4D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2504F0-4C35-FE6D-0AD9-E26259E480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47E836-8C9F-895D-0E77-9900FCDF14AB}"/>
              </a:ext>
            </a:extLst>
          </p:cNvPr>
          <p:cNvSpPr>
            <a:spLocks noGrp="1"/>
          </p:cNvSpPr>
          <p:nvPr>
            <p:ph type="body" idx="1"/>
          </p:nvPr>
        </p:nvSpPr>
        <p:spPr/>
        <p:txBody>
          <a:bodyPr/>
          <a:lstStyle/>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F89A1151-FE54-3C3A-8A0B-0C54F110883A}"/>
              </a:ext>
            </a:extLst>
          </p:cNvPr>
          <p:cNvSpPr>
            <a:spLocks noGrp="1"/>
          </p:cNvSpPr>
          <p:nvPr>
            <p:ph type="sldNum" sz="quarter" idx="5"/>
          </p:nvPr>
        </p:nvSpPr>
        <p:spPr/>
        <p:txBody>
          <a:bodyPr/>
          <a:lstStyle/>
          <a:p>
            <a:fld id="{AFF60533-1213-4FCB-A4AA-C44494E2E2E7}" type="slidenum">
              <a:rPr lang="en-US" smtClean="0"/>
              <a:t>19</a:t>
            </a:fld>
            <a:endParaRPr lang="en-US"/>
          </a:p>
        </p:txBody>
      </p:sp>
    </p:spTree>
    <p:extLst>
      <p:ext uri="{BB962C8B-B14F-4D97-AF65-F5344CB8AC3E}">
        <p14:creationId xmlns:p14="http://schemas.microsoft.com/office/powerpoint/2010/main" val="9553364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D4ACC-7D84-B98C-6382-DADCBB8225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A09E9-2EB0-B161-AFFB-59568885C0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77B0E9-1453-00F7-0C10-00F1F2C10820}"/>
              </a:ext>
            </a:extLst>
          </p:cNvPr>
          <p:cNvSpPr>
            <a:spLocks noGrp="1"/>
          </p:cNvSpPr>
          <p:nvPr>
            <p:ph type="body" idx="1"/>
          </p:nvPr>
        </p:nvSpPr>
        <p:spPr/>
        <p:txBody>
          <a:bodyPr/>
          <a:lstStyle/>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2571D9BA-6C1F-2DED-D373-20791D46103A}"/>
              </a:ext>
            </a:extLst>
          </p:cNvPr>
          <p:cNvSpPr>
            <a:spLocks noGrp="1"/>
          </p:cNvSpPr>
          <p:nvPr>
            <p:ph type="sldNum" sz="quarter" idx="5"/>
          </p:nvPr>
        </p:nvSpPr>
        <p:spPr/>
        <p:txBody>
          <a:bodyPr/>
          <a:lstStyle/>
          <a:p>
            <a:fld id="{AFF60533-1213-4FCB-A4AA-C44494E2E2E7}" type="slidenum">
              <a:rPr lang="en-US" smtClean="0"/>
              <a:t>20</a:t>
            </a:fld>
            <a:endParaRPr lang="en-US"/>
          </a:p>
        </p:txBody>
      </p:sp>
    </p:spTree>
    <p:extLst>
      <p:ext uri="{BB962C8B-B14F-4D97-AF65-F5344CB8AC3E}">
        <p14:creationId xmlns:p14="http://schemas.microsoft.com/office/powerpoint/2010/main" val="18122697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0B9EF-ADA5-4E82-090D-D0C64BE300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58C7B4-D5EC-F296-4D71-04F2D99ED4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C7A2A1-81D0-B01F-159A-B9CF19EE3008}"/>
              </a:ext>
            </a:extLst>
          </p:cNvPr>
          <p:cNvSpPr>
            <a:spLocks noGrp="1"/>
          </p:cNvSpPr>
          <p:nvPr>
            <p:ph type="body" idx="1"/>
          </p:nvPr>
        </p:nvSpPr>
        <p:spPr/>
        <p:txBody>
          <a:bodyPr/>
          <a:lstStyle/>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326B8214-F935-D3F5-70A0-7DC361DA33C1}"/>
              </a:ext>
            </a:extLst>
          </p:cNvPr>
          <p:cNvSpPr>
            <a:spLocks noGrp="1"/>
          </p:cNvSpPr>
          <p:nvPr>
            <p:ph type="sldNum" sz="quarter" idx="5"/>
          </p:nvPr>
        </p:nvSpPr>
        <p:spPr/>
        <p:txBody>
          <a:bodyPr/>
          <a:lstStyle/>
          <a:p>
            <a:fld id="{AFF60533-1213-4FCB-A4AA-C44494E2E2E7}" type="slidenum">
              <a:rPr lang="en-US" smtClean="0"/>
              <a:t>21</a:t>
            </a:fld>
            <a:endParaRPr lang="en-US"/>
          </a:p>
        </p:txBody>
      </p:sp>
    </p:spTree>
    <p:extLst>
      <p:ext uri="{BB962C8B-B14F-4D97-AF65-F5344CB8AC3E}">
        <p14:creationId xmlns:p14="http://schemas.microsoft.com/office/powerpoint/2010/main" val="29719393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A2B02-2B45-D551-9B54-E99D525360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FC1A3E-90AE-23D4-E7CC-686BE9BD3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24B7D5-4FB1-AA51-CF7B-3FA0C7173296}"/>
              </a:ext>
            </a:extLst>
          </p:cNvPr>
          <p:cNvSpPr>
            <a:spLocks noGrp="1"/>
          </p:cNvSpPr>
          <p:nvPr>
            <p:ph type="body" idx="1"/>
          </p:nvPr>
        </p:nvSpPr>
        <p:spPr/>
        <p:txBody>
          <a:bodyPr/>
          <a:lstStyle/>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5079C95A-5A08-55EE-C64D-6574BAC939D8}"/>
              </a:ext>
            </a:extLst>
          </p:cNvPr>
          <p:cNvSpPr>
            <a:spLocks noGrp="1"/>
          </p:cNvSpPr>
          <p:nvPr>
            <p:ph type="sldNum" sz="quarter" idx="5"/>
          </p:nvPr>
        </p:nvSpPr>
        <p:spPr/>
        <p:txBody>
          <a:bodyPr/>
          <a:lstStyle/>
          <a:p>
            <a:fld id="{AFF60533-1213-4FCB-A4AA-C44494E2E2E7}" type="slidenum">
              <a:rPr lang="en-US" smtClean="0"/>
              <a:t>22</a:t>
            </a:fld>
            <a:endParaRPr lang="en-US"/>
          </a:p>
        </p:txBody>
      </p:sp>
    </p:spTree>
    <p:extLst>
      <p:ext uri="{BB962C8B-B14F-4D97-AF65-F5344CB8AC3E}">
        <p14:creationId xmlns:p14="http://schemas.microsoft.com/office/powerpoint/2010/main" val="20854889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FBC3B-AD4D-2E52-C1B6-C86DF7E4F4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AAAA72-75DF-A8FE-CD39-EB9E87043A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709F64-2A5A-E83E-60FE-8191D68C6B8E}"/>
              </a:ext>
            </a:extLst>
          </p:cNvPr>
          <p:cNvSpPr>
            <a:spLocks noGrp="1"/>
          </p:cNvSpPr>
          <p:nvPr>
            <p:ph type="body" idx="1"/>
          </p:nvPr>
        </p:nvSpPr>
        <p:spPr/>
        <p:txBody>
          <a:bodyPr/>
          <a:lstStyle/>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78B29B1C-C950-6F89-D676-3BDAA117EEAA}"/>
              </a:ext>
            </a:extLst>
          </p:cNvPr>
          <p:cNvSpPr>
            <a:spLocks noGrp="1"/>
          </p:cNvSpPr>
          <p:nvPr>
            <p:ph type="sldNum" sz="quarter" idx="5"/>
          </p:nvPr>
        </p:nvSpPr>
        <p:spPr/>
        <p:txBody>
          <a:bodyPr/>
          <a:lstStyle/>
          <a:p>
            <a:fld id="{AFF60533-1213-4FCB-A4AA-C44494E2E2E7}" type="slidenum">
              <a:rPr lang="en-US" smtClean="0"/>
              <a:t>23</a:t>
            </a:fld>
            <a:endParaRPr lang="en-US"/>
          </a:p>
        </p:txBody>
      </p:sp>
    </p:spTree>
    <p:extLst>
      <p:ext uri="{BB962C8B-B14F-4D97-AF65-F5344CB8AC3E}">
        <p14:creationId xmlns:p14="http://schemas.microsoft.com/office/powerpoint/2010/main" val="34705731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11BB5-91EE-CD4D-A792-19C3441FCE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948B00-CC73-467F-CDAB-0A0FAFB5BC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C68F92-3307-A929-0968-573AC7E2A524}"/>
              </a:ext>
            </a:extLst>
          </p:cNvPr>
          <p:cNvSpPr>
            <a:spLocks noGrp="1"/>
          </p:cNvSpPr>
          <p:nvPr>
            <p:ph type="body" idx="1"/>
          </p:nvPr>
        </p:nvSpPr>
        <p:spPr/>
        <p:txBody>
          <a:bodyPr/>
          <a:lstStyle/>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4E4E13F6-2B8B-45A0-A38D-CD559946E24C}"/>
              </a:ext>
            </a:extLst>
          </p:cNvPr>
          <p:cNvSpPr>
            <a:spLocks noGrp="1"/>
          </p:cNvSpPr>
          <p:nvPr>
            <p:ph type="sldNum" sz="quarter" idx="5"/>
          </p:nvPr>
        </p:nvSpPr>
        <p:spPr/>
        <p:txBody>
          <a:bodyPr/>
          <a:lstStyle/>
          <a:p>
            <a:fld id="{AFF60533-1213-4FCB-A4AA-C44494E2E2E7}" type="slidenum">
              <a:rPr lang="en-US" smtClean="0"/>
              <a:t>24</a:t>
            </a:fld>
            <a:endParaRPr lang="en-US"/>
          </a:p>
        </p:txBody>
      </p:sp>
    </p:spTree>
    <p:extLst>
      <p:ext uri="{BB962C8B-B14F-4D97-AF65-F5344CB8AC3E}">
        <p14:creationId xmlns:p14="http://schemas.microsoft.com/office/powerpoint/2010/main" val="17816847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25</a:t>
            </a:fld>
            <a:endParaRPr lang="en-US"/>
          </a:p>
        </p:txBody>
      </p:sp>
    </p:spTree>
    <p:extLst>
      <p:ext uri="{BB962C8B-B14F-4D97-AF65-F5344CB8AC3E}">
        <p14:creationId xmlns:p14="http://schemas.microsoft.com/office/powerpoint/2010/main" val="41172674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0E8D2-016C-1DF8-1B55-A070860069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B357A9-6CFA-C12C-06A5-C9CFA3A5BB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10D81D-905D-C708-70F3-403F2B2E84AF}"/>
              </a:ext>
            </a:extLst>
          </p:cNvPr>
          <p:cNvSpPr>
            <a:spLocks noGrp="1"/>
          </p:cNvSpPr>
          <p:nvPr>
            <p:ph type="body" idx="1"/>
          </p:nvPr>
        </p:nvSpPr>
        <p:spPr/>
        <p:txBody>
          <a:bodyPr/>
          <a:lstStyle/>
          <a:p>
            <a:br>
              <a:rPr lang="en-US" dirty="0"/>
            </a:br>
            <a:endParaRPr lang="en-US" dirty="0"/>
          </a:p>
          <a:p>
            <a:endParaRPr lang="en-US" dirty="0"/>
          </a:p>
        </p:txBody>
      </p:sp>
      <p:sp>
        <p:nvSpPr>
          <p:cNvPr id="4" name="Slide Number Placeholder 3">
            <a:extLst>
              <a:ext uri="{FF2B5EF4-FFF2-40B4-BE49-F238E27FC236}">
                <a16:creationId xmlns:a16="http://schemas.microsoft.com/office/drawing/2014/main" id="{AB81AE8F-7FEA-EECD-3BF6-D0E08A897B60}"/>
              </a:ext>
            </a:extLst>
          </p:cNvPr>
          <p:cNvSpPr>
            <a:spLocks noGrp="1"/>
          </p:cNvSpPr>
          <p:nvPr>
            <p:ph type="sldNum" sz="quarter" idx="5"/>
          </p:nvPr>
        </p:nvSpPr>
        <p:spPr/>
        <p:txBody>
          <a:bodyPr/>
          <a:lstStyle/>
          <a:p>
            <a:fld id="{AFF60533-1213-4FCB-A4AA-C44494E2E2E7}" type="slidenum">
              <a:rPr lang="en-US" smtClean="0"/>
              <a:t>26</a:t>
            </a:fld>
            <a:endParaRPr lang="en-US"/>
          </a:p>
        </p:txBody>
      </p:sp>
    </p:spTree>
    <p:extLst>
      <p:ext uri="{BB962C8B-B14F-4D97-AF65-F5344CB8AC3E}">
        <p14:creationId xmlns:p14="http://schemas.microsoft.com/office/powerpoint/2010/main" val="37555833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BBA7D-077E-B977-F0CA-21FB87B064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C33A44-007B-1CAF-CA99-2B4758F0CD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300A82-0CE6-178E-074C-44571BED5D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B89C4D-252B-5845-A8BB-D7334CFF68E4}"/>
              </a:ext>
            </a:extLst>
          </p:cNvPr>
          <p:cNvSpPr>
            <a:spLocks noGrp="1"/>
          </p:cNvSpPr>
          <p:nvPr>
            <p:ph type="sldNum" sz="quarter" idx="5"/>
          </p:nvPr>
        </p:nvSpPr>
        <p:spPr/>
        <p:txBody>
          <a:bodyPr/>
          <a:lstStyle/>
          <a:p>
            <a:fld id="{AFF60533-1213-4FCB-A4AA-C44494E2E2E7}" type="slidenum">
              <a:rPr lang="en-US" smtClean="0"/>
              <a:t>27</a:t>
            </a:fld>
            <a:endParaRPr lang="en-US"/>
          </a:p>
        </p:txBody>
      </p:sp>
    </p:spTree>
    <p:extLst>
      <p:ext uri="{BB962C8B-B14F-4D97-AF65-F5344CB8AC3E}">
        <p14:creationId xmlns:p14="http://schemas.microsoft.com/office/powerpoint/2010/main" val="26518729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0B9BA-17EB-47FE-8DBB-4257282AC3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9B5778-B680-79E7-F615-D6993F475A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83D307-184B-FDD8-ADC6-754D65989D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47B39C-4F75-84EF-EBE7-05B7AB6A8208}"/>
              </a:ext>
            </a:extLst>
          </p:cNvPr>
          <p:cNvSpPr>
            <a:spLocks noGrp="1"/>
          </p:cNvSpPr>
          <p:nvPr>
            <p:ph type="sldNum" sz="quarter" idx="5"/>
          </p:nvPr>
        </p:nvSpPr>
        <p:spPr/>
        <p:txBody>
          <a:bodyPr/>
          <a:lstStyle/>
          <a:p>
            <a:fld id="{AFF60533-1213-4FCB-A4AA-C44494E2E2E7}" type="slidenum">
              <a:rPr lang="en-US" smtClean="0"/>
              <a:t>28</a:t>
            </a:fld>
            <a:endParaRPr lang="en-US"/>
          </a:p>
        </p:txBody>
      </p:sp>
    </p:spTree>
    <p:extLst>
      <p:ext uri="{BB962C8B-B14F-4D97-AF65-F5344CB8AC3E}">
        <p14:creationId xmlns:p14="http://schemas.microsoft.com/office/powerpoint/2010/main" val="26815476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7F774-0A40-F25C-5C31-C1C76A30CF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60DFF2-612E-90A3-E132-1301110AB6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FAE6C8-D753-3F67-8A26-00043811A1DC}"/>
              </a:ext>
            </a:extLst>
          </p:cNvPr>
          <p:cNvSpPr>
            <a:spLocks noGrp="1"/>
          </p:cNvSpPr>
          <p:nvPr>
            <p:ph type="body" idx="1"/>
          </p:nvPr>
        </p:nvSpPr>
        <p:spPr/>
        <p:txBody>
          <a:bodyPr/>
          <a:lstStyle/>
          <a:p>
            <a:br>
              <a:rPr lang="en-US" dirty="0"/>
            </a:br>
            <a:endParaRPr lang="en-US" dirty="0"/>
          </a:p>
          <a:p>
            <a:endParaRPr lang="en-US" dirty="0"/>
          </a:p>
        </p:txBody>
      </p:sp>
      <p:sp>
        <p:nvSpPr>
          <p:cNvPr id="4" name="Slide Number Placeholder 3">
            <a:extLst>
              <a:ext uri="{FF2B5EF4-FFF2-40B4-BE49-F238E27FC236}">
                <a16:creationId xmlns:a16="http://schemas.microsoft.com/office/drawing/2014/main" id="{9E3A13C5-4F58-1125-5306-60AEC2974AE9}"/>
              </a:ext>
            </a:extLst>
          </p:cNvPr>
          <p:cNvSpPr>
            <a:spLocks noGrp="1"/>
          </p:cNvSpPr>
          <p:nvPr>
            <p:ph type="sldNum" sz="quarter" idx="5"/>
          </p:nvPr>
        </p:nvSpPr>
        <p:spPr/>
        <p:txBody>
          <a:bodyPr/>
          <a:lstStyle/>
          <a:p>
            <a:fld id="{AFF60533-1213-4FCB-A4AA-C44494E2E2E7}" type="slidenum">
              <a:rPr lang="en-US" smtClean="0"/>
              <a:t>29</a:t>
            </a:fld>
            <a:endParaRPr lang="en-US"/>
          </a:p>
        </p:txBody>
      </p:sp>
    </p:spTree>
    <p:extLst>
      <p:ext uri="{BB962C8B-B14F-4D97-AF65-F5344CB8AC3E}">
        <p14:creationId xmlns:p14="http://schemas.microsoft.com/office/powerpoint/2010/main" val="9634094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trike="sngStrike" dirty="0"/>
          </a:p>
          <a:p>
            <a:r>
              <a:rPr lang="en-US" strike="sngStrike" dirty="0"/>
              <a:t>I don't understand what this means - on https://www.greencirclecertified.com/ you select Certified Product Database to get to this location</a:t>
            </a:r>
            <a:br>
              <a:rPr lang="en-US" strike="sngStrike" dirty="0"/>
            </a:br>
            <a:br>
              <a:rPr lang="en-US" strike="sngStrike" dirty="0"/>
            </a:br>
            <a:r>
              <a:rPr lang="en-US" strike="sngStrike" dirty="0"/>
              <a:t>If you are talking about how someone signs in that would be Sign In. We should not need to say Go to Portal anymore</a:t>
            </a:r>
          </a:p>
          <a:p>
            <a:endParaRPr lang="en-US" strike="sngStrike" dirty="0"/>
          </a:p>
          <a:p>
            <a:r>
              <a:rPr lang="en-US" strike="sngStrike" dirty="0"/>
              <a:t>What are available sort options?</a:t>
            </a:r>
          </a:p>
          <a:p>
            <a:endParaRPr lang="en-US" dirty="0"/>
          </a:p>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30</a:t>
            </a:fld>
            <a:endParaRPr lang="en-US"/>
          </a:p>
        </p:txBody>
      </p:sp>
    </p:spTree>
    <p:extLst>
      <p:ext uri="{BB962C8B-B14F-4D97-AF65-F5344CB8AC3E}">
        <p14:creationId xmlns:p14="http://schemas.microsoft.com/office/powerpoint/2010/main" val="6863803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98C1F-FD2B-01A0-BA6F-2277DE0E12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1ABF81-1BD9-68AA-71FB-1ACE720EE1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B8A446-E9A1-8105-02B3-B31CDCF05D3F}"/>
              </a:ext>
            </a:extLst>
          </p:cNvPr>
          <p:cNvSpPr>
            <a:spLocks noGrp="1"/>
          </p:cNvSpPr>
          <p:nvPr>
            <p:ph type="body" idx="1"/>
          </p:nvPr>
        </p:nvSpPr>
        <p:spPr/>
        <p:txBody>
          <a:bodyPr/>
          <a:lstStyle/>
          <a:p>
            <a:pPr marL="181225" indent="-181225">
              <a:buFont typeface="Arial" panose="020B0604020202020204" pitchFamily="34" charset="0"/>
              <a:buChar char="•"/>
            </a:pPr>
            <a:r>
              <a:rPr lang="en-US" dirty="0"/>
              <a:t>View Certificate: Could we have company name and product name at the top - should be designed to be visually appealing and more prominent then the rest.</a:t>
            </a:r>
          </a:p>
          <a:p>
            <a:pPr marL="181225" indent="-181225">
              <a:buFont typeface="Arial" panose="020B0604020202020204" pitchFamily="34" charset="0"/>
              <a:buChar char="•"/>
            </a:pPr>
            <a:r>
              <a:rPr lang="en-US" dirty="0"/>
              <a:t>Either way don't want it to say View Certificate</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These are not editable in this view I would not make the fields look like they are text field boxes for editing should be visually appealing</a:t>
            </a:r>
            <a:br>
              <a:rPr lang="en-US" dirty="0"/>
            </a:br>
            <a:endParaRPr lang="en-US" dirty="0"/>
          </a:p>
          <a:p>
            <a:pPr marL="181225" indent="-181225">
              <a:buFont typeface="Arial" panose="020B0604020202020204" pitchFamily="34" charset="0"/>
              <a:buChar char="•"/>
            </a:pPr>
            <a:r>
              <a:rPr lang="en-US" dirty="0"/>
              <a:t>Certificate # </a:t>
            </a:r>
          </a:p>
          <a:p>
            <a:pPr marL="664488" lvl="1" indent="-181225">
              <a:buFont typeface="Arial" panose="020B0604020202020204" pitchFamily="34" charset="0"/>
              <a:buChar char="•"/>
            </a:pPr>
            <a:r>
              <a:rPr lang="en-US" dirty="0"/>
              <a:t>format: add X: format should be: XX-XXXX</a:t>
            </a:r>
          </a:p>
          <a:p>
            <a:pPr marL="664488" lvl="1" indent="-181225">
              <a:buFont typeface="Arial" panose="020B0604020202020204" pitchFamily="34" charset="0"/>
              <a:buChar char="•"/>
            </a:pPr>
            <a:r>
              <a:rPr lang="en-US" dirty="0"/>
              <a:t>If someone tries to manually enter and number exists should have a popup box to confirm if still use or change</a:t>
            </a:r>
          </a:p>
          <a:p>
            <a:pPr marL="483265" lvl="1"/>
            <a:endParaRPr lang="en-US" dirty="0"/>
          </a:p>
          <a:p>
            <a:pPr marL="181225" indent="-181225">
              <a:buFont typeface="Arial" panose="020B0604020202020204" pitchFamily="34" charset="0"/>
              <a:buChar char="•"/>
            </a:pPr>
            <a:r>
              <a:rPr lang="en-US" dirty="0"/>
              <a:t>Switch Product Name and Company order and put all Product details in same column</a:t>
            </a:r>
          </a:p>
          <a:p>
            <a:pPr marL="181225" indent="-181225">
              <a:buFont typeface="Arial" panose="020B0604020202020204" pitchFamily="34" charset="0"/>
              <a:buChar char="•"/>
            </a:pPr>
            <a:r>
              <a:rPr lang="en-US" dirty="0"/>
              <a:t>Product Type Subcategory: Most will not have subcategory - will it be hidden or just be blank?</a:t>
            </a:r>
          </a:p>
          <a:p>
            <a:pPr marL="181225" indent="-181225">
              <a:buFont typeface="Arial" panose="020B0604020202020204" pitchFamily="34" charset="0"/>
              <a:buChar char="•"/>
            </a:pPr>
            <a:r>
              <a:rPr lang="en-US" dirty="0"/>
              <a:t>Placeholder Image: Make this thumbnail image of the actual certification. Include a preview option to view cert full screen in webpage. Also have download button to download cert (you have just make sure it's closer to the image of cert)</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is not used often but when it is it should appear -- they are also separate - it will be either email, </a:t>
            </a:r>
            <a:r>
              <a:rPr lang="en-US" dirty="0" err="1"/>
              <a:t>url</a:t>
            </a:r>
            <a:r>
              <a:rPr lang="en-US" dirty="0"/>
              <a:t>, or both </a:t>
            </a:r>
            <a:br>
              <a:rPr lang="en-US" dirty="0"/>
            </a:br>
            <a:r>
              <a:rPr lang="en-US" dirty="0"/>
              <a:t>would move this to right or bottom so it does not impact other fields</a:t>
            </a:r>
          </a:p>
          <a:p>
            <a:pPr marL="181225" indent="-181225">
              <a:buFont typeface="Arial" panose="020B0604020202020204" pitchFamily="34" charset="0"/>
              <a:buChar char="•"/>
            </a:pPr>
            <a:r>
              <a:rPr lang="en-US" dirty="0"/>
              <a:t>Change external tags to: Tags:</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Assume you are considering how we format to pass info in the way Amazon needs (via backend)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DD87E584-FD08-B53C-A81D-F222EC9B2808}"/>
              </a:ext>
            </a:extLst>
          </p:cNvPr>
          <p:cNvSpPr>
            <a:spLocks noGrp="1"/>
          </p:cNvSpPr>
          <p:nvPr>
            <p:ph type="sldNum" sz="quarter" idx="5"/>
          </p:nvPr>
        </p:nvSpPr>
        <p:spPr/>
        <p:txBody>
          <a:bodyPr/>
          <a:lstStyle/>
          <a:p>
            <a:fld id="{AFF60533-1213-4FCB-A4AA-C44494E2E2E7}" type="slidenum">
              <a:rPr lang="en-US" smtClean="0"/>
              <a:t>31</a:t>
            </a:fld>
            <a:endParaRPr lang="en-US"/>
          </a:p>
        </p:txBody>
      </p:sp>
    </p:spTree>
    <p:extLst>
      <p:ext uri="{BB962C8B-B14F-4D97-AF65-F5344CB8AC3E}">
        <p14:creationId xmlns:p14="http://schemas.microsoft.com/office/powerpoint/2010/main" val="24131578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B7880-6B9C-8CC0-C720-59F0FD635F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D8F20E-7EB4-1FED-E5E8-286209844F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6CEF35-9D0B-7EC2-1E92-99DCFF4B81EE}"/>
              </a:ext>
            </a:extLst>
          </p:cNvPr>
          <p:cNvSpPr>
            <a:spLocks noGrp="1"/>
          </p:cNvSpPr>
          <p:nvPr>
            <p:ph type="body" idx="1"/>
          </p:nvPr>
        </p:nvSpPr>
        <p:spPr/>
        <p:txBody>
          <a:bodyPr/>
          <a:lstStyle/>
          <a:p>
            <a:pPr marL="181225" indent="-181225">
              <a:buFont typeface="Arial" panose="020B0604020202020204" pitchFamily="34" charset="0"/>
              <a:buChar char="•"/>
            </a:pPr>
            <a:r>
              <a:rPr lang="en-US" dirty="0"/>
              <a:t>View Certificate: Could we have company name and product name at the top - should be designed to be visually appealing and more prominent then the rest.</a:t>
            </a:r>
          </a:p>
          <a:p>
            <a:pPr marL="181225" indent="-181225">
              <a:buFont typeface="Arial" panose="020B0604020202020204" pitchFamily="34" charset="0"/>
              <a:buChar char="•"/>
            </a:pPr>
            <a:r>
              <a:rPr lang="en-US" dirty="0"/>
              <a:t>Either way don't want it to say View Certificate</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These are not editable in this view I would not make the fields look like they are text field boxes for editing should be visually appealing</a:t>
            </a:r>
            <a:br>
              <a:rPr lang="en-US" dirty="0"/>
            </a:br>
            <a:endParaRPr lang="en-US" dirty="0"/>
          </a:p>
          <a:p>
            <a:pPr marL="181225" indent="-181225">
              <a:buFont typeface="Arial" panose="020B0604020202020204" pitchFamily="34" charset="0"/>
              <a:buChar char="•"/>
            </a:pPr>
            <a:r>
              <a:rPr lang="en-US" dirty="0"/>
              <a:t>Certificate # </a:t>
            </a:r>
          </a:p>
          <a:p>
            <a:pPr marL="664488" lvl="1" indent="-181225">
              <a:buFont typeface="Arial" panose="020B0604020202020204" pitchFamily="34" charset="0"/>
              <a:buChar char="•"/>
            </a:pPr>
            <a:r>
              <a:rPr lang="en-US" dirty="0"/>
              <a:t>format: add X: format should be: XX-XXXX</a:t>
            </a:r>
          </a:p>
          <a:p>
            <a:pPr marL="664488" lvl="1" indent="-181225">
              <a:buFont typeface="Arial" panose="020B0604020202020204" pitchFamily="34" charset="0"/>
              <a:buChar char="•"/>
            </a:pPr>
            <a:r>
              <a:rPr lang="en-US" dirty="0"/>
              <a:t>If someone tries to manually enter and number exists should have a popup box to confirm if still use or change</a:t>
            </a:r>
          </a:p>
          <a:p>
            <a:pPr marL="483265" lvl="1"/>
            <a:endParaRPr lang="en-US" dirty="0"/>
          </a:p>
          <a:p>
            <a:pPr marL="181225" indent="-181225">
              <a:buFont typeface="Arial" panose="020B0604020202020204" pitchFamily="34" charset="0"/>
              <a:buChar char="•"/>
            </a:pPr>
            <a:r>
              <a:rPr lang="en-US" dirty="0"/>
              <a:t>Switch Product Name and Company order and put all Product details in same column</a:t>
            </a:r>
          </a:p>
          <a:p>
            <a:pPr marL="181225" indent="-181225">
              <a:buFont typeface="Arial" panose="020B0604020202020204" pitchFamily="34" charset="0"/>
              <a:buChar char="•"/>
            </a:pPr>
            <a:r>
              <a:rPr lang="en-US" dirty="0"/>
              <a:t>Product Type Subcategory: Most will not have subcategory - will it be hidden or just be blank?</a:t>
            </a:r>
          </a:p>
          <a:p>
            <a:pPr marL="181225" indent="-181225">
              <a:buFont typeface="Arial" panose="020B0604020202020204" pitchFamily="34" charset="0"/>
              <a:buChar char="•"/>
            </a:pPr>
            <a:r>
              <a:rPr lang="en-US" dirty="0"/>
              <a:t>Placeholder Image: Make this thumbnail image of the actual certification. Include a preview option to view cert full screen in webpage. Also have download button to download cert (you have just make sure it's closer to the image of cert)</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is not used often but when it is it should appear -- they are also separate - it will be either email, </a:t>
            </a:r>
            <a:r>
              <a:rPr lang="en-US" dirty="0" err="1"/>
              <a:t>url</a:t>
            </a:r>
            <a:r>
              <a:rPr lang="en-US" dirty="0"/>
              <a:t>, or both </a:t>
            </a:r>
            <a:br>
              <a:rPr lang="en-US" dirty="0"/>
            </a:br>
            <a:r>
              <a:rPr lang="en-US" dirty="0"/>
              <a:t>would move this to right or bottom so it does not impact other fields</a:t>
            </a:r>
          </a:p>
          <a:p>
            <a:pPr marL="181225" indent="-181225">
              <a:buFont typeface="Arial" panose="020B0604020202020204" pitchFamily="34" charset="0"/>
              <a:buChar char="•"/>
            </a:pPr>
            <a:r>
              <a:rPr lang="en-US" dirty="0"/>
              <a:t>Change external tags to: Tags:</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Assume you are considering how we format to pass info in the way Amazon needs (via backend)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81BBDCA5-5C21-BF00-E1CB-36AFC62B2143}"/>
              </a:ext>
            </a:extLst>
          </p:cNvPr>
          <p:cNvSpPr>
            <a:spLocks noGrp="1"/>
          </p:cNvSpPr>
          <p:nvPr>
            <p:ph type="sldNum" sz="quarter" idx="5"/>
          </p:nvPr>
        </p:nvSpPr>
        <p:spPr/>
        <p:txBody>
          <a:bodyPr/>
          <a:lstStyle/>
          <a:p>
            <a:fld id="{AFF60533-1213-4FCB-A4AA-C44494E2E2E7}" type="slidenum">
              <a:rPr lang="en-US" smtClean="0"/>
              <a:t>32</a:t>
            </a:fld>
            <a:endParaRPr lang="en-US"/>
          </a:p>
        </p:txBody>
      </p:sp>
    </p:spTree>
    <p:extLst>
      <p:ext uri="{BB962C8B-B14F-4D97-AF65-F5344CB8AC3E}">
        <p14:creationId xmlns:p14="http://schemas.microsoft.com/office/powerpoint/2010/main" val="30291078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25" indent="-181225">
              <a:buFont typeface="Arial" panose="020B0604020202020204" pitchFamily="34" charset="0"/>
              <a:buChar char="•"/>
            </a:pPr>
            <a:r>
              <a:rPr lang="en-US" dirty="0"/>
              <a:t>Home: Unless you can make the data dynamic based on a user's data permissions -- then this will only be accessible to GCC Analyst/Admin roles - therefore, external login users would not see this nav item or this page</a:t>
            </a:r>
          </a:p>
          <a:p>
            <a:pPr marL="181225" indent="-181225">
              <a:buFont typeface="Arial" panose="020B0604020202020204" pitchFamily="34" charset="0"/>
              <a:buChar char="•"/>
            </a:pPr>
            <a:r>
              <a:rPr lang="en-US" dirty="0"/>
              <a:t>Prebuilt lists: Export to Excel buttons: Put at bottom of page after metrics</a:t>
            </a:r>
          </a:p>
          <a:p>
            <a:pPr marL="181225" indent="-181225">
              <a:buFont typeface="Arial" panose="020B0604020202020204" pitchFamily="34" charset="0"/>
              <a:buChar char="•"/>
            </a:pPr>
            <a:r>
              <a:rPr lang="en-US" dirty="0"/>
              <a:t>Missing: Top 5 Product Categories by Active Cert Count</a:t>
            </a:r>
          </a:p>
          <a:p>
            <a:pPr marL="181225" indent="-181225">
              <a:buFont typeface="Arial" panose="020B0604020202020204" pitchFamily="34" charset="0"/>
              <a:buChar char="•"/>
            </a:pPr>
            <a:r>
              <a:rPr lang="en-US" dirty="0"/>
              <a:t>Can Admin create new widgets? Not for this phase.</a:t>
            </a:r>
            <a:br>
              <a:rPr lang="en-US" dirty="0"/>
            </a:br>
            <a:br>
              <a:rPr lang="en-US" dirty="0"/>
            </a:b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33</a:t>
            </a:fld>
            <a:endParaRPr lang="en-US"/>
          </a:p>
        </p:txBody>
      </p:sp>
    </p:spTree>
    <p:extLst>
      <p:ext uri="{BB962C8B-B14F-4D97-AF65-F5344CB8AC3E}">
        <p14:creationId xmlns:p14="http://schemas.microsoft.com/office/powerpoint/2010/main" val="30788290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F30CE-6294-129D-9626-F4A53A18EB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9EB336-3D12-F42F-11AD-0F105C239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756BBB-FB03-3411-18BC-B08658535F58}"/>
              </a:ext>
            </a:extLst>
          </p:cNvPr>
          <p:cNvSpPr>
            <a:spLocks noGrp="1"/>
          </p:cNvSpPr>
          <p:nvPr>
            <p:ph type="body" idx="1"/>
          </p:nvPr>
        </p:nvSpPr>
        <p:spPr/>
        <p:txBody>
          <a:bodyPr/>
          <a:lstStyle/>
          <a:p>
            <a:pPr marL="181225" indent="-181225">
              <a:buFont typeface="Arial" panose="020B0604020202020204" pitchFamily="34" charset="0"/>
              <a:buChar char="•"/>
            </a:pPr>
            <a:r>
              <a:rPr lang="en-US" dirty="0"/>
              <a:t>Home: Unless you can make the data dynamic based on a user's data permissions -- then this will only be accessible to GCC Analyst/Admin roles - therefore, external login users would not see this nav item or this page</a:t>
            </a:r>
          </a:p>
          <a:p>
            <a:pPr marL="181225" indent="-181225">
              <a:buFont typeface="Arial" panose="020B0604020202020204" pitchFamily="34" charset="0"/>
              <a:buChar char="•"/>
            </a:pPr>
            <a:r>
              <a:rPr lang="en-US" dirty="0"/>
              <a:t>Prebuilt lists: Export to Excel buttons: Put at bottom of page after metrics</a:t>
            </a:r>
          </a:p>
          <a:p>
            <a:pPr marL="181225" indent="-181225">
              <a:buFont typeface="Arial" panose="020B0604020202020204" pitchFamily="34" charset="0"/>
              <a:buChar char="•"/>
            </a:pPr>
            <a:r>
              <a:rPr lang="en-US" dirty="0"/>
              <a:t>Missing: Top 5 Product Categories by Active Cert Count</a:t>
            </a:r>
          </a:p>
          <a:p>
            <a:pPr marL="181225" indent="-181225">
              <a:buFont typeface="Arial" panose="020B0604020202020204" pitchFamily="34" charset="0"/>
              <a:buChar char="•"/>
            </a:pPr>
            <a:r>
              <a:rPr lang="en-US" dirty="0"/>
              <a:t>Can Admin create new widgets? Not for this phase.</a:t>
            </a:r>
            <a:br>
              <a:rPr lang="en-US" dirty="0"/>
            </a:br>
            <a:br>
              <a:rPr lang="en-US" dirty="0"/>
            </a:b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9BDA81FF-B1CB-386C-7D3E-CEFA619021AF}"/>
              </a:ext>
            </a:extLst>
          </p:cNvPr>
          <p:cNvSpPr>
            <a:spLocks noGrp="1"/>
          </p:cNvSpPr>
          <p:nvPr>
            <p:ph type="sldNum" sz="quarter" idx="5"/>
          </p:nvPr>
        </p:nvSpPr>
        <p:spPr/>
        <p:txBody>
          <a:bodyPr/>
          <a:lstStyle/>
          <a:p>
            <a:fld id="{AFF60533-1213-4FCB-A4AA-C44494E2E2E7}" type="slidenum">
              <a:rPr lang="en-US" smtClean="0"/>
              <a:t>34</a:t>
            </a:fld>
            <a:endParaRPr lang="en-US"/>
          </a:p>
        </p:txBody>
      </p:sp>
    </p:spTree>
    <p:extLst>
      <p:ext uri="{BB962C8B-B14F-4D97-AF65-F5344CB8AC3E}">
        <p14:creationId xmlns:p14="http://schemas.microsoft.com/office/powerpoint/2010/main" val="25751806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17EF1-60F0-503E-EEAE-5009EB824E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B37547-A094-6224-DB19-A40CC914BC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1A4DAB-830C-7D15-E729-4C77CF0B71A3}"/>
              </a:ext>
            </a:extLst>
          </p:cNvPr>
          <p:cNvSpPr>
            <a:spLocks noGrp="1"/>
          </p:cNvSpPr>
          <p:nvPr>
            <p:ph type="body" idx="1"/>
          </p:nvPr>
        </p:nvSpPr>
        <p:spPr/>
        <p:txBody>
          <a:bodyPr/>
          <a:lstStyle/>
          <a:p>
            <a:pPr marL="181225" indent="-181225">
              <a:buFont typeface="Arial" panose="020B0604020202020204" pitchFamily="34" charset="0"/>
              <a:buChar char="•"/>
            </a:pPr>
            <a:r>
              <a:rPr lang="en-US" dirty="0"/>
              <a:t>Home: Unless you can make the data dynamic based on a user's data permissions -- then this will only be accessible to GCC Analyst/Admin roles - therefore, external login users would not see this nav item or this page</a:t>
            </a:r>
          </a:p>
          <a:p>
            <a:pPr marL="181225" indent="-181225">
              <a:buFont typeface="Arial" panose="020B0604020202020204" pitchFamily="34" charset="0"/>
              <a:buChar char="•"/>
            </a:pPr>
            <a:r>
              <a:rPr lang="en-US" dirty="0"/>
              <a:t>Prebuilt lists: Export to Excel buttons: Put at bottom of page after metrics</a:t>
            </a:r>
          </a:p>
          <a:p>
            <a:pPr marL="181225" indent="-181225">
              <a:buFont typeface="Arial" panose="020B0604020202020204" pitchFamily="34" charset="0"/>
              <a:buChar char="•"/>
            </a:pPr>
            <a:r>
              <a:rPr lang="en-US" dirty="0"/>
              <a:t>Missing: Top 5 Product Categories by Active Cert Count</a:t>
            </a:r>
          </a:p>
          <a:p>
            <a:pPr marL="181225" indent="-181225">
              <a:buFont typeface="Arial" panose="020B0604020202020204" pitchFamily="34" charset="0"/>
              <a:buChar char="•"/>
            </a:pPr>
            <a:r>
              <a:rPr lang="en-US" dirty="0"/>
              <a:t>Can Admin create new widgets? Not for this phase.</a:t>
            </a:r>
            <a:br>
              <a:rPr lang="en-US" dirty="0"/>
            </a:br>
            <a:br>
              <a:rPr lang="en-US" dirty="0"/>
            </a:b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A3114FE4-3D8A-4D72-35CB-DC108B576190}"/>
              </a:ext>
            </a:extLst>
          </p:cNvPr>
          <p:cNvSpPr>
            <a:spLocks noGrp="1"/>
          </p:cNvSpPr>
          <p:nvPr>
            <p:ph type="sldNum" sz="quarter" idx="5"/>
          </p:nvPr>
        </p:nvSpPr>
        <p:spPr/>
        <p:txBody>
          <a:bodyPr/>
          <a:lstStyle/>
          <a:p>
            <a:fld id="{AFF60533-1213-4FCB-A4AA-C44494E2E2E7}" type="slidenum">
              <a:rPr lang="en-US" smtClean="0"/>
              <a:t>35</a:t>
            </a:fld>
            <a:endParaRPr lang="en-US"/>
          </a:p>
        </p:txBody>
      </p:sp>
    </p:spTree>
    <p:extLst>
      <p:ext uri="{BB962C8B-B14F-4D97-AF65-F5344CB8AC3E}">
        <p14:creationId xmlns:p14="http://schemas.microsoft.com/office/powerpoint/2010/main" val="4222814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E6044-BB30-7DE0-A948-D4F5F32FC4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398264-81E6-EB38-E58D-1B2E1CD0C9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80E0EB-8757-DC57-2E27-562E6BA1A098}"/>
              </a:ext>
            </a:extLst>
          </p:cNvPr>
          <p:cNvSpPr>
            <a:spLocks noGrp="1"/>
          </p:cNvSpPr>
          <p:nvPr>
            <p:ph type="body" idx="1"/>
          </p:nvPr>
        </p:nvSpPr>
        <p:spPr/>
        <p:txBody>
          <a:bodyPr/>
          <a:lstStyle/>
          <a:p>
            <a:pPr marL="181225" indent="-181225">
              <a:buFont typeface="Arial" panose="020B0604020202020204" pitchFamily="34" charset="0"/>
              <a:buChar char="•"/>
            </a:pPr>
            <a:r>
              <a:rPr lang="en-US" dirty="0"/>
              <a:t>Home: Unless you can make the data dynamic based on a user's data permissions -- then this will only be accessible to GCC Analyst/Admin roles - therefore, external login users would not see this nav item or this page</a:t>
            </a:r>
          </a:p>
          <a:p>
            <a:pPr marL="181225" indent="-181225">
              <a:buFont typeface="Arial" panose="020B0604020202020204" pitchFamily="34" charset="0"/>
              <a:buChar char="•"/>
            </a:pPr>
            <a:r>
              <a:rPr lang="en-US" dirty="0"/>
              <a:t>Prebuilt lists: Export to Excel buttons: Put at bottom of page after metrics</a:t>
            </a:r>
          </a:p>
          <a:p>
            <a:pPr marL="181225" indent="-181225">
              <a:buFont typeface="Arial" panose="020B0604020202020204" pitchFamily="34" charset="0"/>
              <a:buChar char="•"/>
            </a:pPr>
            <a:r>
              <a:rPr lang="en-US" dirty="0"/>
              <a:t>Missing: Top 5 Product Categories by Active Cert Count</a:t>
            </a:r>
          </a:p>
          <a:p>
            <a:pPr marL="181225" indent="-181225">
              <a:buFont typeface="Arial" panose="020B0604020202020204" pitchFamily="34" charset="0"/>
              <a:buChar char="•"/>
            </a:pPr>
            <a:r>
              <a:rPr lang="en-US" dirty="0"/>
              <a:t>Can Admin create new widgets? Not for this phase.</a:t>
            </a:r>
            <a:br>
              <a:rPr lang="en-US" dirty="0"/>
            </a:br>
            <a:br>
              <a:rPr lang="en-US" dirty="0"/>
            </a:b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F3634B89-014D-0FFB-4E2B-F3AE0E8FF326}"/>
              </a:ext>
            </a:extLst>
          </p:cNvPr>
          <p:cNvSpPr>
            <a:spLocks noGrp="1"/>
          </p:cNvSpPr>
          <p:nvPr>
            <p:ph type="sldNum" sz="quarter" idx="5"/>
          </p:nvPr>
        </p:nvSpPr>
        <p:spPr/>
        <p:txBody>
          <a:bodyPr/>
          <a:lstStyle/>
          <a:p>
            <a:fld id="{AFF60533-1213-4FCB-A4AA-C44494E2E2E7}" type="slidenum">
              <a:rPr lang="en-US" smtClean="0"/>
              <a:t>36</a:t>
            </a:fld>
            <a:endParaRPr lang="en-US"/>
          </a:p>
        </p:txBody>
      </p:sp>
    </p:spTree>
    <p:extLst>
      <p:ext uri="{BB962C8B-B14F-4D97-AF65-F5344CB8AC3E}">
        <p14:creationId xmlns:p14="http://schemas.microsoft.com/office/powerpoint/2010/main" val="27344952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F5BF9-2FE4-89E8-D84B-E2CF61BDBD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5307B3-4762-6072-A272-5BFEFB5246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A16F7E-1440-B80F-55AF-AC307F3C9E4F}"/>
              </a:ext>
            </a:extLst>
          </p:cNvPr>
          <p:cNvSpPr>
            <a:spLocks noGrp="1"/>
          </p:cNvSpPr>
          <p:nvPr>
            <p:ph type="body" idx="1"/>
          </p:nvPr>
        </p:nvSpPr>
        <p:spPr/>
        <p:txBody>
          <a:bodyPr/>
          <a:lstStyle/>
          <a:p>
            <a:pPr marL="181225" indent="-181225">
              <a:buFont typeface="Arial" panose="020B0604020202020204" pitchFamily="34" charset="0"/>
              <a:buChar char="•"/>
            </a:pPr>
            <a:r>
              <a:rPr lang="en-US" strike="sngStrike" dirty="0"/>
              <a:t>Remove Tags from Clear Filters/Tags</a:t>
            </a:r>
          </a:p>
          <a:p>
            <a:pPr marL="181225" indent="-181225">
              <a:buFont typeface="Arial" panose="020B0604020202020204" pitchFamily="34" charset="0"/>
              <a:buChar char="•"/>
            </a:pPr>
            <a:r>
              <a:rPr lang="en-US" strike="sngStrike" dirty="0"/>
              <a:t>Paging; allow minimum of 50 per page</a:t>
            </a:r>
          </a:p>
          <a:p>
            <a:pPr marL="181225" indent="-181225">
              <a:buFont typeface="Arial" panose="020B0604020202020204" pitchFamily="34" charset="0"/>
              <a:buChar char="•"/>
            </a:pPr>
            <a:r>
              <a:rPr lang="en-US" strike="sngStrike" dirty="0"/>
              <a:t>Remove Quick tags: global change. </a:t>
            </a:r>
          </a:p>
          <a:p>
            <a:pPr marL="181225" indent="-181225">
              <a:buFont typeface="Arial" panose="020B0604020202020204" pitchFamily="34" charset="0"/>
              <a:buChar char="•"/>
            </a:pPr>
            <a:r>
              <a:rPr lang="en-US" dirty="0"/>
              <a:t>Add Certificates This would only appear for GCC Analyst and Admin - how will this be managed</a:t>
            </a:r>
          </a:p>
          <a:p>
            <a:pPr marL="664488" lvl="1" indent="-181225">
              <a:buFont typeface="Arial" panose="020B0604020202020204" pitchFamily="34" charset="0"/>
              <a:buChar char="•"/>
            </a:pPr>
            <a:r>
              <a:rPr lang="en-US" b="1" dirty="0"/>
              <a:t>This will be managed by using page level security. Only GCC analyst and Admin will be able to see or use this functionality. </a:t>
            </a:r>
          </a:p>
          <a:p>
            <a:pPr marL="664488" lvl="1" indent="-181225">
              <a:buFont typeface="Arial" panose="020B0604020202020204" pitchFamily="34" charset="0"/>
              <a:buChar char="•"/>
            </a:pPr>
            <a:r>
              <a:rPr lang="en-US" b="1" dirty="0"/>
              <a:t>TODO: Add screen to show this functionality. </a:t>
            </a:r>
          </a:p>
          <a:p>
            <a:pPr marL="181225" indent="-181225">
              <a:buFont typeface="Arial" panose="020B0604020202020204" pitchFamily="34" charset="0"/>
              <a:buChar char="•"/>
            </a:pPr>
            <a:r>
              <a:rPr lang="en-US" b="1" dirty="0"/>
              <a:t>Edit Selected Certificate: </a:t>
            </a:r>
            <a:r>
              <a:rPr lang="en-US" dirty="0"/>
              <a:t>How does this work when you can multi-select. Either you need to add a row with icons to edit or upon clicking on a single record it opens edit screen but only for internal users</a:t>
            </a:r>
            <a:endParaRPr lang="en-US" b="1" dirty="0"/>
          </a:p>
          <a:p>
            <a:pPr marL="181225" indent="-181225">
              <a:buFont typeface="Arial" panose="020B0604020202020204" pitchFamily="34" charset="0"/>
              <a:buChar char="•"/>
            </a:pPr>
            <a:r>
              <a:rPr lang="en-US" b="1" dirty="0"/>
              <a:t>Download Selected </a:t>
            </a:r>
            <a:r>
              <a:rPr lang="en-US" dirty="0"/>
              <a:t>Is this to download certifications of items selected? If so make button copy more clear. Also if none are selected and button is clicked </a:t>
            </a:r>
            <a:r>
              <a:rPr lang="en-US" b="1" dirty="0"/>
              <a:t>will error popup display?</a:t>
            </a:r>
          </a:p>
          <a:p>
            <a:pPr marL="181225" indent="-181225">
              <a:buFont typeface="Arial" panose="020B0604020202020204" pitchFamily="34" charset="0"/>
              <a:buChar char="•"/>
            </a:pPr>
            <a:r>
              <a:rPr lang="en-US" b="1" dirty="0"/>
              <a:t>Export Selected to Excel and Export all to Excel: I think you only need 1 button</a:t>
            </a:r>
            <a:r>
              <a:rPr lang="en-US" dirty="0"/>
              <a:t>. If you have no filters it will download all. If you have filters selected it will only download your results. This is how current DB works</a:t>
            </a:r>
          </a:p>
          <a:p>
            <a:pPr marL="181225" indent="-181225">
              <a:buFont typeface="Arial" panose="020B0604020202020204" pitchFamily="34" charset="0"/>
              <a:buChar char="•"/>
            </a:pPr>
            <a:r>
              <a:rPr lang="en-US" dirty="0"/>
              <a:t>Can we have a cert preview column (could be little expand / eye icon) - which would display cert image in webpage view. They will also have ability to download but this is just if they want to see it</a:t>
            </a:r>
            <a:endParaRPr lang="en-US" b="1" dirty="0"/>
          </a:p>
        </p:txBody>
      </p:sp>
      <p:sp>
        <p:nvSpPr>
          <p:cNvPr id="4" name="Slide Number Placeholder 3">
            <a:extLst>
              <a:ext uri="{FF2B5EF4-FFF2-40B4-BE49-F238E27FC236}">
                <a16:creationId xmlns:a16="http://schemas.microsoft.com/office/drawing/2014/main" id="{E51B3137-56AE-FCDD-E35C-64D12DCE85BF}"/>
              </a:ext>
            </a:extLst>
          </p:cNvPr>
          <p:cNvSpPr>
            <a:spLocks noGrp="1"/>
          </p:cNvSpPr>
          <p:nvPr>
            <p:ph type="sldNum" sz="quarter" idx="5"/>
          </p:nvPr>
        </p:nvSpPr>
        <p:spPr/>
        <p:txBody>
          <a:bodyPr/>
          <a:lstStyle/>
          <a:p>
            <a:fld id="{AFF60533-1213-4FCB-A4AA-C44494E2E2E7}" type="slidenum">
              <a:rPr lang="en-US" smtClean="0"/>
              <a:t>37</a:t>
            </a:fld>
            <a:endParaRPr lang="en-US"/>
          </a:p>
        </p:txBody>
      </p:sp>
    </p:spTree>
    <p:extLst>
      <p:ext uri="{BB962C8B-B14F-4D97-AF65-F5344CB8AC3E}">
        <p14:creationId xmlns:p14="http://schemas.microsoft.com/office/powerpoint/2010/main" val="1349063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B3F1B-0714-5D2B-A0CE-001483CB9F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6AD87F-3C1E-42DB-C551-93063317ED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E8347D-6CE0-155D-F297-EACA3DC393FC}"/>
              </a:ext>
            </a:extLst>
          </p:cNvPr>
          <p:cNvSpPr>
            <a:spLocks noGrp="1"/>
          </p:cNvSpPr>
          <p:nvPr>
            <p:ph type="body" idx="1"/>
          </p:nvPr>
        </p:nvSpPr>
        <p:spPr/>
        <p:txBody>
          <a:bodyPr/>
          <a:lstStyle/>
          <a:p>
            <a:pPr marL="181225" indent="-181225">
              <a:buFont typeface="Arial" panose="020B0604020202020204" pitchFamily="34" charset="0"/>
              <a:buChar char="•"/>
            </a:pPr>
            <a:r>
              <a:rPr lang="en-US" strike="sngStrike" dirty="0"/>
              <a:t>Remove Tags from Clear Filters/Tags</a:t>
            </a:r>
          </a:p>
          <a:p>
            <a:pPr marL="181225" indent="-181225">
              <a:buFont typeface="Arial" panose="020B0604020202020204" pitchFamily="34" charset="0"/>
              <a:buChar char="•"/>
            </a:pPr>
            <a:r>
              <a:rPr lang="en-US" strike="sngStrike" dirty="0"/>
              <a:t>Paging; allow minimum of 50 per page</a:t>
            </a:r>
          </a:p>
          <a:p>
            <a:pPr marL="181225" indent="-181225">
              <a:buFont typeface="Arial" panose="020B0604020202020204" pitchFamily="34" charset="0"/>
              <a:buChar char="•"/>
            </a:pPr>
            <a:r>
              <a:rPr lang="en-US" strike="sngStrike" dirty="0"/>
              <a:t>Remove Quick tags: global change. </a:t>
            </a:r>
          </a:p>
          <a:p>
            <a:pPr marL="181225" indent="-181225">
              <a:buFont typeface="Arial" panose="020B0604020202020204" pitchFamily="34" charset="0"/>
              <a:buChar char="•"/>
            </a:pPr>
            <a:r>
              <a:rPr lang="en-US" dirty="0"/>
              <a:t>Add Certificates This would only appear for GCC Analyst and Admin - how will this be managed</a:t>
            </a:r>
          </a:p>
          <a:p>
            <a:pPr marL="664488" lvl="1" indent="-181225">
              <a:buFont typeface="Arial" panose="020B0604020202020204" pitchFamily="34" charset="0"/>
              <a:buChar char="•"/>
            </a:pPr>
            <a:r>
              <a:rPr lang="en-US" b="1" dirty="0"/>
              <a:t>This will be managed by using page level security. Only GCC analyst and Admin will be able to see or use this functionality. </a:t>
            </a:r>
          </a:p>
          <a:p>
            <a:pPr marL="664488" lvl="1" indent="-181225">
              <a:buFont typeface="Arial" panose="020B0604020202020204" pitchFamily="34" charset="0"/>
              <a:buChar char="•"/>
            </a:pPr>
            <a:r>
              <a:rPr lang="en-US" b="1" dirty="0"/>
              <a:t>TODO: Add screen to show this functionality. </a:t>
            </a:r>
          </a:p>
          <a:p>
            <a:pPr marL="181225" indent="-181225">
              <a:buFont typeface="Arial" panose="020B0604020202020204" pitchFamily="34" charset="0"/>
              <a:buChar char="•"/>
            </a:pPr>
            <a:r>
              <a:rPr lang="en-US" b="1" dirty="0"/>
              <a:t>Edit Selected Certificate: </a:t>
            </a:r>
            <a:r>
              <a:rPr lang="en-US" dirty="0"/>
              <a:t>How does this work when you can multi-select. Either you need to add a row with icons to edit or upon clicking on a single record it opens edit screen but only for internal users</a:t>
            </a:r>
            <a:endParaRPr lang="en-US" b="1" dirty="0"/>
          </a:p>
          <a:p>
            <a:pPr marL="181225" indent="-181225">
              <a:buFont typeface="Arial" panose="020B0604020202020204" pitchFamily="34" charset="0"/>
              <a:buChar char="•"/>
            </a:pPr>
            <a:r>
              <a:rPr lang="en-US" b="1" dirty="0"/>
              <a:t>Download Selected </a:t>
            </a:r>
            <a:r>
              <a:rPr lang="en-US" dirty="0"/>
              <a:t>Is this to download certifications of items selected? If so make button copy more clear. Also if none are selected and button is clicked </a:t>
            </a:r>
            <a:r>
              <a:rPr lang="en-US" b="1" dirty="0"/>
              <a:t>will error popup display?</a:t>
            </a:r>
          </a:p>
          <a:p>
            <a:pPr marL="181225" indent="-181225">
              <a:buFont typeface="Arial" panose="020B0604020202020204" pitchFamily="34" charset="0"/>
              <a:buChar char="•"/>
            </a:pPr>
            <a:r>
              <a:rPr lang="en-US" b="1" dirty="0"/>
              <a:t>Export Selected to Excel and Export all to Excel: I think you only need 1 button</a:t>
            </a:r>
            <a:r>
              <a:rPr lang="en-US" dirty="0"/>
              <a:t>. If you have no filters it will download all. If you have filters selected it will only download your results. This is how current DB works</a:t>
            </a:r>
          </a:p>
          <a:p>
            <a:pPr marL="181225" indent="-181225">
              <a:buFont typeface="Arial" panose="020B0604020202020204" pitchFamily="34" charset="0"/>
              <a:buChar char="•"/>
            </a:pPr>
            <a:r>
              <a:rPr lang="en-US" dirty="0"/>
              <a:t>Can we have a cert preview column (could be little expand / eye icon) - which would display cert image in webpage view. They will also have ability to download but this is just if they want to see it</a:t>
            </a:r>
            <a:endParaRPr lang="en-US" b="1" dirty="0"/>
          </a:p>
        </p:txBody>
      </p:sp>
      <p:sp>
        <p:nvSpPr>
          <p:cNvPr id="4" name="Slide Number Placeholder 3">
            <a:extLst>
              <a:ext uri="{FF2B5EF4-FFF2-40B4-BE49-F238E27FC236}">
                <a16:creationId xmlns:a16="http://schemas.microsoft.com/office/drawing/2014/main" id="{5BA74652-3F62-90C9-C7DE-0020787104F6}"/>
              </a:ext>
            </a:extLst>
          </p:cNvPr>
          <p:cNvSpPr>
            <a:spLocks noGrp="1"/>
          </p:cNvSpPr>
          <p:nvPr>
            <p:ph type="sldNum" sz="quarter" idx="5"/>
          </p:nvPr>
        </p:nvSpPr>
        <p:spPr/>
        <p:txBody>
          <a:bodyPr/>
          <a:lstStyle/>
          <a:p>
            <a:fld id="{AFF60533-1213-4FCB-A4AA-C44494E2E2E7}" type="slidenum">
              <a:rPr lang="en-US" smtClean="0"/>
              <a:t>38</a:t>
            </a:fld>
            <a:endParaRPr lang="en-US"/>
          </a:p>
        </p:txBody>
      </p:sp>
    </p:spTree>
    <p:extLst>
      <p:ext uri="{BB962C8B-B14F-4D97-AF65-F5344CB8AC3E}">
        <p14:creationId xmlns:p14="http://schemas.microsoft.com/office/powerpoint/2010/main" val="34763953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A5401-B11E-F493-C11D-9D5DFBD5E0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DDB58A-03E0-C209-7C15-B1C75739D4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B64C1A-68C4-9993-0C6D-81528E07FF53}"/>
              </a:ext>
            </a:extLst>
          </p:cNvPr>
          <p:cNvSpPr>
            <a:spLocks noGrp="1"/>
          </p:cNvSpPr>
          <p:nvPr>
            <p:ph type="body" idx="1"/>
          </p:nvPr>
        </p:nvSpPr>
        <p:spPr/>
        <p:txBody>
          <a:bodyPr/>
          <a:lstStyle/>
          <a:p>
            <a:pPr marL="181225" indent="-181225">
              <a:buFont typeface="Arial" panose="020B0604020202020204" pitchFamily="34" charset="0"/>
              <a:buChar char="•"/>
            </a:pPr>
            <a:r>
              <a:rPr lang="en-US" strike="sngStrike" dirty="0"/>
              <a:t>Remove Tags from Clear Filters/Tags</a:t>
            </a:r>
          </a:p>
          <a:p>
            <a:pPr marL="181225" indent="-181225">
              <a:buFont typeface="Arial" panose="020B0604020202020204" pitchFamily="34" charset="0"/>
              <a:buChar char="•"/>
            </a:pPr>
            <a:r>
              <a:rPr lang="en-US" strike="sngStrike" dirty="0"/>
              <a:t>Paging; allow minimum of 50 per page</a:t>
            </a:r>
          </a:p>
          <a:p>
            <a:pPr marL="181225" indent="-181225">
              <a:buFont typeface="Arial" panose="020B0604020202020204" pitchFamily="34" charset="0"/>
              <a:buChar char="•"/>
            </a:pPr>
            <a:r>
              <a:rPr lang="en-US" strike="sngStrike" dirty="0"/>
              <a:t>Remove Quick tags: global change. </a:t>
            </a:r>
          </a:p>
          <a:p>
            <a:pPr marL="181225" indent="-181225">
              <a:buFont typeface="Arial" panose="020B0604020202020204" pitchFamily="34" charset="0"/>
              <a:buChar char="•"/>
            </a:pPr>
            <a:r>
              <a:rPr lang="en-US" dirty="0"/>
              <a:t>Add Certificates This would only appear for GCC Analyst and Admin - how will this be managed</a:t>
            </a:r>
          </a:p>
          <a:p>
            <a:pPr marL="664488" lvl="1" indent="-181225">
              <a:buFont typeface="Arial" panose="020B0604020202020204" pitchFamily="34" charset="0"/>
              <a:buChar char="•"/>
            </a:pPr>
            <a:r>
              <a:rPr lang="en-US" b="1" dirty="0"/>
              <a:t>This will be managed by using page level security. Only GCC analyst and Admin will be able to see or use this functionality. </a:t>
            </a:r>
          </a:p>
          <a:p>
            <a:pPr marL="664488" lvl="1" indent="-181225">
              <a:buFont typeface="Arial" panose="020B0604020202020204" pitchFamily="34" charset="0"/>
              <a:buChar char="•"/>
            </a:pPr>
            <a:r>
              <a:rPr lang="en-US" b="1" dirty="0"/>
              <a:t>TODO: Add screen to show this functionality. </a:t>
            </a:r>
          </a:p>
          <a:p>
            <a:pPr marL="181225" indent="-181225">
              <a:buFont typeface="Arial" panose="020B0604020202020204" pitchFamily="34" charset="0"/>
              <a:buChar char="•"/>
            </a:pPr>
            <a:r>
              <a:rPr lang="en-US" b="1" dirty="0"/>
              <a:t>Edit Selected Certificate: </a:t>
            </a:r>
            <a:r>
              <a:rPr lang="en-US" dirty="0"/>
              <a:t>How does this work when you can multi-select. Either you need to add a row with icons to edit or upon clicking on a single record it opens edit screen but only for internal users</a:t>
            </a:r>
            <a:endParaRPr lang="en-US" b="1" dirty="0"/>
          </a:p>
          <a:p>
            <a:pPr marL="181225" indent="-181225">
              <a:buFont typeface="Arial" panose="020B0604020202020204" pitchFamily="34" charset="0"/>
              <a:buChar char="•"/>
            </a:pPr>
            <a:r>
              <a:rPr lang="en-US" b="1" dirty="0"/>
              <a:t>Download Selected </a:t>
            </a:r>
            <a:r>
              <a:rPr lang="en-US" dirty="0"/>
              <a:t>Is this to download certifications of items selected? If so make button copy more clear. Also if none are selected and button is clicked </a:t>
            </a:r>
            <a:r>
              <a:rPr lang="en-US" b="1" dirty="0"/>
              <a:t>will error popup display?</a:t>
            </a:r>
          </a:p>
          <a:p>
            <a:pPr marL="181225" indent="-181225">
              <a:buFont typeface="Arial" panose="020B0604020202020204" pitchFamily="34" charset="0"/>
              <a:buChar char="•"/>
            </a:pPr>
            <a:r>
              <a:rPr lang="en-US" b="1" dirty="0"/>
              <a:t>Export Selected to Excel and Export all to Excel: I think you only need 1 button</a:t>
            </a:r>
            <a:r>
              <a:rPr lang="en-US" dirty="0"/>
              <a:t>. If you have no filters it will download all. If you have filters selected it will only download your results. This is how current DB works</a:t>
            </a:r>
          </a:p>
          <a:p>
            <a:pPr marL="181225" indent="-181225">
              <a:buFont typeface="Arial" panose="020B0604020202020204" pitchFamily="34" charset="0"/>
              <a:buChar char="•"/>
            </a:pPr>
            <a:r>
              <a:rPr lang="en-US" dirty="0"/>
              <a:t>Can we have a cert preview column (could be little expand / eye icon) - which would display cert image in webpage view. They will also have ability to download but this is just if they want to see it</a:t>
            </a:r>
            <a:endParaRPr lang="en-US" b="1" dirty="0"/>
          </a:p>
        </p:txBody>
      </p:sp>
      <p:sp>
        <p:nvSpPr>
          <p:cNvPr id="4" name="Slide Number Placeholder 3">
            <a:extLst>
              <a:ext uri="{FF2B5EF4-FFF2-40B4-BE49-F238E27FC236}">
                <a16:creationId xmlns:a16="http://schemas.microsoft.com/office/drawing/2014/main" id="{A29122ED-CEBD-5325-16BB-B87B631CA3E9}"/>
              </a:ext>
            </a:extLst>
          </p:cNvPr>
          <p:cNvSpPr>
            <a:spLocks noGrp="1"/>
          </p:cNvSpPr>
          <p:nvPr>
            <p:ph type="sldNum" sz="quarter" idx="5"/>
          </p:nvPr>
        </p:nvSpPr>
        <p:spPr/>
        <p:txBody>
          <a:bodyPr/>
          <a:lstStyle/>
          <a:p>
            <a:fld id="{AFF60533-1213-4FCB-A4AA-C44494E2E2E7}" type="slidenum">
              <a:rPr lang="en-US" smtClean="0"/>
              <a:t>39</a:t>
            </a:fld>
            <a:endParaRPr lang="en-US"/>
          </a:p>
        </p:txBody>
      </p:sp>
    </p:spTree>
    <p:extLst>
      <p:ext uri="{BB962C8B-B14F-4D97-AF65-F5344CB8AC3E}">
        <p14:creationId xmlns:p14="http://schemas.microsoft.com/office/powerpoint/2010/main" val="18562842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46006-CF81-40D8-236E-13268DE91D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4F85A0-62E4-C552-315F-42F89F13E1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37EAB1-D06F-9EDD-2BD1-18A6DF03DC40}"/>
              </a:ext>
            </a:extLst>
          </p:cNvPr>
          <p:cNvSpPr>
            <a:spLocks noGrp="1"/>
          </p:cNvSpPr>
          <p:nvPr>
            <p:ph type="body" idx="1"/>
          </p:nvPr>
        </p:nvSpPr>
        <p:spPr/>
        <p:txBody>
          <a:bodyPr/>
          <a:lstStyle/>
          <a:p>
            <a:r>
              <a:rPr lang="en-US" dirty="0"/>
              <a:t>We need to make sure only GCC users have edit access to a certificate record</a:t>
            </a:r>
          </a:p>
          <a:p>
            <a:endParaRPr lang="en-US" dirty="0"/>
          </a:p>
        </p:txBody>
      </p:sp>
      <p:sp>
        <p:nvSpPr>
          <p:cNvPr id="4" name="Slide Number Placeholder 3">
            <a:extLst>
              <a:ext uri="{FF2B5EF4-FFF2-40B4-BE49-F238E27FC236}">
                <a16:creationId xmlns:a16="http://schemas.microsoft.com/office/drawing/2014/main" id="{18D57FE4-1D64-88AE-C1A5-0229F9F788BD}"/>
              </a:ext>
            </a:extLst>
          </p:cNvPr>
          <p:cNvSpPr>
            <a:spLocks noGrp="1"/>
          </p:cNvSpPr>
          <p:nvPr>
            <p:ph type="sldNum" sz="quarter" idx="5"/>
          </p:nvPr>
        </p:nvSpPr>
        <p:spPr/>
        <p:txBody>
          <a:bodyPr/>
          <a:lstStyle/>
          <a:p>
            <a:fld id="{AFF60533-1213-4FCB-A4AA-C44494E2E2E7}" type="slidenum">
              <a:rPr lang="en-US" smtClean="0"/>
              <a:t>40</a:t>
            </a:fld>
            <a:endParaRPr lang="en-US"/>
          </a:p>
        </p:txBody>
      </p:sp>
    </p:spTree>
    <p:extLst>
      <p:ext uri="{BB962C8B-B14F-4D97-AF65-F5344CB8AC3E}">
        <p14:creationId xmlns:p14="http://schemas.microsoft.com/office/powerpoint/2010/main" val="19019163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 They </a:t>
            </a:r>
            <a:r>
              <a:rPr lang="en-US" dirty="0" err="1"/>
              <a:t>wouldnt</a:t>
            </a:r>
            <a:r>
              <a:rPr lang="en-US" dirty="0"/>
              <a:t> see this unless dashboard data reflects their data access.</a:t>
            </a:r>
          </a:p>
          <a:p>
            <a:endParaRPr lang="en-US" dirty="0"/>
          </a:p>
          <a:p>
            <a:r>
              <a:rPr lang="en-US" b="1" dirty="0"/>
              <a:t>Not just clients - partners will also be external users and will see certs associated with their program</a:t>
            </a:r>
          </a:p>
          <a:p>
            <a:endParaRPr lang="en-US" b="1" dirty="0"/>
          </a:p>
          <a:p>
            <a:r>
              <a:rPr lang="en-US" b="1" dirty="0"/>
              <a:t>Add </a:t>
            </a:r>
            <a:r>
              <a:rPr lang="en-US" b="1" dirty="0" err="1"/>
              <a:t>Certificat</a:t>
            </a:r>
            <a:r>
              <a:rPr lang="en-US" b="1" dirty="0"/>
              <a:t> Button: Remove They could not add Cert remove</a:t>
            </a:r>
          </a:p>
          <a:p>
            <a:endParaRPr lang="en-US" b="1" dirty="0"/>
          </a:p>
          <a:p>
            <a:r>
              <a:rPr lang="en-US" b="1" dirty="0"/>
              <a:t>Apply applicable comments from page 22</a:t>
            </a:r>
          </a:p>
        </p:txBody>
      </p:sp>
      <p:sp>
        <p:nvSpPr>
          <p:cNvPr id="4" name="Slide Number Placeholder 3"/>
          <p:cNvSpPr>
            <a:spLocks noGrp="1"/>
          </p:cNvSpPr>
          <p:nvPr>
            <p:ph type="sldNum" sz="quarter" idx="5"/>
          </p:nvPr>
        </p:nvSpPr>
        <p:spPr/>
        <p:txBody>
          <a:bodyPr/>
          <a:lstStyle/>
          <a:p>
            <a:fld id="{AFF60533-1213-4FCB-A4AA-C44494E2E2E7}" type="slidenum">
              <a:rPr lang="en-US" smtClean="0"/>
              <a:t>41</a:t>
            </a:fld>
            <a:endParaRPr lang="en-US"/>
          </a:p>
        </p:txBody>
      </p:sp>
    </p:spTree>
    <p:extLst>
      <p:ext uri="{BB962C8B-B14F-4D97-AF65-F5344CB8AC3E}">
        <p14:creationId xmlns:p14="http://schemas.microsoft.com/office/powerpoint/2010/main" val="28540389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11BAF-E298-EEB4-2E30-7E199A465B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A2E8A2-DECD-D0A8-2C7F-ED055620CA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AD7902-DB6F-D37D-D7C0-280CCA32C8C6}"/>
              </a:ext>
            </a:extLst>
          </p:cNvPr>
          <p:cNvSpPr>
            <a:spLocks noGrp="1"/>
          </p:cNvSpPr>
          <p:nvPr>
            <p:ph type="body" idx="1"/>
          </p:nvPr>
        </p:nvSpPr>
        <p:spPr/>
        <p:txBody>
          <a:bodyPr/>
          <a:lstStyle/>
          <a:p>
            <a:r>
              <a:rPr lang="en-US" dirty="0"/>
              <a:t>Home: They </a:t>
            </a:r>
            <a:r>
              <a:rPr lang="en-US" dirty="0" err="1"/>
              <a:t>wouldnt</a:t>
            </a:r>
            <a:r>
              <a:rPr lang="en-US" dirty="0"/>
              <a:t> see this unless dashboard data reflects their data access.</a:t>
            </a:r>
          </a:p>
          <a:p>
            <a:endParaRPr lang="en-US" dirty="0"/>
          </a:p>
          <a:p>
            <a:r>
              <a:rPr lang="en-US" b="1" dirty="0"/>
              <a:t>Not just clients - partners will also be external users and will see certs associated with their program</a:t>
            </a:r>
          </a:p>
          <a:p>
            <a:endParaRPr lang="en-US" b="1" dirty="0"/>
          </a:p>
          <a:p>
            <a:r>
              <a:rPr lang="en-US" b="1" dirty="0"/>
              <a:t>Add </a:t>
            </a:r>
            <a:r>
              <a:rPr lang="en-US" b="1" dirty="0" err="1"/>
              <a:t>Certificat</a:t>
            </a:r>
            <a:r>
              <a:rPr lang="en-US" b="1" dirty="0"/>
              <a:t> Button: Remove They could not add Cert remove</a:t>
            </a:r>
          </a:p>
          <a:p>
            <a:endParaRPr lang="en-US" b="1" dirty="0"/>
          </a:p>
          <a:p>
            <a:r>
              <a:rPr lang="en-US" b="1" dirty="0"/>
              <a:t>Apply applicable comments from page 22</a:t>
            </a:r>
          </a:p>
        </p:txBody>
      </p:sp>
      <p:sp>
        <p:nvSpPr>
          <p:cNvPr id="4" name="Slide Number Placeholder 3">
            <a:extLst>
              <a:ext uri="{FF2B5EF4-FFF2-40B4-BE49-F238E27FC236}">
                <a16:creationId xmlns:a16="http://schemas.microsoft.com/office/drawing/2014/main" id="{5AADA705-681B-861C-7772-024481C1AE71}"/>
              </a:ext>
            </a:extLst>
          </p:cNvPr>
          <p:cNvSpPr>
            <a:spLocks noGrp="1"/>
          </p:cNvSpPr>
          <p:nvPr>
            <p:ph type="sldNum" sz="quarter" idx="5"/>
          </p:nvPr>
        </p:nvSpPr>
        <p:spPr/>
        <p:txBody>
          <a:bodyPr/>
          <a:lstStyle/>
          <a:p>
            <a:fld id="{AFF60533-1213-4FCB-A4AA-C44494E2E2E7}" type="slidenum">
              <a:rPr lang="en-US" smtClean="0"/>
              <a:t>42</a:t>
            </a:fld>
            <a:endParaRPr lang="en-US"/>
          </a:p>
        </p:txBody>
      </p:sp>
    </p:spTree>
    <p:extLst>
      <p:ext uri="{BB962C8B-B14F-4D97-AF65-F5344CB8AC3E}">
        <p14:creationId xmlns:p14="http://schemas.microsoft.com/office/powerpoint/2010/main" val="3748336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When we grant permissions to clients it would be through Company - and there could be multiple companies associated with 1 client (ASSA ABLOY for example) </a:t>
            </a:r>
            <a:br>
              <a:rPr lang="en-US" b="1" dirty="0"/>
            </a:br>
            <a:br>
              <a:rPr lang="en-US" b="1" dirty="0"/>
            </a:br>
            <a:r>
              <a:rPr lang="en-US" b="1" dirty="0"/>
              <a:t>However, on the partner side they would not be by Company but by tag or new field</a:t>
            </a:r>
          </a:p>
        </p:txBody>
      </p:sp>
      <p:sp>
        <p:nvSpPr>
          <p:cNvPr id="4" name="Slide Number Placeholder 3"/>
          <p:cNvSpPr>
            <a:spLocks noGrp="1"/>
          </p:cNvSpPr>
          <p:nvPr>
            <p:ph type="sldNum" sz="quarter" idx="5"/>
          </p:nvPr>
        </p:nvSpPr>
        <p:spPr/>
        <p:txBody>
          <a:bodyPr/>
          <a:lstStyle/>
          <a:p>
            <a:fld id="{AFF60533-1213-4FCB-A4AA-C44494E2E2E7}" type="slidenum">
              <a:rPr lang="en-US" smtClean="0"/>
              <a:t>43</a:t>
            </a:fld>
            <a:endParaRPr lang="en-US"/>
          </a:p>
        </p:txBody>
      </p:sp>
    </p:spTree>
    <p:extLst>
      <p:ext uri="{BB962C8B-B14F-4D97-AF65-F5344CB8AC3E}">
        <p14:creationId xmlns:p14="http://schemas.microsoft.com/office/powerpoint/2010/main" val="215984415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25" indent="-181225">
              <a:buFont typeface="Arial" panose="020B0604020202020204" pitchFamily="34" charset="0"/>
              <a:buChar char="•"/>
            </a:pPr>
            <a:r>
              <a:rPr lang="en-US" strike="sngStrike" dirty="0"/>
              <a:t>Remove Tags from Clear Filters/Tags</a:t>
            </a:r>
          </a:p>
          <a:p>
            <a:pPr marL="181225" indent="-181225">
              <a:buFont typeface="Arial" panose="020B0604020202020204" pitchFamily="34" charset="0"/>
              <a:buChar char="•"/>
            </a:pPr>
            <a:r>
              <a:rPr lang="en-US" strike="sngStrike" dirty="0"/>
              <a:t>Paging; allow minimum of 50 per page</a:t>
            </a:r>
          </a:p>
          <a:p>
            <a:pPr marL="181225" indent="-181225">
              <a:buFont typeface="Arial" panose="020B0604020202020204" pitchFamily="34" charset="0"/>
              <a:buChar char="•"/>
            </a:pPr>
            <a:r>
              <a:rPr lang="en-US" strike="sngStrike" dirty="0"/>
              <a:t>Remove Quick tags: global change. </a:t>
            </a:r>
          </a:p>
          <a:p>
            <a:pPr marL="181225" indent="-181225">
              <a:buFont typeface="Arial" panose="020B0604020202020204" pitchFamily="34" charset="0"/>
              <a:buChar char="•"/>
            </a:pPr>
            <a:r>
              <a:rPr lang="en-US" dirty="0"/>
              <a:t>Add Certificates This would only appear for GCC Analyst and Admin - how will this be managed</a:t>
            </a:r>
          </a:p>
          <a:p>
            <a:pPr marL="664488" lvl="1" indent="-181225">
              <a:buFont typeface="Arial" panose="020B0604020202020204" pitchFamily="34" charset="0"/>
              <a:buChar char="•"/>
            </a:pPr>
            <a:r>
              <a:rPr lang="en-US" b="1" dirty="0"/>
              <a:t>This will be managed by using page level security. Only GCC analyst and Admin will be able to see or use this functionality. </a:t>
            </a:r>
          </a:p>
          <a:p>
            <a:pPr marL="664488" lvl="1" indent="-181225">
              <a:buFont typeface="Arial" panose="020B0604020202020204" pitchFamily="34" charset="0"/>
              <a:buChar char="•"/>
            </a:pPr>
            <a:r>
              <a:rPr lang="en-US" b="1" dirty="0"/>
              <a:t>TODO: Add screen to show this functionality. </a:t>
            </a:r>
          </a:p>
          <a:p>
            <a:pPr marL="181225" indent="-181225">
              <a:buFont typeface="Arial" panose="020B0604020202020204" pitchFamily="34" charset="0"/>
              <a:buChar char="•"/>
            </a:pPr>
            <a:r>
              <a:rPr lang="en-US" b="1" dirty="0"/>
              <a:t>Edit Selected Certificate: </a:t>
            </a:r>
            <a:r>
              <a:rPr lang="en-US" dirty="0"/>
              <a:t>How does this work when you can multi-select. Either you need to add a row with icons to edit or upon clicking on a single record it opens edit screen but only for internal users</a:t>
            </a:r>
            <a:endParaRPr lang="en-US" b="1" dirty="0"/>
          </a:p>
          <a:p>
            <a:pPr marL="181225" indent="-181225">
              <a:buFont typeface="Arial" panose="020B0604020202020204" pitchFamily="34" charset="0"/>
              <a:buChar char="•"/>
            </a:pPr>
            <a:r>
              <a:rPr lang="en-US" b="1" dirty="0"/>
              <a:t>Download Selected </a:t>
            </a:r>
            <a:r>
              <a:rPr lang="en-US" dirty="0"/>
              <a:t>Is this to download certifications of items selected? If so make button copy more clear. Also if none are selected and button is clicked </a:t>
            </a:r>
            <a:r>
              <a:rPr lang="en-US" b="1" dirty="0"/>
              <a:t>will error popup display?</a:t>
            </a:r>
          </a:p>
          <a:p>
            <a:pPr marL="181225" indent="-181225">
              <a:buFont typeface="Arial" panose="020B0604020202020204" pitchFamily="34" charset="0"/>
              <a:buChar char="•"/>
            </a:pPr>
            <a:r>
              <a:rPr lang="en-US" b="1" dirty="0"/>
              <a:t>Export Selected to Excel and Export all to Excel: I think you only need 1 button</a:t>
            </a:r>
            <a:r>
              <a:rPr lang="en-US" dirty="0"/>
              <a:t>. If you have no filters it will download all. If you have filters selected it will only download your results. This is how current DB works</a:t>
            </a:r>
          </a:p>
          <a:p>
            <a:pPr marL="181225" indent="-181225">
              <a:buFont typeface="Arial" panose="020B0604020202020204" pitchFamily="34" charset="0"/>
              <a:buChar char="•"/>
            </a:pPr>
            <a:r>
              <a:rPr lang="en-US" dirty="0"/>
              <a:t>Can we have a cert preview column (could be little expand / eye icon) - which would display cert image in webpage view. They will also have ability to download but this is just if they want to see it</a:t>
            </a:r>
            <a:endParaRPr lang="en-US" b="1" dirty="0"/>
          </a:p>
        </p:txBody>
      </p:sp>
      <p:sp>
        <p:nvSpPr>
          <p:cNvPr id="4" name="Slide Number Placeholder 3"/>
          <p:cNvSpPr>
            <a:spLocks noGrp="1"/>
          </p:cNvSpPr>
          <p:nvPr>
            <p:ph type="sldNum" sz="quarter" idx="5"/>
          </p:nvPr>
        </p:nvSpPr>
        <p:spPr/>
        <p:txBody>
          <a:bodyPr/>
          <a:lstStyle/>
          <a:p>
            <a:fld id="{AFF60533-1213-4FCB-A4AA-C44494E2E2E7}" type="slidenum">
              <a:rPr lang="en-US" smtClean="0"/>
              <a:t>44</a:t>
            </a:fld>
            <a:endParaRPr lang="en-US"/>
          </a:p>
        </p:txBody>
      </p:sp>
    </p:spTree>
    <p:extLst>
      <p:ext uri="{BB962C8B-B14F-4D97-AF65-F5344CB8AC3E}">
        <p14:creationId xmlns:p14="http://schemas.microsoft.com/office/powerpoint/2010/main" val="8372837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E8C34-7096-5857-73F5-04DF86FEFC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C9CEC9-B68F-520F-791E-49ADD9D242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A73822-5C63-5A49-5341-B4A349453737}"/>
              </a:ext>
            </a:extLst>
          </p:cNvPr>
          <p:cNvSpPr>
            <a:spLocks noGrp="1"/>
          </p:cNvSpPr>
          <p:nvPr>
            <p:ph type="body" idx="1"/>
          </p:nvPr>
        </p:nvSpPr>
        <p:spPr/>
        <p:txBody>
          <a:bodyPr/>
          <a:lstStyle/>
          <a:p>
            <a:pPr marL="181225" indent="-181225">
              <a:buFont typeface="Arial" panose="020B0604020202020204" pitchFamily="34" charset="0"/>
              <a:buChar char="•"/>
            </a:pPr>
            <a:r>
              <a:rPr lang="en-US" strike="sngStrike" dirty="0"/>
              <a:t>Remove Tags from Clear Filters/Tags</a:t>
            </a:r>
          </a:p>
          <a:p>
            <a:pPr marL="181225" indent="-181225">
              <a:buFont typeface="Arial" panose="020B0604020202020204" pitchFamily="34" charset="0"/>
              <a:buChar char="•"/>
            </a:pPr>
            <a:r>
              <a:rPr lang="en-US" strike="sngStrike" dirty="0"/>
              <a:t>Paging; allow minimum of 50 per page</a:t>
            </a:r>
          </a:p>
          <a:p>
            <a:pPr marL="181225" indent="-181225">
              <a:buFont typeface="Arial" panose="020B0604020202020204" pitchFamily="34" charset="0"/>
              <a:buChar char="•"/>
            </a:pPr>
            <a:r>
              <a:rPr lang="en-US" strike="sngStrike" dirty="0"/>
              <a:t>Remove Quick tags: global change. </a:t>
            </a:r>
          </a:p>
          <a:p>
            <a:pPr marL="181225" indent="-181225">
              <a:buFont typeface="Arial" panose="020B0604020202020204" pitchFamily="34" charset="0"/>
              <a:buChar char="•"/>
            </a:pPr>
            <a:r>
              <a:rPr lang="en-US" dirty="0"/>
              <a:t>Add Certificates This would only appear for GCC Analyst and Admin - how will this be managed</a:t>
            </a:r>
          </a:p>
          <a:p>
            <a:pPr marL="664488" lvl="1" indent="-181225">
              <a:buFont typeface="Arial" panose="020B0604020202020204" pitchFamily="34" charset="0"/>
              <a:buChar char="•"/>
            </a:pPr>
            <a:r>
              <a:rPr lang="en-US" b="1" dirty="0"/>
              <a:t>This will be managed by using page level security. Only GCC analyst and Admin will be able to see or use this functionality. </a:t>
            </a:r>
          </a:p>
          <a:p>
            <a:pPr marL="664488" lvl="1" indent="-181225">
              <a:buFont typeface="Arial" panose="020B0604020202020204" pitchFamily="34" charset="0"/>
              <a:buChar char="•"/>
            </a:pPr>
            <a:r>
              <a:rPr lang="en-US" b="1" dirty="0"/>
              <a:t>TODO: Add screen to show this functionality. </a:t>
            </a:r>
          </a:p>
          <a:p>
            <a:pPr marL="181225" indent="-181225">
              <a:buFont typeface="Arial" panose="020B0604020202020204" pitchFamily="34" charset="0"/>
              <a:buChar char="•"/>
            </a:pPr>
            <a:r>
              <a:rPr lang="en-US" b="1" dirty="0"/>
              <a:t>Edit Selected Certificate: </a:t>
            </a:r>
            <a:r>
              <a:rPr lang="en-US" dirty="0"/>
              <a:t>How does this work when you can multi-select. Either you need to add a row with icons to edit or upon clicking on a single record it opens edit screen but only for internal users</a:t>
            </a:r>
            <a:endParaRPr lang="en-US" b="1" dirty="0"/>
          </a:p>
          <a:p>
            <a:pPr marL="181225" indent="-181225">
              <a:buFont typeface="Arial" panose="020B0604020202020204" pitchFamily="34" charset="0"/>
              <a:buChar char="•"/>
            </a:pPr>
            <a:r>
              <a:rPr lang="en-US" b="1" dirty="0"/>
              <a:t>Download Selected </a:t>
            </a:r>
            <a:r>
              <a:rPr lang="en-US" dirty="0"/>
              <a:t>Is this to download certifications of items selected? If so make button copy more clear. Also if none are selected and button is clicked </a:t>
            </a:r>
            <a:r>
              <a:rPr lang="en-US" b="1" dirty="0"/>
              <a:t>will error popup display?</a:t>
            </a:r>
          </a:p>
          <a:p>
            <a:pPr marL="181225" indent="-181225">
              <a:buFont typeface="Arial" panose="020B0604020202020204" pitchFamily="34" charset="0"/>
              <a:buChar char="•"/>
            </a:pPr>
            <a:r>
              <a:rPr lang="en-US" b="1" dirty="0"/>
              <a:t>Export Selected to Excel and Export all to Excel: I think you only need 1 button</a:t>
            </a:r>
            <a:r>
              <a:rPr lang="en-US" dirty="0"/>
              <a:t>. If you have no filters it will download all. If you have filters selected it will only download your results. This is how current DB works</a:t>
            </a:r>
          </a:p>
          <a:p>
            <a:pPr marL="181225" indent="-181225">
              <a:buFont typeface="Arial" panose="020B0604020202020204" pitchFamily="34" charset="0"/>
              <a:buChar char="•"/>
            </a:pPr>
            <a:r>
              <a:rPr lang="en-US" dirty="0"/>
              <a:t>Can we have a cert preview column (could be little expand / eye icon) - which would display cert image in webpage view. They will also have ability to download but this is just if they want to see it</a:t>
            </a:r>
            <a:endParaRPr lang="en-US" b="1" dirty="0"/>
          </a:p>
        </p:txBody>
      </p:sp>
      <p:sp>
        <p:nvSpPr>
          <p:cNvPr id="4" name="Slide Number Placeholder 3">
            <a:extLst>
              <a:ext uri="{FF2B5EF4-FFF2-40B4-BE49-F238E27FC236}">
                <a16:creationId xmlns:a16="http://schemas.microsoft.com/office/drawing/2014/main" id="{88D24199-C9FF-F42C-3C8D-4E065531846F}"/>
              </a:ext>
            </a:extLst>
          </p:cNvPr>
          <p:cNvSpPr>
            <a:spLocks noGrp="1"/>
          </p:cNvSpPr>
          <p:nvPr>
            <p:ph type="sldNum" sz="quarter" idx="5"/>
          </p:nvPr>
        </p:nvSpPr>
        <p:spPr/>
        <p:txBody>
          <a:bodyPr/>
          <a:lstStyle/>
          <a:p>
            <a:fld id="{AFF60533-1213-4FCB-A4AA-C44494E2E2E7}" type="slidenum">
              <a:rPr lang="en-US" smtClean="0"/>
              <a:t>45</a:t>
            </a:fld>
            <a:endParaRPr lang="en-US"/>
          </a:p>
        </p:txBody>
      </p:sp>
    </p:spTree>
    <p:extLst>
      <p:ext uri="{BB962C8B-B14F-4D97-AF65-F5344CB8AC3E}">
        <p14:creationId xmlns:p14="http://schemas.microsoft.com/office/powerpoint/2010/main" val="38617346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0CE32-76D8-D7FE-B366-26002360A6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AEE313-692F-BB0C-E8D1-4D70196261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237C5E-B805-7416-D9B3-BB88CE638378}"/>
              </a:ext>
            </a:extLst>
          </p:cNvPr>
          <p:cNvSpPr>
            <a:spLocks noGrp="1"/>
          </p:cNvSpPr>
          <p:nvPr>
            <p:ph type="body" idx="1"/>
          </p:nvPr>
        </p:nvSpPr>
        <p:spPr/>
        <p:txBody>
          <a:bodyPr/>
          <a:lstStyle/>
          <a:p>
            <a:pPr marL="181225" indent="-181225">
              <a:buFont typeface="Arial" panose="020B0604020202020204" pitchFamily="34" charset="0"/>
              <a:buChar char="•"/>
            </a:pPr>
            <a:r>
              <a:rPr lang="en-US" strike="sngStrike" dirty="0"/>
              <a:t>Remove Tags from Clear Filters/Tags</a:t>
            </a:r>
          </a:p>
          <a:p>
            <a:pPr marL="181225" indent="-181225">
              <a:buFont typeface="Arial" panose="020B0604020202020204" pitchFamily="34" charset="0"/>
              <a:buChar char="•"/>
            </a:pPr>
            <a:r>
              <a:rPr lang="en-US" strike="sngStrike" dirty="0"/>
              <a:t>Paging; allow minimum of 50 per page</a:t>
            </a:r>
          </a:p>
          <a:p>
            <a:pPr marL="181225" indent="-181225">
              <a:buFont typeface="Arial" panose="020B0604020202020204" pitchFamily="34" charset="0"/>
              <a:buChar char="•"/>
            </a:pPr>
            <a:r>
              <a:rPr lang="en-US" strike="sngStrike" dirty="0"/>
              <a:t>Remove Quick tags: global change. </a:t>
            </a:r>
          </a:p>
          <a:p>
            <a:pPr marL="181225" indent="-181225">
              <a:buFont typeface="Arial" panose="020B0604020202020204" pitchFamily="34" charset="0"/>
              <a:buChar char="•"/>
            </a:pPr>
            <a:r>
              <a:rPr lang="en-US" dirty="0"/>
              <a:t>Add Certificates This would only appear for GCC Analyst and Admin - how will this be managed</a:t>
            </a:r>
          </a:p>
          <a:p>
            <a:pPr marL="664488" lvl="1" indent="-181225">
              <a:buFont typeface="Arial" panose="020B0604020202020204" pitchFamily="34" charset="0"/>
              <a:buChar char="•"/>
            </a:pPr>
            <a:r>
              <a:rPr lang="en-US" b="1" dirty="0"/>
              <a:t>This will be managed by using page level security. Only GCC analyst and Admin will be able to see or use this functionality. </a:t>
            </a:r>
          </a:p>
          <a:p>
            <a:pPr marL="664488" lvl="1" indent="-181225">
              <a:buFont typeface="Arial" panose="020B0604020202020204" pitchFamily="34" charset="0"/>
              <a:buChar char="•"/>
            </a:pPr>
            <a:r>
              <a:rPr lang="en-US" b="1" dirty="0"/>
              <a:t>TODO: Add screen to show this functionality. </a:t>
            </a:r>
          </a:p>
          <a:p>
            <a:pPr marL="181225" indent="-181225">
              <a:buFont typeface="Arial" panose="020B0604020202020204" pitchFamily="34" charset="0"/>
              <a:buChar char="•"/>
            </a:pPr>
            <a:r>
              <a:rPr lang="en-US" b="1" dirty="0"/>
              <a:t>Edit Selected Certificate: </a:t>
            </a:r>
            <a:r>
              <a:rPr lang="en-US" dirty="0"/>
              <a:t>How does this work when you can multi-select. Either you need to add a row with icons to edit or upon clicking on a single record it opens edit screen but only for internal users</a:t>
            </a:r>
            <a:endParaRPr lang="en-US" b="1" dirty="0"/>
          </a:p>
          <a:p>
            <a:pPr marL="181225" indent="-181225">
              <a:buFont typeface="Arial" panose="020B0604020202020204" pitchFamily="34" charset="0"/>
              <a:buChar char="•"/>
            </a:pPr>
            <a:r>
              <a:rPr lang="en-US" b="1" dirty="0"/>
              <a:t>Download Selected </a:t>
            </a:r>
            <a:r>
              <a:rPr lang="en-US" dirty="0"/>
              <a:t>Is this to download certifications of items selected? If so make button copy more clear. Also if none are selected and button is clicked </a:t>
            </a:r>
            <a:r>
              <a:rPr lang="en-US" b="1" dirty="0"/>
              <a:t>will error popup display?</a:t>
            </a:r>
          </a:p>
          <a:p>
            <a:pPr marL="181225" indent="-181225">
              <a:buFont typeface="Arial" panose="020B0604020202020204" pitchFamily="34" charset="0"/>
              <a:buChar char="•"/>
            </a:pPr>
            <a:r>
              <a:rPr lang="en-US" b="1" dirty="0"/>
              <a:t>Export Selected to Excel and Export all to Excel: I think you only need 1 button</a:t>
            </a:r>
            <a:r>
              <a:rPr lang="en-US" dirty="0"/>
              <a:t>. If you have no filters it will download all. If you have filters selected it will only download your results. This is how current DB works</a:t>
            </a:r>
          </a:p>
          <a:p>
            <a:pPr marL="181225" indent="-181225">
              <a:buFont typeface="Arial" panose="020B0604020202020204" pitchFamily="34" charset="0"/>
              <a:buChar char="•"/>
            </a:pPr>
            <a:r>
              <a:rPr lang="en-US" dirty="0"/>
              <a:t>Can we have a cert preview column (could be little expand / eye icon) - which would display cert image in webpage view. They will also have ability to download but this is just if they want to see it</a:t>
            </a:r>
            <a:endParaRPr lang="en-US" b="1" dirty="0"/>
          </a:p>
        </p:txBody>
      </p:sp>
      <p:sp>
        <p:nvSpPr>
          <p:cNvPr id="4" name="Slide Number Placeholder 3">
            <a:extLst>
              <a:ext uri="{FF2B5EF4-FFF2-40B4-BE49-F238E27FC236}">
                <a16:creationId xmlns:a16="http://schemas.microsoft.com/office/drawing/2014/main" id="{464FFA03-FC93-BD6F-7C6F-88D8D36C4954}"/>
              </a:ext>
            </a:extLst>
          </p:cNvPr>
          <p:cNvSpPr>
            <a:spLocks noGrp="1"/>
          </p:cNvSpPr>
          <p:nvPr>
            <p:ph type="sldNum" sz="quarter" idx="5"/>
          </p:nvPr>
        </p:nvSpPr>
        <p:spPr/>
        <p:txBody>
          <a:bodyPr/>
          <a:lstStyle/>
          <a:p>
            <a:fld id="{AFF60533-1213-4FCB-A4AA-C44494E2E2E7}" type="slidenum">
              <a:rPr lang="en-US" smtClean="0"/>
              <a:t>46</a:t>
            </a:fld>
            <a:endParaRPr lang="en-US"/>
          </a:p>
        </p:txBody>
      </p:sp>
    </p:spTree>
    <p:extLst>
      <p:ext uri="{BB962C8B-B14F-4D97-AF65-F5344CB8AC3E}">
        <p14:creationId xmlns:p14="http://schemas.microsoft.com/office/powerpoint/2010/main" val="32902491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to make sure only GCC users have edit access to a certificate record</a:t>
            </a:r>
          </a:p>
          <a:p>
            <a:endParaRPr lang="en-US" dirty="0"/>
          </a:p>
          <a:p>
            <a:pPr defTabSz="948507">
              <a:defRPr/>
            </a:pPr>
            <a:r>
              <a:rPr lang="en-US">
                <a:solidFill>
                  <a:srgbClr val="606771"/>
                </a:solidFill>
                <a:latin typeface="Segoe UI" panose="020B0502040204020203" pitchFamily="34" charset="0"/>
              </a:rPr>
              <a:t>All data fields to be displayed based on user’s permissions: </a:t>
            </a:r>
            <a:r>
              <a:rPr lang="en-US" b="1">
                <a:solidFill>
                  <a:srgbClr val="606771"/>
                </a:solidFill>
                <a:latin typeface="Segoe UI" panose="020B0502040204020203" pitchFamily="34" charset="0"/>
              </a:rPr>
              <a:t>Certificate #, Certification Type, CSF Attributes, Status, Effective Date, Expiration Date, Company, Company Contact Email/URL, Product Name, Product Category, Product Type, Product Type Subcategory, Location, Country, External Tag, Internal Tag, ASIN, UPC, GTIN, EAN, Certificate Upload, Record Created Date, Record Last Updated Date, Preview</a:t>
            </a:r>
          </a:p>
          <a:p>
            <a:endParaRPr lang="en-US" dirty="0"/>
          </a:p>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47</a:t>
            </a:fld>
            <a:endParaRPr lang="en-US"/>
          </a:p>
        </p:txBody>
      </p:sp>
    </p:spTree>
    <p:extLst>
      <p:ext uri="{BB962C8B-B14F-4D97-AF65-F5344CB8AC3E}">
        <p14:creationId xmlns:p14="http://schemas.microsoft.com/office/powerpoint/2010/main" val="16385123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25" indent="-181225">
              <a:buFont typeface="Arial" panose="020B0604020202020204" pitchFamily="34" charset="0"/>
              <a:buChar char="•"/>
            </a:pPr>
            <a:r>
              <a:rPr lang="en-US" dirty="0"/>
              <a:t>Anuki explore options for: Clone feature that only carries over certain fields like Cert Type, Company, Dates, Location, Country, Company Contact </a:t>
            </a:r>
          </a:p>
          <a:p>
            <a:pPr marL="181225" indent="-181225">
              <a:buFont typeface="Arial" panose="020B0604020202020204" pitchFamily="34" charset="0"/>
              <a:buChar char="•"/>
            </a:pPr>
            <a:r>
              <a:rPr lang="en-US" dirty="0"/>
              <a:t>And potential Excel mass upload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would be best on a page not a popup given the amount of fields. Would want it to open in new tab when cert is selected for editing.</a:t>
            </a:r>
          </a:p>
          <a:p>
            <a:endParaRPr lang="en-US" dirty="0"/>
          </a:p>
          <a:p>
            <a:r>
              <a:rPr lang="en-US" b="1" dirty="0"/>
              <a:t>How are you allowing mass upload of Amazon ASINs (or UPC, GTIN, EAN)? On these pages we need the listing of ASINs/UPC/etc. that are covered under the cert.</a:t>
            </a:r>
          </a:p>
          <a:p>
            <a:r>
              <a:rPr lang="en-US" b="1" dirty="0"/>
              <a:t>Need to be able to copy and paste ASIN (or other) list or upload in bulk. </a:t>
            </a:r>
          </a:p>
          <a:p>
            <a:endParaRPr lang="en-US" b="1" dirty="0"/>
          </a:p>
          <a:p>
            <a:r>
              <a:rPr lang="en-US" b="1" dirty="0"/>
              <a:t>We need to add other fields specific to the ASIN associated product. I see that list associated with cert in this view at the </a:t>
            </a:r>
            <a:r>
              <a:rPr lang="en-US" b="1" dirty="0" err="1"/>
              <a:t>botto</a:t>
            </a:r>
            <a:endParaRPr lang="en-US" b="1" dirty="0"/>
          </a:p>
          <a:p>
            <a:endParaRPr lang="en-US" b="1" dirty="0"/>
          </a:p>
          <a:p>
            <a:r>
              <a:rPr lang="en-US" b="0" dirty="0"/>
              <a:t>You need to show how a GCC Analyst will search/add new Company and Product Names </a:t>
            </a:r>
          </a:p>
          <a:p>
            <a:endParaRPr lang="en-US" b="0" dirty="0"/>
          </a:p>
          <a:p>
            <a:r>
              <a:rPr lang="en-US" b="0" dirty="0"/>
              <a:t>You need to show how available options show for company or product names -- then if there is not one how to add a new (like current DB)</a:t>
            </a:r>
          </a:p>
          <a:p>
            <a:endParaRPr lang="en-US" b="0" dirty="0"/>
          </a:p>
          <a:p>
            <a:r>
              <a:rPr lang="en-US" b="0" dirty="0"/>
              <a:t>Also, Product selection is editable AFTER company is selected so it will show the associated products from that company already available </a:t>
            </a:r>
          </a:p>
          <a:p>
            <a:endParaRPr lang="en-US" b="0" dirty="0"/>
          </a:p>
          <a:p>
            <a:r>
              <a:rPr lang="en-US" b="0" dirty="0"/>
              <a:t>You need to show how you add a New Product and tie that product to the right project type -- within this interface/popup not just in the Products page (see current DB)</a:t>
            </a:r>
          </a:p>
          <a:p>
            <a:endParaRPr lang="en-US" b="1" dirty="0">
              <a:solidFill>
                <a:srgbClr val="FF0000"/>
              </a:solidFill>
            </a:endParaRPr>
          </a:p>
          <a:p>
            <a:pPr marL="181225" indent="-181225">
              <a:buFontTx/>
              <a:buChar char="-"/>
            </a:pPr>
            <a:r>
              <a:rPr lang="en-US" b="1" dirty="0">
                <a:solidFill>
                  <a:srgbClr val="FF0000"/>
                </a:solidFill>
              </a:rPr>
              <a:t>Product Name is not a required field. </a:t>
            </a:r>
          </a:p>
          <a:p>
            <a:pPr marL="181225" indent="-181225">
              <a:buFontTx/>
              <a:buChar char="-"/>
            </a:pPr>
            <a:r>
              <a:rPr lang="en-US" dirty="0"/>
              <a:t>Certificate #: Not accounting for notification that if left blank will auto assign. Unless you are planning some other way to handle this? But this is key functionality for cert numbering.</a:t>
            </a:r>
          </a:p>
          <a:p>
            <a:pPr marL="181225" indent="-181225">
              <a:buFontTx/>
              <a:buChar char="-"/>
            </a:pPr>
            <a:r>
              <a:rPr lang="en-US" b="1" dirty="0">
                <a:solidFill>
                  <a:srgbClr val="FF0000"/>
                </a:solidFill>
              </a:rPr>
              <a:t>Company – Move to General Section</a:t>
            </a:r>
          </a:p>
          <a:p>
            <a:pPr marL="181225" indent="-181225">
              <a:buFontTx/>
              <a:buChar char="-"/>
            </a:pPr>
            <a:r>
              <a:rPr lang="en-US" dirty="0"/>
              <a:t>Company Contact: These are either URL or an email address (not phone number). Move to General Section</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b="1" dirty="0"/>
              <a:t>Location and Country:</a:t>
            </a:r>
            <a:r>
              <a:rPr lang="en-US" dirty="0"/>
              <a:t> Put this under General because it could be product or facility level cert</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dirty="0"/>
              <a:t>Should list Created On and Last Modified (these fields are system generated and not editable)</a:t>
            </a:r>
            <a:br>
              <a:rPr lang="en-US" dirty="0"/>
            </a:br>
            <a:r>
              <a:rPr lang="en-US" dirty="0"/>
              <a:t>and what User Last </a:t>
            </a:r>
            <a:r>
              <a:rPr lang="en-US" dirty="0" err="1"/>
              <a:t>Modiified</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dirty="0"/>
              <a:t>Missing a bunch of fields like CSF Attributes, ASIN, UPC, GTIN, EAN</a:t>
            </a:r>
            <a:br>
              <a:rPr lang="en-US" dirty="0"/>
            </a:br>
            <a:br>
              <a:rPr lang="en-US" dirty="0"/>
            </a:br>
            <a:r>
              <a:rPr lang="en-US" dirty="0"/>
              <a:t>DISCUSS WITH TEAM: For CSF Attributes: If a specific attribute from the dropdown is selected than that cert would appear in the public search for that cert type. For example if the CSF has Recycled Content, then the CSF would appear when selecting Recycled Content</a:t>
            </a:r>
          </a:p>
          <a:p>
            <a:pPr marL="181225" indent="-181225">
              <a:buFontTx/>
              <a:buChar char="-"/>
            </a:pPr>
            <a:endParaRPr lang="en-US" dirty="0"/>
          </a:p>
          <a:p>
            <a:pPr marL="181225" indent="-181225">
              <a:buFontTx/>
              <a:buChar char="-"/>
            </a:pPr>
            <a:endParaRPr lang="en-US" dirty="0"/>
          </a:p>
          <a:p>
            <a:pPr marL="181225" indent="-181225">
              <a:buFontTx/>
              <a:buChar char="-"/>
            </a:pPr>
            <a:r>
              <a:rPr lang="en-US" dirty="0"/>
              <a:t>Tags should be color coded for internal vs external</a:t>
            </a:r>
          </a:p>
          <a:p>
            <a:pPr marL="181225" indent="-181225">
              <a:buFontTx/>
              <a:buChar char="-"/>
            </a:pPr>
            <a:r>
              <a:rPr lang="en-US" dirty="0"/>
              <a:t>Need ability to upload certificate file and preview button</a:t>
            </a:r>
          </a:p>
          <a:p>
            <a:pPr marL="181225" indent="-181225">
              <a:buFontTx/>
              <a:buChar char="-"/>
            </a:pPr>
            <a:r>
              <a:rPr lang="en-US" b="1" dirty="0">
                <a:solidFill>
                  <a:srgbClr val="FF0000"/>
                </a:solidFill>
              </a:rPr>
              <a:t>Change Submit to Save</a:t>
            </a: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endParaRPr lang="en-US" b="0" dirty="0"/>
          </a:p>
          <a:p>
            <a:endParaRPr lang="en-US" b="0" dirty="0"/>
          </a:p>
        </p:txBody>
      </p:sp>
      <p:sp>
        <p:nvSpPr>
          <p:cNvPr id="4" name="Slide Number Placeholder 3"/>
          <p:cNvSpPr>
            <a:spLocks noGrp="1"/>
          </p:cNvSpPr>
          <p:nvPr>
            <p:ph type="sldNum" sz="quarter" idx="5"/>
          </p:nvPr>
        </p:nvSpPr>
        <p:spPr/>
        <p:txBody>
          <a:bodyPr/>
          <a:lstStyle/>
          <a:p>
            <a:fld id="{AFF60533-1213-4FCB-A4AA-C44494E2E2E7}" type="slidenum">
              <a:rPr lang="en-US" smtClean="0"/>
              <a:t>48</a:t>
            </a:fld>
            <a:endParaRPr lang="en-US"/>
          </a:p>
        </p:txBody>
      </p:sp>
    </p:spTree>
    <p:extLst>
      <p:ext uri="{BB962C8B-B14F-4D97-AF65-F5344CB8AC3E}">
        <p14:creationId xmlns:p14="http://schemas.microsoft.com/office/powerpoint/2010/main" val="7145888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20A37-8B11-EC42-6C10-7DEFBEC766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055580-2071-A1FC-F2B4-BD04A1B463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314427-1440-9A34-1559-7FAA66260DAC}"/>
              </a:ext>
            </a:extLst>
          </p:cNvPr>
          <p:cNvSpPr>
            <a:spLocks noGrp="1"/>
          </p:cNvSpPr>
          <p:nvPr>
            <p:ph type="body" idx="1"/>
          </p:nvPr>
        </p:nvSpPr>
        <p:spPr/>
        <p:txBody>
          <a:bodyPr/>
          <a:lstStyle/>
          <a:p>
            <a:pPr marL="181225" indent="-181225">
              <a:buFont typeface="Arial" panose="020B0604020202020204" pitchFamily="34" charset="0"/>
              <a:buChar char="•"/>
            </a:pPr>
            <a:r>
              <a:rPr lang="en-US" dirty="0"/>
              <a:t>Anuki explore options for: Clone feature that only carries over certain fields like Cert Type, Company, Dates, Location, Country, Company Contact </a:t>
            </a:r>
          </a:p>
          <a:p>
            <a:pPr marL="181225" indent="-181225">
              <a:buFont typeface="Arial" panose="020B0604020202020204" pitchFamily="34" charset="0"/>
              <a:buChar char="•"/>
            </a:pPr>
            <a:r>
              <a:rPr lang="en-US" dirty="0"/>
              <a:t>And potential Excel mass upload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would be best on a page not a popup given the amount of fields. Would want it to open in new tab when cert is selected for editing.</a:t>
            </a:r>
          </a:p>
          <a:p>
            <a:endParaRPr lang="en-US" dirty="0"/>
          </a:p>
          <a:p>
            <a:r>
              <a:rPr lang="en-US" b="1" dirty="0"/>
              <a:t>How are you allowing mass upload of Amazon ASINs (or UPC, GTIN, EAN)? On these pages we need the listing of ASINs/UPC/etc. that are covered under the cert.</a:t>
            </a:r>
          </a:p>
          <a:p>
            <a:r>
              <a:rPr lang="en-US" b="1" dirty="0"/>
              <a:t>Need to be able to copy and paste ASIN (or other) list or upload in bulk. </a:t>
            </a:r>
          </a:p>
          <a:p>
            <a:endParaRPr lang="en-US" b="1" dirty="0"/>
          </a:p>
          <a:p>
            <a:r>
              <a:rPr lang="en-US" b="1" dirty="0"/>
              <a:t>We need to add other fields specific to the ASIN associated product. I see that list associated with cert in this view at the </a:t>
            </a:r>
            <a:r>
              <a:rPr lang="en-US" b="1" dirty="0" err="1"/>
              <a:t>botto</a:t>
            </a:r>
            <a:endParaRPr lang="en-US" b="1" dirty="0"/>
          </a:p>
          <a:p>
            <a:endParaRPr lang="en-US" b="1" dirty="0"/>
          </a:p>
          <a:p>
            <a:r>
              <a:rPr lang="en-US" b="0" dirty="0"/>
              <a:t>You need to show how a GCC Analyst will search/add new Company and Product Names </a:t>
            </a:r>
          </a:p>
          <a:p>
            <a:endParaRPr lang="en-US" b="0" dirty="0"/>
          </a:p>
          <a:p>
            <a:r>
              <a:rPr lang="en-US" b="0" dirty="0"/>
              <a:t>You need to show how available options show for company or product names -- then if there is not one how to add a new (like current DB)</a:t>
            </a:r>
          </a:p>
          <a:p>
            <a:endParaRPr lang="en-US" b="0" dirty="0"/>
          </a:p>
          <a:p>
            <a:r>
              <a:rPr lang="en-US" b="0" dirty="0"/>
              <a:t>Also, Product selection is editable AFTER company is selected so it will show the associated products from that company already available </a:t>
            </a:r>
          </a:p>
          <a:p>
            <a:endParaRPr lang="en-US" b="0" dirty="0"/>
          </a:p>
          <a:p>
            <a:r>
              <a:rPr lang="en-US" b="0" dirty="0"/>
              <a:t>You need to show how you add a New Product and tie that product to the right project type -- within this interface/popup not just in the Products page (see current DB)</a:t>
            </a:r>
          </a:p>
          <a:p>
            <a:endParaRPr lang="en-US" b="1" dirty="0">
              <a:solidFill>
                <a:srgbClr val="FF0000"/>
              </a:solidFill>
            </a:endParaRPr>
          </a:p>
          <a:p>
            <a:pPr marL="181225" indent="-181225">
              <a:buFontTx/>
              <a:buChar char="-"/>
            </a:pPr>
            <a:r>
              <a:rPr lang="en-US" b="1" dirty="0">
                <a:solidFill>
                  <a:srgbClr val="FF0000"/>
                </a:solidFill>
              </a:rPr>
              <a:t>Product Name is not a required field. </a:t>
            </a:r>
          </a:p>
          <a:p>
            <a:pPr marL="181225" indent="-181225">
              <a:buFontTx/>
              <a:buChar char="-"/>
            </a:pPr>
            <a:r>
              <a:rPr lang="en-US" dirty="0"/>
              <a:t>Certificate #: Not accounting for notification that if left blank will auto assign. Unless you are planning some other way to handle this? But this is key functionality for cert numbering.</a:t>
            </a:r>
          </a:p>
          <a:p>
            <a:pPr marL="181225" indent="-181225">
              <a:buFontTx/>
              <a:buChar char="-"/>
            </a:pPr>
            <a:r>
              <a:rPr lang="en-US" b="1" dirty="0">
                <a:solidFill>
                  <a:srgbClr val="FF0000"/>
                </a:solidFill>
              </a:rPr>
              <a:t>Company – Move to General Section</a:t>
            </a:r>
          </a:p>
          <a:p>
            <a:pPr marL="181225" indent="-181225">
              <a:buFontTx/>
              <a:buChar char="-"/>
            </a:pPr>
            <a:r>
              <a:rPr lang="en-US" dirty="0"/>
              <a:t>Company Contact: These are either URL or an email address (not phone number). Move to General Section</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b="1" dirty="0"/>
              <a:t>Location and Country:</a:t>
            </a:r>
            <a:r>
              <a:rPr lang="en-US" dirty="0"/>
              <a:t> Put this under General because it could be product or facility level cert</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dirty="0"/>
              <a:t>Should list Created On and Last Modified (these fields are system generated and not editable)</a:t>
            </a:r>
            <a:br>
              <a:rPr lang="en-US" dirty="0"/>
            </a:br>
            <a:r>
              <a:rPr lang="en-US" dirty="0"/>
              <a:t>and what User Last </a:t>
            </a:r>
            <a:r>
              <a:rPr lang="en-US" dirty="0" err="1"/>
              <a:t>Modiified</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dirty="0"/>
              <a:t>Missing a bunch of fields like CSF Attributes, ASIN, UPC, GTIN, EAN</a:t>
            </a:r>
            <a:br>
              <a:rPr lang="en-US" dirty="0"/>
            </a:br>
            <a:br>
              <a:rPr lang="en-US" dirty="0"/>
            </a:br>
            <a:r>
              <a:rPr lang="en-US" dirty="0"/>
              <a:t>DISCUSS WITH TEAM: For CSF Attributes: If a specific attribute from the dropdown is selected than that cert would appear in the public search for that cert type. For example if the CSF has Recycled Content, then the CSF would appear when selecting Recycled Content</a:t>
            </a:r>
          </a:p>
          <a:p>
            <a:pPr marL="181225" indent="-181225">
              <a:buFontTx/>
              <a:buChar char="-"/>
            </a:pPr>
            <a:endParaRPr lang="en-US" dirty="0"/>
          </a:p>
          <a:p>
            <a:pPr marL="181225" indent="-181225">
              <a:buFontTx/>
              <a:buChar char="-"/>
            </a:pPr>
            <a:endParaRPr lang="en-US" dirty="0"/>
          </a:p>
          <a:p>
            <a:pPr marL="181225" indent="-181225">
              <a:buFontTx/>
              <a:buChar char="-"/>
            </a:pPr>
            <a:r>
              <a:rPr lang="en-US" dirty="0"/>
              <a:t>Tags should be color coded for internal vs external</a:t>
            </a:r>
          </a:p>
          <a:p>
            <a:pPr marL="181225" indent="-181225">
              <a:buFontTx/>
              <a:buChar char="-"/>
            </a:pPr>
            <a:r>
              <a:rPr lang="en-US" dirty="0"/>
              <a:t>Need ability to upload certificate file and preview button</a:t>
            </a:r>
          </a:p>
          <a:p>
            <a:pPr marL="181225" indent="-181225">
              <a:buFontTx/>
              <a:buChar char="-"/>
            </a:pPr>
            <a:r>
              <a:rPr lang="en-US" b="1" dirty="0">
                <a:solidFill>
                  <a:srgbClr val="FF0000"/>
                </a:solidFill>
              </a:rPr>
              <a:t>Change Submit to Save</a:t>
            </a: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endParaRPr lang="en-US" b="0" dirty="0"/>
          </a:p>
          <a:p>
            <a:endParaRPr lang="en-US" b="0" dirty="0"/>
          </a:p>
        </p:txBody>
      </p:sp>
      <p:sp>
        <p:nvSpPr>
          <p:cNvPr id="4" name="Slide Number Placeholder 3">
            <a:extLst>
              <a:ext uri="{FF2B5EF4-FFF2-40B4-BE49-F238E27FC236}">
                <a16:creationId xmlns:a16="http://schemas.microsoft.com/office/drawing/2014/main" id="{778AB5B1-6B91-9BBD-EE98-41BADBBBCA2E}"/>
              </a:ext>
            </a:extLst>
          </p:cNvPr>
          <p:cNvSpPr>
            <a:spLocks noGrp="1"/>
          </p:cNvSpPr>
          <p:nvPr>
            <p:ph type="sldNum" sz="quarter" idx="5"/>
          </p:nvPr>
        </p:nvSpPr>
        <p:spPr/>
        <p:txBody>
          <a:bodyPr/>
          <a:lstStyle/>
          <a:p>
            <a:fld id="{AFF60533-1213-4FCB-A4AA-C44494E2E2E7}" type="slidenum">
              <a:rPr lang="en-US" smtClean="0"/>
              <a:t>49</a:t>
            </a:fld>
            <a:endParaRPr lang="en-US"/>
          </a:p>
        </p:txBody>
      </p:sp>
    </p:spTree>
    <p:extLst>
      <p:ext uri="{BB962C8B-B14F-4D97-AF65-F5344CB8AC3E}">
        <p14:creationId xmlns:p14="http://schemas.microsoft.com/office/powerpoint/2010/main" val="319236542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in doc provided --- only changes are:</a:t>
            </a:r>
          </a:p>
          <a:p>
            <a:endParaRPr lang="en-US" dirty="0"/>
          </a:p>
          <a:p>
            <a:r>
              <a:rPr lang="en-US" dirty="0"/>
              <a:t>Product Name - not required</a:t>
            </a:r>
          </a:p>
          <a:p>
            <a:r>
              <a:rPr lang="en-US" dirty="0"/>
              <a:t>Product Category - required if there is a Product Name</a:t>
            </a:r>
          </a:p>
          <a:p>
            <a:r>
              <a:rPr lang="en-US" dirty="0"/>
              <a:t>Certificated Upload - not required</a:t>
            </a:r>
          </a:p>
        </p:txBody>
      </p:sp>
      <p:sp>
        <p:nvSpPr>
          <p:cNvPr id="4" name="Slide Number Placeholder 3"/>
          <p:cNvSpPr>
            <a:spLocks noGrp="1"/>
          </p:cNvSpPr>
          <p:nvPr>
            <p:ph type="sldNum" sz="quarter" idx="5"/>
          </p:nvPr>
        </p:nvSpPr>
        <p:spPr/>
        <p:txBody>
          <a:bodyPr/>
          <a:lstStyle/>
          <a:p>
            <a:fld id="{AFF60533-1213-4FCB-A4AA-C44494E2E2E7}" type="slidenum">
              <a:rPr lang="en-US" smtClean="0"/>
              <a:t>50</a:t>
            </a:fld>
            <a:endParaRPr lang="en-US"/>
          </a:p>
        </p:txBody>
      </p:sp>
    </p:spTree>
    <p:extLst>
      <p:ext uri="{BB962C8B-B14F-4D97-AF65-F5344CB8AC3E}">
        <p14:creationId xmlns:p14="http://schemas.microsoft.com/office/powerpoint/2010/main" val="391607017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comments as other page. Need to also be able to remove and replace prior cert PDF</a:t>
            </a:r>
            <a:br>
              <a:rPr lang="en-US" dirty="0"/>
            </a:br>
            <a:r>
              <a:rPr lang="en-US" dirty="0"/>
              <a:t>There should be a confirmation box that appears asking if they are sure they want to delete</a:t>
            </a:r>
          </a:p>
        </p:txBody>
      </p:sp>
      <p:sp>
        <p:nvSpPr>
          <p:cNvPr id="4" name="Slide Number Placeholder 3"/>
          <p:cNvSpPr>
            <a:spLocks noGrp="1"/>
          </p:cNvSpPr>
          <p:nvPr>
            <p:ph type="sldNum" sz="quarter" idx="5"/>
          </p:nvPr>
        </p:nvSpPr>
        <p:spPr/>
        <p:txBody>
          <a:bodyPr/>
          <a:lstStyle/>
          <a:p>
            <a:fld id="{AFF60533-1213-4FCB-A4AA-C44494E2E2E7}" type="slidenum">
              <a:rPr lang="en-US" smtClean="0"/>
              <a:t>51</a:t>
            </a:fld>
            <a:endParaRPr lang="en-US"/>
          </a:p>
        </p:txBody>
      </p:sp>
    </p:spTree>
    <p:extLst>
      <p:ext uri="{BB962C8B-B14F-4D97-AF65-F5344CB8AC3E}">
        <p14:creationId xmlns:p14="http://schemas.microsoft.com/office/powerpoint/2010/main" val="17185840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52</a:t>
            </a:fld>
            <a:endParaRPr lang="en-US"/>
          </a:p>
        </p:txBody>
      </p:sp>
    </p:spTree>
    <p:extLst>
      <p:ext uri="{BB962C8B-B14F-4D97-AF65-F5344CB8AC3E}">
        <p14:creationId xmlns:p14="http://schemas.microsoft.com/office/powerpoint/2010/main" val="238962684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C8CB9-8477-13AA-F860-BAE19FFF2E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CD3482-2B7D-4EEC-F28E-2E8E396ABB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2B3A72-406B-DA9A-6C01-CBF482F181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3823BC-237D-44EE-8B07-9E1F3BC68A5B}"/>
              </a:ext>
            </a:extLst>
          </p:cNvPr>
          <p:cNvSpPr>
            <a:spLocks noGrp="1"/>
          </p:cNvSpPr>
          <p:nvPr>
            <p:ph type="sldNum" sz="quarter" idx="5"/>
          </p:nvPr>
        </p:nvSpPr>
        <p:spPr/>
        <p:txBody>
          <a:bodyPr/>
          <a:lstStyle/>
          <a:p>
            <a:fld id="{AFF60533-1213-4FCB-A4AA-C44494E2E2E7}" type="slidenum">
              <a:rPr lang="en-US" smtClean="0"/>
              <a:t>53</a:t>
            </a:fld>
            <a:endParaRPr lang="en-US"/>
          </a:p>
        </p:txBody>
      </p:sp>
    </p:spTree>
    <p:extLst>
      <p:ext uri="{BB962C8B-B14F-4D97-AF65-F5344CB8AC3E}">
        <p14:creationId xmlns:p14="http://schemas.microsoft.com/office/powerpoint/2010/main" val="56380983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19041-54BB-5B82-9A94-850FBFCA78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BE3458-73C3-E30D-D1A9-1D6D32F4E5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F2733B-870F-1433-09E0-8919FCAE371E}"/>
              </a:ext>
            </a:extLst>
          </p:cNvPr>
          <p:cNvSpPr>
            <a:spLocks noGrp="1"/>
          </p:cNvSpPr>
          <p:nvPr>
            <p:ph type="body" idx="1"/>
          </p:nvPr>
        </p:nvSpPr>
        <p:spPr/>
        <p:txBody>
          <a:bodyPr/>
          <a:lstStyle/>
          <a:p>
            <a:pPr marR="2000" algn="l" rtl="0">
              <a:buSzPts val="1200"/>
              <a:buFont typeface="Symbol" panose="05050102010706020507" pitchFamily="18" charset="2"/>
              <a:buChar char="·"/>
            </a:pPr>
            <a:r>
              <a:rPr lang="en-US" sz="1200" dirty="0">
                <a:latin typeface="Century Gothic" panose="020B0502020202020204" pitchFamily="34" charset="0"/>
              </a:rPr>
              <a:t> Company Management screen:</a:t>
            </a:r>
          </a:p>
          <a:p>
            <a:pPr marR="2000" lvl="1">
              <a:buSzPts val="1200"/>
              <a:buFont typeface="Symbol" panose="05050102010706020507" pitchFamily="18" charset="2"/>
              <a:buChar char="·"/>
            </a:pPr>
            <a:r>
              <a:rPr lang="en-US" sz="1200" dirty="0">
                <a:latin typeface="Century Gothic" panose="020B0502020202020204" pitchFamily="34" charset="0"/>
              </a:rPr>
              <a:t>Includes: Company Name, Company Contact</a:t>
            </a:r>
          </a:p>
          <a:p>
            <a:pPr marR="2000" lvl="1">
              <a:buSzPts val="1200"/>
              <a:buFont typeface="Symbol" panose="05050102010706020507" pitchFamily="18" charset="2"/>
              <a:buChar char="·"/>
            </a:pPr>
            <a:r>
              <a:rPr lang="en-US" sz="1200" dirty="0">
                <a:latin typeface="Century Gothic" panose="020B0502020202020204" pitchFamily="34" charset="0"/>
              </a:rPr>
              <a:t>Separate out Contact Email and Phone into two separate fields</a:t>
            </a:r>
          </a:p>
          <a:p>
            <a:pPr marR="2000">
              <a:buSzPts val="1200"/>
              <a:buFont typeface="Symbol" panose="05050102010706020507" pitchFamily="18" charset="2"/>
              <a:buChar char="·"/>
            </a:pPr>
            <a:r>
              <a:rPr lang="en-US" sz="1200" b="1" dirty="0">
                <a:solidFill>
                  <a:srgbClr val="FF0000"/>
                </a:solidFill>
                <a:latin typeface="Century Gothic" panose="020B0502020202020204" pitchFamily="34" charset="0"/>
              </a:rPr>
              <a:t>DISCUSS: Does this information populate under the cert if it’s listed here? If we aren’t  using this to auto populate that then we don’t need anything, but company name here. </a:t>
            </a:r>
          </a:p>
          <a:p>
            <a:pPr marR="2000">
              <a:buSzPts val="1200"/>
              <a:buFont typeface="Symbol" panose="05050102010706020507" pitchFamily="18" charset="2"/>
              <a:buChar char="·"/>
            </a:pPr>
            <a:r>
              <a:rPr lang="en-US" sz="1200" b="1" dirty="0">
                <a:solidFill>
                  <a:srgbClr val="FF0000"/>
                </a:solidFill>
                <a:latin typeface="Century Gothic" panose="020B0502020202020204" pitchFamily="34" charset="0"/>
              </a:rPr>
              <a:t>Will import ever override current?</a:t>
            </a:r>
          </a:p>
          <a:p>
            <a:pPr marR="2000" lvl="1">
              <a:buSzPts val="1200"/>
              <a:buFont typeface="Symbol" panose="05050102010706020507" pitchFamily="18" charset="2"/>
              <a:buChar char="·"/>
            </a:pPr>
            <a:r>
              <a:rPr lang="en-US" sz="1200" b="1" dirty="0">
                <a:solidFill>
                  <a:srgbClr val="FF0000"/>
                </a:solidFill>
                <a:latin typeface="Century Gothic" panose="020B0502020202020204" pitchFamily="34" charset="0"/>
              </a:rPr>
              <a:t>The import will do a compare of the data to only upload new records.</a:t>
            </a:r>
          </a:p>
          <a:p>
            <a:pPr marR="2000" lvl="1">
              <a:buSzPts val="1200"/>
              <a:buFont typeface="Symbol" panose="05050102010706020507" pitchFamily="18" charset="2"/>
              <a:buChar char="·"/>
            </a:pPr>
            <a:r>
              <a:rPr lang="en-US" sz="1200" b="1" dirty="0">
                <a:solidFill>
                  <a:srgbClr val="FF0000"/>
                </a:solidFill>
                <a:latin typeface="Century Gothic" panose="020B0502020202020204" pitchFamily="34" charset="0"/>
              </a:rPr>
              <a:t>If existing </a:t>
            </a:r>
            <a:r>
              <a:rPr lang="en-US" sz="1200" b="1" dirty="0" err="1">
                <a:solidFill>
                  <a:srgbClr val="FF0000"/>
                </a:solidFill>
                <a:latin typeface="Century Gothic" panose="020B0502020202020204" pitchFamily="34" charset="0"/>
              </a:rPr>
              <a:t>Certficate</a:t>
            </a:r>
            <a:r>
              <a:rPr lang="en-US" sz="1200" b="1" dirty="0">
                <a:solidFill>
                  <a:srgbClr val="FF0000"/>
                </a:solidFill>
                <a:latin typeface="Century Gothic" panose="020B0502020202020204" pitchFamily="34" charset="0"/>
              </a:rPr>
              <a:t> # is uploaded it will update the fields that have changed. </a:t>
            </a:r>
          </a:p>
          <a:p>
            <a:pPr marR="2000" lvl="2">
              <a:buSzPts val="1200"/>
              <a:buFont typeface="Symbol" panose="05050102010706020507" pitchFamily="18" charset="2"/>
              <a:buChar char="·"/>
            </a:pPr>
            <a:r>
              <a:rPr lang="en-US" sz="1200" b="1" dirty="0">
                <a:solidFill>
                  <a:srgbClr val="FF0000"/>
                </a:solidFill>
                <a:latin typeface="Century Gothic" panose="020B0502020202020204" pitchFamily="34" charset="0"/>
              </a:rPr>
              <a:t>History table will be updated in the DB of the change. </a:t>
            </a:r>
          </a:p>
          <a:p>
            <a:pPr marR="2000">
              <a:buSzPts val="1200"/>
              <a:buFont typeface="Symbol" panose="05050102010706020507" pitchFamily="18" charset="2"/>
              <a:buChar char="·"/>
            </a:pPr>
            <a:r>
              <a:rPr lang="en-US" sz="1200" b="1" dirty="0">
                <a:solidFill>
                  <a:srgbClr val="FF0000"/>
                </a:solidFill>
                <a:latin typeface="Century Gothic" panose="020B0502020202020204" pitchFamily="34" charset="0"/>
              </a:rPr>
              <a:t>Does email get used on the Cert? If so rename so more clear…</a:t>
            </a:r>
          </a:p>
          <a:p>
            <a:pPr marR="2000">
              <a:buSzPts val="1200"/>
              <a:buFont typeface="Symbol" panose="05050102010706020507" pitchFamily="18" charset="2"/>
              <a:buChar char="·"/>
            </a:pPr>
            <a:r>
              <a:rPr lang="en-US" sz="1200" b="1" dirty="0">
                <a:solidFill>
                  <a:srgbClr val="FF0000"/>
                </a:solidFill>
                <a:latin typeface="Century Gothic" panose="020B0502020202020204" pitchFamily="34" charset="0"/>
              </a:rPr>
              <a:t>Does Phone get used on the Cert? If so replace with URL on Cert. </a:t>
            </a:r>
            <a:br>
              <a:rPr lang="en-US" sz="1200" b="1" dirty="0">
                <a:solidFill>
                  <a:srgbClr val="FF0000"/>
                </a:solidFill>
                <a:latin typeface="Century Gothic" panose="020B0502020202020204" pitchFamily="34" charset="0"/>
              </a:rPr>
            </a:br>
            <a:r>
              <a:rPr lang="en-US" sz="1200" b="1" dirty="0">
                <a:solidFill>
                  <a:srgbClr val="FF0000"/>
                </a:solidFill>
                <a:latin typeface="Century Gothic" panose="020B0502020202020204" pitchFamily="34" charset="0"/>
              </a:rPr>
              <a:t>Only email and URL as contact options. </a:t>
            </a:r>
          </a:p>
        </p:txBody>
      </p:sp>
      <p:sp>
        <p:nvSpPr>
          <p:cNvPr id="4" name="Slide Number Placeholder 3">
            <a:extLst>
              <a:ext uri="{FF2B5EF4-FFF2-40B4-BE49-F238E27FC236}">
                <a16:creationId xmlns:a16="http://schemas.microsoft.com/office/drawing/2014/main" id="{A663F37E-B275-AC84-4DF6-89AA8649DAE0}"/>
              </a:ext>
            </a:extLst>
          </p:cNvPr>
          <p:cNvSpPr>
            <a:spLocks noGrp="1"/>
          </p:cNvSpPr>
          <p:nvPr>
            <p:ph type="sldNum" sz="quarter" idx="5"/>
          </p:nvPr>
        </p:nvSpPr>
        <p:spPr/>
        <p:txBody>
          <a:bodyPr/>
          <a:lstStyle/>
          <a:p>
            <a:fld id="{AFF60533-1213-4FCB-A4AA-C44494E2E2E7}" type="slidenum">
              <a:rPr lang="en-US" smtClean="0"/>
              <a:t>54</a:t>
            </a:fld>
            <a:endParaRPr lang="en-US"/>
          </a:p>
        </p:txBody>
      </p:sp>
    </p:spTree>
    <p:extLst>
      <p:ext uri="{BB962C8B-B14F-4D97-AF65-F5344CB8AC3E}">
        <p14:creationId xmlns:p14="http://schemas.microsoft.com/office/powerpoint/2010/main" val="381839194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7FD64-4E7F-A7FF-89C2-1B4DB2B7AA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20CB40-ED28-81A6-1B6C-F3D9D8F85E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50056F-AE44-4221-ADF4-16979EC23B6D}"/>
              </a:ext>
            </a:extLst>
          </p:cNvPr>
          <p:cNvSpPr>
            <a:spLocks noGrp="1"/>
          </p:cNvSpPr>
          <p:nvPr>
            <p:ph type="body" idx="1"/>
          </p:nvPr>
        </p:nvSpPr>
        <p:spPr/>
        <p:txBody>
          <a:bodyPr/>
          <a:lstStyle/>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I think Partners and Clients should have access to this without the add, edit, delete and import items.  They would also see based on their permissions. </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This is the wrong section. Not 3.3</a:t>
            </a:r>
          </a:p>
          <a:p>
            <a:pPr marL="285750" marR="2000" indent="-285750">
              <a:buSzPts val="1200"/>
              <a:buFont typeface="Arial" panose="020B0604020202020204" pitchFamily="34" charset="0"/>
              <a:buChar char="•"/>
            </a:pPr>
            <a:r>
              <a:rPr lang="en-US" sz="1600" b="1" dirty="0">
                <a:solidFill>
                  <a:srgbClr val="FF0000"/>
                </a:solidFill>
                <a:latin typeface="Century Gothic" panose="020B0502020202020204" pitchFamily="34" charset="0"/>
              </a:rPr>
              <a:t>Transform Type to individual columns (ASIN, EAN, GTIN, UPC)</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Make this the first column then product name, company, status, partner, then numbers. </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Review: Would need to allow multiple </a:t>
            </a:r>
            <a:r>
              <a:rPr lang="en-US" sz="1200" dirty="0" err="1">
                <a:solidFill>
                  <a:srgbClr val="FF0000"/>
                </a:solidFill>
                <a:latin typeface="Century Gothic" panose="020B0502020202020204" pitchFamily="34" charset="0"/>
              </a:rPr>
              <a:t>parnters</a:t>
            </a:r>
            <a:r>
              <a:rPr lang="en-US" sz="1200" dirty="0">
                <a:solidFill>
                  <a:srgbClr val="FF0000"/>
                </a:solidFill>
                <a:latin typeface="Century Gothic" panose="020B0502020202020204" pitchFamily="34" charset="0"/>
              </a:rPr>
              <a:t>. </a:t>
            </a:r>
          </a:p>
          <a:p>
            <a:pPr marL="742950" marR="2000" lvl="1" indent="-285750">
              <a:buSzPts val="1200"/>
              <a:buFont typeface="Arial" panose="020B0604020202020204" pitchFamily="34" charset="0"/>
              <a:buChar char="•"/>
            </a:pPr>
            <a:r>
              <a:rPr lang="en-US" sz="1200" b="1" dirty="0">
                <a:solidFill>
                  <a:srgbClr val="FF0000"/>
                </a:solidFill>
                <a:latin typeface="Century Gothic" panose="020B0502020202020204" pitchFamily="34" charset="0"/>
              </a:rPr>
              <a:t>The API would identify what get passed per…..????</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What about multi-select for deletion and status change </a:t>
            </a:r>
          </a:p>
          <a:p>
            <a:pPr marL="285750" marR="2000" indent="-285750">
              <a:buSzPts val="1200"/>
              <a:buFont typeface="Arial" panose="020B0604020202020204" pitchFamily="34" charset="0"/>
              <a:buChar char="•"/>
            </a:pPr>
            <a:endParaRPr lang="en-US" sz="1400" b="1" dirty="0">
              <a:solidFill>
                <a:srgbClr val="FF6600"/>
              </a:solidFill>
              <a:latin typeface="Century Gothic" panose="020B0502020202020204" pitchFamily="34" charset="0"/>
            </a:endParaRP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Isn't this same as page 59? See those comments too, is this the one just for bottom of cert page?</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REVIEW: would need to allow multiple partners.!!!!!</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THE API would identify what gets </a:t>
            </a:r>
            <a:r>
              <a:rPr lang="en-US" sz="1400" b="1" dirty="0" err="1">
                <a:solidFill>
                  <a:srgbClr val="FF6600"/>
                </a:solidFill>
                <a:latin typeface="Century Gothic" panose="020B0502020202020204" pitchFamily="34" charset="0"/>
              </a:rPr>
              <a:t>paseed</a:t>
            </a:r>
            <a:r>
              <a:rPr lang="en-US" sz="1400" b="1" dirty="0">
                <a:solidFill>
                  <a:srgbClr val="FF6600"/>
                </a:solidFill>
                <a:latin typeface="Century Gothic" panose="020B0502020202020204" pitchFamily="34" charset="0"/>
              </a:rPr>
              <a:t> per…..???</a:t>
            </a:r>
          </a:p>
          <a:p>
            <a:endParaRPr lang="en-US" b="0" dirty="0"/>
          </a:p>
        </p:txBody>
      </p:sp>
      <p:sp>
        <p:nvSpPr>
          <p:cNvPr id="4" name="Slide Number Placeholder 3">
            <a:extLst>
              <a:ext uri="{FF2B5EF4-FFF2-40B4-BE49-F238E27FC236}">
                <a16:creationId xmlns:a16="http://schemas.microsoft.com/office/drawing/2014/main" id="{08D9DF4B-2939-EF84-7072-BFF646B6758F}"/>
              </a:ext>
            </a:extLst>
          </p:cNvPr>
          <p:cNvSpPr>
            <a:spLocks noGrp="1"/>
          </p:cNvSpPr>
          <p:nvPr>
            <p:ph type="sldNum" sz="quarter" idx="5"/>
          </p:nvPr>
        </p:nvSpPr>
        <p:spPr/>
        <p:txBody>
          <a:bodyPr/>
          <a:lstStyle/>
          <a:p>
            <a:fld id="{AFF60533-1213-4FCB-A4AA-C44494E2E2E7}" type="slidenum">
              <a:rPr lang="en-US" smtClean="0"/>
              <a:t>55</a:t>
            </a:fld>
            <a:endParaRPr lang="en-US"/>
          </a:p>
        </p:txBody>
      </p:sp>
    </p:spTree>
    <p:extLst>
      <p:ext uri="{BB962C8B-B14F-4D97-AF65-F5344CB8AC3E}">
        <p14:creationId xmlns:p14="http://schemas.microsoft.com/office/powerpoint/2010/main" val="372707508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DE942-D1A3-4F2A-2B90-048CAB64F2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3B7A18-52A2-EB81-3373-C1298DE476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9E3E78-6F17-7ADA-4B90-35CD2A0D8A7E}"/>
              </a:ext>
            </a:extLst>
          </p:cNvPr>
          <p:cNvSpPr>
            <a:spLocks noGrp="1"/>
          </p:cNvSpPr>
          <p:nvPr>
            <p:ph type="body" idx="1"/>
          </p:nvPr>
        </p:nvSpPr>
        <p:spPr/>
        <p:txBody>
          <a:bodyPr/>
          <a:lstStyle/>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I think Partners and Clients should have access to this without the add, edit, delete and import items.  They would also see based on their permissions. </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This is the wrong section. Not 3.3</a:t>
            </a:r>
          </a:p>
          <a:p>
            <a:pPr marL="285750" marR="2000" indent="-285750">
              <a:buSzPts val="1200"/>
              <a:buFont typeface="Arial" panose="020B0604020202020204" pitchFamily="34" charset="0"/>
              <a:buChar char="•"/>
            </a:pPr>
            <a:r>
              <a:rPr lang="en-US" sz="1600" b="1" dirty="0">
                <a:solidFill>
                  <a:srgbClr val="FF0000"/>
                </a:solidFill>
                <a:latin typeface="Century Gothic" panose="020B0502020202020204" pitchFamily="34" charset="0"/>
              </a:rPr>
              <a:t>Transform Type to individual columns (ASIN, EAN, GTIN, UPC)</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Make this the first column then product name, company, status, partner, then numbers. </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Review: Would need to allow multiple </a:t>
            </a:r>
            <a:r>
              <a:rPr lang="en-US" sz="1200" dirty="0" err="1">
                <a:solidFill>
                  <a:srgbClr val="FF0000"/>
                </a:solidFill>
                <a:latin typeface="Century Gothic" panose="020B0502020202020204" pitchFamily="34" charset="0"/>
              </a:rPr>
              <a:t>parnters</a:t>
            </a:r>
            <a:r>
              <a:rPr lang="en-US" sz="1200" dirty="0">
                <a:solidFill>
                  <a:srgbClr val="FF0000"/>
                </a:solidFill>
                <a:latin typeface="Century Gothic" panose="020B0502020202020204" pitchFamily="34" charset="0"/>
              </a:rPr>
              <a:t>. </a:t>
            </a:r>
          </a:p>
          <a:p>
            <a:pPr marL="742950" marR="2000" lvl="1" indent="-285750">
              <a:buSzPts val="1200"/>
              <a:buFont typeface="Arial" panose="020B0604020202020204" pitchFamily="34" charset="0"/>
              <a:buChar char="•"/>
            </a:pPr>
            <a:r>
              <a:rPr lang="en-US" sz="1200" b="1" dirty="0">
                <a:solidFill>
                  <a:srgbClr val="FF0000"/>
                </a:solidFill>
                <a:latin typeface="Century Gothic" panose="020B0502020202020204" pitchFamily="34" charset="0"/>
              </a:rPr>
              <a:t>The API would identify what get passed per…..????</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What about multi-select for deletion and status change </a:t>
            </a:r>
          </a:p>
          <a:p>
            <a:pPr marL="285750" marR="2000" indent="-285750">
              <a:buSzPts val="1200"/>
              <a:buFont typeface="Arial" panose="020B0604020202020204" pitchFamily="34" charset="0"/>
              <a:buChar char="•"/>
            </a:pPr>
            <a:endParaRPr lang="en-US" sz="1400" b="1" dirty="0">
              <a:solidFill>
                <a:srgbClr val="FF6600"/>
              </a:solidFill>
              <a:latin typeface="Century Gothic" panose="020B0502020202020204" pitchFamily="34" charset="0"/>
            </a:endParaRP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Isn't this same as page 59? See those comments too, is this the one just for bottom of cert page?</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REVIEW: would need to allow multiple partners.!!!!!</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THE API would identify what gets </a:t>
            </a:r>
            <a:r>
              <a:rPr lang="en-US" sz="1400" b="1" dirty="0" err="1">
                <a:solidFill>
                  <a:srgbClr val="FF6600"/>
                </a:solidFill>
                <a:latin typeface="Century Gothic" panose="020B0502020202020204" pitchFamily="34" charset="0"/>
              </a:rPr>
              <a:t>paseed</a:t>
            </a:r>
            <a:r>
              <a:rPr lang="en-US" sz="1400" b="1" dirty="0">
                <a:solidFill>
                  <a:srgbClr val="FF6600"/>
                </a:solidFill>
                <a:latin typeface="Century Gothic" panose="020B0502020202020204" pitchFamily="34" charset="0"/>
              </a:rPr>
              <a:t> per…..???</a:t>
            </a:r>
          </a:p>
          <a:p>
            <a:endParaRPr lang="en-US" b="0" dirty="0"/>
          </a:p>
        </p:txBody>
      </p:sp>
      <p:sp>
        <p:nvSpPr>
          <p:cNvPr id="4" name="Slide Number Placeholder 3">
            <a:extLst>
              <a:ext uri="{FF2B5EF4-FFF2-40B4-BE49-F238E27FC236}">
                <a16:creationId xmlns:a16="http://schemas.microsoft.com/office/drawing/2014/main" id="{1E34B4F2-0541-AB42-9D8F-BBEDD61CFD14}"/>
              </a:ext>
            </a:extLst>
          </p:cNvPr>
          <p:cNvSpPr>
            <a:spLocks noGrp="1"/>
          </p:cNvSpPr>
          <p:nvPr>
            <p:ph type="sldNum" sz="quarter" idx="5"/>
          </p:nvPr>
        </p:nvSpPr>
        <p:spPr/>
        <p:txBody>
          <a:bodyPr/>
          <a:lstStyle/>
          <a:p>
            <a:fld id="{AFF60533-1213-4FCB-A4AA-C44494E2E2E7}" type="slidenum">
              <a:rPr lang="en-US" smtClean="0"/>
              <a:t>56</a:t>
            </a:fld>
            <a:endParaRPr lang="en-US"/>
          </a:p>
        </p:txBody>
      </p:sp>
    </p:spTree>
    <p:extLst>
      <p:ext uri="{BB962C8B-B14F-4D97-AF65-F5344CB8AC3E}">
        <p14:creationId xmlns:p14="http://schemas.microsoft.com/office/powerpoint/2010/main" val="427054729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69D0C-3A43-669E-51DD-94699B8714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8EC38D-4B77-D506-E5B5-37C81D8B5C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77B39B-0A44-4F2B-BAFC-CF6D06D9D0CC}"/>
              </a:ext>
            </a:extLst>
          </p:cNvPr>
          <p:cNvSpPr>
            <a:spLocks noGrp="1"/>
          </p:cNvSpPr>
          <p:nvPr>
            <p:ph type="body" idx="1"/>
          </p:nvPr>
        </p:nvSpPr>
        <p:spPr/>
        <p:txBody>
          <a:bodyPr/>
          <a:lstStyle/>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I think Partners and Clients should have access to this without the add, edit, delete and import items.  They would also see based on their permissions. </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This is the wrong section. Not 3.3</a:t>
            </a:r>
          </a:p>
          <a:p>
            <a:pPr marL="285750" marR="2000" indent="-285750">
              <a:buSzPts val="1200"/>
              <a:buFont typeface="Arial" panose="020B0604020202020204" pitchFamily="34" charset="0"/>
              <a:buChar char="•"/>
            </a:pPr>
            <a:r>
              <a:rPr lang="en-US" sz="1600" b="1" dirty="0">
                <a:solidFill>
                  <a:srgbClr val="FF0000"/>
                </a:solidFill>
                <a:latin typeface="Century Gothic" panose="020B0502020202020204" pitchFamily="34" charset="0"/>
              </a:rPr>
              <a:t>Transform Type to individual columns (ASIN, EAN, GTIN, UPC)</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Make this the first column then product name, company, status, partner, then numbers. </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Review: Would need to allow multiple </a:t>
            </a:r>
            <a:r>
              <a:rPr lang="en-US" sz="1200" dirty="0" err="1">
                <a:solidFill>
                  <a:srgbClr val="FF0000"/>
                </a:solidFill>
                <a:latin typeface="Century Gothic" panose="020B0502020202020204" pitchFamily="34" charset="0"/>
              </a:rPr>
              <a:t>parnters</a:t>
            </a:r>
            <a:r>
              <a:rPr lang="en-US" sz="1200" dirty="0">
                <a:solidFill>
                  <a:srgbClr val="FF0000"/>
                </a:solidFill>
                <a:latin typeface="Century Gothic" panose="020B0502020202020204" pitchFamily="34" charset="0"/>
              </a:rPr>
              <a:t>. </a:t>
            </a:r>
          </a:p>
          <a:p>
            <a:pPr marL="742950" marR="2000" lvl="1" indent="-285750">
              <a:buSzPts val="1200"/>
              <a:buFont typeface="Arial" panose="020B0604020202020204" pitchFamily="34" charset="0"/>
              <a:buChar char="•"/>
            </a:pPr>
            <a:r>
              <a:rPr lang="en-US" sz="1200" b="1" dirty="0">
                <a:solidFill>
                  <a:srgbClr val="FF0000"/>
                </a:solidFill>
                <a:latin typeface="Century Gothic" panose="020B0502020202020204" pitchFamily="34" charset="0"/>
              </a:rPr>
              <a:t>The API would identify what get passed per…..????</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What about multi-select for deletion and status change </a:t>
            </a:r>
          </a:p>
          <a:p>
            <a:pPr marL="285750" marR="2000" indent="-285750">
              <a:buSzPts val="1200"/>
              <a:buFont typeface="Arial" panose="020B0604020202020204" pitchFamily="34" charset="0"/>
              <a:buChar char="•"/>
            </a:pPr>
            <a:endParaRPr lang="en-US" sz="1400" b="1" dirty="0">
              <a:solidFill>
                <a:srgbClr val="FF6600"/>
              </a:solidFill>
              <a:latin typeface="Century Gothic" panose="020B0502020202020204" pitchFamily="34" charset="0"/>
            </a:endParaRP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Isn't this same as page 59? See those comments too, is this the one just for bottom of cert page?</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REVIEW: would need to allow multiple partners.!!!!!</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THE API would identify what gets </a:t>
            </a:r>
            <a:r>
              <a:rPr lang="en-US" sz="1400" b="1" dirty="0" err="1">
                <a:solidFill>
                  <a:srgbClr val="FF6600"/>
                </a:solidFill>
                <a:latin typeface="Century Gothic" panose="020B0502020202020204" pitchFamily="34" charset="0"/>
              </a:rPr>
              <a:t>paseed</a:t>
            </a:r>
            <a:r>
              <a:rPr lang="en-US" sz="1400" b="1" dirty="0">
                <a:solidFill>
                  <a:srgbClr val="FF6600"/>
                </a:solidFill>
                <a:latin typeface="Century Gothic" panose="020B0502020202020204" pitchFamily="34" charset="0"/>
              </a:rPr>
              <a:t> per…..???</a:t>
            </a:r>
          </a:p>
          <a:p>
            <a:endParaRPr lang="en-US" b="0" dirty="0"/>
          </a:p>
        </p:txBody>
      </p:sp>
      <p:sp>
        <p:nvSpPr>
          <p:cNvPr id="4" name="Slide Number Placeholder 3">
            <a:extLst>
              <a:ext uri="{FF2B5EF4-FFF2-40B4-BE49-F238E27FC236}">
                <a16:creationId xmlns:a16="http://schemas.microsoft.com/office/drawing/2014/main" id="{01845171-C636-E391-730A-206F1A4FEE21}"/>
              </a:ext>
            </a:extLst>
          </p:cNvPr>
          <p:cNvSpPr>
            <a:spLocks noGrp="1"/>
          </p:cNvSpPr>
          <p:nvPr>
            <p:ph type="sldNum" sz="quarter" idx="5"/>
          </p:nvPr>
        </p:nvSpPr>
        <p:spPr/>
        <p:txBody>
          <a:bodyPr/>
          <a:lstStyle/>
          <a:p>
            <a:fld id="{AFF60533-1213-4FCB-A4AA-C44494E2E2E7}" type="slidenum">
              <a:rPr lang="en-US" smtClean="0"/>
              <a:t>57</a:t>
            </a:fld>
            <a:endParaRPr lang="en-US"/>
          </a:p>
        </p:txBody>
      </p:sp>
    </p:spTree>
    <p:extLst>
      <p:ext uri="{BB962C8B-B14F-4D97-AF65-F5344CB8AC3E}">
        <p14:creationId xmlns:p14="http://schemas.microsoft.com/office/powerpoint/2010/main" val="29430376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937F2-594E-9752-8921-E994E08A72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B762DC-6236-E209-772E-BFBDF3E3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D4FB93-02EB-FE22-F665-9BEB74424F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33A5C3-8CC2-C6DA-6138-83B2181E876C}"/>
              </a:ext>
            </a:extLst>
          </p:cNvPr>
          <p:cNvSpPr>
            <a:spLocks noGrp="1"/>
          </p:cNvSpPr>
          <p:nvPr>
            <p:ph type="sldNum" sz="quarter" idx="5"/>
          </p:nvPr>
        </p:nvSpPr>
        <p:spPr/>
        <p:txBody>
          <a:bodyPr/>
          <a:lstStyle/>
          <a:p>
            <a:fld id="{AFF60533-1213-4FCB-A4AA-C44494E2E2E7}" type="slidenum">
              <a:rPr lang="en-US" smtClean="0"/>
              <a:t>58</a:t>
            </a:fld>
            <a:endParaRPr lang="en-US"/>
          </a:p>
        </p:txBody>
      </p:sp>
    </p:spTree>
    <p:extLst>
      <p:ext uri="{BB962C8B-B14F-4D97-AF65-F5344CB8AC3E}">
        <p14:creationId xmlns:p14="http://schemas.microsoft.com/office/powerpoint/2010/main" val="132248876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Submit to Save</a:t>
            </a:r>
          </a:p>
          <a:p>
            <a:r>
              <a:rPr lang="en-US" dirty="0"/>
              <a:t>Cancel word remove</a:t>
            </a:r>
          </a:p>
          <a:p>
            <a:endParaRPr lang="en-US" dirty="0"/>
          </a:p>
          <a:p>
            <a:endParaRPr lang="en-US" dirty="0"/>
          </a:p>
          <a:p>
            <a:r>
              <a:rPr lang="en-US" dirty="0"/>
              <a:t>What do you mean by pages? Trying to understand a use case for this. Sometimes we have same pages but the features on them could be different</a:t>
            </a:r>
          </a:p>
          <a:p>
            <a:endParaRPr lang="en-US" dirty="0"/>
          </a:p>
          <a:p>
            <a:r>
              <a:rPr lang="en-US" dirty="0"/>
              <a:t>The external user needs to be based on selected field filters or field types, which is not represented and needs to be accounted for. It would be unique per USER, not really by role. May be nice to clone these users if we have several from 1 org with same access level </a:t>
            </a:r>
          </a:p>
        </p:txBody>
      </p:sp>
      <p:sp>
        <p:nvSpPr>
          <p:cNvPr id="4" name="Slide Number Placeholder 3"/>
          <p:cNvSpPr>
            <a:spLocks noGrp="1"/>
          </p:cNvSpPr>
          <p:nvPr>
            <p:ph type="sldNum" sz="quarter" idx="5"/>
          </p:nvPr>
        </p:nvSpPr>
        <p:spPr/>
        <p:txBody>
          <a:bodyPr/>
          <a:lstStyle/>
          <a:p>
            <a:fld id="{AFF60533-1213-4FCB-A4AA-C44494E2E2E7}" type="slidenum">
              <a:rPr lang="en-US" smtClean="0"/>
              <a:t>59</a:t>
            </a:fld>
            <a:endParaRPr lang="en-US"/>
          </a:p>
        </p:txBody>
      </p:sp>
    </p:spTree>
    <p:extLst>
      <p:ext uri="{BB962C8B-B14F-4D97-AF65-F5344CB8AC3E}">
        <p14:creationId xmlns:p14="http://schemas.microsoft.com/office/powerpoint/2010/main" val="422222019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82A9F-A7F8-B262-71C2-79BCC85E00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0A1909-A4E5-5B0B-2913-26567EC868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173C28-EF98-2F09-CBCD-1546E4A9EBD5}"/>
              </a:ext>
            </a:extLst>
          </p:cNvPr>
          <p:cNvSpPr>
            <a:spLocks noGrp="1"/>
          </p:cNvSpPr>
          <p:nvPr>
            <p:ph type="body" idx="1"/>
          </p:nvPr>
        </p:nvSpPr>
        <p:spPr/>
        <p:txBody>
          <a:bodyPr/>
          <a:lstStyle/>
          <a:p>
            <a:r>
              <a:rPr lang="en-US" dirty="0"/>
              <a:t>Change Submit to Save</a:t>
            </a:r>
          </a:p>
          <a:p>
            <a:r>
              <a:rPr lang="en-US" dirty="0"/>
              <a:t>Cancel word remove</a:t>
            </a:r>
          </a:p>
          <a:p>
            <a:endParaRPr lang="en-US" dirty="0"/>
          </a:p>
          <a:p>
            <a:endParaRPr lang="en-US" dirty="0"/>
          </a:p>
          <a:p>
            <a:r>
              <a:rPr lang="en-US" dirty="0"/>
              <a:t>What do you mean by pages? Trying to understand a use case for this. Sometimes we have same pages but the features on them could be different</a:t>
            </a:r>
          </a:p>
          <a:p>
            <a:endParaRPr lang="en-US" dirty="0"/>
          </a:p>
          <a:p>
            <a:r>
              <a:rPr lang="en-US" dirty="0"/>
              <a:t>The external user needs to be based on selected field filters or field types, which is not represented and needs to be accounted for. It would be unique per USER, not really by role. May be nice to clone these users if we have several from 1 org with same access level </a:t>
            </a:r>
          </a:p>
        </p:txBody>
      </p:sp>
      <p:sp>
        <p:nvSpPr>
          <p:cNvPr id="4" name="Slide Number Placeholder 3">
            <a:extLst>
              <a:ext uri="{FF2B5EF4-FFF2-40B4-BE49-F238E27FC236}">
                <a16:creationId xmlns:a16="http://schemas.microsoft.com/office/drawing/2014/main" id="{9A2D5B8A-602D-8E81-EDA6-FF1371F799AE}"/>
              </a:ext>
            </a:extLst>
          </p:cNvPr>
          <p:cNvSpPr>
            <a:spLocks noGrp="1"/>
          </p:cNvSpPr>
          <p:nvPr>
            <p:ph type="sldNum" sz="quarter" idx="5"/>
          </p:nvPr>
        </p:nvSpPr>
        <p:spPr/>
        <p:txBody>
          <a:bodyPr/>
          <a:lstStyle/>
          <a:p>
            <a:fld id="{AFF60533-1213-4FCB-A4AA-C44494E2E2E7}" type="slidenum">
              <a:rPr lang="en-US" smtClean="0"/>
              <a:t>60</a:t>
            </a:fld>
            <a:endParaRPr lang="en-US"/>
          </a:p>
        </p:txBody>
      </p:sp>
    </p:spTree>
    <p:extLst>
      <p:ext uri="{BB962C8B-B14F-4D97-AF65-F5344CB8AC3E}">
        <p14:creationId xmlns:p14="http://schemas.microsoft.com/office/powerpoint/2010/main" val="78618952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Ability to export user list</a:t>
            </a:r>
          </a:p>
          <a:p>
            <a:endParaRPr lang="en-US" dirty="0"/>
          </a:p>
          <a:p>
            <a:r>
              <a:rPr lang="en-US" dirty="0"/>
              <a:t>Is Edit Selected User button needed?</a:t>
            </a:r>
          </a:p>
          <a:p>
            <a:endParaRPr lang="en-US" dirty="0"/>
          </a:p>
          <a:p>
            <a:r>
              <a:rPr lang="en-US" dirty="0"/>
              <a:t>Remove (Roles) from image</a:t>
            </a:r>
          </a:p>
          <a:p>
            <a:endParaRPr lang="en-US" dirty="0"/>
          </a:p>
          <a:p>
            <a:r>
              <a:rPr lang="en-US" dirty="0"/>
              <a:t>What is the select checkbox for? Why couldn't you just click on user and go into edit view</a:t>
            </a:r>
            <a:br>
              <a:rPr lang="en-US" dirty="0"/>
            </a:br>
            <a:br>
              <a:rPr lang="en-US" dirty="0"/>
            </a:br>
            <a:r>
              <a:rPr lang="en-US" dirty="0"/>
              <a:t>Only thing </a:t>
            </a:r>
            <a:r>
              <a:rPr lang="en-US" dirty="0" err="1"/>
              <a:t>i</a:t>
            </a:r>
            <a:r>
              <a:rPr lang="en-US" dirty="0"/>
              <a:t> can see multi-select helpful for is to delete users</a:t>
            </a:r>
          </a:p>
          <a:p>
            <a:r>
              <a:rPr lang="en-US" dirty="0"/>
              <a:t>Add Column for Company</a:t>
            </a:r>
          </a:p>
        </p:txBody>
      </p:sp>
      <p:sp>
        <p:nvSpPr>
          <p:cNvPr id="4" name="Slide Number Placeholder 3"/>
          <p:cNvSpPr>
            <a:spLocks noGrp="1"/>
          </p:cNvSpPr>
          <p:nvPr>
            <p:ph type="sldNum" sz="quarter" idx="5"/>
          </p:nvPr>
        </p:nvSpPr>
        <p:spPr/>
        <p:txBody>
          <a:bodyPr/>
          <a:lstStyle/>
          <a:p>
            <a:fld id="{AFF60533-1213-4FCB-A4AA-C44494E2E2E7}" type="slidenum">
              <a:rPr lang="en-US" smtClean="0"/>
              <a:t>61</a:t>
            </a:fld>
            <a:endParaRPr lang="en-US"/>
          </a:p>
        </p:txBody>
      </p:sp>
    </p:spTree>
    <p:extLst>
      <p:ext uri="{BB962C8B-B14F-4D97-AF65-F5344CB8AC3E}">
        <p14:creationId xmlns:p14="http://schemas.microsoft.com/office/powerpoint/2010/main" val="156714315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4BB3E-5A1F-9A05-0D03-9AE29740E5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6560BE-B1F1-62CA-0D4F-95F9FC3BA2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609C73-874B-D6DF-4A5E-ECDC43F4109B}"/>
              </a:ext>
            </a:extLst>
          </p:cNvPr>
          <p:cNvSpPr>
            <a:spLocks noGrp="1"/>
          </p:cNvSpPr>
          <p:nvPr>
            <p:ph type="body" idx="1"/>
          </p:nvPr>
        </p:nvSpPr>
        <p:spPr/>
        <p:txBody>
          <a:bodyPr/>
          <a:lstStyle/>
          <a:p>
            <a:r>
              <a:rPr lang="en-US" dirty="0"/>
              <a:t>Add: Ability to export user list</a:t>
            </a:r>
          </a:p>
          <a:p>
            <a:endParaRPr lang="en-US" dirty="0"/>
          </a:p>
          <a:p>
            <a:r>
              <a:rPr lang="en-US" dirty="0"/>
              <a:t>Is Edit Selected User button needed?</a:t>
            </a:r>
          </a:p>
          <a:p>
            <a:endParaRPr lang="en-US" dirty="0"/>
          </a:p>
          <a:p>
            <a:r>
              <a:rPr lang="en-US" dirty="0"/>
              <a:t>Remove (Roles) from image</a:t>
            </a:r>
          </a:p>
          <a:p>
            <a:endParaRPr lang="en-US" dirty="0"/>
          </a:p>
          <a:p>
            <a:r>
              <a:rPr lang="en-US" dirty="0"/>
              <a:t>What is the select checkbox for? Why couldn't you just click on user and go into edit view</a:t>
            </a:r>
            <a:br>
              <a:rPr lang="en-US" dirty="0"/>
            </a:br>
            <a:br>
              <a:rPr lang="en-US" dirty="0"/>
            </a:br>
            <a:r>
              <a:rPr lang="en-US" dirty="0"/>
              <a:t>Only thing </a:t>
            </a:r>
            <a:r>
              <a:rPr lang="en-US" dirty="0" err="1"/>
              <a:t>i</a:t>
            </a:r>
            <a:r>
              <a:rPr lang="en-US" dirty="0"/>
              <a:t> can see multi-select helpful for is to delete users</a:t>
            </a:r>
          </a:p>
          <a:p>
            <a:r>
              <a:rPr lang="en-US" dirty="0"/>
              <a:t>Add Column for Company</a:t>
            </a:r>
          </a:p>
        </p:txBody>
      </p:sp>
      <p:sp>
        <p:nvSpPr>
          <p:cNvPr id="4" name="Slide Number Placeholder 3">
            <a:extLst>
              <a:ext uri="{FF2B5EF4-FFF2-40B4-BE49-F238E27FC236}">
                <a16:creationId xmlns:a16="http://schemas.microsoft.com/office/drawing/2014/main" id="{B9025768-4913-B984-2DA7-47958E6534C6}"/>
              </a:ext>
            </a:extLst>
          </p:cNvPr>
          <p:cNvSpPr>
            <a:spLocks noGrp="1"/>
          </p:cNvSpPr>
          <p:nvPr>
            <p:ph type="sldNum" sz="quarter" idx="5"/>
          </p:nvPr>
        </p:nvSpPr>
        <p:spPr/>
        <p:txBody>
          <a:bodyPr/>
          <a:lstStyle/>
          <a:p>
            <a:fld id="{AFF60533-1213-4FCB-A4AA-C44494E2E2E7}" type="slidenum">
              <a:rPr lang="en-US" smtClean="0"/>
              <a:t>62</a:t>
            </a:fld>
            <a:endParaRPr lang="en-US"/>
          </a:p>
        </p:txBody>
      </p:sp>
    </p:spTree>
    <p:extLst>
      <p:ext uri="{BB962C8B-B14F-4D97-AF65-F5344CB8AC3E}">
        <p14:creationId xmlns:p14="http://schemas.microsoft.com/office/powerpoint/2010/main" val="360565577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7C879-7EE2-11AC-62E8-3BA046B250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D84666-9D6C-16B7-8743-914D40E20D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1E6318-5B2D-32FB-5015-B51BD06113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16807A-AF02-C0AB-D89A-3A3550F71809}"/>
              </a:ext>
            </a:extLst>
          </p:cNvPr>
          <p:cNvSpPr>
            <a:spLocks noGrp="1"/>
          </p:cNvSpPr>
          <p:nvPr>
            <p:ph type="sldNum" sz="quarter" idx="5"/>
          </p:nvPr>
        </p:nvSpPr>
        <p:spPr/>
        <p:txBody>
          <a:bodyPr/>
          <a:lstStyle/>
          <a:p>
            <a:fld id="{AFF60533-1213-4FCB-A4AA-C44494E2E2E7}" type="slidenum">
              <a:rPr lang="en-US" smtClean="0"/>
              <a:t>63</a:t>
            </a:fld>
            <a:endParaRPr lang="en-US"/>
          </a:p>
        </p:txBody>
      </p:sp>
    </p:spTree>
    <p:extLst>
      <p:ext uri="{BB962C8B-B14F-4D97-AF65-F5344CB8AC3E}">
        <p14:creationId xmlns:p14="http://schemas.microsoft.com/office/powerpoint/2010/main" val="97122828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C0261-673B-321B-B448-BB2C1F1889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DF6F5F-2EBD-65BC-FAA9-41EBAF0275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CEA6B1-5D17-F580-E990-9B4A01EA0D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BFA288-1D26-31DE-5C24-DE4357CB43D0}"/>
              </a:ext>
            </a:extLst>
          </p:cNvPr>
          <p:cNvSpPr>
            <a:spLocks noGrp="1"/>
          </p:cNvSpPr>
          <p:nvPr>
            <p:ph type="sldNum" sz="quarter" idx="5"/>
          </p:nvPr>
        </p:nvSpPr>
        <p:spPr/>
        <p:txBody>
          <a:bodyPr/>
          <a:lstStyle/>
          <a:p>
            <a:fld id="{AFF60533-1213-4FCB-A4AA-C44494E2E2E7}" type="slidenum">
              <a:rPr lang="en-US" smtClean="0"/>
              <a:t>64</a:t>
            </a:fld>
            <a:endParaRPr lang="en-US"/>
          </a:p>
        </p:txBody>
      </p:sp>
    </p:spTree>
    <p:extLst>
      <p:ext uri="{BB962C8B-B14F-4D97-AF65-F5344CB8AC3E}">
        <p14:creationId xmlns:p14="http://schemas.microsoft.com/office/powerpoint/2010/main" val="230539777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AED9A-3279-9420-264D-B5F7AB32D4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68955F-2470-A7BD-372A-1DB86E1FA9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40E40A-F995-54EA-2C3B-D2A8672FF9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F26AEF-0F7E-D626-D170-F808F9C2D779}"/>
              </a:ext>
            </a:extLst>
          </p:cNvPr>
          <p:cNvSpPr>
            <a:spLocks noGrp="1"/>
          </p:cNvSpPr>
          <p:nvPr>
            <p:ph type="sldNum" sz="quarter" idx="5"/>
          </p:nvPr>
        </p:nvSpPr>
        <p:spPr/>
        <p:txBody>
          <a:bodyPr/>
          <a:lstStyle/>
          <a:p>
            <a:fld id="{AFF60533-1213-4FCB-A4AA-C44494E2E2E7}" type="slidenum">
              <a:rPr lang="en-US" smtClean="0"/>
              <a:t>65</a:t>
            </a:fld>
            <a:endParaRPr lang="en-US"/>
          </a:p>
        </p:txBody>
      </p:sp>
    </p:spTree>
    <p:extLst>
      <p:ext uri="{BB962C8B-B14F-4D97-AF65-F5344CB8AC3E}">
        <p14:creationId xmlns:p14="http://schemas.microsoft.com/office/powerpoint/2010/main" val="264631125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9CB77-D7BE-4197-6CB2-30371560AA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42EEED-3163-CC46-E4B6-8EE89B0A3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CE1D9C-E6FE-5E98-740D-D2F3768705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1886BA-92F9-1A09-DFAF-C04E9FCA04AA}"/>
              </a:ext>
            </a:extLst>
          </p:cNvPr>
          <p:cNvSpPr>
            <a:spLocks noGrp="1"/>
          </p:cNvSpPr>
          <p:nvPr>
            <p:ph type="sldNum" sz="quarter" idx="5"/>
          </p:nvPr>
        </p:nvSpPr>
        <p:spPr/>
        <p:txBody>
          <a:bodyPr/>
          <a:lstStyle/>
          <a:p>
            <a:fld id="{AFF60533-1213-4FCB-A4AA-C44494E2E2E7}" type="slidenum">
              <a:rPr lang="en-US" smtClean="0"/>
              <a:t>66</a:t>
            </a:fld>
            <a:endParaRPr lang="en-US"/>
          </a:p>
        </p:txBody>
      </p:sp>
    </p:spTree>
    <p:extLst>
      <p:ext uri="{BB962C8B-B14F-4D97-AF65-F5344CB8AC3E}">
        <p14:creationId xmlns:p14="http://schemas.microsoft.com/office/powerpoint/2010/main" val="183686814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0D5B5-7B53-BBA1-F642-92F8172DC2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2CD3B-5F0B-373C-4C99-CDC7718D58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701B07-5488-B23A-3A35-D1122AD32C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D1625B-EC3C-E325-0F53-E2A5CA2A7563}"/>
              </a:ext>
            </a:extLst>
          </p:cNvPr>
          <p:cNvSpPr>
            <a:spLocks noGrp="1"/>
          </p:cNvSpPr>
          <p:nvPr>
            <p:ph type="sldNum" sz="quarter" idx="5"/>
          </p:nvPr>
        </p:nvSpPr>
        <p:spPr/>
        <p:txBody>
          <a:bodyPr/>
          <a:lstStyle/>
          <a:p>
            <a:fld id="{AFF60533-1213-4FCB-A4AA-C44494E2E2E7}" type="slidenum">
              <a:rPr lang="en-US" smtClean="0"/>
              <a:t>67</a:t>
            </a:fld>
            <a:endParaRPr lang="en-US"/>
          </a:p>
        </p:txBody>
      </p:sp>
    </p:spTree>
    <p:extLst>
      <p:ext uri="{BB962C8B-B14F-4D97-AF65-F5344CB8AC3E}">
        <p14:creationId xmlns:p14="http://schemas.microsoft.com/office/powerpoint/2010/main" val="322084843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E0DB0-0674-5D61-3BAE-78E1A328D1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4601C4-01AF-E3C6-C038-772367C0E5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973F35-FA00-B478-5FF4-4388DE0597CD}"/>
              </a:ext>
            </a:extLst>
          </p:cNvPr>
          <p:cNvSpPr>
            <a:spLocks noGrp="1"/>
          </p:cNvSpPr>
          <p:nvPr>
            <p:ph type="body" idx="1"/>
          </p:nvPr>
        </p:nvSpPr>
        <p:spPr/>
        <p:txBody>
          <a:bodyPr/>
          <a:lstStyle/>
          <a:p>
            <a:r>
              <a:rPr lang="en-US" dirty="0"/>
              <a:t>API will send multiple records for certificates with multiple product IDs:</a:t>
            </a:r>
          </a:p>
          <a:p>
            <a:r>
              <a:rPr lang="en-US" dirty="0" err="1"/>
              <a:t>json</a:t>
            </a:r>
            <a:endParaRPr lang="en-US" dirty="0"/>
          </a:p>
          <a:p>
            <a:r>
              <a:rPr lang="en-US" sz="1200" kern="1200" dirty="0">
                <a:solidFill>
                  <a:schemeClr val="tx1"/>
                </a:solidFill>
                <a:effectLst/>
                <a:latin typeface="+mn-lt"/>
                <a:ea typeface="+mn-ea"/>
                <a:cs typeface="+mn-cs"/>
              </a:rPr>
              <a:t>[</a:t>
            </a:r>
            <a:r>
              <a:rPr lang="en-US" dirty="0"/>
              <a:t> </a:t>
            </a:r>
            <a:r>
              <a:rPr lang="en-US" sz="1200" kern="1200" dirty="0">
                <a:solidFill>
                  <a:schemeClr val="tx1"/>
                </a:solidFill>
                <a:effectLst/>
                <a:latin typeface="+mn-lt"/>
                <a:ea typeface="+mn-ea"/>
                <a:cs typeface="+mn-cs"/>
              </a:rPr>
              <a:t>{</a:t>
            </a:r>
            <a:r>
              <a:rPr lang="en-US" dirty="0"/>
              <a:t> </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certificate_number</a:t>
            </a:r>
            <a:r>
              <a:rPr lang="en-US" sz="1200" kern="1200" dirty="0">
                <a:solidFill>
                  <a:schemeClr val="tx1"/>
                </a:solidFill>
                <a:effectLst/>
                <a:latin typeface="+mn-lt"/>
                <a:ea typeface="+mn-ea"/>
                <a:cs typeface="+mn-cs"/>
              </a:rPr>
              <a:t>":</a:t>
            </a:r>
            <a:r>
              <a:rPr lang="en-US" dirty="0"/>
              <a:t> </a:t>
            </a:r>
            <a:r>
              <a:rPr lang="en-US" sz="1200" kern="1200" dirty="0">
                <a:solidFill>
                  <a:schemeClr val="tx1"/>
                </a:solidFill>
                <a:effectLst/>
                <a:latin typeface="+mn-lt"/>
                <a:ea typeface="+mn-ea"/>
                <a:cs typeface="+mn-cs"/>
              </a:rPr>
              <a:t>"25-0001",</a:t>
            </a:r>
            <a:r>
              <a:rPr lang="en-US" dirty="0"/>
              <a:t> </a:t>
            </a:r>
          </a:p>
          <a:p>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product_id_type</a:t>
            </a:r>
            <a:r>
              <a:rPr lang="en-US" sz="1200" kern="1200" dirty="0">
                <a:solidFill>
                  <a:schemeClr val="tx1"/>
                </a:solidFill>
                <a:effectLst/>
                <a:latin typeface="+mn-lt"/>
                <a:ea typeface="+mn-ea"/>
                <a:cs typeface="+mn-cs"/>
              </a:rPr>
              <a:t>":</a:t>
            </a:r>
            <a:r>
              <a:rPr lang="en-US" dirty="0"/>
              <a:t> </a:t>
            </a:r>
            <a:r>
              <a:rPr lang="en-US" sz="1200" kern="1200" dirty="0">
                <a:solidFill>
                  <a:schemeClr val="tx1"/>
                </a:solidFill>
                <a:effectLst/>
                <a:latin typeface="+mn-lt"/>
                <a:ea typeface="+mn-ea"/>
                <a:cs typeface="+mn-cs"/>
              </a:rPr>
              <a:t>"ASIN",</a:t>
            </a:r>
            <a:r>
              <a:rPr lang="en-US" dirty="0"/>
              <a:t> </a:t>
            </a:r>
          </a:p>
          <a:p>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product_id</a:t>
            </a:r>
            <a:r>
              <a:rPr lang="en-US" sz="1200" kern="1200" dirty="0">
                <a:solidFill>
                  <a:schemeClr val="tx1"/>
                </a:solidFill>
                <a:effectLst/>
                <a:latin typeface="+mn-lt"/>
                <a:ea typeface="+mn-ea"/>
                <a:cs typeface="+mn-cs"/>
              </a:rPr>
              <a:t>":</a:t>
            </a:r>
            <a:r>
              <a:rPr lang="en-US" dirty="0"/>
              <a:t> </a:t>
            </a:r>
            <a:r>
              <a:rPr lang="en-US" sz="1200" kern="1200" dirty="0">
                <a:solidFill>
                  <a:schemeClr val="tx1"/>
                </a:solidFill>
                <a:effectLst/>
                <a:latin typeface="+mn-lt"/>
                <a:ea typeface="+mn-ea"/>
                <a:cs typeface="+mn-cs"/>
              </a:rPr>
              <a:t>"B07EXAMPLE",</a:t>
            </a:r>
            <a:r>
              <a:rPr lang="en-US" dirty="0"/>
              <a:t> </a:t>
            </a:r>
          </a:p>
          <a:p>
            <a:r>
              <a:rPr lang="en-US" sz="1200" i="1" kern="1200" dirty="0">
                <a:solidFill>
                  <a:schemeClr val="tx1"/>
                </a:solidFill>
                <a:effectLst/>
                <a:latin typeface="+mn-lt"/>
                <a:ea typeface="+mn-ea"/>
                <a:cs typeface="+mn-cs"/>
              </a:rPr>
              <a:t>      // ... other fields</a:t>
            </a:r>
            <a:r>
              <a:rPr lang="en-US" dirty="0"/>
              <a:t> </a:t>
            </a:r>
            <a:r>
              <a:rPr lang="en-US" sz="1200" kern="1200" dirty="0">
                <a:solidFill>
                  <a:schemeClr val="tx1"/>
                </a:solidFill>
                <a:effectLst/>
                <a:latin typeface="+mn-lt"/>
                <a:ea typeface="+mn-ea"/>
                <a:cs typeface="+mn-cs"/>
              </a:rPr>
              <a:t>},</a:t>
            </a:r>
            <a:r>
              <a:rPr lang="en-US" dirty="0"/>
              <a:t> </a:t>
            </a:r>
          </a:p>
          <a:p>
            <a:r>
              <a:rPr lang="en-US" sz="1200" kern="1200" dirty="0">
                <a:solidFill>
                  <a:schemeClr val="tx1"/>
                </a:solidFill>
                <a:effectLst/>
                <a:latin typeface="+mn-lt"/>
                <a:ea typeface="+mn-ea"/>
                <a:cs typeface="+mn-cs"/>
              </a:rPr>
              <a:t>  {</a:t>
            </a:r>
            <a:r>
              <a:rPr lang="en-US" dirty="0"/>
              <a:t> </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certificate_number</a:t>
            </a:r>
            <a:r>
              <a:rPr lang="en-US" sz="1200" kern="1200" dirty="0">
                <a:solidFill>
                  <a:schemeClr val="tx1"/>
                </a:solidFill>
                <a:effectLst/>
                <a:latin typeface="+mn-lt"/>
                <a:ea typeface="+mn-ea"/>
                <a:cs typeface="+mn-cs"/>
              </a:rPr>
              <a:t>":</a:t>
            </a:r>
            <a:r>
              <a:rPr lang="en-US" dirty="0"/>
              <a:t> </a:t>
            </a:r>
            <a:r>
              <a:rPr lang="en-US" sz="1200" kern="1200" dirty="0">
                <a:solidFill>
                  <a:schemeClr val="tx1"/>
                </a:solidFill>
                <a:effectLst/>
                <a:latin typeface="+mn-lt"/>
                <a:ea typeface="+mn-ea"/>
                <a:cs typeface="+mn-cs"/>
              </a:rPr>
              <a:t>"25-0001",</a:t>
            </a:r>
            <a:r>
              <a:rPr lang="en-US" dirty="0"/>
              <a:t> </a:t>
            </a:r>
          </a:p>
          <a:p>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product_id_type</a:t>
            </a:r>
            <a:r>
              <a:rPr lang="en-US" sz="1200" kern="1200" dirty="0">
                <a:solidFill>
                  <a:schemeClr val="tx1"/>
                </a:solidFill>
                <a:effectLst/>
                <a:latin typeface="+mn-lt"/>
                <a:ea typeface="+mn-ea"/>
                <a:cs typeface="+mn-cs"/>
              </a:rPr>
              <a:t>":</a:t>
            </a:r>
            <a:r>
              <a:rPr lang="en-US" dirty="0"/>
              <a:t> </a:t>
            </a:r>
            <a:r>
              <a:rPr lang="en-US" sz="1200" kern="1200" dirty="0">
                <a:solidFill>
                  <a:schemeClr val="tx1"/>
                </a:solidFill>
                <a:effectLst/>
                <a:latin typeface="+mn-lt"/>
                <a:ea typeface="+mn-ea"/>
                <a:cs typeface="+mn-cs"/>
              </a:rPr>
              <a:t>"ASIN",</a:t>
            </a:r>
            <a:r>
              <a:rPr lang="en-US" dirty="0"/>
              <a:t> </a:t>
            </a:r>
          </a:p>
          <a:p>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product_id</a:t>
            </a:r>
            <a:r>
              <a:rPr lang="en-US" sz="1200" kern="1200" dirty="0">
                <a:solidFill>
                  <a:schemeClr val="tx1"/>
                </a:solidFill>
                <a:effectLst/>
                <a:latin typeface="+mn-lt"/>
                <a:ea typeface="+mn-ea"/>
                <a:cs typeface="+mn-cs"/>
              </a:rPr>
              <a:t>":</a:t>
            </a:r>
            <a:r>
              <a:rPr lang="en-US" dirty="0"/>
              <a:t> </a:t>
            </a:r>
            <a:r>
              <a:rPr lang="en-US" sz="1200" kern="1200" dirty="0">
                <a:solidFill>
                  <a:schemeClr val="tx1"/>
                </a:solidFill>
                <a:effectLst/>
                <a:latin typeface="+mn-lt"/>
                <a:ea typeface="+mn-ea"/>
                <a:cs typeface="+mn-cs"/>
              </a:rPr>
              <a:t>"123456789012",</a:t>
            </a:r>
            <a:r>
              <a:rPr lang="en-US" dirty="0"/>
              <a:t> </a:t>
            </a:r>
          </a:p>
          <a:p>
            <a:r>
              <a:rPr lang="en-US" sz="1200" i="1" kern="1200" dirty="0">
                <a:solidFill>
                  <a:schemeClr val="tx1"/>
                </a:solidFill>
                <a:effectLst/>
                <a:latin typeface="+mn-lt"/>
                <a:ea typeface="+mn-ea"/>
                <a:cs typeface="+mn-cs"/>
              </a:rPr>
              <a:t>     // ... other fields (duplicate certificate data)</a:t>
            </a:r>
            <a:r>
              <a:rPr lang="en-US" dirty="0"/>
              <a:t> </a:t>
            </a:r>
            <a:r>
              <a:rPr lang="en-US" sz="1200" kern="1200" dirty="0">
                <a:solidFill>
                  <a:schemeClr val="tx1"/>
                </a:solidFill>
                <a:effectLst/>
                <a:latin typeface="+mn-lt"/>
                <a:ea typeface="+mn-ea"/>
                <a:cs typeface="+mn-cs"/>
              </a:rPr>
              <a:t>}</a:t>
            </a:r>
          </a:p>
          <a:p>
            <a:r>
              <a:rPr lang="en-US" dirty="0"/>
              <a:t> </a:t>
            </a:r>
            <a:r>
              <a:rPr lang="en-US" sz="1200" kern="1200" dirty="0">
                <a:solidFill>
                  <a:schemeClr val="tx1"/>
                </a:solidFill>
                <a:effectLst/>
                <a:latin typeface="+mn-lt"/>
                <a:ea typeface="+mn-ea"/>
                <a:cs typeface="+mn-cs"/>
              </a:rPr>
              <a:t>]</a:t>
            </a:r>
            <a:endParaRPr lang="en-US" dirty="0"/>
          </a:p>
          <a:p>
            <a:endParaRPr lang="en-US" dirty="0"/>
          </a:p>
        </p:txBody>
      </p:sp>
      <p:sp>
        <p:nvSpPr>
          <p:cNvPr id="4" name="Slide Number Placeholder 3">
            <a:extLst>
              <a:ext uri="{FF2B5EF4-FFF2-40B4-BE49-F238E27FC236}">
                <a16:creationId xmlns:a16="http://schemas.microsoft.com/office/drawing/2014/main" id="{A64227EE-6034-FDF0-1F34-FF67E8C511C1}"/>
              </a:ext>
            </a:extLst>
          </p:cNvPr>
          <p:cNvSpPr>
            <a:spLocks noGrp="1"/>
          </p:cNvSpPr>
          <p:nvPr>
            <p:ph type="sldNum" sz="quarter" idx="5"/>
          </p:nvPr>
        </p:nvSpPr>
        <p:spPr/>
        <p:txBody>
          <a:bodyPr/>
          <a:lstStyle/>
          <a:p>
            <a:fld id="{AFF60533-1213-4FCB-A4AA-C44494E2E2E7}" type="slidenum">
              <a:rPr lang="en-US" smtClean="0"/>
              <a:t>68</a:t>
            </a:fld>
            <a:endParaRPr lang="en-US"/>
          </a:p>
        </p:txBody>
      </p:sp>
    </p:spTree>
    <p:extLst>
      <p:ext uri="{BB962C8B-B14F-4D97-AF65-F5344CB8AC3E}">
        <p14:creationId xmlns:p14="http://schemas.microsoft.com/office/powerpoint/2010/main" val="168663827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C1D5D-65E8-CAA8-795D-0B3C8334B3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BA9ED9-4864-D636-38DA-382AF8A022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3B0E9F-D203-5156-1E1E-63DF0C5B7A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28F8BE-2D72-359F-3F97-4192150F1EB9}"/>
              </a:ext>
            </a:extLst>
          </p:cNvPr>
          <p:cNvSpPr>
            <a:spLocks noGrp="1"/>
          </p:cNvSpPr>
          <p:nvPr>
            <p:ph type="sldNum" sz="quarter" idx="5"/>
          </p:nvPr>
        </p:nvSpPr>
        <p:spPr/>
        <p:txBody>
          <a:bodyPr/>
          <a:lstStyle/>
          <a:p>
            <a:fld id="{AFF60533-1213-4FCB-A4AA-C44494E2E2E7}" type="slidenum">
              <a:rPr lang="en-US" smtClean="0"/>
              <a:t>69</a:t>
            </a:fld>
            <a:endParaRPr lang="en-US"/>
          </a:p>
        </p:txBody>
      </p:sp>
    </p:spTree>
    <p:extLst>
      <p:ext uri="{BB962C8B-B14F-4D97-AF65-F5344CB8AC3E}">
        <p14:creationId xmlns:p14="http://schemas.microsoft.com/office/powerpoint/2010/main" val="304398827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 (not submit)</a:t>
            </a:r>
          </a:p>
        </p:txBody>
      </p:sp>
      <p:sp>
        <p:nvSpPr>
          <p:cNvPr id="4" name="Slide Number Placeholder 3"/>
          <p:cNvSpPr>
            <a:spLocks noGrp="1"/>
          </p:cNvSpPr>
          <p:nvPr>
            <p:ph type="sldNum" sz="quarter" idx="5"/>
          </p:nvPr>
        </p:nvSpPr>
        <p:spPr/>
        <p:txBody>
          <a:bodyPr/>
          <a:lstStyle/>
          <a:p>
            <a:fld id="{AFF60533-1213-4FCB-A4AA-C44494E2E2E7}" type="slidenum">
              <a:rPr lang="en-US" smtClean="0"/>
              <a:t>70</a:t>
            </a:fld>
            <a:endParaRPr lang="en-US"/>
          </a:p>
        </p:txBody>
      </p:sp>
    </p:spTree>
    <p:extLst>
      <p:ext uri="{BB962C8B-B14F-4D97-AF65-F5344CB8AC3E}">
        <p14:creationId xmlns:p14="http://schemas.microsoft.com/office/powerpoint/2010/main" val="34487426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B4D21-9692-8978-9D06-7ABF92D0EA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302B30-CFFA-51AD-12C2-76DFA3F167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07D289-1AFD-DE27-2F94-07BD68A28C13}"/>
              </a:ext>
            </a:extLst>
          </p:cNvPr>
          <p:cNvSpPr>
            <a:spLocks noGrp="1"/>
          </p:cNvSpPr>
          <p:nvPr>
            <p:ph type="body" idx="1"/>
          </p:nvPr>
        </p:nvSpPr>
        <p:spPr/>
        <p:txBody>
          <a:bodyPr/>
          <a:lstStyle/>
          <a:p>
            <a:r>
              <a:rPr lang="en-US" dirty="0"/>
              <a:t>Save (not submit)</a:t>
            </a:r>
          </a:p>
        </p:txBody>
      </p:sp>
      <p:sp>
        <p:nvSpPr>
          <p:cNvPr id="4" name="Slide Number Placeholder 3">
            <a:extLst>
              <a:ext uri="{FF2B5EF4-FFF2-40B4-BE49-F238E27FC236}">
                <a16:creationId xmlns:a16="http://schemas.microsoft.com/office/drawing/2014/main" id="{157CC234-7A37-4B99-E867-D83CF20DB24E}"/>
              </a:ext>
            </a:extLst>
          </p:cNvPr>
          <p:cNvSpPr>
            <a:spLocks noGrp="1"/>
          </p:cNvSpPr>
          <p:nvPr>
            <p:ph type="sldNum" sz="quarter" idx="5"/>
          </p:nvPr>
        </p:nvSpPr>
        <p:spPr/>
        <p:txBody>
          <a:bodyPr/>
          <a:lstStyle/>
          <a:p>
            <a:fld id="{AFF60533-1213-4FCB-A4AA-C44494E2E2E7}" type="slidenum">
              <a:rPr lang="en-US" smtClean="0"/>
              <a:t>71</a:t>
            </a:fld>
            <a:endParaRPr lang="en-US"/>
          </a:p>
        </p:txBody>
      </p:sp>
    </p:spTree>
    <p:extLst>
      <p:ext uri="{BB962C8B-B14F-4D97-AF65-F5344CB8AC3E}">
        <p14:creationId xmlns:p14="http://schemas.microsoft.com/office/powerpoint/2010/main" val="21442194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72BE-A990-3A59-58C5-B5E84CC1B5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91E4DB-B7C4-CAB1-821F-931F0469FF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6BD9DD-6ECE-8BF4-ADD1-5B8B2AE666B5}"/>
              </a:ext>
            </a:extLst>
          </p:cNvPr>
          <p:cNvSpPr>
            <a:spLocks noGrp="1"/>
          </p:cNvSpPr>
          <p:nvPr>
            <p:ph type="body" idx="1"/>
          </p:nvPr>
        </p:nvSpPr>
        <p:spPr/>
        <p:txBody>
          <a:bodyPr/>
          <a:lstStyle/>
          <a:p>
            <a:r>
              <a:rPr lang="en-US" dirty="0"/>
              <a:t>Save (not submit)</a:t>
            </a:r>
          </a:p>
        </p:txBody>
      </p:sp>
      <p:sp>
        <p:nvSpPr>
          <p:cNvPr id="4" name="Slide Number Placeholder 3">
            <a:extLst>
              <a:ext uri="{FF2B5EF4-FFF2-40B4-BE49-F238E27FC236}">
                <a16:creationId xmlns:a16="http://schemas.microsoft.com/office/drawing/2014/main" id="{CE174F55-9C54-6EA0-B530-FD92710AF16E}"/>
              </a:ext>
            </a:extLst>
          </p:cNvPr>
          <p:cNvSpPr>
            <a:spLocks noGrp="1"/>
          </p:cNvSpPr>
          <p:nvPr>
            <p:ph type="sldNum" sz="quarter" idx="5"/>
          </p:nvPr>
        </p:nvSpPr>
        <p:spPr/>
        <p:txBody>
          <a:bodyPr/>
          <a:lstStyle/>
          <a:p>
            <a:fld id="{AFF60533-1213-4FCB-A4AA-C44494E2E2E7}" type="slidenum">
              <a:rPr lang="en-US" smtClean="0"/>
              <a:t>72</a:t>
            </a:fld>
            <a:endParaRPr lang="en-US"/>
          </a:p>
        </p:txBody>
      </p:sp>
    </p:spTree>
    <p:extLst>
      <p:ext uri="{BB962C8B-B14F-4D97-AF65-F5344CB8AC3E}">
        <p14:creationId xmlns:p14="http://schemas.microsoft.com/office/powerpoint/2010/main" val="81689202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Need a way to be able to delete and edit Product Names (in case had issue with prior or Product Name is no longer valid) </a:t>
            </a:r>
            <a:br>
              <a:rPr lang="en-US" dirty="0"/>
            </a:br>
            <a:br>
              <a:rPr lang="en-US" dirty="0"/>
            </a:br>
            <a:endParaRPr lang="en-US" dirty="0"/>
          </a:p>
          <a:p>
            <a:r>
              <a:rPr lang="en-US" dirty="0"/>
              <a:t>Purpose of the Select All?</a:t>
            </a:r>
          </a:p>
          <a:p>
            <a:endParaRPr lang="en-US" dirty="0"/>
          </a:p>
          <a:p>
            <a:r>
              <a:rPr lang="en-US" dirty="0"/>
              <a:t>With so many product types will want to be able to search and sort this list</a:t>
            </a:r>
          </a:p>
          <a:p>
            <a:endParaRPr lang="en-US" dirty="0"/>
          </a:p>
          <a:p>
            <a:r>
              <a:rPr lang="en-US" dirty="0"/>
              <a:t>Product Type Subcategory: Why are these numbered and with multiple?</a:t>
            </a:r>
          </a:p>
          <a:p>
            <a:endParaRPr lang="en-US" dirty="0"/>
          </a:p>
          <a:p>
            <a:r>
              <a:rPr lang="en-US" dirty="0"/>
              <a:t>Ability to sort by alphabetical order for any column</a:t>
            </a:r>
          </a:p>
          <a:p>
            <a:endParaRPr lang="en-US" dirty="0"/>
          </a:p>
          <a:p>
            <a:r>
              <a:rPr lang="en-US" dirty="0"/>
              <a:t>Can just click on to edit since you can't edit multiple at once</a:t>
            </a:r>
          </a:p>
          <a:p>
            <a:endParaRPr lang="en-US" dirty="0"/>
          </a:p>
          <a:p>
            <a:r>
              <a:rPr lang="en-US" dirty="0"/>
              <a:t>Remove item from Add New button</a:t>
            </a:r>
          </a:p>
          <a:p>
            <a:endParaRPr lang="en-US" dirty="0"/>
          </a:p>
          <a:p>
            <a:r>
              <a:rPr lang="en-US" dirty="0"/>
              <a:t>With so many product types will want to be able to search and sort this list</a:t>
            </a:r>
          </a:p>
          <a:p>
            <a:endParaRPr lang="en-US" dirty="0"/>
          </a:p>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73</a:t>
            </a:fld>
            <a:endParaRPr lang="en-US"/>
          </a:p>
        </p:txBody>
      </p:sp>
    </p:spTree>
    <p:extLst>
      <p:ext uri="{BB962C8B-B14F-4D97-AF65-F5344CB8AC3E}">
        <p14:creationId xmlns:p14="http://schemas.microsoft.com/office/powerpoint/2010/main" val="337166157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67694-0DB1-F1E2-1825-6A35586692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90E1D3-0F4D-CC62-0B96-851AB3BA6E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3B420D-1BA9-55BC-F985-A150C941987D}"/>
              </a:ext>
            </a:extLst>
          </p:cNvPr>
          <p:cNvSpPr>
            <a:spLocks noGrp="1"/>
          </p:cNvSpPr>
          <p:nvPr>
            <p:ph type="body" idx="1"/>
          </p:nvPr>
        </p:nvSpPr>
        <p:spPr/>
        <p:txBody>
          <a:bodyPr/>
          <a:lstStyle/>
          <a:p>
            <a:r>
              <a:rPr lang="en-US" dirty="0"/>
              <a:t>Need a way to be able to delete and edit Product Names (in case had issue with prior or Product Name is no longer valid) </a:t>
            </a:r>
            <a:br>
              <a:rPr lang="en-US" dirty="0"/>
            </a:br>
            <a:br>
              <a:rPr lang="en-US" dirty="0"/>
            </a:br>
            <a:endParaRPr lang="en-US" dirty="0"/>
          </a:p>
          <a:p>
            <a:r>
              <a:rPr lang="en-US" dirty="0"/>
              <a:t>Purpose of the Select All?</a:t>
            </a:r>
          </a:p>
          <a:p>
            <a:endParaRPr lang="en-US" dirty="0"/>
          </a:p>
          <a:p>
            <a:r>
              <a:rPr lang="en-US" dirty="0"/>
              <a:t>With so many product types will want to be able to search and sort this list</a:t>
            </a:r>
          </a:p>
          <a:p>
            <a:endParaRPr lang="en-US" dirty="0"/>
          </a:p>
          <a:p>
            <a:r>
              <a:rPr lang="en-US" dirty="0"/>
              <a:t>Product Type Subcategory: Why are these numbered and with multiple?</a:t>
            </a:r>
          </a:p>
          <a:p>
            <a:endParaRPr lang="en-US" dirty="0"/>
          </a:p>
          <a:p>
            <a:r>
              <a:rPr lang="en-US" dirty="0"/>
              <a:t>Ability to sort by alphabetical order for any column</a:t>
            </a:r>
          </a:p>
          <a:p>
            <a:endParaRPr lang="en-US" dirty="0"/>
          </a:p>
          <a:p>
            <a:r>
              <a:rPr lang="en-US" dirty="0"/>
              <a:t>Can just click on to edit since you can't edit multiple at once</a:t>
            </a:r>
          </a:p>
          <a:p>
            <a:endParaRPr lang="en-US" dirty="0"/>
          </a:p>
          <a:p>
            <a:r>
              <a:rPr lang="en-US" dirty="0"/>
              <a:t>Remove item from Add New button</a:t>
            </a:r>
          </a:p>
          <a:p>
            <a:endParaRPr lang="en-US" dirty="0"/>
          </a:p>
          <a:p>
            <a:r>
              <a:rPr lang="en-US" dirty="0"/>
              <a:t>With so many product types will want to be able to search and sort this list</a:t>
            </a:r>
          </a:p>
          <a:p>
            <a:endParaRPr lang="en-US" dirty="0"/>
          </a:p>
          <a:p>
            <a:endParaRPr lang="en-US" dirty="0"/>
          </a:p>
        </p:txBody>
      </p:sp>
      <p:sp>
        <p:nvSpPr>
          <p:cNvPr id="4" name="Slide Number Placeholder 3">
            <a:extLst>
              <a:ext uri="{FF2B5EF4-FFF2-40B4-BE49-F238E27FC236}">
                <a16:creationId xmlns:a16="http://schemas.microsoft.com/office/drawing/2014/main" id="{42807FDD-66A7-3D1E-B4EF-C363460DF364}"/>
              </a:ext>
            </a:extLst>
          </p:cNvPr>
          <p:cNvSpPr>
            <a:spLocks noGrp="1"/>
          </p:cNvSpPr>
          <p:nvPr>
            <p:ph type="sldNum" sz="quarter" idx="5"/>
          </p:nvPr>
        </p:nvSpPr>
        <p:spPr/>
        <p:txBody>
          <a:bodyPr/>
          <a:lstStyle/>
          <a:p>
            <a:fld id="{AFF60533-1213-4FCB-A4AA-C44494E2E2E7}" type="slidenum">
              <a:rPr lang="en-US" smtClean="0"/>
              <a:t>74</a:t>
            </a:fld>
            <a:endParaRPr lang="en-US"/>
          </a:p>
        </p:txBody>
      </p:sp>
    </p:spTree>
    <p:extLst>
      <p:ext uri="{BB962C8B-B14F-4D97-AF65-F5344CB8AC3E}">
        <p14:creationId xmlns:p14="http://schemas.microsoft.com/office/powerpoint/2010/main" val="247473336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0EDCC-5EAF-9642-5CB7-63ACD8121E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0B9E78-BE61-49A5-C209-BD35415BCD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CFCDDE-796A-9F34-E000-1FD6C8CE3795}"/>
              </a:ext>
            </a:extLst>
          </p:cNvPr>
          <p:cNvSpPr>
            <a:spLocks noGrp="1"/>
          </p:cNvSpPr>
          <p:nvPr>
            <p:ph type="body" idx="1"/>
          </p:nvPr>
        </p:nvSpPr>
        <p:spPr/>
        <p:txBody>
          <a:bodyPr/>
          <a:lstStyle/>
          <a:p>
            <a:r>
              <a:rPr lang="en-US" dirty="0"/>
              <a:t>Need a way to be able to delete and edit Product Names (in case had issue with prior or Product Name is no longer valid) </a:t>
            </a:r>
            <a:br>
              <a:rPr lang="en-US" dirty="0"/>
            </a:br>
            <a:br>
              <a:rPr lang="en-US" dirty="0"/>
            </a:br>
            <a:endParaRPr lang="en-US" dirty="0"/>
          </a:p>
          <a:p>
            <a:r>
              <a:rPr lang="en-US" dirty="0"/>
              <a:t>Purpose of the Select All?</a:t>
            </a:r>
          </a:p>
          <a:p>
            <a:endParaRPr lang="en-US" dirty="0"/>
          </a:p>
          <a:p>
            <a:r>
              <a:rPr lang="en-US" dirty="0"/>
              <a:t>With so many product types will want to be able to search and sort this list</a:t>
            </a:r>
          </a:p>
          <a:p>
            <a:endParaRPr lang="en-US" dirty="0"/>
          </a:p>
          <a:p>
            <a:r>
              <a:rPr lang="en-US" dirty="0"/>
              <a:t>Product Type Subcategory: Why are these numbered and with multiple?</a:t>
            </a:r>
          </a:p>
          <a:p>
            <a:endParaRPr lang="en-US" dirty="0"/>
          </a:p>
          <a:p>
            <a:r>
              <a:rPr lang="en-US" dirty="0"/>
              <a:t>Ability to sort by alphabetical order for any column</a:t>
            </a:r>
          </a:p>
          <a:p>
            <a:endParaRPr lang="en-US" dirty="0"/>
          </a:p>
          <a:p>
            <a:r>
              <a:rPr lang="en-US" dirty="0"/>
              <a:t>Can just click on to edit since you can't edit multiple at once</a:t>
            </a:r>
          </a:p>
          <a:p>
            <a:endParaRPr lang="en-US" dirty="0"/>
          </a:p>
          <a:p>
            <a:r>
              <a:rPr lang="en-US" dirty="0"/>
              <a:t>Remove item from Add New button</a:t>
            </a:r>
          </a:p>
          <a:p>
            <a:endParaRPr lang="en-US" dirty="0"/>
          </a:p>
          <a:p>
            <a:r>
              <a:rPr lang="en-US" dirty="0"/>
              <a:t>With so many product types will want to be able to search and sort this list</a:t>
            </a:r>
          </a:p>
          <a:p>
            <a:endParaRPr lang="en-US" dirty="0"/>
          </a:p>
          <a:p>
            <a:endParaRPr lang="en-US" dirty="0"/>
          </a:p>
        </p:txBody>
      </p:sp>
      <p:sp>
        <p:nvSpPr>
          <p:cNvPr id="4" name="Slide Number Placeholder 3">
            <a:extLst>
              <a:ext uri="{FF2B5EF4-FFF2-40B4-BE49-F238E27FC236}">
                <a16:creationId xmlns:a16="http://schemas.microsoft.com/office/drawing/2014/main" id="{31834092-6D7E-B20C-F976-2D0E4028E9F1}"/>
              </a:ext>
            </a:extLst>
          </p:cNvPr>
          <p:cNvSpPr>
            <a:spLocks noGrp="1"/>
          </p:cNvSpPr>
          <p:nvPr>
            <p:ph type="sldNum" sz="quarter" idx="5"/>
          </p:nvPr>
        </p:nvSpPr>
        <p:spPr/>
        <p:txBody>
          <a:bodyPr/>
          <a:lstStyle/>
          <a:p>
            <a:fld id="{AFF60533-1213-4FCB-A4AA-C44494E2E2E7}" type="slidenum">
              <a:rPr lang="en-US" smtClean="0"/>
              <a:t>75</a:t>
            </a:fld>
            <a:endParaRPr lang="en-US"/>
          </a:p>
        </p:txBody>
      </p:sp>
    </p:spTree>
    <p:extLst>
      <p:ext uri="{BB962C8B-B14F-4D97-AF65-F5344CB8AC3E}">
        <p14:creationId xmlns:p14="http://schemas.microsoft.com/office/powerpoint/2010/main" val="352129329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1008E-C5E7-8A96-9577-F1D15DAF13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DA771F-D94F-92B6-9F64-97E44C9745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AB745E-3148-3CF4-E40E-12934BF0371B}"/>
              </a:ext>
            </a:extLst>
          </p:cNvPr>
          <p:cNvSpPr>
            <a:spLocks noGrp="1"/>
          </p:cNvSpPr>
          <p:nvPr>
            <p:ph type="body" idx="1"/>
          </p:nvPr>
        </p:nvSpPr>
        <p:spPr/>
        <p:txBody>
          <a:bodyPr/>
          <a:lstStyle/>
          <a:p>
            <a:r>
              <a:rPr lang="en-US" dirty="0"/>
              <a:t>Need a way to be able to delete and edit Product Names (in case had issue with prior or Product Name is no longer valid) </a:t>
            </a:r>
            <a:br>
              <a:rPr lang="en-US" dirty="0"/>
            </a:br>
            <a:br>
              <a:rPr lang="en-US" dirty="0"/>
            </a:br>
            <a:endParaRPr lang="en-US" dirty="0"/>
          </a:p>
          <a:p>
            <a:r>
              <a:rPr lang="en-US" dirty="0"/>
              <a:t>Purpose of the Select All?</a:t>
            </a:r>
          </a:p>
          <a:p>
            <a:endParaRPr lang="en-US" dirty="0"/>
          </a:p>
          <a:p>
            <a:r>
              <a:rPr lang="en-US" dirty="0"/>
              <a:t>With so many product types will want to be able to search and sort this list</a:t>
            </a:r>
          </a:p>
          <a:p>
            <a:endParaRPr lang="en-US" dirty="0"/>
          </a:p>
          <a:p>
            <a:r>
              <a:rPr lang="en-US" dirty="0"/>
              <a:t>Product Type Subcategory: Why are these numbered and with multiple?</a:t>
            </a:r>
          </a:p>
          <a:p>
            <a:endParaRPr lang="en-US" dirty="0"/>
          </a:p>
          <a:p>
            <a:r>
              <a:rPr lang="en-US" dirty="0"/>
              <a:t>Ability to sort by alphabetical order for any column</a:t>
            </a:r>
          </a:p>
          <a:p>
            <a:endParaRPr lang="en-US" dirty="0"/>
          </a:p>
          <a:p>
            <a:r>
              <a:rPr lang="en-US" dirty="0"/>
              <a:t>Can just click on to edit since you can't edit multiple at once</a:t>
            </a:r>
          </a:p>
          <a:p>
            <a:endParaRPr lang="en-US" dirty="0"/>
          </a:p>
          <a:p>
            <a:r>
              <a:rPr lang="en-US" dirty="0"/>
              <a:t>Remove item from Add New button</a:t>
            </a:r>
          </a:p>
          <a:p>
            <a:endParaRPr lang="en-US" dirty="0"/>
          </a:p>
          <a:p>
            <a:r>
              <a:rPr lang="en-US" dirty="0"/>
              <a:t>With so many product types will want to be able to search and sort this list</a:t>
            </a:r>
          </a:p>
          <a:p>
            <a:endParaRPr lang="en-US" dirty="0"/>
          </a:p>
          <a:p>
            <a:endParaRPr lang="en-US" dirty="0"/>
          </a:p>
        </p:txBody>
      </p:sp>
      <p:sp>
        <p:nvSpPr>
          <p:cNvPr id="4" name="Slide Number Placeholder 3">
            <a:extLst>
              <a:ext uri="{FF2B5EF4-FFF2-40B4-BE49-F238E27FC236}">
                <a16:creationId xmlns:a16="http://schemas.microsoft.com/office/drawing/2014/main" id="{EFB899BA-77AA-DFAD-95FD-628B4431CF4D}"/>
              </a:ext>
            </a:extLst>
          </p:cNvPr>
          <p:cNvSpPr>
            <a:spLocks noGrp="1"/>
          </p:cNvSpPr>
          <p:nvPr>
            <p:ph type="sldNum" sz="quarter" idx="5"/>
          </p:nvPr>
        </p:nvSpPr>
        <p:spPr/>
        <p:txBody>
          <a:bodyPr/>
          <a:lstStyle/>
          <a:p>
            <a:fld id="{AFF60533-1213-4FCB-A4AA-C44494E2E2E7}" type="slidenum">
              <a:rPr lang="en-US" smtClean="0"/>
              <a:t>76</a:t>
            </a:fld>
            <a:endParaRPr lang="en-US"/>
          </a:p>
        </p:txBody>
      </p:sp>
    </p:spTree>
    <p:extLst>
      <p:ext uri="{BB962C8B-B14F-4D97-AF65-F5344CB8AC3E}">
        <p14:creationId xmlns:p14="http://schemas.microsoft.com/office/powerpoint/2010/main" val="95719492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AE881-9687-523B-71C1-06CD92EBE7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D5FB02-6A0C-A496-9053-D590C5386D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3B8E39-CD7A-33DA-88BE-5E8FC7CFEF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4AE7B0-5224-BE42-3348-8477966A1C34}"/>
              </a:ext>
            </a:extLst>
          </p:cNvPr>
          <p:cNvSpPr>
            <a:spLocks noGrp="1"/>
          </p:cNvSpPr>
          <p:nvPr>
            <p:ph type="sldNum" sz="quarter" idx="5"/>
          </p:nvPr>
        </p:nvSpPr>
        <p:spPr/>
        <p:txBody>
          <a:bodyPr/>
          <a:lstStyle/>
          <a:p>
            <a:fld id="{AFF60533-1213-4FCB-A4AA-C44494E2E2E7}" type="slidenum">
              <a:rPr lang="en-US" smtClean="0"/>
              <a:t>78</a:t>
            </a:fld>
            <a:endParaRPr lang="en-US"/>
          </a:p>
        </p:txBody>
      </p:sp>
    </p:spTree>
    <p:extLst>
      <p:ext uri="{BB962C8B-B14F-4D97-AF65-F5344CB8AC3E}">
        <p14:creationId xmlns:p14="http://schemas.microsoft.com/office/powerpoint/2010/main" val="101908348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1E001-C1FC-CC9D-A887-4D18DA0088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C725B4-3B98-D724-B2C6-E37D0017F3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ED09B9-F110-AA86-58FC-62C7CBDA3D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DAD413-7B6B-1C91-77CC-E2C0DCBC2427}"/>
              </a:ext>
            </a:extLst>
          </p:cNvPr>
          <p:cNvSpPr>
            <a:spLocks noGrp="1"/>
          </p:cNvSpPr>
          <p:nvPr>
            <p:ph type="sldNum" sz="quarter" idx="5"/>
          </p:nvPr>
        </p:nvSpPr>
        <p:spPr/>
        <p:txBody>
          <a:bodyPr/>
          <a:lstStyle/>
          <a:p>
            <a:fld id="{AFF60533-1213-4FCB-A4AA-C44494E2E2E7}" type="slidenum">
              <a:rPr lang="en-US" smtClean="0"/>
              <a:t>79</a:t>
            </a:fld>
            <a:endParaRPr lang="en-US"/>
          </a:p>
        </p:txBody>
      </p:sp>
    </p:spTree>
    <p:extLst>
      <p:ext uri="{BB962C8B-B14F-4D97-AF65-F5344CB8AC3E}">
        <p14:creationId xmlns:p14="http://schemas.microsoft.com/office/powerpoint/2010/main" val="69390739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Field Visibility by User Role</a:t>
            </a:r>
          </a:p>
          <a:p>
            <a:r>
              <a:rPr lang="en-US" b="1" dirty="0"/>
              <a:t>Public Users:</a:t>
            </a:r>
            <a:r>
              <a:rPr lang="en-US" dirty="0"/>
              <a:t> Certificate #, Certification Type, Effective Date, Expiration Date, Company, Company Contact Email/URL, Product Name, Product Category, Product Type, Product Type Subcategory, Location, Country, External Tag</a:t>
            </a:r>
          </a:p>
          <a:p>
            <a:r>
              <a:rPr lang="en-US" b="1" dirty="0"/>
              <a:t>External/Client Users:</a:t>
            </a:r>
            <a:r>
              <a:rPr lang="en-US" dirty="0"/>
              <a:t> All public fields plus CSF Attributes, Status, Internal Tag, ASIN, UPC, GTIN, EAN, Certificate Upload</a:t>
            </a:r>
          </a:p>
          <a:p>
            <a:r>
              <a:rPr lang="en-US" b="1" dirty="0"/>
              <a:t>Analyst/Admin Users:</a:t>
            </a:r>
            <a:r>
              <a:rPr lang="en-US" dirty="0"/>
              <a:t> All fields including Record Information (Created Date, Last Updated Date, Last Edited By)</a:t>
            </a:r>
          </a:p>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80</a:t>
            </a:fld>
            <a:endParaRPr lang="en-US"/>
          </a:p>
        </p:txBody>
      </p:sp>
    </p:spTree>
    <p:extLst>
      <p:ext uri="{BB962C8B-B14F-4D97-AF65-F5344CB8AC3E}">
        <p14:creationId xmlns:p14="http://schemas.microsoft.com/office/powerpoint/2010/main" val="312103958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403A3-6B82-E9AC-5890-4BC894856C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E46B7A-C701-5B3C-585C-E8D2BC7D55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6CD673-6CF9-50DD-CF46-66F733373B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C90071-265A-E2CA-FC5A-5D0C1F1AA46B}"/>
              </a:ext>
            </a:extLst>
          </p:cNvPr>
          <p:cNvSpPr>
            <a:spLocks noGrp="1"/>
          </p:cNvSpPr>
          <p:nvPr>
            <p:ph type="sldNum" sz="quarter" idx="5"/>
          </p:nvPr>
        </p:nvSpPr>
        <p:spPr/>
        <p:txBody>
          <a:bodyPr/>
          <a:lstStyle/>
          <a:p>
            <a:fld id="{AFF60533-1213-4FCB-A4AA-C44494E2E2E7}" type="slidenum">
              <a:rPr lang="en-US" smtClean="0"/>
              <a:t>81</a:t>
            </a:fld>
            <a:endParaRPr lang="en-US"/>
          </a:p>
        </p:txBody>
      </p:sp>
    </p:spTree>
    <p:extLst>
      <p:ext uri="{BB962C8B-B14F-4D97-AF65-F5344CB8AC3E}">
        <p14:creationId xmlns:p14="http://schemas.microsoft.com/office/powerpoint/2010/main" val="195634526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82</a:t>
            </a:fld>
            <a:endParaRPr lang="en-US"/>
          </a:p>
        </p:txBody>
      </p:sp>
    </p:spTree>
    <p:extLst>
      <p:ext uri="{BB962C8B-B14F-4D97-AF65-F5344CB8AC3E}">
        <p14:creationId xmlns:p14="http://schemas.microsoft.com/office/powerpoint/2010/main" val="350528927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9386D-5FA1-E739-752B-8AB7BC5A51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5C9942-0B06-9FF9-F5DA-E0EFE2BF0A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2F72CB-A260-0C4F-4D34-B8191637DB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DC8C9B-F3FB-9B61-A665-0A8FDDDD59B3}"/>
              </a:ext>
            </a:extLst>
          </p:cNvPr>
          <p:cNvSpPr>
            <a:spLocks noGrp="1"/>
          </p:cNvSpPr>
          <p:nvPr>
            <p:ph type="sldNum" sz="quarter" idx="5"/>
          </p:nvPr>
        </p:nvSpPr>
        <p:spPr/>
        <p:txBody>
          <a:bodyPr/>
          <a:lstStyle/>
          <a:p>
            <a:fld id="{AFF60533-1213-4FCB-A4AA-C44494E2E2E7}" type="slidenum">
              <a:rPr lang="en-US" smtClean="0"/>
              <a:t>83</a:t>
            </a:fld>
            <a:endParaRPr lang="en-US"/>
          </a:p>
        </p:txBody>
      </p:sp>
    </p:spTree>
    <p:extLst>
      <p:ext uri="{BB962C8B-B14F-4D97-AF65-F5344CB8AC3E}">
        <p14:creationId xmlns:p14="http://schemas.microsoft.com/office/powerpoint/2010/main" val="68014984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E7210-780C-30A2-6144-F3BD394EB6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66BE15-93A0-75F9-5BFD-BEFAD4CCDB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776F30-5120-CFAB-0F6D-3E1A7CBCEA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62C26D-96E8-7DC4-D8BB-B3EC22F88B83}"/>
              </a:ext>
            </a:extLst>
          </p:cNvPr>
          <p:cNvSpPr>
            <a:spLocks noGrp="1"/>
          </p:cNvSpPr>
          <p:nvPr>
            <p:ph type="sldNum" sz="quarter" idx="5"/>
          </p:nvPr>
        </p:nvSpPr>
        <p:spPr/>
        <p:txBody>
          <a:bodyPr/>
          <a:lstStyle/>
          <a:p>
            <a:fld id="{AFF60533-1213-4FCB-A4AA-C44494E2E2E7}" type="slidenum">
              <a:rPr lang="en-US" smtClean="0"/>
              <a:t>84</a:t>
            </a:fld>
            <a:endParaRPr lang="en-US"/>
          </a:p>
        </p:txBody>
      </p:sp>
    </p:spTree>
    <p:extLst>
      <p:ext uri="{BB962C8B-B14F-4D97-AF65-F5344CB8AC3E}">
        <p14:creationId xmlns:p14="http://schemas.microsoft.com/office/powerpoint/2010/main" val="330330515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24880-7F18-4072-5035-D01CE926B0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B8D6BD-07B6-2E23-5C72-6B408AD8B0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E14CB4-1FFB-10FE-893D-067775E6AE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2C054A-8356-5AE8-01F8-8193A9DAD5EC}"/>
              </a:ext>
            </a:extLst>
          </p:cNvPr>
          <p:cNvSpPr>
            <a:spLocks noGrp="1"/>
          </p:cNvSpPr>
          <p:nvPr>
            <p:ph type="sldNum" sz="quarter" idx="5"/>
          </p:nvPr>
        </p:nvSpPr>
        <p:spPr/>
        <p:txBody>
          <a:bodyPr/>
          <a:lstStyle/>
          <a:p>
            <a:fld id="{AFF60533-1213-4FCB-A4AA-C44494E2E2E7}" type="slidenum">
              <a:rPr lang="en-US" smtClean="0"/>
              <a:t>86</a:t>
            </a:fld>
            <a:endParaRPr lang="en-US"/>
          </a:p>
        </p:txBody>
      </p:sp>
    </p:spTree>
    <p:extLst>
      <p:ext uri="{BB962C8B-B14F-4D97-AF65-F5344CB8AC3E}">
        <p14:creationId xmlns:p14="http://schemas.microsoft.com/office/powerpoint/2010/main" val="383525248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E2545-A79C-9B94-4705-2A949C84FB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3FF67E-15DE-C3BF-BD65-A657721746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06F7A8-8215-7634-3F61-9FAB12EFAA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2D86EE-E512-6195-81C7-F0E4C7E05F1D}"/>
              </a:ext>
            </a:extLst>
          </p:cNvPr>
          <p:cNvSpPr>
            <a:spLocks noGrp="1"/>
          </p:cNvSpPr>
          <p:nvPr>
            <p:ph type="sldNum" sz="quarter" idx="5"/>
          </p:nvPr>
        </p:nvSpPr>
        <p:spPr/>
        <p:txBody>
          <a:bodyPr/>
          <a:lstStyle/>
          <a:p>
            <a:fld id="{AFF60533-1213-4FCB-A4AA-C44494E2E2E7}" type="slidenum">
              <a:rPr lang="en-US" smtClean="0"/>
              <a:t>87</a:t>
            </a:fld>
            <a:endParaRPr lang="en-US"/>
          </a:p>
        </p:txBody>
      </p:sp>
    </p:spTree>
    <p:extLst>
      <p:ext uri="{BB962C8B-B14F-4D97-AF65-F5344CB8AC3E}">
        <p14:creationId xmlns:p14="http://schemas.microsoft.com/office/powerpoint/2010/main" val="62888889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25C8D-B305-3F9C-F913-042BA746A0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31EB43-BE34-368B-ECE8-247F5A0930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BC721C-27EA-88B6-3BEE-764E3AA0AC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73BA92-68FD-5817-71DA-C8A8496AAEC6}"/>
              </a:ext>
            </a:extLst>
          </p:cNvPr>
          <p:cNvSpPr>
            <a:spLocks noGrp="1"/>
          </p:cNvSpPr>
          <p:nvPr>
            <p:ph type="sldNum" sz="quarter" idx="5"/>
          </p:nvPr>
        </p:nvSpPr>
        <p:spPr/>
        <p:txBody>
          <a:bodyPr/>
          <a:lstStyle/>
          <a:p>
            <a:fld id="{AFF60533-1213-4FCB-A4AA-C44494E2E2E7}" type="slidenum">
              <a:rPr lang="en-US" smtClean="0"/>
              <a:t>89</a:t>
            </a:fld>
            <a:endParaRPr lang="en-US"/>
          </a:p>
        </p:txBody>
      </p:sp>
    </p:spTree>
    <p:extLst>
      <p:ext uri="{BB962C8B-B14F-4D97-AF65-F5344CB8AC3E}">
        <p14:creationId xmlns:p14="http://schemas.microsoft.com/office/powerpoint/2010/main" val="9003401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503" y="193906"/>
            <a:ext cx="10515600" cy="487131"/>
          </a:xfrm>
          <a:prstGeom prst="rect">
            <a:avLst/>
          </a:prstGeom>
          <a:ln cmpd="dbl">
            <a:noFill/>
            <a:extLst>
              <a:ext uri="{C807C97D-BFC1-408E-A445-0C87EB9F89A2}">
                <ask:lineSketchStyleProps xmlns:ask="http://schemas.microsoft.com/office/drawing/2018/sketchyshapes" sd="1219033472">
                  <a:custGeom>
                    <a:avLst/>
                    <a:gdLst>
                      <a:gd name="connsiteX0" fmla="*/ 0 w 10515600"/>
                      <a:gd name="connsiteY0" fmla="*/ 0 h 487131"/>
                      <a:gd name="connsiteX1" fmla="*/ 10515600 w 10515600"/>
                      <a:gd name="connsiteY1" fmla="*/ 0 h 487131"/>
                      <a:gd name="connsiteX2" fmla="*/ 10515600 w 10515600"/>
                      <a:gd name="connsiteY2" fmla="*/ 487131 h 487131"/>
                      <a:gd name="connsiteX3" fmla="*/ 0 w 10515600"/>
                      <a:gd name="connsiteY3" fmla="*/ 487131 h 487131"/>
                      <a:gd name="connsiteX4" fmla="*/ 0 w 10515600"/>
                      <a:gd name="connsiteY4" fmla="*/ 0 h 487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0" h="487131" fill="none" extrusionOk="0">
                        <a:moveTo>
                          <a:pt x="0" y="0"/>
                        </a:moveTo>
                        <a:cubicBezTo>
                          <a:pt x="1336723" y="-49533"/>
                          <a:pt x="5786221" y="-14809"/>
                          <a:pt x="10515600" y="0"/>
                        </a:cubicBezTo>
                        <a:cubicBezTo>
                          <a:pt x="10494285" y="123102"/>
                          <a:pt x="10533522" y="381239"/>
                          <a:pt x="10515600" y="487131"/>
                        </a:cubicBezTo>
                        <a:cubicBezTo>
                          <a:pt x="5888664" y="438900"/>
                          <a:pt x="3324145" y="571586"/>
                          <a:pt x="0" y="487131"/>
                        </a:cubicBezTo>
                        <a:cubicBezTo>
                          <a:pt x="-33088" y="375820"/>
                          <a:pt x="-40187" y="169403"/>
                          <a:pt x="0" y="0"/>
                        </a:cubicBezTo>
                        <a:close/>
                      </a:path>
                      <a:path w="10515600" h="487131" stroke="0" extrusionOk="0">
                        <a:moveTo>
                          <a:pt x="0" y="0"/>
                        </a:moveTo>
                        <a:cubicBezTo>
                          <a:pt x="2385074" y="118645"/>
                          <a:pt x="7736396" y="116012"/>
                          <a:pt x="10515600" y="0"/>
                        </a:cubicBezTo>
                        <a:cubicBezTo>
                          <a:pt x="10490307" y="158588"/>
                          <a:pt x="10503601" y="250307"/>
                          <a:pt x="10515600" y="487131"/>
                        </a:cubicBezTo>
                        <a:cubicBezTo>
                          <a:pt x="8570514" y="621731"/>
                          <a:pt x="4733866" y="329935"/>
                          <a:pt x="0" y="487131"/>
                        </a:cubicBezTo>
                        <a:cubicBezTo>
                          <a:pt x="36258" y="435268"/>
                          <a:pt x="-4662" y="166128"/>
                          <a:pt x="0" y="0"/>
                        </a:cubicBezTo>
                        <a:close/>
                      </a:path>
                    </a:pathLst>
                  </a:custGeom>
                  <ask:type>
                    <ask:lineSketchNone/>
                  </ask:type>
                </ask:lineSketchStyleProps>
              </a:ext>
            </a:extLst>
          </a:ln>
        </p:spPr>
        <p:txBody>
          <a:bodyPr/>
          <a:lstStyle>
            <a:lvl1pPr>
              <a:defRPr>
                <a:latin typeface="Century Gothic" panose="020B0502020202020204" pitchFamily="34" charset="0"/>
              </a:defRPr>
            </a:lvl1pPr>
          </a:lstStyle>
          <a:p>
            <a:r>
              <a:rPr lang="en-US"/>
              <a:t>Click to edit Master title style</a:t>
            </a:r>
          </a:p>
        </p:txBody>
      </p:sp>
      <p:sp>
        <p:nvSpPr>
          <p:cNvPr id="3" name="Content Placeholder 2"/>
          <p:cNvSpPr>
            <a:spLocks noGrp="1"/>
          </p:cNvSpPr>
          <p:nvPr>
            <p:ph idx="1"/>
          </p:nvPr>
        </p:nvSpPr>
        <p:spPr>
          <a:xfrm>
            <a:off x="598503" y="868054"/>
            <a:ext cx="10755297" cy="5139345"/>
          </a:xfrm>
          <a:prstGeom prst="rect">
            <a:avLst/>
          </a:prstGeo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10">
            <a:extLst>
              <a:ext uri="{FF2B5EF4-FFF2-40B4-BE49-F238E27FC236}">
                <a16:creationId xmlns:a16="http://schemas.microsoft.com/office/drawing/2014/main" id="{6D8C9B69-EF90-C9A3-DF62-ADCD60F097B4}"/>
              </a:ext>
            </a:extLst>
          </p:cNvPr>
          <p:cNvSpPr>
            <a:spLocks noGrp="1"/>
          </p:cNvSpPr>
          <p:nvPr>
            <p:ph type="dt" sz="half" idx="10"/>
          </p:nvPr>
        </p:nvSpPr>
        <p:spPr/>
        <p:txBody>
          <a:bodyPr/>
          <a:lstStyle/>
          <a:p>
            <a:fld id="{FAAB834C-2F9F-4134-A8A6-8D28F07BEAB5}" type="datetime1">
              <a:rPr lang="en-US" smtClean="0"/>
              <a:t>9/18/2025</a:t>
            </a:fld>
            <a:endParaRPr lang="en-US"/>
          </a:p>
        </p:txBody>
      </p:sp>
      <p:sp>
        <p:nvSpPr>
          <p:cNvPr id="12" name="Footer Placeholder 11">
            <a:extLst>
              <a:ext uri="{FF2B5EF4-FFF2-40B4-BE49-F238E27FC236}">
                <a16:creationId xmlns:a16="http://schemas.microsoft.com/office/drawing/2014/main" id="{1854CB3D-B6B5-8480-EF97-1EEE3888F664}"/>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A4487A5A-23CF-8E29-1BC5-29697E742187}"/>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503" y="193906"/>
            <a:ext cx="10515600" cy="487131"/>
          </a:xfrm>
          <a:prstGeom prst="rect">
            <a:avLst/>
          </a:prstGeom>
        </p:spPr>
        <p:txBody>
          <a:bodyPr/>
          <a:lstStyle>
            <a:lvl1pPr>
              <a:defRPr>
                <a:latin typeface="Century Gothic" panose="020B0502020202020204" pitchFamily="34" charset="0"/>
              </a:defRPr>
            </a:lvl1pPr>
          </a:lstStyle>
          <a:p>
            <a:r>
              <a:rPr lang="en-US"/>
              <a:t>Click to edit Master title style</a:t>
            </a:r>
          </a:p>
        </p:txBody>
      </p:sp>
      <p:sp>
        <p:nvSpPr>
          <p:cNvPr id="11" name="Date Placeholder 10">
            <a:extLst>
              <a:ext uri="{FF2B5EF4-FFF2-40B4-BE49-F238E27FC236}">
                <a16:creationId xmlns:a16="http://schemas.microsoft.com/office/drawing/2014/main" id="{6D8C9B69-EF90-C9A3-DF62-ADCD60F097B4}"/>
              </a:ext>
            </a:extLst>
          </p:cNvPr>
          <p:cNvSpPr>
            <a:spLocks noGrp="1"/>
          </p:cNvSpPr>
          <p:nvPr>
            <p:ph type="dt" sz="half" idx="10"/>
          </p:nvPr>
        </p:nvSpPr>
        <p:spPr/>
        <p:txBody>
          <a:bodyPr/>
          <a:lstStyle/>
          <a:p>
            <a:fld id="{14EC8B48-3E80-40FE-82B7-08F610C8B0AF}" type="datetime1">
              <a:rPr lang="en-US" smtClean="0"/>
              <a:t>9/18/2025</a:t>
            </a:fld>
            <a:endParaRPr lang="en-US"/>
          </a:p>
        </p:txBody>
      </p:sp>
      <p:sp>
        <p:nvSpPr>
          <p:cNvPr id="12" name="Footer Placeholder 11">
            <a:extLst>
              <a:ext uri="{FF2B5EF4-FFF2-40B4-BE49-F238E27FC236}">
                <a16:creationId xmlns:a16="http://schemas.microsoft.com/office/drawing/2014/main" id="{1854CB3D-B6B5-8480-EF97-1EEE3888F664}"/>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A4487A5A-23CF-8E29-1BC5-29697E742187}"/>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1068102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98503" y="782425"/>
            <a:ext cx="5421297" cy="5394538"/>
          </a:xfrm>
          <a:prstGeom prst="rect">
            <a:avLst/>
          </a:prstGeo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932503" y="782425"/>
            <a:ext cx="5421297" cy="5394538"/>
          </a:xfrm>
          <a:prstGeom prst="rect">
            <a:avLst/>
          </a:prstGeo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0056A89-B657-4E56-81EA-47AEC42B3D30}" type="datetime1">
              <a:rPr lang="en-US" smtClean="0"/>
              <a:t>9/18/2025</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
        <p:nvSpPr>
          <p:cNvPr id="8" name="Title 1">
            <a:extLst>
              <a:ext uri="{FF2B5EF4-FFF2-40B4-BE49-F238E27FC236}">
                <a16:creationId xmlns:a16="http://schemas.microsoft.com/office/drawing/2014/main" id="{8A7280F5-7666-28EA-35DD-86411B8924B7}"/>
              </a:ext>
            </a:extLst>
          </p:cNvPr>
          <p:cNvSpPr>
            <a:spLocks noGrp="1"/>
          </p:cNvSpPr>
          <p:nvPr>
            <p:ph type="title"/>
          </p:nvPr>
        </p:nvSpPr>
        <p:spPr>
          <a:xfrm>
            <a:off x="598503" y="193906"/>
            <a:ext cx="10515600" cy="487131"/>
          </a:xfrm>
          <a:prstGeom prst="rect">
            <a:avLst/>
          </a:prstGeom>
        </p:spPr>
        <p:txBody>
          <a:bodyPr/>
          <a:lstStyle>
            <a:lvl1pPr>
              <a:defRPr>
                <a:latin typeface="Century Gothic" panose="020B0502020202020204" pitchFamily="34" charset="0"/>
              </a:defRPr>
            </a:lvl1pPr>
          </a:lstStyle>
          <a:p>
            <a:r>
              <a:rPr lang="en-US"/>
              <a:t>Click to edit Master title style</a:t>
            </a:r>
          </a:p>
        </p:txBody>
      </p:sp>
    </p:spTree>
    <p:extLst>
      <p:ext uri="{BB962C8B-B14F-4D97-AF65-F5344CB8AC3E}">
        <p14:creationId xmlns:p14="http://schemas.microsoft.com/office/powerpoint/2010/main" val="1203092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alpha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solidFill>
                  <a:schemeClr val="tx1"/>
                </a:solidFill>
                <a:latin typeface="Century Gothic" panose="020B0502020202020204" pitchFamily="34"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solidFill>
                  <a:schemeClr val="tx1"/>
                </a:solidFill>
                <a:latin typeface="Century Gothic" panose="020B0502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B5CFD0E2-6DB6-48B0-A00E-AF2C677C1319}" type="datetime1">
              <a:rPr lang="en-US" smtClean="0"/>
              <a:t>9/18/2025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atin typeface="Century Gothic" panose="020B0502020202020204" pitchFamily="34" charset="0"/>
              </a:defRPr>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latin typeface="Century Gothic" panose="020B0502020202020204" pitchFamily="34"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B3C5E615-12C4-4709-B50C-4AFC9D577141}" type="datetime1">
              <a:rPr lang="en-US" smtClean="0"/>
              <a:t>9/18/2025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98504" y="898733"/>
            <a:ext cx="5399072" cy="823912"/>
          </a:xfrm>
          <a:prstGeom prst="rect">
            <a:avLst/>
          </a:prstGeom>
        </p:spPr>
        <p:txBody>
          <a:bodyPr anchor="b"/>
          <a:lstStyle>
            <a:lvl1pPr marL="0" indent="0">
              <a:buNone/>
              <a:defRPr sz="2400" b="1">
                <a:latin typeface="Century Gothic" panose="020B0502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8504" y="1800520"/>
            <a:ext cx="5399072" cy="4389143"/>
          </a:xfrm>
          <a:prstGeom prst="rect">
            <a:avLst/>
          </a:prstGeo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929727" y="898733"/>
            <a:ext cx="5425661" cy="823912"/>
          </a:xfrm>
          <a:prstGeom prst="rect">
            <a:avLst/>
          </a:prstGeom>
        </p:spPr>
        <p:txBody>
          <a:bodyPr anchor="b"/>
          <a:lstStyle>
            <a:lvl1pPr marL="0" indent="0">
              <a:buNone/>
              <a:defRPr sz="2400" b="1">
                <a:latin typeface="Century Gothic" panose="020B0502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929727" y="1800520"/>
            <a:ext cx="5425661" cy="4389143"/>
          </a:xfrm>
          <a:prstGeom prst="rect">
            <a:avLst/>
          </a:prstGeo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8F516FE9-DAFF-4019-B1DF-FCD5398715BB}" type="datetime1">
              <a:rPr lang="en-US" smtClean="0"/>
              <a:t>9/18/2025</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
        <p:nvSpPr>
          <p:cNvPr id="10" name="Title 1">
            <a:extLst>
              <a:ext uri="{FF2B5EF4-FFF2-40B4-BE49-F238E27FC236}">
                <a16:creationId xmlns:a16="http://schemas.microsoft.com/office/drawing/2014/main" id="{6957E462-421E-68A0-EA15-ACBC76D2262F}"/>
              </a:ext>
            </a:extLst>
          </p:cNvPr>
          <p:cNvSpPr>
            <a:spLocks noGrp="1"/>
          </p:cNvSpPr>
          <p:nvPr>
            <p:ph type="title"/>
          </p:nvPr>
        </p:nvSpPr>
        <p:spPr>
          <a:xfrm>
            <a:off x="598503" y="193906"/>
            <a:ext cx="10515600" cy="487131"/>
          </a:xfrm>
          <a:prstGeom prst="rect">
            <a:avLst/>
          </a:prstGeom>
        </p:spPr>
        <p:txBody>
          <a:bodyPr/>
          <a:lstStyle>
            <a:lvl1pPr>
              <a:defRPr>
                <a:latin typeface="Century Gothic" panose="020B0502020202020204" pitchFamily="34" charset="0"/>
              </a:defRPr>
            </a:lvl1pPr>
          </a:lstStyle>
          <a:p>
            <a:r>
              <a:rPr lang="en-US"/>
              <a:t>Click to edit Master title style</a:t>
            </a:r>
          </a:p>
        </p:txBody>
      </p:sp>
    </p:spTree>
    <p:extLst>
      <p:ext uri="{BB962C8B-B14F-4D97-AF65-F5344CB8AC3E}">
        <p14:creationId xmlns:p14="http://schemas.microsoft.com/office/powerpoint/2010/main" val="3733172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AFDEACDC-4FA8-4934-9E2F-B8BAA099B586}" type="datetime1">
              <a:rPr lang="en-US" smtClean="0"/>
              <a:t>9/18/2025</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atin typeface="Century Gothic" panose="020B0502020202020204" pitchFamily="34" charset="0"/>
              </a:defRPr>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atin typeface="Century Gothic" panose="020B0502020202020204" pitchFamily="34" charset="0"/>
              </a:defRPr>
            </a:lvl1pPr>
            <a:lvl2pPr>
              <a:defRPr sz="2800">
                <a:latin typeface="Century Gothic" panose="020B0502020202020204" pitchFamily="34" charset="0"/>
              </a:defRPr>
            </a:lvl2pPr>
            <a:lvl3pPr>
              <a:defRPr sz="2400">
                <a:latin typeface="Century Gothic" panose="020B0502020202020204" pitchFamily="34" charset="0"/>
              </a:defRPr>
            </a:lvl3pPr>
            <a:lvl4pPr>
              <a:defRPr sz="2000">
                <a:latin typeface="Century Gothic" panose="020B0502020202020204" pitchFamily="34" charset="0"/>
              </a:defRPr>
            </a:lvl4pPr>
            <a:lvl5pPr>
              <a:defRPr sz="2000">
                <a:latin typeface="Century Gothic" panose="020B0502020202020204"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atin typeface="Century Gothic" panose="020B0502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618E9538-4AA9-4306-AAAC-5D9AE10FAA03}" type="datetime1">
              <a:rPr lang="en-US" smtClean="0"/>
              <a:t>9/18/2025</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D822262E-171E-47EC-8BDD-63B9658BD71F}" type="datetime1">
              <a:rPr lang="en-US" smtClean="0"/>
              <a:t>9/18/2025</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36172" y="932485"/>
            <a:ext cx="10717627" cy="511062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D1DDE8F-1896-42B2-B75E-118659C1A926}" type="datetime1">
              <a:rPr lang="en-US" smtClean="0"/>
              <a:t>9/18/2025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1811784"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pic>
        <p:nvPicPr>
          <p:cNvPr id="13" name="Picture 12" descr="A blue and white logo&#10;&#10;AI-generated content may be incorrect.">
            <a:extLst>
              <a:ext uri="{FF2B5EF4-FFF2-40B4-BE49-F238E27FC236}">
                <a16:creationId xmlns:a16="http://schemas.microsoft.com/office/drawing/2014/main" id="{16857A67-82BF-0CC1-2736-42AF2618A6C5}"/>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0493093" y="6270021"/>
            <a:ext cx="1564607" cy="433698"/>
          </a:xfrm>
          <a:prstGeom prst="rect">
            <a:avLst/>
          </a:prstGeom>
        </p:spPr>
      </p:pic>
      <p:sp>
        <p:nvSpPr>
          <p:cNvPr id="15" name="Title 1">
            <a:extLst>
              <a:ext uri="{FF2B5EF4-FFF2-40B4-BE49-F238E27FC236}">
                <a16:creationId xmlns:a16="http://schemas.microsoft.com/office/drawing/2014/main" id="{2E79D129-442B-01DD-C2C5-E6EF3B967137}"/>
              </a:ext>
            </a:extLst>
          </p:cNvPr>
          <p:cNvSpPr txBox="1">
            <a:spLocks/>
          </p:cNvSpPr>
          <p:nvPr userDrawn="1"/>
        </p:nvSpPr>
        <p:spPr>
          <a:xfrm>
            <a:off x="598503" y="193906"/>
            <a:ext cx="10515600" cy="487131"/>
          </a:xfrm>
          <a:prstGeom prst="rect">
            <a:avLst/>
          </a:prstGeom>
          <a:ln cmpd="dbl">
            <a:noFill/>
            <a:extLst>
              <a:ext uri="{C807C97D-BFC1-408E-A445-0C87EB9F89A2}">
                <ask:lineSketchStyleProps xmlns:ask="http://schemas.microsoft.com/office/drawing/2018/sketchyshapes" sd="1219033472">
                  <a:custGeom>
                    <a:avLst/>
                    <a:gdLst>
                      <a:gd name="connsiteX0" fmla="*/ 0 w 10515600"/>
                      <a:gd name="connsiteY0" fmla="*/ 0 h 487131"/>
                      <a:gd name="connsiteX1" fmla="*/ 10515600 w 10515600"/>
                      <a:gd name="connsiteY1" fmla="*/ 0 h 487131"/>
                      <a:gd name="connsiteX2" fmla="*/ 10515600 w 10515600"/>
                      <a:gd name="connsiteY2" fmla="*/ 487131 h 487131"/>
                      <a:gd name="connsiteX3" fmla="*/ 0 w 10515600"/>
                      <a:gd name="connsiteY3" fmla="*/ 487131 h 487131"/>
                      <a:gd name="connsiteX4" fmla="*/ 0 w 10515600"/>
                      <a:gd name="connsiteY4" fmla="*/ 0 h 487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0" h="487131" fill="none" extrusionOk="0">
                        <a:moveTo>
                          <a:pt x="0" y="0"/>
                        </a:moveTo>
                        <a:cubicBezTo>
                          <a:pt x="1336723" y="-49533"/>
                          <a:pt x="5786221" y="-14809"/>
                          <a:pt x="10515600" y="0"/>
                        </a:cubicBezTo>
                        <a:cubicBezTo>
                          <a:pt x="10494285" y="123102"/>
                          <a:pt x="10533522" y="381239"/>
                          <a:pt x="10515600" y="487131"/>
                        </a:cubicBezTo>
                        <a:cubicBezTo>
                          <a:pt x="5888664" y="438900"/>
                          <a:pt x="3324145" y="571586"/>
                          <a:pt x="0" y="487131"/>
                        </a:cubicBezTo>
                        <a:cubicBezTo>
                          <a:pt x="-33088" y="375820"/>
                          <a:pt x="-40187" y="169403"/>
                          <a:pt x="0" y="0"/>
                        </a:cubicBezTo>
                        <a:close/>
                      </a:path>
                      <a:path w="10515600" h="487131" stroke="0" extrusionOk="0">
                        <a:moveTo>
                          <a:pt x="0" y="0"/>
                        </a:moveTo>
                        <a:cubicBezTo>
                          <a:pt x="2385074" y="118645"/>
                          <a:pt x="7736396" y="116012"/>
                          <a:pt x="10515600" y="0"/>
                        </a:cubicBezTo>
                        <a:cubicBezTo>
                          <a:pt x="10490307" y="158588"/>
                          <a:pt x="10503601" y="250307"/>
                          <a:pt x="10515600" y="487131"/>
                        </a:cubicBezTo>
                        <a:cubicBezTo>
                          <a:pt x="8570514" y="621731"/>
                          <a:pt x="4733866" y="329935"/>
                          <a:pt x="0" y="487131"/>
                        </a:cubicBezTo>
                        <a:cubicBezTo>
                          <a:pt x="36258" y="435268"/>
                          <a:pt x="-4662" y="166128"/>
                          <a:pt x="0" y="0"/>
                        </a:cubicBezTo>
                        <a:close/>
                      </a:path>
                    </a:pathLst>
                  </a:custGeom>
                  <ask:type>
                    <ask:lineSketchNone/>
                  </ask:type>
                </ask:lineSketchStyleProps>
              </a:ext>
            </a:extLst>
          </a:ln>
        </p:spPr>
        <p:txBody>
          <a:bodyPr/>
          <a:lstStyle>
            <a:lvl1pPr algn="l" defTabSz="914400" rtl="0" eaLnBrk="1" latinLnBrk="0" hangingPunct="1">
              <a:lnSpc>
                <a:spcPct val="90000"/>
              </a:lnSpc>
              <a:spcBef>
                <a:spcPct val="0"/>
              </a:spcBef>
              <a:buNone/>
              <a:defRPr sz="4400" kern="1200">
                <a:solidFill>
                  <a:schemeClr val="tx1"/>
                </a:solidFill>
                <a:latin typeface="Century Gothic" panose="020B0502020202020204" pitchFamily="34" charset="0"/>
                <a:ea typeface="+mj-ea"/>
                <a:cs typeface="+mj-cs"/>
              </a:defRPr>
            </a:lvl1pPr>
          </a:lstStyle>
          <a:p>
            <a:endParaRPr lang="en-US"/>
          </a:p>
        </p:txBody>
      </p:sp>
      <p:sp>
        <p:nvSpPr>
          <p:cNvPr id="17" name="Title 1">
            <a:extLst>
              <a:ext uri="{FF2B5EF4-FFF2-40B4-BE49-F238E27FC236}">
                <a16:creationId xmlns:a16="http://schemas.microsoft.com/office/drawing/2014/main" id="{7DD846F1-3040-CF69-75AE-EA6E3AE7A307}"/>
              </a:ext>
            </a:extLst>
          </p:cNvPr>
          <p:cNvSpPr txBox="1">
            <a:spLocks/>
          </p:cNvSpPr>
          <p:nvPr userDrawn="1"/>
        </p:nvSpPr>
        <p:spPr>
          <a:xfrm>
            <a:off x="750903" y="346306"/>
            <a:ext cx="10515600" cy="487131"/>
          </a:xfrm>
          <a:prstGeom prst="rect">
            <a:avLst/>
          </a:prstGeom>
          <a:ln cmpd="dbl">
            <a:noFill/>
            <a:extLst>
              <a:ext uri="{C807C97D-BFC1-408E-A445-0C87EB9F89A2}">
                <ask:lineSketchStyleProps xmlns:ask="http://schemas.microsoft.com/office/drawing/2018/sketchyshapes" sd="1219033472">
                  <a:custGeom>
                    <a:avLst/>
                    <a:gdLst>
                      <a:gd name="connsiteX0" fmla="*/ 0 w 10515600"/>
                      <a:gd name="connsiteY0" fmla="*/ 0 h 487131"/>
                      <a:gd name="connsiteX1" fmla="*/ 10515600 w 10515600"/>
                      <a:gd name="connsiteY1" fmla="*/ 0 h 487131"/>
                      <a:gd name="connsiteX2" fmla="*/ 10515600 w 10515600"/>
                      <a:gd name="connsiteY2" fmla="*/ 487131 h 487131"/>
                      <a:gd name="connsiteX3" fmla="*/ 0 w 10515600"/>
                      <a:gd name="connsiteY3" fmla="*/ 487131 h 487131"/>
                      <a:gd name="connsiteX4" fmla="*/ 0 w 10515600"/>
                      <a:gd name="connsiteY4" fmla="*/ 0 h 487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0" h="487131" fill="none" extrusionOk="0">
                        <a:moveTo>
                          <a:pt x="0" y="0"/>
                        </a:moveTo>
                        <a:cubicBezTo>
                          <a:pt x="1336723" y="-49533"/>
                          <a:pt x="5786221" y="-14809"/>
                          <a:pt x="10515600" y="0"/>
                        </a:cubicBezTo>
                        <a:cubicBezTo>
                          <a:pt x="10494285" y="123102"/>
                          <a:pt x="10533522" y="381239"/>
                          <a:pt x="10515600" y="487131"/>
                        </a:cubicBezTo>
                        <a:cubicBezTo>
                          <a:pt x="5888664" y="438900"/>
                          <a:pt x="3324145" y="571586"/>
                          <a:pt x="0" y="487131"/>
                        </a:cubicBezTo>
                        <a:cubicBezTo>
                          <a:pt x="-33088" y="375820"/>
                          <a:pt x="-40187" y="169403"/>
                          <a:pt x="0" y="0"/>
                        </a:cubicBezTo>
                        <a:close/>
                      </a:path>
                      <a:path w="10515600" h="487131" stroke="0" extrusionOk="0">
                        <a:moveTo>
                          <a:pt x="0" y="0"/>
                        </a:moveTo>
                        <a:cubicBezTo>
                          <a:pt x="2385074" y="118645"/>
                          <a:pt x="7736396" y="116012"/>
                          <a:pt x="10515600" y="0"/>
                        </a:cubicBezTo>
                        <a:cubicBezTo>
                          <a:pt x="10490307" y="158588"/>
                          <a:pt x="10503601" y="250307"/>
                          <a:pt x="10515600" y="487131"/>
                        </a:cubicBezTo>
                        <a:cubicBezTo>
                          <a:pt x="8570514" y="621731"/>
                          <a:pt x="4733866" y="329935"/>
                          <a:pt x="0" y="487131"/>
                        </a:cubicBezTo>
                        <a:cubicBezTo>
                          <a:pt x="36258" y="435268"/>
                          <a:pt x="-4662" y="166128"/>
                          <a:pt x="0" y="0"/>
                        </a:cubicBezTo>
                        <a:close/>
                      </a:path>
                    </a:pathLst>
                  </a:custGeom>
                  <ask:type>
                    <ask:lineSketchNone/>
                  </ask:type>
                </ask:lineSketchStyleProps>
              </a:ext>
            </a:extLst>
          </a:ln>
        </p:spPr>
        <p:txBody>
          <a:bodyPr/>
          <a:lstStyle>
            <a:lvl1pPr algn="l" defTabSz="914400" rtl="0" eaLnBrk="1" latinLnBrk="0" hangingPunct="1">
              <a:lnSpc>
                <a:spcPct val="90000"/>
              </a:lnSpc>
              <a:spcBef>
                <a:spcPct val="0"/>
              </a:spcBef>
              <a:buNone/>
              <a:defRPr sz="4400" kern="1200">
                <a:solidFill>
                  <a:schemeClr val="tx1"/>
                </a:solidFill>
                <a:latin typeface="Century Gothic" panose="020B0502020202020204" pitchFamily="34" charset="0"/>
                <a:ea typeface="+mj-ea"/>
                <a:cs typeface="+mj-cs"/>
              </a:defRPr>
            </a:lvl1pPr>
          </a:lstStyle>
          <a:p>
            <a:r>
              <a:rPr lang="en-US"/>
              <a:t> </a:t>
            </a:r>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2" r:id="rId1"/>
    <p:sldLayoutId id="2147483672" r:id="rId2"/>
    <p:sldLayoutId id="2147483664" r:id="rId3"/>
    <p:sldLayoutId id="2147483661" r:id="rId4"/>
    <p:sldLayoutId id="2147483663" r:id="rId5"/>
    <p:sldLayoutId id="2147483665" r:id="rId6"/>
    <p:sldLayoutId id="2147483667" r:id="rId7"/>
    <p:sldLayoutId id="2147483668" r:id="rId8"/>
    <p:sldLayoutId id="2147483669" r:id="rId9"/>
  </p:sldLayoutIdLst>
  <p:hf hdr="0" ftr="0"/>
  <p:txStyles>
    <p:titleStyle>
      <a:lvl1pPr algn="l" defTabSz="914400" rtl="0" eaLnBrk="1" latinLnBrk="0" hangingPunct="1">
        <a:lnSpc>
          <a:spcPct val="90000"/>
        </a:lnSpc>
        <a:spcBef>
          <a:spcPct val="0"/>
        </a:spcBef>
        <a:buNone/>
        <a:defRPr sz="4400" kern="1200">
          <a:solidFill>
            <a:schemeClr val="tx1"/>
          </a:solidFill>
          <a:latin typeface="Century Gothic" panose="020B0502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microsoft.com/office/2018/10/relationships/comments" Target="../comments/modernComment_16F_38404EE6.xml"/><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microsoft.com/office/2018/10/relationships/comments" Target="../comments/modernComment_1F2_23F17660.xml"/><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image" Target="../media/image38.png"/></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microsoft.com/office/2018/10/relationships/comments" Target="../comments/modernComment_1D2_C28FF9C0.xml"/><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45.png"/><Relationship Id="rId4" Type="http://schemas.openxmlformats.org/officeDocument/2006/relationships/image" Target="../media/image44.png"/></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microsoft.com/office/2018/10/relationships/comments" Target="../comments/modernComment_192_92FE78C8.xml"/><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microsoft.com/office/2018/10/relationships/comments" Target="../comments/modernComment_1DE_B08F2197.xml"/><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50.xml.rels><?xml version="1.0" encoding="UTF-8" standalone="yes"?>
<Relationships xmlns="http://schemas.openxmlformats.org/package/2006/relationships"><Relationship Id="rId3" Type="http://schemas.microsoft.com/office/2018/10/relationships/comments" Target="../comments/modernComment_193_FBE5591B.xml"/><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microsoft.com/office/2018/10/relationships/comments" Target="../comments/modernComment_18B_7907B08A.xml"/><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52.xml.rels><?xml version="1.0" encoding="UTF-8" standalone="yes"?>
<Relationships xmlns="http://schemas.openxmlformats.org/package/2006/relationships"><Relationship Id="rId3" Type="http://schemas.microsoft.com/office/2018/10/relationships/comments" Target="../comments/modernComment_196_E8C294A1.xml"/><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microsoft.com/office/2018/10/relationships/comments" Target="../comments/modernComment_1E6_B49544B.xml"/><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59.png"/></Relationships>
</file>

<file path=ppt/slides/_rels/slide61.xml.rels><?xml version="1.0" encoding="UTF-8" standalone="yes"?>
<Relationships xmlns="http://schemas.openxmlformats.org/package/2006/relationships"><Relationship Id="rId3" Type="http://schemas.microsoft.com/office/2018/10/relationships/comments" Target="../comments/modernComment_17D_D953812.xml"/><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62.xml.rels><?xml version="1.0" encoding="UTF-8" standalone="yes"?>
<Relationships xmlns="http://schemas.openxmlformats.org/package/2006/relationships"><Relationship Id="rId3" Type="http://schemas.microsoft.com/office/2018/10/relationships/comments" Target="../comments/modernComment_1FA_699C0889.xml"/><Relationship Id="rId2" Type="http://schemas.openxmlformats.org/officeDocument/2006/relationships/notesSlide" Target="../notesSlides/notesSlide57.xml"/><Relationship Id="rId1" Type="http://schemas.openxmlformats.org/officeDocument/2006/relationships/slideLayout" Target="../slideLayouts/slideLayout1.xml"/><Relationship Id="rId5" Type="http://schemas.openxmlformats.org/officeDocument/2006/relationships/image" Target="../media/image62.png"/><Relationship Id="rId4" Type="http://schemas.openxmlformats.org/officeDocument/2006/relationships/image" Target="../media/image61.png"/></Relationships>
</file>

<file path=ppt/slides/_rels/slide63.xml.rels><?xml version="1.0" encoding="UTF-8" standalone="yes"?>
<Relationships xmlns="http://schemas.openxmlformats.org/package/2006/relationships"><Relationship Id="rId3" Type="http://schemas.microsoft.com/office/2018/10/relationships/comments" Target="../comments/modernComment_1F8_FFED70DE.xml"/><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microsoft.com/office/2018/10/relationships/comments" Target="../comments/modernComment_1F7_F2AEEA55.xml"/><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61.xml"/><Relationship Id="rId1" Type="http://schemas.openxmlformats.org/officeDocument/2006/relationships/slideLayout" Target="../slideLayouts/slideLayout1.xml"/><Relationship Id="rId4" Type="http://schemas.openxmlformats.org/officeDocument/2006/relationships/image" Target="../media/image64.png"/></Relationships>
</file>

<file path=ppt/slides/_rels/slide6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73.xml"/><Relationship Id="rId1" Type="http://schemas.openxmlformats.org/officeDocument/2006/relationships/slideLayout" Target="../slideLayouts/slideLayout6.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5.xml"/><Relationship Id="rId1" Type="http://schemas.openxmlformats.org/officeDocument/2006/relationships/slideLayout" Target="../slideLayouts/slideLayout1.xml"/><Relationship Id="rId5" Type="http://schemas.openxmlformats.org/officeDocument/2006/relationships/image" Target="../media/image79.png"/><Relationship Id="rId4" Type="http://schemas.openxmlformats.org/officeDocument/2006/relationships/image" Target="../media/image11.png"/></Relationships>
</file>

<file path=ppt/slides/_rels/slide82.xml.rels><?xml version="1.0" encoding="UTF-8" standalone="yes"?>
<Relationships xmlns="http://schemas.openxmlformats.org/package/2006/relationships"><Relationship Id="rId3" Type="http://schemas.microsoft.com/office/2018/10/relationships/comments" Target="../comments/modernComment_1A1_171560A0.xml"/><Relationship Id="rId2" Type="http://schemas.openxmlformats.org/officeDocument/2006/relationships/notesSlide" Target="../notesSlides/notesSlide7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80.png"/></Relationships>
</file>

<file path=ppt/slides/_rels/slide8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plant growing out of a ball&#10;&#10;AI-generated content may be incorrect.">
            <a:extLst>
              <a:ext uri="{FF2B5EF4-FFF2-40B4-BE49-F238E27FC236}">
                <a16:creationId xmlns:a16="http://schemas.microsoft.com/office/drawing/2014/main" id="{858E65D0-34B3-3980-38F1-A8A4758397B4}"/>
              </a:ext>
            </a:extLst>
          </p:cNvPr>
          <p:cNvPicPr>
            <a:picLocks noChangeAspect="1"/>
          </p:cNvPicPr>
          <p:nvPr/>
        </p:nvPicPr>
        <p:blipFill>
          <a:blip r:embed="rId2">
            <a:extLst>
              <a:ext uri="{28A0092B-C50C-407E-A947-70E740481C1C}">
                <a14:useLocalDpi xmlns:a14="http://schemas.microsoft.com/office/drawing/2010/main" val="0"/>
              </a:ext>
            </a:extLst>
          </a:blip>
          <a:srcRect t="5591" b="17949"/>
          <a:stretch/>
        </p:blipFill>
        <p:spPr>
          <a:xfrm>
            <a:off x="0" y="1925054"/>
            <a:ext cx="12192000" cy="4292866"/>
          </a:xfrm>
          <a:prstGeom prst="rect">
            <a:avLst/>
          </a:prstGeom>
        </p:spPr>
      </p:pic>
      <p:sp>
        <p:nvSpPr>
          <p:cNvPr id="2" name="Title 1">
            <a:extLst>
              <a:ext uri="{FF2B5EF4-FFF2-40B4-BE49-F238E27FC236}">
                <a16:creationId xmlns:a16="http://schemas.microsoft.com/office/drawing/2014/main" id="{DB2D8BCD-86CA-7D6C-C1E4-D5F9AA3D53C1}"/>
              </a:ext>
            </a:extLst>
          </p:cNvPr>
          <p:cNvSpPr>
            <a:spLocks noGrp="1"/>
          </p:cNvSpPr>
          <p:nvPr>
            <p:ph type="title"/>
          </p:nvPr>
        </p:nvSpPr>
        <p:spPr>
          <a:xfrm>
            <a:off x="0" y="0"/>
            <a:ext cx="8391326" cy="1738154"/>
          </a:xfrm>
        </p:spPr>
        <p:txBody>
          <a:bodyPr>
            <a:normAutofit/>
          </a:bodyPr>
          <a:lstStyle/>
          <a:p>
            <a:pPr algn="ctr"/>
            <a:r>
              <a:rPr lang="en-US" dirty="0">
                <a:latin typeface="Century Gothic" panose="020B0502020202020204" pitchFamily="34" charset="0"/>
              </a:rPr>
              <a:t>GreenCircle Certified </a:t>
            </a:r>
            <a:br>
              <a:rPr lang="en-US" dirty="0">
                <a:latin typeface="Century Gothic" panose="020B0502020202020204" pitchFamily="34" charset="0"/>
              </a:rPr>
            </a:br>
            <a:r>
              <a:rPr lang="en-US" sz="4800" dirty="0">
                <a:latin typeface="Century Gothic" panose="020B0502020202020204" pitchFamily="34" charset="0"/>
              </a:rPr>
              <a:t>Database Project</a:t>
            </a:r>
            <a:endParaRPr lang="en-US" dirty="0">
              <a:latin typeface="Century Gothic" panose="020B0502020202020204" pitchFamily="34" charset="0"/>
            </a:endParaRPr>
          </a:p>
        </p:txBody>
      </p:sp>
      <p:pic>
        <p:nvPicPr>
          <p:cNvPr id="1030" name="Picture 6" descr="Green Circle Certified">
            <a:extLst>
              <a:ext uri="{FF2B5EF4-FFF2-40B4-BE49-F238E27FC236}">
                <a16:creationId xmlns:a16="http://schemas.microsoft.com/office/drawing/2014/main" id="{ACDED094-9C2C-2C27-915F-2E49AB7943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6603" y="275098"/>
            <a:ext cx="1143000" cy="1114425"/>
          </a:xfrm>
          <a:prstGeom prst="rect">
            <a:avLst/>
          </a:prstGeom>
          <a:noFill/>
          <a:extLst>
            <a:ext uri="{909E8E84-426E-40DD-AFC4-6F175D3DCCD1}">
              <a14:hiddenFill xmlns:a14="http://schemas.microsoft.com/office/drawing/2010/main">
                <a:solidFill>
                  <a:srgbClr val="FFFFFF"/>
                </a:solidFill>
              </a14:hiddenFill>
            </a:ext>
          </a:extLst>
        </p:spPr>
      </p:pic>
      <p:sp>
        <p:nvSpPr>
          <p:cNvPr id="14" name="Date Placeholder 13">
            <a:extLst>
              <a:ext uri="{FF2B5EF4-FFF2-40B4-BE49-F238E27FC236}">
                <a16:creationId xmlns:a16="http://schemas.microsoft.com/office/drawing/2014/main" id="{AC500507-CB45-8600-884F-3826F0951947}"/>
              </a:ext>
            </a:extLst>
          </p:cNvPr>
          <p:cNvSpPr>
            <a:spLocks noGrp="1"/>
          </p:cNvSpPr>
          <p:nvPr>
            <p:ph type="dt" sz="half" idx="10"/>
          </p:nvPr>
        </p:nvSpPr>
        <p:spPr/>
        <p:txBody>
          <a:bodyPr/>
          <a:lstStyle/>
          <a:p>
            <a:fld id="{0ECCE86E-37E5-4543-A6EB-A0C93BD06DFB}" type="datetime1">
              <a:rPr lang="en-US" smtClean="0"/>
              <a:t>9/18/2025</a:t>
            </a:fld>
            <a:endParaRPr lang="en-US"/>
          </a:p>
        </p:txBody>
      </p:sp>
      <p:sp>
        <p:nvSpPr>
          <p:cNvPr id="15" name="Slide Number Placeholder 14">
            <a:extLst>
              <a:ext uri="{FF2B5EF4-FFF2-40B4-BE49-F238E27FC236}">
                <a16:creationId xmlns:a16="http://schemas.microsoft.com/office/drawing/2014/main" id="{8A481C8B-53E8-D429-7340-0A13268C55E9}"/>
              </a:ext>
            </a:extLst>
          </p:cNvPr>
          <p:cNvSpPr>
            <a:spLocks noGrp="1"/>
          </p:cNvSpPr>
          <p:nvPr>
            <p:ph type="sldNum" sz="quarter" idx="12"/>
          </p:nvPr>
        </p:nvSpPr>
        <p:spPr/>
        <p:txBody>
          <a:bodyPr/>
          <a:lstStyle/>
          <a:p>
            <a:fld id="{330EA680-D336-4FF7-8B7A-9848BB0A1C32}" type="slidenum">
              <a:rPr lang="en-US" smtClean="0"/>
              <a:t>1</a:t>
            </a:fld>
            <a:endParaRPr lang="en-US"/>
          </a:p>
        </p:txBody>
      </p:sp>
      <p:sp>
        <p:nvSpPr>
          <p:cNvPr id="16" name="Rectangle 15">
            <a:extLst>
              <a:ext uri="{FF2B5EF4-FFF2-40B4-BE49-F238E27FC236}">
                <a16:creationId xmlns:a16="http://schemas.microsoft.com/office/drawing/2014/main" id="{ABB2265E-E3BD-C8E7-5B8E-FAF4E3557BF7}"/>
              </a:ext>
            </a:extLst>
          </p:cNvPr>
          <p:cNvSpPr/>
          <p:nvPr/>
        </p:nvSpPr>
        <p:spPr>
          <a:xfrm>
            <a:off x="174206" y="2136338"/>
            <a:ext cx="5649078" cy="1754326"/>
          </a:xfrm>
          <a:prstGeom prst="rect">
            <a:avLst/>
          </a:prstGeom>
          <a:noFill/>
        </p:spPr>
        <p:txBody>
          <a:bodyPr wrap="square" lIns="91440" tIns="45720" rIns="91440" bIns="45720">
            <a:spAutoFit/>
          </a:bodyPr>
          <a:lstStyle/>
          <a:p>
            <a:pPr algn="ctr"/>
            <a:r>
              <a:rPr lang="en-US" sz="5400" b="0" cap="none" spc="0" dirty="0">
                <a:ln w="0"/>
                <a:solidFill>
                  <a:schemeClr val="bg1">
                    <a:lumMod val="95000"/>
                  </a:schemeClr>
                </a:solidFill>
                <a:effectLst>
                  <a:outerShdw blurRad="38100" dist="19050" dir="2700000" algn="tl" rotWithShape="0">
                    <a:schemeClr val="dk1">
                      <a:alpha val="40000"/>
                    </a:schemeClr>
                  </a:outerShdw>
                </a:effectLst>
                <a:latin typeface="Century Gothic" panose="020B0502020202020204" pitchFamily="34" charset="0"/>
              </a:rPr>
              <a:t>Wireframes and User Stories</a:t>
            </a:r>
            <a:endParaRPr lang="en-US" sz="5400" b="0" cap="none" spc="0" dirty="0">
              <a:ln w="0"/>
              <a:solidFill>
                <a:schemeClr val="bg1">
                  <a:lumMod val="95000"/>
                </a:schemeClr>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5520793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F50E4C57-A298-7713-72C0-24DB1D3267BD}"/>
              </a:ext>
            </a:extLst>
          </p:cNvPr>
          <p:cNvPicPr>
            <a:picLocks noChangeAspect="1"/>
          </p:cNvPicPr>
          <p:nvPr/>
        </p:nvPicPr>
        <p:blipFill>
          <a:blip r:embed="rId3"/>
          <a:stretch>
            <a:fillRect/>
          </a:stretch>
        </p:blipFill>
        <p:spPr>
          <a:xfrm>
            <a:off x="60160" y="796953"/>
            <a:ext cx="12087626" cy="5386036"/>
          </a:xfrm>
          <a:prstGeom prst="rect">
            <a:avLst/>
          </a:prstGeom>
        </p:spPr>
      </p:pic>
      <p:pic>
        <p:nvPicPr>
          <p:cNvPr id="4" name="Picture 3">
            <a:extLst>
              <a:ext uri="{FF2B5EF4-FFF2-40B4-BE49-F238E27FC236}">
                <a16:creationId xmlns:a16="http://schemas.microsoft.com/office/drawing/2014/main" id="{9ADBB939-F120-A1CA-2A1D-92C29E991373}"/>
              </a:ext>
            </a:extLst>
          </p:cNvPr>
          <p:cNvPicPr>
            <a:picLocks noChangeAspect="1"/>
          </p:cNvPicPr>
          <p:nvPr/>
        </p:nvPicPr>
        <p:blipFill>
          <a:blip r:embed="rId4"/>
          <a:srcRect l="76383" t="7576" b="78093"/>
          <a:stretch/>
        </p:blipFill>
        <p:spPr>
          <a:xfrm>
            <a:off x="9516492" y="121371"/>
            <a:ext cx="2583166" cy="949617"/>
          </a:xfrm>
          <a:prstGeom prst="rect">
            <a:avLst/>
          </a:prstGeom>
        </p:spPr>
      </p:pic>
      <p:sp>
        <p:nvSpPr>
          <p:cNvPr id="2" name="Title 1">
            <a:extLst>
              <a:ext uri="{FF2B5EF4-FFF2-40B4-BE49-F238E27FC236}">
                <a16:creationId xmlns:a16="http://schemas.microsoft.com/office/drawing/2014/main" id="{30761E5B-27FF-33A6-80EC-FC0741303A51}"/>
              </a:ext>
            </a:extLst>
          </p:cNvPr>
          <p:cNvSpPr>
            <a:spLocks noGrp="1"/>
          </p:cNvSpPr>
          <p:nvPr>
            <p:ph type="title"/>
          </p:nvPr>
        </p:nvSpPr>
        <p:spPr>
          <a:xfrm>
            <a:off x="598503" y="193906"/>
            <a:ext cx="10515600" cy="487131"/>
          </a:xfrm>
        </p:spPr>
        <p:txBody>
          <a:bodyPr>
            <a:normAutofit/>
          </a:bodyPr>
          <a:lstStyle/>
          <a:p>
            <a:r>
              <a:rPr lang="en-US" sz="2800" dirty="0"/>
              <a:t>GreenCircle Certified Database Site Map</a:t>
            </a:r>
          </a:p>
        </p:txBody>
      </p:sp>
      <p:sp>
        <p:nvSpPr>
          <p:cNvPr id="7" name="Date Placeholder 6">
            <a:extLst>
              <a:ext uri="{FF2B5EF4-FFF2-40B4-BE49-F238E27FC236}">
                <a16:creationId xmlns:a16="http://schemas.microsoft.com/office/drawing/2014/main" id="{FA09F5C0-52DA-DF94-2FBE-5D1E855C488E}"/>
              </a:ext>
            </a:extLst>
          </p:cNvPr>
          <p:cNvSpPr>
            <a:spLocks noGrp="1"/>
          </p:cNvSpPr>
          <p:nvPr>
            <p:ph type="dt" sz="half" idx="10"/>
          </p:nvPr>
        </p:nvSpPr>
        <p:spPr>
          <a:xfrm>
            <a:off x="838200" y="6356350"/>
            <a:ext cx="2743200" cy="365125"/>
          </a:xfrm>
        </p:spPr>
        <p:txBody>
          <a:bodyPr anchor="ctr">
            <a:normAutofit/>
          </a:bodyPr>
          <a:lstStyle/>
          <a:p>
            <a:pPr>
              <a:spcAft>
                <a:spcPts val="600"/>
              </a:spcAft>
            </a:pPr>
            <a:fld id="{1F040F15-3124-4DA1-BD1D-A4F020C7C5A7}" type="datetime1">
              <a:rPr lang="en-US" smtClean="0"/>
              <a:pPr>
                <a:spcAft>
                  <a:spcPts val="600"/>
                </a:spcAft>
              </a:pPr>
              <a:t>9/18/2025</a:t>
            </a:fld>
            <a:endParaRPr lang="en-US"/>
          </a:p>
        </p:txBody>
      </p:sp>
      <p:sp>
        <p:nvSpPr>
          <p:cNvPr id="8" name="Slide Number Placeholder 7">
            <a:extLst>
              <a:ext uri="{FF2B5EF4-FFF2-40B4-BE49-F238E27FC236}">
                <a16:creationId xmlns:a16="http://schemas.microsoft.com/office/drawing/2014/main" id="{5C24D69F-4E32-59D8-62AB-5F97C38E1DBA}"/>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a:t>
            </a:fld>
            <a:endParaRPr lang="en-US"/>
          </a:p>
        </p:txBody>
      </p:sp>
      <p:sp>
        <p:nvSpPr>
          <p:cNvPr id="22" name="TextBox 21">
            <a:extLst>
              <a:ext uri="{FF2B5EF4-FFF2-40B4-BE49-F238E27FC236}">
                <a16:creationId xmlns:a16="http://schemas.microsoft.com/office/drawing/2014/main" id="{A12E4D06-E6D9-C763-0B86-D938D124541E}"/>
              </a:ext>
            </a:extLst>
          </p:cNvPr>
          <p:cNvSpPr txBox="1"/>
          <p:nvPr/>
        </p:nvSpPr>
        <p:spPr>
          <a:xfrm>
            <a:off x="302439" y="5603816"/>
            <a:ext cx="4848448" cy="938719"/>
          </a:xfrm>
          <a:prstGeom prst="rect">
            <a:avLst/>
          </a:prstGeom>
          <a:solidFill>
            <a:schemeClr val="bg1"/>
          </a:solidFill>
        </p:spPr>
        <p:txBody>
          <a:bodyPr wrap="square">
            <a:spAutoFit/>
          </a:bodyPr>
          <a:lstStyle/>
          <a:p>
            <a:pPr marR="0" algn="l" rtl="0"/>
            <a:r>
              <a:rPr lang="en-US" sz="1100" b="1" i="0" u="none" strike="noStrike" baseline="0" dirty="0">
                <a:latin typeface="Century Gothic" panose="020B0502020202020204" pitchFamily="34" charset="0"/>
              </a:rPr>
              <a:t>Assumptions:</a:t>
            </a:r>
          </a:p>
          <a:p>
            <a:pPr marL="171450" marR="0" indent="-171450" algn="l" rtl="0">
              <a:buFont typeface="Arial" panose="020B0604020202020204" pitchFamily="34" charset="0"/>
              <a:buChar char="•"/>
            </a:pPr>
            <a:r>
              <a:rPr lang="en-US" sz="1100" b="0" i="0" u="none" strike="noStrike" baseline="0" dirty="0">
                <a:latin typeface="Century Gothic" panose="020B0502020202020204" pitchFamily="34" charset="0"/>
              </a:rPr>
              <a:t>Certificate List 1.0 is a different page than Certificates 3.0.</a:t>
            </a:r>
          </a:p>
          <a:p>
            <a:pPr marL="171450" marR="0" indent="-171450" algn="l" rtl="0">
              <a:buFont typeface="Arial" panose="020B0604020202020204" pitchFamily="34" charset="0"/>
              <a:buChar char="•"/>
            </a:pPr>
            <a:r>
              <a:rPr lang="en-US" sz="1100" b="0" i="0" u="none" strike="noStrike" baseline="0" dirty="0">
                <a:latin typeface="Century Gothic" panose="020B0502020202020204" pitchFamily="34" charset="0"/>
              </a:rPr>
              <a:t>Admin will have the ability to Add, Edit or Delete a Certificate, Company, Products,  Users, Certificate Type, Product Types and Tags. </a:t>
            </a:r>
          </a:p>
        </p:txBody>
      </p:sp>
      <p:sp>
        <p:nvSpPr>
          <p:cNvPr id="24" name="TextBox 23">
            <a:extLst>
              <a:ext uri="{FF2B5EF4-FFF2-40B4-BE49-F238E27FC236}">
                <a16:creationId xmlns:a16="http://schemas.microsoft.com/office/drawing/2014/main" id="{8AD6F484-B1DD-E163-3259-5895CE3F6EAE}"/>
              </a:ext>
            </a:extLst>
          </p:cNvPr>
          <p:cNvSpPr txBox="1"/>
          <p:nvPr/>
        </p:nvSpPr>
        <p:spPr>
          <a:xfrm>
            <a:off x="5252485" y="4569142"/>
            <a:ext cx="3427058" cy="1969770"/>
          </a:xfrm>
          <a:prstGeom prst="rect">
            <a:avLst/>
          </a:prstGeom>
          <a:solidFill>
            <a:schemeClr val="bg1"/>
          </a:solidFill>
        </p:spPr>
        <p:txBody>
          <a:bodyPr wrap="square">
            <a:spAutoFit/>
          </a:bodyPr>
          <a:lstStyle/>
          <a:p>
            <a:pPr marR="0" algn="l" rtl="0"/>
            <a:r>
              <a:rPr lang="en-US" sz="1100" b="1" i="0" u="none" strike="noStrike" baseline="0" dirty="0">
                <a:latin typeface="Century Gothic" panose="020B0502020202020204" pitchFamily="34" charset="0"/>
              </a:rPr>
              <a:t>Notes: </a:t>
            </a:r>
          </a:p>
          <a:p>
            <a:pPr marL="285750" marR="0" indent="-285750" algn="l" rtl="0">
              <a:buFont typeface="Arial" panose="020B0604020202020204" pitchFamily="34" charset="0"/>
              <a:buChar char="•"/>
            </a:pPr>
            <a:r>
              <a:rPr lang="en-US" sz="1100" b="0" i="0" u="none" strike="noStrike" baseline="0" dirty="0">
                <a:latin typeface="Century Gothic" panose="020B0502020202020204" pitchFamily="34" charset="0"/>
              </a:rPr>
              <a:t>CRUD: [Create, Read, Update, Delete] – Wireframes include the details of the screens.</a:t>
            </a:r>
          </a:p>
          <a:p>
            <a:pPr marL="285750" marR="0" indent="-285750" algn="l" rtl="0">
              <a:buFont typeface="Arial" panose="020B0604020202020204" pitchFamily="34" charset="0"/>
              <a:buChar char="•"/>
            </a:pPr>
            <a:r>
              <a:rPr lang="en-US" sz="1100" b="0" i="0" u="none" strike="noStrike" baseline="0" dirty="0">
                <a:latin typeface="Century Gothic" panose="020B0502020202020204" pitchFamily="34" charset="0"/>
              </a:rPr>
              <a:t>Notifications &amp; Alerts: Color-coded: Green for success, Red for errors, Yellow for warnings, Blue/gray for info)</a:t>
            </a:r>
          </a:p>
          <a:p>
            <a:pPr marL="285750" marR="0" indent="-285750" algn="l" rtl="0">
              <a:buFont typeface="Arial" panose="020B0604020202020204" pitchFamily="34" charset="0"/>
              <a:buChar char="•"/>
            </a:pPr>
            <a:r>
              <a:rPr lang="en-US" sz="1100" dirty="0">
                <a:latin typeface="Century Gothic" panose="020B0502020202020204" pitchFamily="34" charset="0"/>
              </a:rPr>
              <a:t>Sign-up Registration will be included but hidden and disabled for all users except the admin.</a:t>
            </a:r>
            <a:endParaRPr lang="en-US" sz="1100" b="0" i="0" u="none" strike="noStrike" baseline="0" dirty="0">
              <a:latin typeface="Century Gothic" panose="020B0502020202020204" pitchFamily="34" charset="0"/>
            </a:endParaRPr>
          </a:p>
          <a:p>
            <a:pPr marL="285750" marR="0" indent="-285750" algn="l" rtl="0">
              <a:buFont typeface="Arial" panose="020B0604020202020204" pitchFamily="34" charset="0"/>
              <a:buChar char="•"/>
            </a:pPr>
            <a:endParaRPr lang="en-US" sz="1200" dirty="0">
              <a:latin typeface="Century Gothic" panose="020B0502020202020204" pitchFamily="34" charset="0"/>
            </a:endParaRPr>
          </a:p>
        </p:txBody>
      </p:sp>
    </p:spTree>
    <p:extLst>
      <p:ext uri="{BB962C8B-B14F-4D97-AF65-F5344CB8AC3E}">
        <p14:creationId xmlns:p14="http://schemas.microsoft.com/office/powerpoint/2010/main" val="1482514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F7D71-E324-FA19-A0EE-B96ADA2579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A17F4E-A12C-847F-590F-C3022D2E2BDC}"/>
              </a:ext>
            </a:extLst>
          </p:cNvPr>
          <p:cNvSpPr>
            <a:spLocks noGrp="1"/>
          </p:cNvSpPr>
          <p:nvPr>
            <p:ph type="ctrTitle"/>
          </p:nvPr>
        </p:nvSpPr>
        <p:spPr>
          <a:xfrm>
            <a:off x="1524000" y="2351686"/>
            <a:ext cx="9144000" cy="2387600"/>
          </a:xfrm>
        </p:spPr>
        <p:txBody>
          <a:bodyPr/>
          <a:lstStyle/>
          <a:p>
            <a:r>
              <a:rPr lang="en-US"/>
              <a:t>User Stories</a:t>
            </a:r>
          </a:p>
        </p:txBody>
      </p:sp>
      <p:sp>
        <p:nvSpPr>
          <p:cNvPr id="3" name="Subtitle 2">
            <a:extLst>
              <a:ext uri="{FF2B5EF4-FFF2-40B4-BE49-F238E27FC236}">
                <a16:creationId xmlns:a16="http://schemas.microsoft.com/office/drawing/2014/main" id="{6495D67B-CE12-87AF-09DE-1B08F4A1517C}"/>
              </a:ext>
            </a:extLst>
          </p:cNvPr>
          <p:cNvSpPr>
            <a:spLocks noGrp="1"/>
          </p:cNvSpPr>
          <p:nvPr>
            <p:ph type="subTitle" idx="1"/>
          </p:nvPr>
        </p:nvSpPr>
        <p:spPr>
          <a:xfrm>
            <a:off x="1524000" y="4123037"/>
            <a:ext cx="9144000" cy="1655762"/>
          </a:xfrm>
        </p:spPr>
        <p:txBody>
          <a:bodyPr/>
          <a:lstStyle/>
          <a:p>
            <a:r>
              <a:rPr lang="en-US"/>
              <a:t> </a:t>
            </a:r>
          </a:p>
        </p:txBody>
      </p:sp>
      <p:sp>
        <p:nvSpPr>
          <p:cNvPr id="8" name="Date Placeholder 7">
            <a:extLst>
              <a:ext uri="{FF2B5EF4-FFF2-40B4-BE49-F238E27FC236}">
                <a16:creationId xmlns:a16="http://schemas.microsoft.com/office/drawing/2014/main" id="{EC4413B6-425E-4BE3-9EF4-82F7D3FC2A89}"/>
              </a:ext>
            </a:extLst>
          </p:cNvPr>
          <p:cNvSpPr>
            <a:spLocks noGrp="1"/>
          </p:cNvSpPr>
          <p:nvPr>
            <p:ph type="dt" sz="half" idx="10"/>
          </p:nvPr>
        </p:nvSpPr>
        <p:spPr/>
        <p:txBody>
          <a:bodyPr/>
          <a:lstStyle/>
          <a:p>
            <a:fld id="{5948895C-732D-4B88-B65C-5D83E3577007}" type="datetime1">
              <a:rPr lang="en-US" smtClean="0"/>
              <a:t>9/18/2025</a:t>
            </a:fld>
            <a:endParaRPr lang="en-US"/>
          </a:p>
        </p:txBody>
      </p:sp>
      <p:sp>
        <p:nvSpPr>
          <p:cNvPr id="9" name="Slide Number Placeholder 8">
            <a:extLst>
              <a:ext uri="{FF2B5EF4-FFF2-40B4-BE49-F238E27FC236}">
                <a16:creationId xmlns:a16="http://schemas.microsoft.com/office/drawing/2014/main" id="{6A79BD37-18B9-C71D-8CE5-CB96D3B5781B}"/>
              </a:ext>
            </a:extLst>
          </p:cNvPr>
          <p:cNvSpPr>
            <a:spLocks noGrp="1"/>
          </p:cNvSpPr>
          <p:nvPr>
            <p:ph type="sldNum" sz="quarter" idx="12"/>
          </p:nvPr>
        </p:nvSpPr>
        <p:spPr/>
        <p:txBody>
          <a:bodyPr/>
          <a:lstStyle/>
          <a:p>
            <a:fld id="{330EA680-D336-4FF7-8B7A-9848BB0A1C32}" type="slidenum">
              <a:rPr lang="en-US" smtClean="0"/>
              <a:t>3</a:t>
            </a:fld>
            <a:endParaRPr lang="en-US"/>
          </a:p>
        </p:txBody>
      </p:sp>
      <p:pic>
        <p:nvPicPr>
          <p:cNvPr id="10" name="Picture 9" descr="GreenCircle Certified">
            <a:extLst>
              <a:ext uri="{FF2B5EF4-FFF2-40B4-BE49-F238E27FC236}">
                <a16:creationId xmlns:a16="http://schemas.microsoft.com/office/drawing/2014/main" id="{303C2992-8F9E-BF56-E6C0-2A326826EF55}"/>
              </a:ext>
            </a:extLst>
          </p:cNvPr>
          <p:cNvPicPr>
            <a:picLocks noChangeAspect="1"/>
          </p:cNvPicPr>
          <p:nvPr/>
        </p:nvPicPr>
        <p:blipFill>
          <a:blip r:embed="rId2"/>
          <a:stretch>
            <a:fillRect/>
          </a:stretch>
        </p:blipFill>
        <p:spPr>
          <a:xfrm>
            <a:off x="4844495" y="1258786"/>
            <a:ext cx="2503009" cy="2400644"/>
          </a:xfrm>
          <a:prstGeom prst="rect">
            <a:avLst/>
          </a:prstGeom>
        </p:spPr>
      </p:pic>
    </p:spTree>
    <p:extLst>
      <p:ext uri="{BB962C8B-B14F-4D97-AF65-F5344CB8AC3E}">
        <p14:creationId xmlns:p14="http://schemas.microsoft.com/office/powerpoint/2010/main" val="2192276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36374-B8A5-5DC4-DFFA-0DE84C0CF22B}"/>
              </a:ext>
            </a:extLst>
          </p:cNvPr>
          <p:cNvSpPr>
            <a:spLocks noGrp="1"/>
          </p:cNvSpPr>
          <p:nvPr>
            <p:ph type="title"/>
          </p:nvPr>
        </p:nvSpPr>
        <p:spPr>
          <a:xfrm>
            <a:off x="598503" y="193906"/>
            <a:ext cx="10515600" cy="487131"/>
          </a:xfrm>
        </p:spPr>
        <p:txBody>
          <a:bodyPr>
            <a:normAutofit/>
          </a:bodyPr>
          <a:lstStyle/>
          <a:p>
            <a:r>
              <a:rPr lang="en-US" sz="2800" dirty="0"/>
              <a:t>GCC: User Roles</a:t>
            </a:r>
          </a:p>
        </p:txBody>
      </p:sp>
      <p:sp>
        <p:nvSpPr>
          <p:cNvPr id="6" name="Date Placeholder 5">
            <a:extLst>
              <a:ext uri="{FF2B5EF4-FFF2-40B4-BE49-F238E27FC236}">
                <a16:creationId xmlns:a16="http://schemas.microsoft.com/office/drawing/2014/main" id="{CC603D41-1D07-44B8-98B8-1D2FAF9B2D29}"/>
              </a:ext>
            </a:extLst>
          </p:cNvPr>
          <p:cNvSpPr>
            <a:spLocks noGrp="1"/>
          </p:cNvSpPr>
          <p:nvPr>
            <p:ph type="dt" sz="half" idx="10"/>
          </p:nvPr>
        </p:nvSpPr>
        <p:spPr>
          <a:xfrm>
            <a:off x="838200" y="6356350"/>
            <a:ext cx="2743200" cy="365125"/>
          </a:xfrm>
        </p:spPr>
        <p:txBody>
          <a:bodyPr anchor="ctr">
            <a:normAutofit/>
          </a:bodyPr>
          <a:lstStyle/>
          <a:p>
            <a:pPr>
              <a:spcAft>
                <a:spcPts val="600"/>
              </a:spcAft>
            </a:pPr>
            <a:fld id="{9C14022A-3C70-4A2F-B612-DD3206EDC051}" type="datetime1">
              <a:rPr lang="en-US" smtClean="0"/>
              <a:pPr>
                <a:spcAft>
                  <a:spcPts val="600"/>
                </a:spcAft>
              </a:pPr>
              <a:t>9/18/2025</a:t>
            </a:fld>
            <a:endParaRPr lang="en-US"/>
          </a:p>
        </p:txBody>
      </p:sp>
      <p:sp>
        <p:nvSpPr>
          <p:cNvPr id="7" name="Slide Number Placeholder 6">
            <a:extLst>
              <a:ext uri="{FF2B5EF4-FFF2-40B4-BE49-F238E27FC236}">
                <a16:creationId xmlns:a16="http://schemas.microsoft.com/office/drawing/2014/main" id="{5C1383DD-AB33-75C0-D989-99C89E3BB60B}"/>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a:t>
            </a:fld>
            <a:endParaRPr lang="en-US"/>
          </a:p>
        </p:txBody>
      </p:sp>
      <p:grpSp>
        <p:nvGrpSpPr>
          <p:cNvPr id="5" name="Group 4">
            <a:extLst>
              <a:ext uri="{FF2B5EF4-FFF2-40B4-BE49-F238E27FC236}">
                <a16:creationId xmlns:a16="http://schemas.microsoft.com/office/drawing/2014/main" id="{B5A7A362-CBF9-21D4-D089-F627C7F69B23}"/>
              </a:ext>
            </a:extLst>
          </p:cNvPr>
          <p:cNvGrpSpPr/>
          <p:nvPr/>
        </p:nvGrpSpPr>
        <p:grpSpPr>
          <a:xfrm>
            <a:off x="874018" y="772931"/>
            <a:ext cx="10387549" cy="5452534"/>
            <a:chOff x="621346" y="772930"/>
            <a:chExt cx="10719104" cy="5626571"/>
          </a:xfrm>
        </p:grpSpPr>
        <p:pic>
          <p:nvPicPr>
            <p:cNvPr id="4" name="Picture 3">
              <a:extLst>
                <a:ext uri="{FF2B5EF4-FFF2-40B4-BE49-F238E27FC236}">
                  <a16:creationId xmlns:a16="http://schemas.microsoft.com/office/drawing/2014/main" id="{6AD8C2DA-F61C-7485-F372-3BB7A9B04FF4}"/>
                </a:ext>
              </a:extLst>
            </p:cNvPr>
            <p:cNvPicPr>
              <a:picLocks noChangeAspect="1"/>
            </p:cNvPicPr>
            <p:nvPr/>
          </p:nvPicPr>
          <p:blipFill>
            <a:blip r:embed="rId3"/>
            <a:srcRect l="1" t="14671" r="-2" b="7121"/>
            <a:stretch/>
          </p:blipFill>
          <p:spPr>
            <a:xfrm>
              <a:off x="621346" y="1704923"/>
              <a:ext cx="10719104" cy="4694578"/>
            </a:xfrm>
            <a:prstGeom prst="rect">
              <a:avLst/>
            </a:prstGeom>
            <a:noFill/>
          </p:spPr>
        </p:pic>
        <p:pic>
          <p:nvPicPr>
            <p:cNvPr id="3" name="Picture 2">
              <a:extLst>
                <a:ext uri="{FF2B5EF4-FFF2-40B4-BE49-F238E27FC236}">
                  <a16:creationId xmlns:a16="http://schemas.microsoft.com/office/drawing/2014/main" id="{CA768D09-C2D9-CEFE-1E54-F38C2BDCDD3F}"/>
                </a:ext>
              </a:extLst>
            </p:cNvPr>
            <p:cNvPicPr>
              <a:picLocks noChangeAspect="1"/>
            </p:cNvPicPr>
            <p:nvPr/>
          </p:nvPicPr>
          <p:blipFill>
            <a:blip r:embed="rId4"/>
            <a:srcRect b="83911"/>
            <a:stretch/>
          </p:blipFill>
          <p:spPr>
            <a:xfrm>
              <a:off x="659218" y="772930"/>
              <a:ext cx="10674032" cy="872989"/>
            </a:xfrm>
            <a:prstGeom prst="rect">
              <a:avLst/>
            </a:prstGeom>
          </p:spPr>
        </p:pic>
      </p:grpSp>
    </p:spTree>
    <p:extLst>
      <p:ext uri="{BB962C8B-B14F-4D97-AF65-F5344CB8AC3E}">
        <p14:creationId xmlns:p14="http://schemas.microsoft.com/office/powerpoint/2010/main" val="37462376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CD9DF-77D9-154A-933C-8F26A1E5049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A6D7BE7-D40B-8DCB-C605-F726658A3CC6}"/>
              </a:ext>
            </a:extLst>
          </p:cNvPr>
          <p:cNvSpPr>
            <a:spLocks noGrp="1"/>
          </p:cNvSpPr>
          <p:nvPr>
            <p:ph sz="half" idx="1"/>
          </p:nvPr>
        </p:nvSpPr>
        <p:spPr>
          <a:xfrm>
            <a:off x="598504" y="782425"/>
            <a:ext cx="10874026" cy="5394538"/>
          </a:xfrm>
        </p:spPr>
        <p:txBody>
          <a:bodyPr>
            <a:normAutofit/>
          </a:bodyPr>
          <a:lstStyle/>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Access &amp; Visibility</a:t>
            </a:r>
          </a:p>
          <a:p>
            <a:pPr marL="342900" marR="0" lvl="0" indent="-342900">
              <a:lnSpc>
                <a:spcPct val="107000"/>
              </a:lnSpc>
              <a:spcBef>
                <a:spcPts val="600"/>
              </a:spcBef>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browse publicly available active certifications so that I can verify product compliance.</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access certifications without needing to log in so that I can quickly find information.</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view only non-confidential certifications so that I do not access restricted data.</a:t>
            </a:r>
            <a:endParaRPr lang="en-US" sz="16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Search &amp; Filtering</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search for certifications by </a:t>
            </a:r>
            <a:r>
              <a:rPr lang="en-AU" sz="1600" b="1" strike="sngStrike" dirty="0">
                <a:solidFill>
                  <a:srgbClr val="C00000"/>
                </a:solidFill>
                <a:effectLst/>
                <a:latin typeface="Arial" panose="020B0604020202020204" pitchFamily="34" charset="0"/>
                <a:ea typeface="Calibri" panose="020F0502020204030204" pitchFamily="34" charset="0"/>
              </a:rPr>
              <a:t>certificate number</a:t>
            </a:r>
            <a:r>
              <a:rPr lang="en-AU" sz="1600" dirty="0">
                <a:effectLst/>
                <a:latin typeface="Arial" panose="020B0604020202020204" pitchFamily="34" charset="0"/>
                <a:ea typeface="Calibri" panose="020F0502020204030204" pitchFamily="34" charset="0"/>
              </a:rPr>
              <a:t>, Certification Type, </a:t>
            </a:r>
            <a:r>
              <a:rPr lang="en-AU" sz="1600" b="1" dirty="0">
                <a:solidFill>
                  <a:srgbClr val="00B050"/>
                </a:solidFill>
                <a:effectLst/>
                <a:latin typeface="Arial" panose="020B0604020202020204" pitchFamily="34" charset="0"/>
                <a:ea typeface="Calibri" panose="020F0502020204030204" pitchFamily="34" charset="0"/>
              </a:rPr>
              <a:t>Product Categories</a:t>
            </a:r>
            <a:r>
              <a:rPr lang="en-AU" sz="1600" dirty="0">
                <a:effectLst/>
                <a:latin typeface="Arial" panose="020B0604020202020204" pitchFamily="34" charset="0"/>
                <a:ea typeface="Calibri" panose="020F0502020204030204" pitchFamily="34" charset="0"/>
              </a:rPr>
              <a:t>, Company, Country or </a:t>
            </a:r>
            <a:r>
              <a:rPr lang="en-AU" sz="1600" b="1" dirty="0">
                <a:solidFill>
                  <a:srgbClr val="00B050"/>
                </a:solidFill>
                <a:effectLst/>
                <a:latin typeface="Arial" panose="020B0604020202020204" pitchFamily="34" charset="0"/>
                <a:ea typeface="Calibri" panose="020F0502020204030204" pitchFamily="34" charset="0"/>
              </a:rPr>
              <a:t>Tags</a:t>
            </a:r>
            <a:r>
              <a:rPr lang="en-AU" sz="1600" dirty="0">
                <a:effectLst/>
                <a:latin typeface="Arial" panose="020B0604020202020204" pitchFamily="34" charset="0"/>
                <a:ea typeface="Calibri" panose="020F0502020204030204" pitchFamily="34" charset="0"/>
              </a:rPr>
              <a:t> so that I can verify compliance.</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filter certifications by </a:t>
            </a:r>
            <a:r>
              <a:rPr lang="en-AU" sz="1600" b="1" dirty="0">
                <a:effectLst/>
                <a:latin typeface="Arial" panose="020B0604020202020204" pitchFamily="34" charset="0"/>
                <a:ea typeface="Calibri" panose="020F0502020204030204" pitchFamily="34" charset="0"/>
              </a:rPr>
              <a:t>product, product type</a:t>
            </a:r>
            <a:r>
              <a:rPr lang="en-AU" sz="1600" b="1" dirty="0">
                <a:latin typeface="Arial" panose="020B0604020202020204" pitchFamily="34" charset="0"/>
                <a:ea typeface="Calibri" panose="020F0502020204030204" pitchFamily="34" charset="0"/>
              </a:rPr>
              <a:t> </a:t>
            </a:r>
            <a:r>
              <a:rPr lang="en-AU" sz="1600" b="1" dirty="0">
                <a:effectLst/>
                <a:latin typeface="Arial" panose="020B0604020202020204" pitchFamily="34" charset="0"/>
                <a:ea typeface="Calibri" panose="020F0502020204030204" pitchFamily="34" charset="0"/>
              </a:rPr>
              <a:t>/ category, and product subcategory </a:t>
            </a:r>
            <a:r>
              <a:rPr lang="en-AU" sz="1600" dirty="0">
                <a:effectLst/>
                <a:latin typeface="Arial" panose="020B0604020202020204" pitchFamily="34" charset="0"/>
                <a:ea typeface="Calibri" panose="020F0502020204030204" pitchFamily="34" charset="0"/>
              </a:rPr>
              <a:t>so that I can narrow my search. Product Categories is the only section that has multiple levels.</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see the most recently issued certifications and those with upcoming expiration dates.</a:t>
            </a:r>
            <a:endParaRPr lang="en-US" sz="1600" b="1" dirty="0">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Viewing &amp; Downloading Certifications</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view details of a certification so that I can verify product compliance.</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a:t>
            </a:r>
            <a:r>
              <a:rPr lang="en-AU" sz="1600" dirty="0">
                <a:latin typeface="Arial" panose="020B0604020202020204" pitchFamily="34" charset="0"/>
                <a:ea typeface="Calibri" panose="020F0502020204030204" pitchFamily="34" charset="0"/>
              </a:rPr>
              <a:t> view and</a:t>
            </a:r>
            <a:r>
              <a:rPr lang="en-AU" sz="1600" dirty="0">
                <a:effectLst/>
                <a:latin typeface="Arial" panose="020B0604020202020204" pitchFamily="34" charset="0"/>
                <a:ea typeface="Calibri" panose="020F0502020204030204" pitchFamily="34" charset="0"/>
              </a:rPr>
              <a:t> download single certifications so that I can reference them offline.</a:t>
            </a:r>
            <a:endParaRPr lang="en-US" sz="1600" dirty="0">
              <a:effectLst/>
              <a:latin typeface="Arial" panose="020B0604020202020204" pitchFamily="34" charset="0"/>
              <a:ea typeface="Calibri" panose="020F0502020204030204" pitchFamily="34" charset="0"/>
            </a:endParaRPr>
          </a:p>
        </p:txBody>
      </p:sp>
      <p:sp>
        <p:nvSpPr>
          <p:cNvPr id="4" name="Date Placeholder 3">
            <a:extLst>
              <a:ext uri="{FF2B5EF4-FFF2-40B4-BE49-F238E27FC236}">
                <a16:creationId xmlns:a16="http://schemas.microsoft.com/office/drawing/2014/main" id="{BACB20B2-CB92-0086-C103-CE8986B6CECE}"/>
              </a:ext>
            </a:extLst>
          </p:cNvPr>
          <p:cNvSpPr>
            <a:spLocks noGrp="1"/>
          </p:cNvSpPr>
          <p:nvPr>
            <p:ph type="dt" sz="half" idx="10"/>
          </p:nvPr>
        </p:nvSpPr>
        <p:spPr/>
        <p:txBody>
          <a:bodyPr/>
          <a:lstStyle/>
          <a:p>
            <a:fld id="{F0056A89-B657-4E56-81EA-47AEC42B3D30}" type="datetime1">
              <a:rPr lang="en-US" smtClean="0"/>
              <a:t>9/18/2025</a:t>
            </a:fld>
            <a:endParaRPr lang="en-US"/>
          </a:p>
        </p:txBody>
      </p:sp>
      <p:sp>
        <p:nvSpPr>
          <p:cNvPr id="5" name="Slide Number Placeholder 4">
            <a:extLst>
              <a:ext uri="{FF2B5EF4-FFF2-40B4-BE49-F238E27FC236}">
                <a16:creationId xmlns:a16="http://schemas.microsoft.com/office/drawing/2014/main" id="{1B0AD111-BAB9-99FF-C1FA-3C9AD5238CAD}"/>
              </a:ext>
            </a:extLst>
          </p:cNvPr>
          <p:cNvSpPr>
            <a:spLocks noGrp="1"/>
          </p:cNvSpPr>
          <p:nvPr>
            <p:ph type="sldNum" sz="quarter" idx="12"/>
          </p:nvPr>
        </p:nvSpPr>
        <p:spPr/>
        <p:txBody>
          <a:bodyPr/>
          <a:lstStyle/>
          <a:p>
            <a:fld id="{330EA680-D336-4FF7-8B7A-9848BB0A1C32}" type="slidenum">
              <a:rPr lang="en-US" smtClean="0"/>
              <a:t>5</a:t>
            </a:fld>
            <a:endParaRPr lang="en-US" dirty="0"/>
          </a:p>
        </p:txBody>
      </p:sp>
      <p:sp>
        <p:nvSpPr>
          <p:cNvPr id="6" name="Title 5">
            <a:extLst>
              <a:ext uri="{FF2B5EF4-FFF2-40B4-BE49-F238E27FC236}">
                <a16:creationId xmlns:a16="http://schemas.microsoft.com/office/drawing/2014/main" id="{1454101A-9834-E0FF-B646-3EA9B7A6CEF8}"/>
              </a:ext>
            </a:extLst>
          </p:cNvPr>
          <p:cNvSpPr>
            <a:spLocks noGrp="1"/>
          </p:cNvSpPr>
          <p:nvPr>
            <p:ph type="title"/>
          </p:nvPr>
        </p:nvSpPr>
        <p:spPr/>
        <p:txBody>
          <a:bodyPr/>
          <a:lstStyle/>
          <a:p>
            <a:r>
              <a:rPr lang="en-US" sz="2800"/>
              <a:t>User Stories – Public User</a:t>
            </a:r>
          </a:p>
        </p:txBody>
      </p:sp>
    </p:spTree>
    <p:extLst>
      <p:ext uri="{BB962C8B-B14F-4D97-AF65-F5344CB8AC3E}">
        <p14:creationId xmlns:p14="http://schemas.microsoft.com/office/powerpoint/2010/main" val="2383232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20C37-076F-917E-ECE0-570A40FCE9B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4F1EC3-5BC4-1AEE-5EB9-1E07300BC4EA}"/>
              </a:ext>
            </a:extLst>
          </p:cNvPr>
          <p:cNvSpPr>
            <a:spLocks noGrp="1"/>
          </p:cNvSpPr>
          <p:nvPr>
            <p:ph sz="half" idx="1"/>
          </p:nvPr>
        </p:nvSpPr>
        <p:spPr>
          <a:xfrm>
            <a:off x="598504" y="782425"/>
            <a:ext cx="10874026" cy="5394538"/>
          </a:xfrm>
        </p:spPr>
        <p:txBody>
          <a:bodyPr>
            <a:normAutofit/>
          </a:bodyPr>
          <a:lstStyle/>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Tagging &amp; Classification</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see tags assigned to certifications so that I can understand additional certification classifications.</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search for certifications by tag so that I can find related certificates.</a:t>
            </a:r>
            <a:endParaRPr lang="en-US" sz="16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endParaRPr lang="en-US" sz="1600" b="1"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Data Access &amp; Security</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spcAft>
                <a:spcPts val="1400"/>
              </a:spcAft>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access only publicly available information so that confidential data remains protected.</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endParaRPr lang="en-US" sz="1600" dirty="0">
              <a:effectLst/>
              <a:latin typeface="Arial" panose="020B0604020202020204" pitchFamily="34" charset="0"/>
              <a:ea typeface="Calibri" panose="020F0502020204030204" pitchFamily="34" charset="0"/>
            </a:endParaRPr>
          </a:p>
        </p:txBody>
      </p:sp>
      <p:sp>
        <p:nvSpPr>
          <p:cNvPr id="4" name="Date Placeholder 3">
            <a:extLst>
              <a:ext uri="{FF2B5EF4-FFF2-40B4-BE49-F238E27FC236}">
                <a16:creationId xmlns:a16="http://schemas.microsoft.com/office/drawing/2014/main" id="{20BE3E93-EB52-3C81-4164-BC15C3F7C5CF}"/>
              </a:ext>
            </a:extLst>
          </p:cNvPr>
          <p:cNvSpPr>
            <a:spLocks noGrp="1"/>
          </p:cNvSpPr>
          <p:nvPr>
            <p:ph type="dt" sz="half" idx="10"/>
          </p:nvPr>
        </p:nvSpPr>
        <p:spPr/>
        <p:txBody>
          <a:bodyPr/>
          <a:lstStyle/>
          <a:p>
            <a:fld id="{F0056A89-B657-4E56-81EA-47AEC42B3D30}" type="datetime1">
              <a:rPr lang="en-US" smtClean="0"/>
              <a:t>9/18/2025</a:t>
            </a:fld>
            <a:endParaRPr lang="en-US"/>
          </a:p>
        </p:txBody>
      </p:sp>
      <p:sp>
        <p:nvSpPr>
          <p:cNvPr id="5" name="Slide Number Placeholder 4">
            <a:extLst>
              <a:ext uri="{FF2B5EF4-FFF2-40B4-BE49-F238E27FC236}">
                <a16:creationId xmlns:a16="http://schemas.microsoft.com/office/drawing/2014/main" id="{05647AD1-9872-D34A-3B15-78C198C6D8C5}"/>
              </a:ext>
            </a:extLst>
          </p:cNvPr>
          <p:cNvSpPr>
            <a:spLocks noGrp="1"/>
          </p:cNvSpPr>
          <p:nvPr>
            <p:ph type="sldNum" sz="quarter" idx="12"/>
          </p:nvPr>
        </p:nvSpPr>
        <p:spPr/>
        <p:txBody>
          <a:bodyPr/>
          <a:lstStyle/>
          <a:p>
            <a:fld id="{330EA680-D336-4FF7-8B7A-9848BB0A1C32}" type="slidenum">
              <a:rPr lang="en-US" smtClean="0"/>
              <a:t>6</a:t>
            </a:fld>
            <a:endParaRPr lang="en-US"/>
          </a:p>
        </p:txBody>
      </p:sp>
      <p:sp>
        <p:nvSpPr>
          <p:cNvPr id="6" name="Title 5">
            <a:extLst>
              <a:ext uri="{FF2B5EF4-FFF2-40B4-BE49-F238E27FC236}">
                <a16:creationId xmlns:a16="http://schemas.microsoft.com/office/drawing/2014/main" id="{D1FF4230-1973-92CC-7C4F-1AB6314DA657}"/>
              </a:ext>
            </a:extLst>
          </p:cNvPr>
          <p:cNvSpPr>
            <a:spLocks noGrp="1"/>
          </p:cNvSpPr>
          <p:nvPr>
            <p:ph type="title"/>
          </p:nvPr>
        </p:nvSpPr>
        <p:spPr/>
        <p:txBody>
          <a:bodyPr/>
          <a:lstStyle/>
          <a:p>
            <a:r>
              <a:rPr lang="en-US" sz="2800"/>
              <a:t>User Stories – Public User</a:t>
            </a:r>
          </a:p>
        </p:txBody>
      </p:sp>
    </p:spTree>
    <p:extLst>
      <p:ext uri="{BB962C8B-B14F-4D97-AF65-F5344CB8AC3E}">
        <p14:creationId xmlns:p14="http://schemas.microsoft.com/office/powerpoint/2010/main" val="4252886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71AAB-E966-05F3-12B5-1DE9393A073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278B6C-8D4D-02BA-D79F-E94EA2B0E734}"/>
              </a:ext>
            </a:extLst>
          </p:cNvPr>
          <p:cNvSpPr>
            <a:spLocks noGrp="1"/>
          </p:cNvSpPr>
          <p:nvPr>
            <p:ph sz="half" idx="1"/>
          </p:nvPr>
        </p:nvSpPr>
        <p:spPr>
          <a:xfrm>
            <a:off x="598504" y="782425"/>
            <a:ext cx="10874026" cy="5394538"/>
          </a:xfrm>
        </p:spPr>
        <p:txBody>
          <a:bodyPr>
            <a:normAutofit lnSpcReduction="10000"/>
          </a:bodyPr>
          <a:lstStyle/>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Access &amp; Visibility</a:t>
            </a:r>
          </a:p>
          <a:p>
            <a:pPr marL="342900" marR="0" lvl="0" indent="-342900">
              <a:lnSpc>
                <a:spcPct val="107000"/>
              </a:lnSpc>
              <a:spcBef>
                <a:spcPts val="600"/>
              </a:spcBef>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log in securely so that I can access my company's certification data.</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see all certifications related to my company so that I can track compliance.</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ensure that I cannot see certifications from other companies so that my access is restricted to my organization.</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my permissions to be pre-defined by an admin so that I only access the relevant data.</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be able to filter my certifications based on status (active, expired, pending) so that I can quickly find relevant information.</a:t>
            </a:r>
            <a:endParaRPr lang="en-US" sz="14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Search &amp; Filtering</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search for certifications within my company so that I can locate specific records.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filter certifications by type, category, and subcategory so that I can narrow down the results.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sort certifications by expiration date so that I can prioritize renewals.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search certifications by product name so that I can verify specific items.</a:t>
            </a:r>
          </a:p>
          <a:p>
            <a:pPr marL="342900" marR="0" lvl="0" indent="-342900">
              <a:lnSpc>
                <a:spcPct val="107000"/>
              </a:lnSpc>
              <a:buClr>
                <a:srgbClr val="0481B6"/>
              </a:buClr>
              <a:buSzPts val="1400"/>
              <a:buFont typeface="Wingdings" panose="05000000000000000000" pitchFamily="2" charset="2"/>
              <a:buChar char=""/>
            </a:pPr>
            <a:r>
              <a:rPr lang="en-AU" sz="1400" dirty="0">
                <a:latin typeface="Arial" panose="020B0604020202020204" pitchFamily="34" charset="0"/>
                <a:ea typeface="Calibri" panose="020F0502020204030204" pitchFamily="34" charset="0"/>
              </a:rPr>
              <a:t>As an external user, I want to filter by location, tags, and other available filter options based on their intended search purpose. </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export my company's certification data into Excel so that I can use it for reporting and documentation. purposes.</a:t>
            </a:r>
            <a:endParaRPr lang="en-US" sz="1400" dirty="0">
              <a:effectLst/>
              <a:latin typeface="Arial" panose="020B0604020202020204" pitchFamily="34" charset="0"/>
              <a:ea typeface="Calibri" panose="020F0502020204030204" pitchFamily="34" charset="0"/>
            </a:endParaRPr>
          </a:p>
          <a:p>
            <a:endParaRPr lang="en-US" sz="1400" dirty="0"/>
          </a:p>
        </p:txBody>
      </p:sp>
      <p:sp>
        <p:nvSpPr>
          <p:cNvPr id="4" name="Date Placeholder 3">
            <a:extLst>
              <a:ext uri="{FF2B5EF4-FFF2-40B4-BE49-F238E27FC236}">
                <a16:creationId xmlns:a16="http://schemas.microsoft.com/office/drawing/2014/main" id="{9AA47E39-7A8E-343D-DDA7-E63EA9157D49}"/>
              </a:ext>
            </a:extLst>
          </p:cNvPr>
          <p:cNvSpPr>
            <a:spLocks noGrp="1"/>
          </p:cNvSpPr>
          <p:nvPr>
            <p:ph type="dt" sz="half" idx="10"/>
          </p:nvPr>
        </p:nvSpPr>
        <p:spPr/>
        <p:txBody>
          <a:bodyPr/>
          <a:lstStyle/>
          <a:p>
            <a:fld id="{F0056A89-B657-4E56-81EA-47AEC42B3D30}" type="datetime1">
              <a:rPr lang="en-US" smtClean="0"/>
              <a:t>9/18/2025</a:t>
            </a:fld>
            <a:endParaRPr lang="en-US"/>
          </a:p>
        </p:txBody>
      </p:sp>
      <p:sp>
        <p:nvSpPr>
          <p:cNvPr id="5" name="Slide Number Placeholder 4">
            <a:extLst>
              <a:ext uri="{FF2B5EF4-FFF2-40B4-BE49-F238E27FC236}">
                <a16:creationId xmlns:a16="http://schemas.microsoft.com/office/drawing/2014/main" id="{135E0214-2322-0B49-40B6-B92BFF397CC1}"/>
              </a:ext>
            </a:extLst>
          </p:cNvPr>
          <p:cNvSpPr>
            <a:spLocks noGrp="1"/>
          </p:cNvSpPr>
          <p:nvPr>
            <p:ph type="sldNum" sz="quarter" idx="12"/>
          </p:nvPr>
        </p:nvSpPr>
        <p:spPr/>
        <p:txBody>
          <a:bodyPr/>
          <a:lstStyle/>
          <a:p>
            <a:fld id="{330EA680-D336-4FF7-8B7A-9848BB0A1C32}" type="slidenum">
              <a:rPr lang="en-US" smtClean="0"/>
              <a:t>7</a:t>
            </a:fld>
            <a:endParaRPr lang="en-US"/>
          </a:p>
        </p:txBody>
      </p:sp>
      <p:sp>
        <p:nvSpPr>
          <p:cNvPr id="6" name="Title 5">
            <a:extLst>
              <a:ext uri="{FF2B5EF4-FFF2-40B4-BE49-F238E27FC236}">
                <a16:creationId xmlns:a16="http://schemas.microsoft.com/office/drawing/2014/main" id="{FADE94E8-1645-6359-4F4B-46E9D365C282}"/>
              </a:ext>
            </a:extLst>
          </p:cNvPr>
          <p:cNvSpPr>
            <a:spLocks noGrp="1"/>
          </p:cNvSpPr>
          <p:nvPr>
            <p:ph type="title"/>
          </p:nvPr>
        </p:nvSpPr>
        <p:spPr/>
        <p:txBody>
          <a:bodyPr/>
          <a:lstStyle/>
          <a:p>
            <a:r>
              <a:rPr lang="en-US" sz="2800" dirty="0"/>
              <a:t>User Stories – External User (Client)</a:t>
            </a:r>
          </a:p>
        </p:txBody>
      </p:sp>
    </p:spTree>
    <p:extLst>
      <p:ext uri="{BB962C8B-B14F-4D97-AF65-F5344CB8AC3E}">
        <p14:creationId xmlns:p14="http://schemas.microsoft.com/office/powerpoint/2010/main" val="34572844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0C1C2-CE0B-0391-10B5-3ED889DBAF7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AABAA6E-0BAA-4F2E-34AE-B10B4779CBF5}"/>
              </a:ext>
            </a:extLst>
          </p:cNvPr>
          <p:cNvSpPr>
            <a:spLocks noGrp="1"/>
          </p:cNvSpPr>
          <p:nvPr>
            <p:ph sz="half" idx="1"/>
          </p:nvPr>
        </p:nvSpPr>
        <p:spPr>
          <a:xfrm>
            <a:off x="598504" y="782425"/>
            <a:ext cx="11192902" cy="5394538"/>
          </a:xfrm>
        </p:spPr>
        <p:txBody>
          <a:bodyPr>
            <a:noAutofit/>
          </a:bodyPr>
          <a:lstStyle/>
          <a:p>
            <a:pPr marL="0" marR="0" lvl="0" indent="0">
              <a:lnSpc>
                <a:spcPct val="107000"/>
              </a:lnSpc>
              <a:buClr>
                <a:srgbClr val="0481B6"/>
              </a:buClr>
              <a:buSzPts val="1400"/>
              <a:buNone/>
            </a:pPr>
            <a:r>
              <a:rPr lang="en-US" sz="1300" b="1" dirty="0">
                <a:effectLst/>
                <a:latin typeface="Arial" panose="020B0604020202020204" pitchFamily="34" charset="0"/>
                <a:ea typeface="Calibri" panose="020F0502020204030204" pitchFamily="34" charset="0"/>
              </a:rPr>
              <a:t>Viewing &amp; Downloading Certifications</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view details of each certification so that I can verify product compliance.</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download certificates in multi-select format so that I can share them with my stakeholders.</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check the expiration date of a certification so that I can ensure timely renewals.</a:t>
            </a:r>
            <a:endParaRPr lang="en-US" sz="13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300" b="1" dirty="0">
                <a:effectLst/>
                <a:latin typeface="Arial" panose="020B0604020202020204" pitchFamily="34" charset="0"/>
                <a:ea typeface="Calibri" panose="020F0502020204030204" pitchFamily="34" charset="0"/>
              </a:rPr>
              <a:t>Tagging &amp; Classification</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see assigned tags on certifications so that I can categorize data effectively.</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filter certifications based on assigned tags so that I can group relevant products together.</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view which products are associated with a specific certification so that I can understand product compliance.</a:t>
            </a:r>
            <a:endParaRPr lang="en-US" sz="13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300" b="1" dirty="0">
                <a:effectLst/>
                <a:latin typeface="Arial" panose="020B0604020202020204" pitchFamily="34" charset="0"/>
                <a:ea typeface="Calibri" panose="020F0502020204030204" pitchFamily="34" charset="0"/>
              </a:rPr>
              <a:t>Data Access &amp; Security</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my access restricted to only my company's data so that I do not see competitors' certifications.</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log out securely so that I can prevent unauthorized access to my account.</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my account to be managed by an admin so that permissions are properly controlled.</a:t>
            </a:r>
            <a:endParaRPr lang="en-US" sz="13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endParaRPr lang="en-US" sz="1300" dirty="0">
              <a:effectLst/>
              <a:latin typeface="Arial" panose="020B0604020202020204" pitchFamily="34" charset="0"/>
              <a:ea typeface="Calibri" panose="020F0502020204030204" pitchFamily="34" charset="0"/>
            </a:endParaRPr>
          </a:p>
        </p:txBody>
      </p:sp>
      <p:sp>
        <p:nvSpPr>
          <p:cNvPr id="4" name="Date Placeholder 3">
            <a:extLst>
              <a:ext uri="{FF2B5EF4-FFF2-40B4-BE49-F238E27FC236}">
                <a16:creationId xmlns:a16="http://schemas.microsoft.com/office/drawing/2014/main" id="{D367DDA7-4610-6FFD-539B-F1A2EBAB8099}"/>
              </a:ext>
            </a:extLst>
          </p:cNvPr>
          <p:cNvSpPr>
            <a:spLocks noGrp="1"/>
          </p:cNvSpPr>
          <p:nvPr>
            <p:ph type="dt" sz="half" idx="10"/>
          </p:nvPr>
        </p:nvSpPr>
        <p:spPr/>
        <p:txBody>
          <a:bodyPr/>
          <a:lstStyle/>
          <a:p>
            <a:fld id="{F0056A89-B657-4E56-81EA-47AEC42B3D30}" type="datetime1">
              <a:rPr lang="en-US" smtClean="0"/>
              <a:t>9/18/2025</a:t>
            </a:fld>
            <a:endParaRPr lang="en-US"/>
          </a:p>
        </p:txBody>
      </p:sp>
      <p:sp>
        <p:nvSpPr>
          <p:cNvPr id="5" name="Slide Number Placeholder 4">
            <a:extLst>
              <a:ext uri="{FF2B5EF4-FFF2-40B4-BE49-F238E27FC236}">
                <a16:creationId xmlns:a16="http://schemas.microsoft.com/office/drawing/2014/main" id="{8FFF1D94-0171-65B1-9464-46864DFB275A}"/>
              </a:ext>
            </a:extLst>
          </p:cNvPr>
          <p:cNvSpPr>
            <a:spLocks noGrp="1"/>
          </p:cNvSpPr>
          <p:nvPr>
            <p:ph type="sldNum" sz="quarter" idx="12"/>
          </p:nvPr>
        </p:nvSpPr>
        <p:spPr/>
        <p:txBody>
          <a:bodyPr/>
          <a:lstStyle/>
          <a:p>
            <a:fld id="{330EA680-D336-4FF7-8B7A-9848BB0A1C32}" type="slidenum">
              <a:rPr lang="en-US" smtClean="0"/>
              <a:t>8</a:t>
            </a:fld>
            <a:endParaRPr lang="en-US"/>
          </a:p>
        </p:txBody>
      </p:sp>
      <p:sp>
        <p:nvSpPr>
          <p:cNvPr id="6" name="Title 5">
            <a:extLst>
              <a:ext uri="{FF2B5EF4-FFF2-40B4-BE49-F238E27FC236}">
                <a16:creationId xmlns:a16="http://schemas.microsoft.com/office/drawing/2014/main" id="{30D14B2B-0E3F-BBE3-6938-9D88EC537E8A}"/>
              </a:ext>
            </a:extLst>
          </p:cNvPr>
          <p:cNvSpPr>
            <a:spLocks noGrp="1"/>
          </p:cNvSpPr>
          <p:nvPr>
            <p:ph type="title"/>
          </p:nvPr>
        </p:nvSpPr>
        <p:spPr/>
        <p:txBody>
          <a:bodyPr/>
          <a:lstStyle/>
          <a:p>
            <a:r>
              <a:rPr lang="en-US" sz="2800" dirty="0"/>
              <a:t>User Stories – External User (Client)</a:t>
            </a:r>
          </a:p>
        </p:txBody>
      </p:sp>
    </p:spTree>
    <p:extLst>
      <p:ext uri="{BB962C8B-B14F-4D97-AF65-F5344CB8AC3E}">
        <p14:creationId xmlns:p14="http://schemas.microsoft.com/office/powerpoint/2010/main" val="470559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060A-3F7C-6AF9-A2A7-70972A444B0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3569786-0B90-B76C-5861-9066EF16D50B}"/>
              </a:ext>
            </a:extLst>
          </p:cNvPr>
          <p:cNvSpPr>
            <a:spLocks noGrp="1"/>
          </p:cNvSpPr>
          <p:nvPr>
            <p:ph sz="half" idx="1"/>
          </p:nvPr>
        </p:nvSpPr>
        <p:spPr>
          <a:xfrm>
            <a:off x="598504" y="782425"/>
            <a:ext cx="10874026" cy="5394538"/>
          </a:xfrm>
        </p:spPr>
        <p:txBody>
          <a:bodyPr>
            <a:normAutofit lnSpcReduction="10000"/>
          </a:bodyPr>
          <a:lstStyle/>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Access &amp; Visibility</a:t>
            </a:r>
          </a:p>
          <a:p>
            <a:pPr marL="342900" marR="0" lvl="0" indent="-342900">
              <a:lnSpc>
                <a:spcPct val="107000"/>
              </a:lnSpc>
              <a:spcBef>
                <a:spcPts val="600"/>
              </a:spcBef>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log in securely so that I can access my program's certification data.</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see all certifications related to my </a:t>
            </a:r>
            <a:r>
              <a:rPr lang="en-AU" sz="1400" dirty="0">
                <a:latin typeface="Arial" panose="020B0604020202020204" pitchFamily="34" charset="0"/>
                <a:ea typeface="Calibri" panose="020F0502020204030204" pitchFamily="34" charset="0"/>
              </a:rPr>
              <a:t>program</a:t>
            </a:r>
            <a:r>
              <a:rPr lang="en-AU" sz="1400" dirty="0">
                <a:effectLst/>
                <a:latin typeface="Arial" panose="020B0604020202020204" pitchFamily="34" charset="0"/>
                <a:ea typeface="Calibri" panose="020F0502020204030204" pitchFamily="34" charset="0"/>
              </a:rPr>
              <a:t> so that I can track compliance.</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ensure that I cannot see certifications from other companies or programs so that my access is restricted to my </a:t>
            </a:r>
            <a:r>
              <a:rPr lang="en-AU" sz="1400" dirty="0">
                <a:latin typeface="Arial" panose="020B0604020202020204" pitchFamily="34" charset="0"/>
                <a:ea typeface="Calibri" panose="020F0502020204030204" pitchFamily="34" charset="0"/>
              </a:rPr>
              <a:t>program</a:t>
            </a:r>
            <a:r>
              <a:rPr lang="en-AU" sz="1400" dirty="0">
                <a:effectLst/>
                <a:latin typeface="Arial" panose="020B0604020202020204" pitchFamily="34" charset="0"/>
                <a:ea typeface="Calibri" panose="020F0502020204030204" pitchFamily="34" charset="0"/>
              </a:rPr>
              <a:t>.</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my permissions to be pre-defined by an admin so that I only access the relevant data.</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be able to filter my certifications based on status (active, expired, pending) so that I can quickly find relevant information.</a:t>
            </a:r>
            <a:endParaRPr lang="en-US" sz="14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Search &amp; Filtering</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search for certifications within my program so that I can locate specific records.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filter certifications by type, category, and subcategory so that I can narrow down the results.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search certifications by product name so that I can verify specific items.</a:t>
            </a:r>
          </a:p>
          <a:p>
            <a:pPr marL="342900" marR="0" lvl="0" indent="-342900">
              <a:lnSpc>
                <a:spcPct val="107000"/>
              </a:lnSpc>
              <a:buClr>
                <a:srgbClr val="0481B6"/>
              </a:buClr>
              <a:buSzPts val="1400"/>
              <a:buFont typeface="Wingdings" panose="05000000000000000000" pitchFamily="2" charset="2"/>
              <a:buChar char=""/>
            </a:pPr>
            <a:r>
              <a:rPr lang="en-AU" sz="1400" dirty="0">
                <a:latin typeface="Arial" panose="020B0604020202020204" pitchFamily="34" charset="0"/>
                <a:ea typeface="Calibri" panose="020F0502020204030204" pitchFamily="34" charset="0"/>
              </a:rPr>
              <a:t>As an external user, I want to filter by location, tags, and other available columns to filter options based on their intended search purpose. </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export my program certification data into Excel so that I can use it for reporting and documentation purposes.</a:t>
            </a:r>
            <a:endParaRPr lang="en-US" sz="1400" dirty="0">
              <a:effectLst/>
              <a:latin typeface="Arial" panose="020B0604020202020204" pitchFamily="34" charset="0"/>
              <a:ea typeface="Calibri" panose="020F0502020204030204" pitchFamily="34" charset="0"/>
            </a:endParaRPr>
          </a:p>
          <a:p>
            <a:endParaRPr lang="en-US" sz="1400" dirty="0"/>
          </a:p>
        </p:txBody>
      </p:sp>
      <p:sp>
        <p:nvSpPr>
          <p:cNvPr id="4" name="Date Placeholder 3">
            <a:extLst>
              <a:ext uri="{FF2B5EF4-FFF2-40B4-BE49-F238E27FC236}">
                <a16:creationId xmlns:a16="http://schemas.microsoft.com/office/drawing/2014/main" id="{441BBF03-7081-4811-8739-E40FD6D0ED5F}"/>
              </a:ext>
            </a:extLst>
          </p:cNvPr>
          <p:cNvSpPr>
            <a:spLocks noGrp="1"/>
          </p:cNvSpPr>
          <p:nvPr>
            <p:ph type="dt" sz="half" idx="10"/>
          </p:nvPr>
        </p:nvSpPr>
        <p:spPr/>
        <p:txBody>
          <a:bodyPr/>
          <a:lstStyle/>
          <a:p>
            <a:fld id="{F0056A89-B657-4E56-81EA-47AEC42B3D30}" type="datetime1">
              <a:rPr lang="en-US" smtClean="0"/>
              <a:t>9/18/2025</a:t>
            </a:fld>
            <a:endParaRPr lang="en-US"/>
          </a:p>
        </p:txBody>
      </p:sp>
      <p:sp>
        <p:nvSpPr>
          <p:cNvPr id="5" name="Slide Number Placeholder 4">
            <a:extLst>
              <a:ext uri="{FF2B5EF4-FFF2-40B4-BE49-F238E27FC236}">
                <a16:creationId xmlns:a16="http://schemas.microsoft.com/office/drawing/2014/main" id="{6914171E-E7BE-F3FE-7C70-336918BF6A63}"/>
              </a:ext>
            </a:extLst>
          </p:cNvPr>
          <p:cNvSpPr>
            <a:spLocks noGrp="1"/>
          </p:cNvSpPr>
          <p:nvPr>
            <p:ph type="sldNum" sz="quarter" idx="12"/>
          </p:nvPr>
        </p:nvSpPr>
        <p:spPr/>
        <p:txBody>
          <a:bodyPr/>
          <a:lstStyle/>
          <a:p>
            <a:fld id="{330EA680-D336-4FF7-8B7A-9848BB0A1C32}" type="slidenum">
              <a:rPr lang="en-US" smtClean="0"/>
              <a:t>9</a:t>
            </a:fld>
            <a:endParaRPr lang="en-US"/>
          </a:p>
        </p:txBody>
      </p:sp>
      <p:sp>
        <p:nvSpPr>
          <p:cNvPr id="6" name="Title 5">
            <a:extLst>
              <a:ext uri="{FF2B5EF4-FFF2-40B4-BE49-F238E27FC236}">
                <a16:creationId xmlns:a16="http://schemas.microsoft.com/office/drawing/2014/main" id="{00925039-4F80-0C63-4A13-8736BF035062}"/>
              </a:ext>
            </a:extLst>
          </p:cNvPr>
          <p:cNvSpPr>
            <a:spLocks noGrp="1"/>
          </p:cNvSpPr>
          <p:nvPr>
            <p:ph type="title"/>
          </p:nvPr>
        </p:nvSpPr>
        <p:spPr/>
        <p:txBody>
          <a:bodyPr/>
          <a:lstStyle/>
          <a:p>
            <a:r>
              <a:rPr lang="en-US" sz="2800" dirty="0"/>
              <a:t>User Stories – External User (Partner)</a:t>
            </a:r>
          </a:p>
        </p:txBody>
      </p:sp>
      <p:sp>
        <p:nvSpPr>
          <p:cNvPr id="7" name="TextBox 6">
            <a:extLst>
              <a:ext uri="{FF2B5EF4-FFF2-40B4-BE49-F238E27FC236}">
                <a16:creationId xmlns:a16="http://schemas.microsoft.com/office/drawing/2014/main" id="{F79207A8-2E58-C7C0-44E6-B5E003736051}"/>
              </a:ext>
            </a:extLst>
          </p:cNvPr>
          <p:cNvSpPr txBox="1"/>
          <p:nvPr/>
        </p:nvSpPr>
        <p:spPr>
          <a:xfrm>
            <a:off x="2279180" y="6084798"/>
            <a:ext cx="7779223" cy="584775"/>
          </a:xfrm>
          <a:prstGeom prst="rect">
            <a:avLst/>
          </a:prstGeom>
          <a:noFill/>
        </p:spPr>
        <p:txBody>
          <a:bodyPr wrap="square">
            <a:spAutoFit/>
          </a:bodyPr>
          <a:lstStyle/>
          <a:p>
            <a:r>
              <a:rPr lang="en-US" sz="1600" dirty="0">
                <a:latin typeface="Century Gothic" panose="020B0502020202020204" pitchFamily="34" charset="0"/>
              </a:rPr>
              <a:t>Partners (where they will have access across companies for products that are part of their program only – for example Amazon CPF clients/certs)</a:t>
            </a:r>
          </a:p>
        </p:txBody>
      </p:sp>
    </p:spTree>
    <p:extLst>
      <p:ext uri="{BB962C8B-B14F-4D97-AF65-F5344CB8AC3E}">
        <p14:creationId xmlns:p14="http://schemas.microsoft.com/office/powerpoint/2010/main" val="23312637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B900C-2ECB-B507-81F3-788BB3732D7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BDB0AC-A599-E052-2E6C-CA1640F1B02D}"/>
              </a:ext>
            </a:extLst>
          </p:cNvPr>
          <p:cNvSpPr>
            <a:spLocks noGrp="1"/>
          </p:cNvSpPr>
          <p:nvPr>
            <p:ph sz="half" idx="1"/>
          </p:nvPr>
        </p:nvSpPr>
        <p:spPr>
          <a:xfrm>
            <a:off x="598504" y="782425"/>
            <a:ext cx="11192902" cy="5394538"/>
          </a:xfrm>
        </p:spPr>
        <p:txBody>
          <a:bodyPr>
            <a:noAutofit/>
          </a:bodyPr>
          <a:lstStyle/>
          <a:p>
            <a:pPr marL="0" marR="0" lvl="0" indent="0">
              <a:lnSpc>
                <a:spcPct val="107000"/>
              </a:lnSpc>
              <a:buClr>
                <a:srgbClr val="0481B6"/>
              </a:buClr>
              <a:buSzPts val="1400"/>
              <a:buNone/>
            </a:pPr>
            <a:r>
              <a:rPr lang="en-US" sz="1300" b="1" dirty="0">
                <a:effectLst/>
                <a:latin typeface="Arial" panose="020B0604020202020204" pitchFamily="34" charset="0"/>
                <a:ea typeface="Calibri" panose="020F0502020204030204" pitchFamily="34" charset="0"/>
              </a:rPr>
              <a:t>Viewing &amp; Downloading Certifications</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view details of each certification so that I can verify product compliance.</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download certificates in multi-select format so that I can share them with my stakeholders.</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check the expiration date of a certification so that I can validate certification period.</a:t>
            </a:r>
            <a:endParaRPr lang="en-US" sz="13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300" b="1" dirty="0">
                <a:effectLst/>
                <a:latin typeface="Arial" panose="020B0604020202020204" pitchFamily="34" charset="0"/>
                <a:ea typeface="Calibri" panose="020F0502020204030204" pitchFamily="34" charset="0"/>
              </a:rPr>
              <a:t>Tagging &amp; Classification</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see assigned tags on certifications so that I can categorize data effectively.</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filter certifications based on assigned tags so that I can group relevant products together.</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view which products are associated with a specific certification so that I can understand product compliance.</a:t>
            </a:r>
            <a:endParaRPr lang="en-US" sz="13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300" b="1" dirty="0">
                <a:effectLst/>
                <a:latin typeface="Arial" panose="020B0604020202020204" pitchFamily="34" charset="0"/>
                <a:ea typeface="Calibri" panose="020F0502020204030204" pitchFamily="34" charset="0"/>
              </a:rPr>
              <a:t>Data Access &amp; Security</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my access restricted to only my program’s data so that I do not see competitors’ or restricted certifications.</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log out securely so that I can prevent unauthorized access to my account.</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my account to be managed by an admin so that permissions are properly controlled.</a:t>
            </a:r>
          </a:p>
          <a:p>
            <a:pPr marL="0" marR="0" lvl="0" indent="0">
              <a:lnSpc>
                <a:spcPct val="107000"/>
              </a:lnSpc>
              <a:buClr>
                <a:srgbClr val="0481B6"/>
              </a:buClr>
              <a:buSzPts val="1400"/>
              <a:buNone/>
            </a:pPr>
            <a:endParaRPr lang="en-US" sz="13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endParaRPr lang="en-US" sz="1300" dirty="0">
              <a:effectLst/>
              <a:latin typeface="Arial" panose="020B0604020202020204" pitchFamily="34" charset="0"/>
              <a:ea typeface="Calibri" panose="020F0502020204030204" pitchFamily="34" charset="0"/>
            </a:endParaRPr>
          </a:p>
        </p:txBody>
      </p:sp>
      <p:sp>
        <p:nvSpPr>
          <p:cNvPr id="4" name="Date Placeholder 3">
            <a:extLst>
              <a:ext uri="{FF2B5EF4-FFF2-40B4-BE49-F238E27FC236}">
                <a16:creationId xmlns:a16="http://schemas.microsoft.com/office/drawing/2014/main" id="{C114F74D-2AAF-FDE1-F908-13DEAE530EF6}"/>
              </a:ext>
            </a:extLst>
          </p:cNvPr>
          <p:cNvSpPr>
            <a:spLocks noGrp="1"/>
          </p:cNvSpPr>
          <p:nvPr>
            <p:ph type="dt" sz="half" idx="10"/>
          </p:nvPr>
        </p:nvSpPr>
        <p:spPr/>
        <p:txBody>
          <a:bodyPr/>
          <a:lstStyle/>
          <a:p>
            <a:fld id="{F0056A89-B657-4E56-81EA-47AEC42B3D30}" type="datetime1">
              <a:rPr lang="en-US" smtClean="0"/>
              <a:t>9/18/2025</a:t>
            </a:fld>
            <a:endParaRPr lang="en-US"/>
          </a:p>
        </p:txBody>
      </p:sp>
      <p:sp>
        <p:nvSpPr>
          <p:cNvPr id="5" name="Slide Number Placeholder 4">
            <a:extLst>
              <a:ext uri="{FF2B5EF4-FFF2-40B4-BE49-F238E27FC236}">
                <a16:creationId xmlns:a16="http://schemas.microsoft.com/office/drawing/2014/main" id="{002CAB5B-2E97-4A42-B0A7-03E217378824}"/>
              </a:ext>
            </a:extLst>
          </p:cNvPr>
          <p:cNvSpPr>
            <a:spLocks noGrp="1"/>
          </p:cNvSpPr>
          <p:nvPr>
            <p:ph type="sldNum" sz="quarter" idx="12"/>
          </p:nvPr>
        </p:nvSpPr>
        <p:spPr/>
        <p:txBody>
          <a:bodyPr/>
          <a:lstStyle/>
          <a:p>
            <a:fld id="{330EA680-D336-4FF7-8B7A-9848BB0A1C32}" type="slidenum">
              <a:rPr lang="en-US" smtClean="0"/>
              <a:t>10</a:t>
            </a:fld>
            <a:endParaRPr lang="en-US"/>
          </a:p>
        </p:txBody>
      </p:sp>
      <p:sp>
        <p:nvSpPr>
          <p:cNvPr id="6" name="Title 5">
            <a:extLst>
              <a:ext uri="{FF2B5EF4-FFF2-40B4-BE49-F238E27FC236}">
                <a16:creationId xmlns:a16="http://schemas.microsoft.com/office/drawing/2014/main" id="{61CF5A4D-FC37-5CA1-782E-7C4CFCFC84B0}"/>
              </a:ext>
            </a:extLst>
          </p:cNvPr>
          <p:cNvSpPr>
            <a:spLocks noGrp="1"/>
          </p:cNvSpPr>
          <p:nvPr>
            <p:ph type="title"/>
          </p:nvPr>
        </p:nvSpPr>
        <p:spPr/>
        <p:txBody>
          <a:bodyPr/>
          <a:lstStyle/>
          <a:p>
            <a:r>
              <a:rPr lang="en-US" sz="2800" dirty="0"/>
              <a:t>User Stories – External User (Partner)</a:t>
            </a:r>
          </a:p>
        </p:txBody>
      </p:sp>
    </p:spTree>
    <p:extLst>
      <p:ext uri="{BB962C8B-B14F-4D97-AF65-F5344CB8AC3E}">
        <p14:creationId xmlns:p14="http://schemas.microsoft.com/office/powerpoint/2010/main" val="12148154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FF5DE-7852-A2C8-C5F1-880276F6179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CB06BB6-DB6D-61A5-8CB1-99EDB77DE949}"/>
              </a:ext>
            </a:extLst>
          </p:cNvPr>
          <p:cNvSpPr>
            <a:spLocks noGrp="1"/>
          </p:cNvSpPr>
          <p:nvPr>
            <p:ph sz="half" idx="1"/>
          </p:nvPr>
        </p:nvSpPr>
        <p:spPr>
          <a:xfrm>
            <a:off x="598504" y="782425"/>
            <a:ext cx="10874026" cy="5573925"/>
          </a:xfrm>
        </p:spPr>
        <p:txBody>
          <a:bodyPr>
            <a:noAutofit/>
          </a:bodyPr>
          <a:lstStyle/>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Access &amp; Visibility</a:t>
            </a:r>
          </a:p>
          <a:p>
            <a:pPr marL="342900" marR="0" lvl="0" indent="-342900">
              <a:lnSpc>
                <a:spcPct val="107000"/>
              </a:lnSpc>
              <a:spcBef>
                <a:spcPts val="600"/>
              </a:spcBef>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log in securely so that I can access certification data.</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see all certifications so that I can manage records effectively.</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my access restricted to only my assigned role so that I do not see unauthorized data.</a:t>
            </a:r>
          </a:p>
          <a:p>
            <a:pPr marL="34290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view dashboard reports so that I can track data and trends.</a:t>
            </a:r>
            <a:endParaRPr lang="en-US" sz="14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Search &amp; Filtering</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filter certifications by all fields so that I can generate reports and narrow by results based on my search needs.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sort certifications by modification date so that I can easily find a recent certificate that may need additional edits.</a:t>
            </a:r>
            <a:endParaRPr lang="en-US" sz="14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Viewing &amp; Downloading Certifications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view detailed certification records so that I can ensure compliance accuracy.</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download certification data in bulk so that I can conduct offline analysis.</a:t>
            </a:r>
          </a:p>
          <a:p>
            <a:pPr marL="342900" indent="-342900">
              <a:lnSpc>
                <a:spcPct val="107000"/>
              </a:lnSpc>
              <a:buClr>
                <a:srgbClr val="0481B6"/>
              </a:buClr>
              <a:buSzPts val="1400"/>
              <a:buFont typeface="Wingdings" panose="05000000000000000000" pitchFamily="2" charset="2"/>
              <a:buChar char=""/>
            </a:pPr>
            <a:r>
              <a:rPr lang="en-US" sz="1400" dirty="0">
                <a:effectLst/>
                <a:latin typeface="Arial" panose="020B0604020202020204" pitchFamily="34" charset="0"/>
                <a:ea typeface="Calibri" panose="020F0502020204030204" pitchFamily="34" charset="0"/>
              </a:rPr>
              <a:t>As an analyst, </a:t>
            </a:r>
            <a:r>
              <a:rPr lang="en-AU" sz="1400" dirty="0">
                <a:latin typeface="Arial" panose="020B0604020202020204" pitchFamily="34" charset="0"/>
                <a:ea typeface="Calibri" panose="020F0502020204030204" pitchFamily="34" charset="0"/>
              </a:rPr>
              <a:t>, I want to see the history of modifications for a certification so that I can track changes.</a:t>
            </a:r>
            <a:endParaRPr lang="en-US" sz="1400" dirty="0">
              <a:effectLst/>
              <a:latin typeface="Arial" panose="020B0604020202020204" pitchFamily="34" charset="0"/>
              <a:ea typeface="Calibri" panose="020F0502020204030204" pitchFamily="34" charset="0"/>
            </a:endParaRPr>
          </a:p>
          <a:p>
            <a:pPr marL="342900" indent="-342900">
              <a:lnSpc>
                <a:spcPct val="107000"/>
              </a:lnSpc>
              <a:spcAft>
                <a:spcPts val="1400"/>
              </a:spcAft>
              <a:buClr>
                <a:srgbClr val="0481B6"/>
              </a:buClr>
              <a:buSzPts val="1400"/>
              <a:buFont typeface="Wingdings" panose="05000000000000000000" pitchFamily="2" charset="2"/>
              <a:buChar char=""/>
            </a:pPr>
            <a:r>
              <a:rPr lang="en-AU" sz="1400" dirty="0">
                <a:latin typeface="Arial" panose="020B0604020202020204" pitchFamily="34" charset="0"/>
                <a:ea typeface="Calibri" panose="020F0502020204030204" pitchFamily="34" charset="0"/>
              </a:rPr>
              <a:t>As an analyst, I want to download multiple certifications based on search criteria to view or save in bulk.</a:t>
            </a:r>
            <a:endParaRPr lang="en-US" sz="1400" dirty="0">
              <a:latin typeface="Arial" panose="020B0604020202020204" pitchFamily="34" charset="0"/>
              <a:ea typeface="Calibri" panose="020F0502020204030204" pitchFamily="34" charset="0"/>
            </a:endParaRPr>
          </a:p>
          <a:p>
            <a:pPr marL="342900" indent="-342900">
              <a:lnSpc>
                <a:spcPct val="107000"/>
              </a:lnSpc>
              <a:spcAft>
                <a:spcPts val="1400"/>
              </a:spcAft>
              <a:buClr>
                <a:srgbClr val="0481B6"/>
              </a:buClr>
              <a:buSzPts val="1400"/>
              <a:buFont typeface="Wingdings" panose="05000000000000000000" pitchFamily="2" charset="2"/>
              <a:buChar char=""/>
            </a:pPr>
            <a:r>
              <a:rPr lang="en-US" sz="1400" dirty="0">
                <a:latin typeface="Arial" panose="020B0604020202020204" pitchFamily="34" charset="0"/>
                <a:ea typeface="Calibri" panose="020F0502020204030204" pitchFamily="34" charset="0"/>
              </a:rPr>
              <a:t>As an analyst, I want to be able to add and edit certificates, cert status, products, and companies.</a:t>
            </a:r>
          </a:p>
        </p:txBody>
      </p:sp>
      <p:sp>
        <p:nvSpPr>
          <p:cNvPr id="4" name="Date Placeholder 3">
            <a:extLst>
              <a:ext uri="{FF2B5EF4-FFF2-40B4-BE49-F238E27FC236}">
                <a16:creationId xmlns:a16="http://schemas.microsoft.com/office/drawing/2014/main" id="{993811B2-6A57-DB2B-51EC-30F84ED77F03}"/>
              </a:ext>
            </a:extLst>
          </p:cNvPr>
          <p:cNvSpPr>
            <a:spLocks noGrp="1"/>
          </p:cNvSpPr>
          <p:nvPr>
            <p:ph type="dt" sz="half" idx="10"/>
          </p:nvPr>
        </p:nvSpPr>
        <p:spPr/>
        <p:txBody>
          <a:bodyPr/>
          <a:lstStyle/>
          <a:p>
            <a:fld id="{F0056A89-B657-4E56-81EA-47AEC42B3D30}" type="datetime1">
              <a:rPr lang="en-US" smtClean="0"/>
              <a:t>9/18/2025</a:t>
            </a:fld>
            <a:endParaRPr lang="en-US"/>
          </a:p>
        </p:txBody>
      </p:sp>
      <p:sp>
        <p:nvSpPr>
          <p:cNvPr id="5" name="Slide Number Placeholder 4">
            <a:extLst>
              <a:ext uri="{FF2B5EF4-FFF2-40B4-BE49-F238E27FC236}">
                <a16:creationId xmlns:a16="http://schemas.microsoft.com/office/drawing/2014/main" id="{E40229D6-8D02-0848-03BE-39DF898C6009}"/>
              </a:ext>
            </a:extLst>
          </p:cNvPr>
          <p:cNvSpPr>
            <a:spLocks noGrp="1"/>
          </p:cNvSpPr>
          <p:nvPr>
            <p:ph type="sldNum" sz="quarter" idx="12"/>
          </p:nvPr>
        </p:nvSpPr>
        <p:spPr/>
        <p:txBody>
          <a:bodyPr/>
          <a:lstStyle/>
          <a:p>
            <a:fld id="{330EA680-D336-4FF7-8B7A-9848BB0A1C32}" type="slidenum">
              <a:rPr lang="en-US" smtClean="0"/>
              <a:t>11</a:t>
            </a:fld>
            <a:endParaRPr lang="en-US"/>
          </a:p>
        </p:txBody>
      </p:sp>
      <p:sp>
        <p:nvSpPr>
          <p:cNvPr id="6" name="Title 5">
            <a:extLst>
              <a:ext uri="{FF2B5EF4-FFF2-40B4-BE49-F238E27FC236}">
                <a16:creationId xmlns:a16="http://schemas.microsoft.com/office/drawing/2014/main" id="{53D88DB8-3FD9-FB03-D585-5A3AB87DAB05}"/>
              </a:ext>
            </a:extLst>
          </p:cNvPr>
          <p:cNvSpPr>
            <a:spLocks noGrp="1"/>
          </p:cNvSpPr>
          <p:nvPr>
            <p:ph type="title"/>
          </p:nvPr>
        </p:nvSpPr>
        <p:spPr/>
        <p:txBody>
          <a:bodyPr/>
          <a:lstStyle/>
          <a:p>
            <a:r>
              <a:rPr lang="en-US" sz="2800"/>
              <a:t>User Stories – GCC Analyst</a:t>
            </a:r>
          </a:p>
        </p:txBody>
      </p:sp>
    </p:spTree>
    <p:extLst>
      <p:ext uri="{BB962C8B-B14F-4D97-AF65-F5344CB8AC3E}">
        <p14:creationId xmlns:p14="http://schemas.microsoft.com/office/powerpoint/2010/main" val="349669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CCA4F-1775-C5CB-DE32-AC6DF9B644E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9A1754-BA92-E557-406F-FE04905DDB91}"/>
              </a:ext>
            </a:extLst>
          </p:cNvPr>
          <p:cNvSpPr>
            <a:spLocks noGrp="1"/>
          </p:cNvSpPr>
          <p:nvPr>
            <p:ph sz="half" idx="1"/>
          </p:nvPr>
        </p:nvSpPr>
        <p:spPr>
          <a:xfrm>
            <a:off x="598504" y="782425"/>
            <a:ext cx="10874026" cy="5394538"/>
          </a:xfrm>
        </p:spPr>
        <p:txBody>
          <a:bodyPr>
            <a:normAutofit/>
          </a:bodyPr>
          <a:lstStyle/>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Tagging &amp; Classification</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an analyst, I want to assign tags to certifications so that I can classify them effectively.</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an analyst, I want to edit or remove assigned tags so that I can keep records up to date.</a:t>
            </a:r>
          </a:p>
          <a:p>
            <a:pPr marL="342900" marR="0" lvl="0" indent="-342900">
              <a:lnSpc>
                <a:spcPct val="107000"/>
              </a:lnSpc>
              <a:buClr>
                <a:srgbClr val="0481B6"/>
              </a:buClr>
              <a:buSzPts val="1400"/>
              <a:buFont typeface="Wingdings" panose="05000000000000000000" pitchFamily="2" charset="2"/>
              <a:buChar char=""/>
            </a:pPr>
            <a:endParaRPr lang="en-US" sz="16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Data Access &amp; Security</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an analyst, I want my access to be restricted based on admin settings so that I only see relevant data and don’t make unintended changes.</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an analyst, I want to track user activity logs so that I can review who made modifications to records.</a:t>
            </a:r>
            <a:endParaRPr lang="en-US" sz="1600" dirty="0">
              <a:effectLst/>
              <a:latin typeface="Arial" panose="020B0604020202020204" pitchFamily="34" charset="0"/>
              <a:ea typeface="Calibri" panose="020F0502020204030204" pitchFamily="34" charset="0"/>
            </a:endParaRPr>
          </a:p>
        </p:txBody>
      </p:sp>
      <p:sp>
        <p:nvSpPr>
          <p:cNvPr id="4" name="Date Placeholder 3">
            <a:extLst>
              <a:ext uri="{FF2B5EF4-FFF2-40B4-BE49-F238E27FC236}">
                <a16:creationId xmlns:a16="http://schemas.microsoft.com/office/drawing/2014/main" id="{15FB6A24-3ED1-1D07-328C-E4A404DCDBA3}"/>
              </a:ext>
            </a:extLst>
          </p:cNvPr>
          <p:cNvSpPr>
            <a:spLocks noGrp="1"/>
          </p:cNvSpPr>
          <p:nvPr>
            <p:ph type="dt" sz="half" idx="10"/>
          </p:nvPr>
        </p:nvSpPr>
        <p:spPr/>
        <p:txBody>
          <a:bodyPr/>
          <a:lstStyle/>
          <a:p>
            <a:fld id="{F0056A89-B657-4E56-81EA-47AEC42B3D30}" type="datetime1">
              <a:rPr lang="en-US" smtClean="0"/>
              <a:t>9/18/2025</a:t>
            </a:fld>
            <a:endParaRPr lang="en-US"/>
          </a:p>
        </p:txBody>
      </p:sp>
      <p:sp>
        <p:nvSpPr>
          <p:cNvPr id="5" name="Slide Number Placeholder 4">
            <a:extLst>
              <a:ext uri="{FF2B5EF4-FFF2-40B4-BE49-F238E27FC236}">
                <a16:creationId xmlns:a16="http://schemas.microsoft.com/office/drawing/2014/main" id="{E44FB78E-8DAE-33B7-399B-50296822233B}"/>
              </a:ext>
            </a:extLst>
          </p:cNvPr>
          <p:cNvSpPr>
            <a:spLocks noGrp="1"/>
          </p:cNvSpPr>
          <p:nvPr>
            <p:ph type="sldNum" sz="quarter" idx="12"/>
          </p:nvPr>
        </p:nvSpPr>
        <p:spPr/>
        <p:txBody>
          <a:bodyPr/>
          <a:lstStyle/>
          <a:p>
            <a:fld id="{330EA680-D336-4FF7-8B7A-9848BB0A1C32}" type="slidenum">
              <a:rPr lang="en-US" smtClean="0"/>
              <a:t>12</a:t>
            </a:fld>
            <a:endParaRPr lang="en-US"/>
          </a:p>
        </p:txBody>
      </p:sp>
      <p:sp>
        <p:nvSpPr>
          <p:cNvPr id="6" name="Title 5">
            <a:extLst>
              <a:ext uri="{FF2B5EF4-FFF2-40B4-BE49-F238E27FC236}">
                <a16:creationId xmlns:a16="http://schemas.microsoft.com/office/drawing/2014/main" id="{68A19E38-8FFE-450B-EFD6-A5A82FC439BA}"/>
              </a:ext>
            </a:extLst>
          </p:cNvPr>
          <p:cNvSpPr>
            <a:spLocks noGrp="1"/>
          </p:cNvSpPr>
          <p:nvPr>
            <p:ph type="title"/>
          </p:nvPr>
        </p:nvSpPr>
        <p:spPr/>
        <p:txBody>
          <a:bodyPr/>
          <a:lstStyle/>
          <a:p>
            <a:r>
              <a:rPr lang="en-US" sz="2800"/>
              <a:t>User Stories – GCC Analyst</a:t>
            </a:r>
          </a:p>
        </p:txBody>
      </p:sp>
    </p:spTree>
    <p:extLst>
      <p:ext uri="{BB962C8B-B14F-4D97-AF65-F5344CB8AC3E}">
        <p14:creationId xmlns:p14="http://schemas.microsoft.com/office/powerpoint/2010/main" val="27000321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397E4-C407-F353-B258-E963708B0DD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CCD32C-5ACE-C071-9790-C4849E18E0B7}"/>
              </a:ext>
            </a:extLst>
          </p:cNvPr>
          <p:cNvSpPr>
            <a:spLocks noGrp="1"/>
          </p:cNvSpPr>
          <p:nvPr>
            <p:ph sz="half" idx="1"/>
          </p:nvPr>
        </p:nvSpPr>
        <p:spPr>
          <a:xfrm>
            <a:off x="598504" y="782425"/>
            <a:ext cx="10874026" cy="5394538"/>
          </a:xfrm>
        </p:spPr>
        <p:txBody>
          <a:bodyPr>
            <a:normAutofit fontScale="85000" lnSpcReduction="10000"/>
          </a:bodyPr>
          <a:lstStyle/>
          <a:p>
            <a:pPr marL="0" marR="0" lvl="0" indent="0">
              <a:lnSpc>
                <a:spcPct val="107000"/>
              </a:lnSpc>
              <a:buClr>
                <a:srgbClr val="0481B6"/>
              </a:buClr>
              <a:buSzPts val="1400"/>
              <a:buNone/>
            </a:pPr>
            <a:r>
              <a:rPr lang="en-US" sz="2000" b="1" dirty="0">
                <a:effectLst/>
                <a:latin typeface="Arial" panose="020B0604020202020204" pitchFamily="34" charset="0"/>
                <a:ea typeface="Calibri" panose="020F0502020204030204" pitchFamily="34" charset="0"/>
              </a:rPr>
              <a:t>Access &amp; Visibility</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manage user roles and permissions so that I can control access levels.</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view all certifications across all companies so that I can oversee compliance.</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create, edit, and delete user accounts so that I can manage system access.</a:t>
            </a:r>
          </a:p>
          <a:p>
            <a:pPr marL="0" marR="0" lvl="0" indent="0">
              <a:lnSpc>
                <a:spcPct val="107000"/>
              </a:lnSpc>
              <a:buClr>
                <a:srgbClr val="0481B6"/>
              </a:buClr>
              <a:buSzPts val="1400"/>
              <a:buNone/>
            </a:pPr>
            <a:r>
              <a:rPr lang="en-US" sz="2000" b="1" dirty="0">
                <a:effectLst/>
                <a:latin typeface="Arial" panose="020B0604020202020204" pitchFamily="34" charset="0"/>
                <a:ea typeface="Calibri" panose="020F0502020204030204" pitchFamily="34" charset="0"/>
              </a:rPr>
              <a:t>Search &amp; Filtering</a:t>
            </a:r>
            <a:endParaRPr lang="en-US" sz="20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search certifications across all companies so that I can manage records efficiently.</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filter any of the certificate fields so that I can oversee compliance trends.</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sort certifications by the last modified date so that I can track updates.</a:t>
            </a:r>
          </a:p>
          <a:p>
            <a:pPr marL="342900" indent="-342900">
              <a:lnSpc>
                <a:spcPct val="107000"/>
              </a:lnSpc>
              <a:buClr>
                <a:srgbClr val="0481B6"/>
              </a:buClr>
              <a:buSzPts val="1400"/>
              <a:buFont typeface="Wingdings" panose="05000000000000000000" pitchFamily="2" charset="2"/>
              <a:buChar char=""/>
            </a:pPr>
            <a:r>
              <a:rPr lang="en-AU" sz="2000" dirty="0">
                <a:effectLst/>
                <a:latin typeface="Arial" panose="020B0604020202020204" pitchFamily="34" charset="0"/>
                <a:ea typeface="Calibri" panose="020F0502020204030204" pitchFamily="34" charset="0"/>
              </a:rPr>
              <a:t>As an admin, I want to be able to set the certificate status (active, expired, pending).</a:t>
            </a:r>
            <a:endParaRPr lang="en-US" sz="2000" b="1" dirty="0">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2000" b="1" dirty="0">
                <a:effectLst/>
                <a:latin typeface="Arial" panose="020B0604020202020204" pitchFamily="34" charset="0"/>
                <a:ea typeface="Calibri" panose="020F0502020204030204" pitchFamily="34" charset="0"/>
              </a:rPr>
              <a:t>Viewing &amp; Downloading Certifications</a:t>
            </a:r>
            <a:endParaRPr lang="en-US" sz="20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view detailed certification records across the entire platform so that I can manage data integrity.</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export all certification data so that I can generate system-wide reports.</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track certification history and changes so that I can audit modifications.</a:t>
            </a:r>
            <a:endParaRPr lang="en-US" sz="2000" b="1" dirty="0">
              <a:latin typeface="Arial" panose="020B0604020202020204" pitchFamily="34" charset="0"/>
              <a:ea typeface="Calibri" panose="020F0502020204030204" pitchFamily="34" charset="0"/>
            </a:endParaRPr>
          </a:p>
          <a:p>
            <a:endParaRPr lang="en-US" dirty="0"/>
          </a:p>
        </p:txBody>
      </p:sp>
      <p:sp>
        <p:nvSpPr>
          <p:cNvPr id="4" name="Date Placeholder 3">
            <a:extLst>
              <a:ext uri="{FF2B5EF4-FFF2-40B4-BE49-F238E27FC236}">
                <a16:creationId xmlns:a16="http://schemas.microsoft.com/office/drawing/2014/main" id="{33050EA7-C6D9-C7FC-E234-16A3AE5F341C}"/>
              </a:ext>
            </a:extLst>
          </p:cNvPr>
          <p:cNvSpPr>
            <a:spLocks noGrp="1"/>
          </p:cNvSpPr>
          <p:nvPr>
            <p:ph type="dt" sz="half" idx="10"/>
          </p:nvPr>
        </p:nvSpPr>
        <p:spPr/>
        <p:txBody>
          <a:bodyPr/>
          <a:lstStyle/>
          <a:p>
            <a:fld id="{F0056A89-B657-4E56-81EA-47AEC42B3D30}" type="datetime1">
              <a:rPr lang="en-US" smtClean="0"/>
              <a:t>9/18/2025</a:t>
            </a:fld>
            <a:endParaRPr lang="en-US"/>
          </a:p>
        </p:txBody>
      </p:sp>
      <p:sp>
        <p:nvSpPr>
          <p:cNvPr id="5" name="Slide Number Placeholder 4">
            <a:extLst>
              <a:ext uri="{FF2B5EF4-FFF2-40B4-BE49-F238E27FC236}">
                <a16:creationId xmlns:a16="http://schemas.microsoft.com/office/drawing/2014/main" id="{77751E91-B12A-F278-A146-F573AE03FF3D}"/>
              </a:ext>
            </a:extLst>
          </p:cNvPr>
          <p:cNvSpPr>
            <a:spLocks noGrp="1"/>
          </p:cNvSpPr>
          <p:nvPr>
            <p:ph type="sldNum" sz="quarter" idx="12"/>
          </p:nvPr>
        </p:nvSpPr>
        <p:spPr/>
        <p:txBody>
          <a:bodyPr/>
          <a:lstStyle/>
          <a:p>
            <a:fld id="{330EA680-D336-4FF7-8B7A-9848BB0A1C32}" type="slidenum">
              <a:rPr lang="en-US" smtClean="0"/>
              <a:t>13</a:t>
            </a:fld>
            <a:endParaRPr lang="en-US"/>
          </a:p>
        </p:txBody>
      </p:sp>
      <p:sp>
        <p:nvSpPr>
          <p:cNvPr id="6" name="Title 5">
            <a:extLst>
              <a:ext uri="{FF2B5EF4-FFF2-40B4-BE49-F238E27FC236}">
                <a16:creationId xmlns:a16="http://schemas.microsoft.com/office/drawing/2014/main" id="{2D41D6E8-A656-363B-9155-DEAF8DFBEEB7}"/>
              </a:ext>
            </a:extLst>
          </p:cNvPr>
          <p:cNvSpPr>
            <a:spLocks noGrp="1"/>
          </p:cNvSpPr>
          <p:nvPr>
            <p:ph type="title"/>
          </p:nvPr>
        </p:nvSpPr>
        <p:spPr/>
        <p:txBody>
          <a:bodyPr/>
          <a:lstStyle/>
          <a:p>
            <a:r>
              <a:rPr lang="en-US" sz="2800"/>
              <a:t>User Stories - Admin</a:t>
            </a:r>
          </a:p>
        </p:txBody>
      </p:sp>
    </p:spTree>
    <p:extLst>
      <p:ext uri="{BB962C8B-B14F-4D97-AF65-F5344CB8AC3E}">
        <p14:creationId xmlns:p14="http://schemas.microsoft.com/office/powerpoint/2010/main" val="12781217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F71AB4-F97A-4195-EB35-371ADC8DAC8D}"/>
              </a:ext>
            </a:extLst>
          </p:cNvPr>
          <p:cNvSpPr>
            <a:spLocks noGrp="1"/>
          </p:cNvSpPr>
          <p:nvPr>
            <p:ph sz="half" idx="1"/>
          </p:nvPr>
        </p:nvSpPr>
        <p:spPr>
          <a:xfrm>
            <a:off x="598504" y="782425"/>
            <a:ext cx="11422046" cy="5394538"/>
          </a:xfrm>
        </p:spPr>
        <p:txBody>
          <a:bodyPr tIns="0">
            <a:noAutofit/>
          </a:bodyPr>
          <a:lstStyle/>
          <a:p>
            <a:pPr marL="0" marR="0" lvl="0" indent="0">
              <a:lnSpc>
                <a:spcPct val="100000"/>
              </a:lnSpc>
              <a:spcBef>
                <a:spcPts val="300"/>
              </a:spcBef>
              <a:buClr>
                <a:srgbClr val="0481B6"/>
              </a:buClr>
              <a:buSzPts val="1400"/>
              <a:buNone/>
            </a:pPr>
            <a:r>
              <a:rPr lang="en-US" sz="1600" b="1" dirty="0">
                <a:effectLst/>
                <a:ea typeface="Calibri" panose="020F0502020204030204" pitchFamily="34" charset="0"/>
              </a:rPr>
              <a:t>Tagging &amp; Classification</a:t>
            </a:r>
            <a:endParaRPr lang="en-US" sz="1600" dirty="0">
              <a:effectLst/>
              <a:ea typeface="Calibri" panose="020F0502020204030204" pitchFamily="34" charset="0"/>
            </a:endParaRPr>
          </a:p>
          <a:p>
            <a:pPr marL="342900" marR="0" lvl="0" indent="-342900">
              <a:lnSpc>
                <a:spcPct val="100000"/>
              </a:lnSpc>
              <a:spcBef>
                <a:spcPts val="300"/>
              </a:spcBef>
              <a:buClr>
                <a:srgbClr val="0481B6"/>
              </a:buClr>
              <a:buSzPts val="1400"/>
              <a:buFont typeface="Wingdings" panose="05000000000000000000" pitchFamily="2" charset="2"/>
              <a:buChar char=""/>
            </a:pPr>
            <a:r>
              <a:rPr lang="en-US" sz="1600" dirty="0">
                <a:effectLst/>
                <a:ea typeface="Calibri" panose="020F0502020204030204" pitchFamily="34" charset="0"/>
              </a:rPr>
              <a:t>As an admin, I want to create, edit, and remove tags so that I can organize certifications effectively.</a:t>
            </a:r>
          </a:p>
          <a:p>
            <a:pPr marL="342900" marR="0" lvl="0" indent="-342900">
              <a:lnSpc>
                <a:spcPct val="100000"/>
              </a:lnSpc>
              <a:spcBef>
                <a:spcPts val="300"/>
              </a:spcBef>
              <a:buClr>
                <a:srgbClr val="0481B6"/>
              </a:buClr>
              <a:buSzPts val="1400"/>
              <a:buFont typeface="Wingdings" panose="05000000000000000000" pitchFamily="2" charset="2"/>
              <a:buChar char=""/>
            </a:pPr>
            <a:r>
              <a:rPr lang="en-US" sz="1600" dirty="0">
                <a:effectLst/>
                <a:ea typeface="Calibri" panose="020F0502020204030204" pitchFamily="34" charset="0"/>
              </a:rPr>
              <a:t>As an admin, I want to standardize tags across the platform so that users have consistent classification options.</a:t>
            </a:r>
          </a:p>
          <a:p>
            <a:pPr marL="342900" marR="0" lvl="0" indent="-342900">
              <a:lnSpc>
                <a:spcPct val="100000"/>
              </a:lnSpc>
              <a:spcBef>
                <a:spcPts val="300"/>
              </a:spcBef>
              <a:buClr>
                <a:srgbClr val="0481B6"/>
              </a:buClr>
              <a:buSzPts val="1400"/>
              <a:buFont typeface="Wingdings" panose="05000000000000000000" pitchFamily="2" charset="2"/>
              <a:buChar char=""/>
            </a:pPr>
            <a:r>
              <a:rPr lang="en-US" sz="1600" dirty="0">
                <a:effectLst/>
                <a:ea typeface="Calibri" panose="020F0502020204030204" pitchFamily="34" charset="0"/>
              </a:rPr>
              <a:t>As an admin, I’m the only role that has the ability to edit product categories, product types and subcategories, certification types, CSF attributes. </a:t>
            </a:r>
          </a:p>
          <a:p>
            <a:pPr marL="342900" marR="0" lvl="0" indent="-342900">
              <a:lnSpc>
                <a:spcPct val="100000"/>
              </a:lnSpc>
              <a:spcBef>
                <a:spcPts val="300"/>
              </a:spcBef>
              <a:buClr>
                <a:srgbClr val="0481B6"/>
              </a:buClr>
              <a:buSzPts val="1400"/>
              <a:buFont typeface="Wingdings" panose="05000000000000000000" pitchFamily="2" charset="2"/>
              <a:buChar char=""/>
            </a:pPr>
            <a:r>
              <a:rPr lang="en-US" sz="1600" dirty="0">
                <a:effectLst/>
                <a:ea typeface="Calibri" panose="020F0502020204030204" pitchFamily="34" charset="0"/>
              </a:rPr>
              <a:t>As an admin, I have the ability to add new fields to Certificate page. </a:t>
            </a:r>
            <a:br>
              <a:rPr lang="en-US" sz="1600" dirty="0">
                <a:effectLst/>
                <a:ea typeface="Calibri" panose="020F0502020204030204" pitchFamily="34" charset="0"/>
              </a:rPr>
            </a:br>
            <a:endParaRPr lang="en-US" sz="1600" dirty="0">
              <a:solidFill>
                <a:srgbClr val="FF0000"/>
              </a:solidFill>
              <a:effectLst/>
              <a:ea typeface="Calibri" panose="020F0502020204030204" pitchFamily="34" charset="0"/>
            </a:endParaRPr>
          </a:p>
          <a:p>
            <a:pPr marL="0" marR="0" lvl="0" indent="0">
              <a:lnSpc>
                <a:spcPct val="100000"/>
              </a:lnSpc>
              <a:spcBef>
                <a:spcPts val="300"/>
              </a:spcBef>
              <a:buClr>
                <a:srgbClr val="0481B6"/>
              </a:buClr>
              <a:buSzPts val="1400"/>
              <a:buNone/>
            </a:pPr>
            <a:r>
              <a:rPr lang="en-US" sz="1600" b="1" dirty="0">
                <a:effectLst/>
                <a:ea typeface="Calibri" panose="020F0502020204030204" pitchFamily="34" charset="0"/>
              </a:rPr>
              <a:t>Data Access &amp; Security</a:t>
            </a:r>
            <a:endParaRPr lang="en-US" sz="1600" dirty="0">
              <a:effectLst/>
              <a:ea typeface="Calibri" panose="020F0502020204030204" pitchFamily="34" charset="0"/>
            </a:endParaRPr>
          </a:p>
          <a:p>
            <a:pPr>
              <a:lnSpc>
                <a:spcPct val="100000"/>
              </a:lnSpc>
              <a:spcBef>
                <a:spcPts val="300"/>
              </a:spcBef>
              <a:buClr>
                <a:srgbClr val="0481B6"/>
              </a:buClr>
              <a:buSzPts val="1400"/>
              <a:buFont typeface="Wingdings" panose="05000000000000000000" pitchFamily="2" charset="2"/>
              <a:buChar char="§"/>
            </a:pPr>
            <a:r>
              <a:rPr lang="en-US" sz="1600" dirty="0">
                <a:effectLst/>
                <a:ea typeface="Calibri" panose="020F0502020204030204" pitchFamily="34" charset="0"/>
              </a:rPr>
              <a:t>As an admin, I want to enforce multi-factor authentication so that system security is enhanced.</a:t>
            </a:r>
          </a:p>
          <a:p>
            <a:pPr>
              <a:lnSpc>
                <a:spcPct val="100000"/>
              </a:lnSpc>
              <a:spcBef>
                <a:spcPts val="300"/>
              </a:spcBef>
              <a:buClr>
                <a:srgbClr val="0481B6"/>
              </a:buClr>
              <a:buSzPts val="1400"/>
              <a:buFont typeface="Wingdings" panose="05000000000000000000" pitchFamily="2" charset="2"/>
              <a:buChar char="§"/>
            </a:pPr>
            <a:r>
              <a:rPr lang="en-US" sz="1600" dirty="0">
                <a:effectLst/>
                <a:ea typeface="Calibri" panose="020F0502020204030204" pitchFamily="34" charset="0"/>
              </a:rPr>
              <a:t>As an admin, I want to track user activity logs so that I can monitor system usage.</a:t>
            </a:r>
          </a:p>
          <a:p>
            <a:pPr>
              <a:lnSpc>
                <a:spcPct val="100000"/>
              </a:lnSpc>
              <a:spcBef>
                <a:spcPts val="300"/>
              </a:spcBef>
              <a:buClr>
                <a:srgbClr val="0481B6"/>
              </a:buClr>
              <a:buSzPts val="1400"/>
              <a:buFont typeface="Wingdings" panose="05000000000000000000" pitchFamily="2" charset="2"/>
              <a:buChar char="§"/>
            </a:pPr>
            <a:r>
              <a:rPr lang="en-US" sz="1600" dirty="0">
                <a:ea typeface="Calibri" panose="020F0502020204030204" pitchFamily="34" charset="0"/>
              </a:rPr>
              <a:t>As an admin, I want the ability to add a new field to certificates.</a:t>
            </a:r>
          </a:p>
          <a:p>
            <a:pPr>
              <a:lnSpc>
                <a:spcPct val="100000"/>
              </a:lnSpc>
              <a:spcBef>
                <a:spcPts val="300"/>
              </a:spcBef>
              <a:buClr>
                <a:srgbClr val="0481B6"/>
              </a:buClr>
              <a:buSzPts val="1400"/>
              <a:buFont typeface="Wingdings" panose="05000000000000000000" pitchFamily="2" charset="2"/>
              <a:buChar char="§"/>
            </a:pPr>
            <a:r>
              <a:rPr lang="en-US" sz="1600" dirty="0">
                <a:ea typeface="Calibri" panose="020F0502020204030204" pitchFamily="34" charset="0"/>
              </a:rPr>
              <a:t>As an admin, I want to restrict access to certain certifications so that only authorized users can view them.</a:t>
            </a:r>
          </a:p>
          <a:p>
            <a:pPr>
              <a:lnSpc>
                <a:spcPct val="100000"/>
              </a:lnSpc>
              <a:spcBef>
                <a:spcPts val="300"/>
              </a:spcBef>
              <a:buClr>
                <a:srgbClr val="0481B6"/>
              </a:buClr>
              <a:buSzPts val="1400"/>
              <a:buFont typeface="Wingdings" panose="05000000000000000000" pitchFamily="2" charset="2"/>
              <a:buChar char="§"/>
            </a:pPr>
            <a:r>
              <a:rPr lang="en-US" sz="1600" dirty="0">
                <a:ea typeface="Calibri" panose="020F0502020204030204" pitchFamily="34" charset="0"/>
              </a:rPr>
              <a:t>As an admin, I want to integrate API connections with third-party platforms so that external vendors can securely access data.</a:t>
            </a:r>
          </a:p>
          <a:p>
            <a:pPr>
              <a:lnSpc>
                <a:spcPct val="100000"/>
              </a:lnSpc>
              <a:spcBef>
                <a:spcPts val="300"/>
              </a:spcBef>
              <a:buClr>
                <a:srgbClr val="0481B6"/>
              </a:buClr>
              <a:buSzPts val="1400"/>
              <a:buFont typeface="Wingdings" panose="05000000000000000000" pitchFamily="2" charset="2"/>
              <a:buChar char="§"/>
            </a:pPr>
            <a:r>
              <a:rPr lang="en-US" sz="1600" dirty="0">
                <a:ea typeface="Calibri" panose="020F0502020204030204" pitchFamily="34" charset="0"/>
              </a:rPr>
              <a:t>As an admin, I want the ability to add, update or delete data for Companies, product types, certificate types, partners, CSF Attributes, and Tags</a:t>
            </a:r>
          </a:p>
          <a:p>
            <a:pPr>
              <a:lnSpc>
                <a:spcPct val="100000"/>
              </a:lnSpc>
              <a:spcBef>
                <a:spcPts val="300"/>
              </a:spcBef>
              <a:buClr>
                <a:srgbClr val="0481B6"/>
              </a:buClr>
              <a:buSzPts val="1400"/>
              <a:buFont typeface="Wingdings" panose="05000000000000000000" pitchFamily="2" charset="2"/>
              <a:buChar char="§"/>
            </a:pPr>
            <a:r>
              <a:rPr lang="en-US" sz="1600" dirty="0">
                <a:ea typeface="Calibri" panose="020F0502020204030204" pitchFamily="34" charset="0"/>
              </a:rPr>
              <a:t>As an admin, I want the system back-end to handle certificate numbering with manual override option available if needed. </a:t>
            </a:r>
          </a:p>
          <a:p>
            <a:pPr>
              <a:lnSpc>
                <a:spcPct val="100000"/>
              </a:lnSpc>
              <a:spcBef>
                <a:spcPts val="300"/>
              </a:spcBef>
              <a:spcAft>
                <a:spcPts val="1400"/>
              </a:spcAft>
              <a:buClr>
                <a:srgbClr val="0481B6"/>
              </a:buClr>
              <a:buSzPts val="1400"/>
              <a:buFont typeface="Wingdings" panose="05000000000000000000" pitchFamily="2" charset="2"/>
              <a:buChar char="§"/>
            </a:pPr>
            <a:r>
              <a:rPr lang="en-US" sz="1600" dirty="0">
                <a:ea typeface="Calibri" panose="020F0502020204030204" pitchFamily="34" charset="0"/>
              </a:rPr>
              <a:t>As an admin, I want the system back-end to manage what appears in the public database based on active status. </a:t>
            </a:r>
          </a:p>
        </p:txBody>
      </p:sp>
      <p:sp>
        <p:nvSpPr>
          <p:cNvPr id="4" name="Date Placeholder 3">
            <a:extLst>
              <a:ext uri="{FF2B5EF4-FFF2-40B4-BE49-F238E27FC236}">
                <a16:creationId xmlns:a16="http://schemas.microsoft.com/office/drawing/2014/main" id="{4E958588-7F1D-CA08-2CFA-F1B30EF3837D}"/>
              </a:ext>
            </a:extLst>
          </p:cNvPr>
          <p:cNvSpPr>
            <a:spLocks noGrp="1"/>
          </p:cNvSpPr>
          <p:nvPr>
            <p:ph type="dt" sz="half" idx="10"/>
          </p:nvPr>
        </p:nvSpPr>
        <p:spPr/>
        <p:txBody>
          <a:bodyPr/>
          <a:lstStyle/>
          <a:p>
            <a:fld id="{F0056A89-B657-4E56-81EA-47AEC42B3D30}" type="datetime1">
              <a:rPr lang="en-US" smtClean="0"/>
              <a:t>9/18/2025</a:t>
            </a:fld>
            <a:endParaRPr lang="en-US" dirty="0"/>
          </a:p>
        </p:txBody>
      </p:sp>
      <p:sp>
        <p:nvSpPr>
          <p:cNvPr id="5" name="Slide Number Placeholder 4">
            <a:extLst>
              <a:ext uri="{FF2B5EF4-FFF2-40B4-BE49-F238E27FC236}">
                <a16:creationId xmlns:a16="http://schemas.microsoft.com/office/drawing/2014/main" id="{2852801E-8C77-2FB4-497E-3C6329FBA3B6}"/>
              </a:ext>
            </a:extLst>
          </p:cNvPr>
          <p:cNvSpPr>
            <a:spLocks noGrp="1"/>
          </p:cNvSpPr>
          <p:nvPr>
            <p:ph type="sldNum" sz="quarter" idx="12"/>
          </p:nvPr>
        </p:nvSpPr>
        <p:spPr/>
        <p:txBody>
          <a:bodyPr/>
          <a:lstStyle/>
          <a:p>
            <a:fld id="{330EA680-D336-4FF7-8B7A-9848BB0A1C32}" type="slidenum">
              <a:rPr lang="en-US" smtClean="0"/>
              <a:t>14</a:t>
            </a:fld>
            <a:endParaRPr lang="en-US" dirty="0"/>
          </a:p>
        </p:txBody>
      </p:sp>
      <p:sp>
        <p:nvSpPr>
          <p:cNvPr id="6" name="Title 5">
            <a:extLst>
              <a:ext uri="{FF2B5EF4-FFF2-40B4-BE49-F238E27FC236}">
                <a16:creationId xmlns:a16="http://schemas.microsoft.com/office/drawing/2014/main" id="{9CBCE4DB-D560-508A-3520-CAD5283A0E15}"/>
              </a:ext>
            </a:extLst>
          </p:cNvPr>
          <p:cNvSpPr>
            <a:spLocks noGrp="1"/>
          </p:cNvSpPr>
          <p:nvPr>
            <p:ph type="title"/>
          </p:nvPr>
        </p:nvSpPr>
        <p:spPr/>
        <p:txBody>
          <a:bodyPr/>
          <a:lstStyle/>
          <a:p>
            <a:r>
              <a:rPr lang="en-US" sz="2800"/>
              <a:t>User Stories - Admin</a:t>
            </a:r>
          </a:p>
        </p:txBody>
      </p:sp>
    </p:spTree>
    <p:extLst>
      <p:ext uri="{BB962C8B-B14F-4D97-AF65-F5344CB8AC3E}">
        <p14:creationId xmlns:p14="http://schemas.microsoft.com/office/powerpoint/2010/main" val="1811411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FB491-ED07-2B1F-0971-EC0F1C67A0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5D0584-2928-2814-84ED-C33795300D16}"/>
              </a:ext>
            </a:extLst>
          </p:cNvPr>
          <p:cNvSpPr>
            <a:spLocks noGrp="1"/>
          </p:cNvSpPr>
          <p:nvPr>
            <p:ph type="ctrTitle"/>
          </p:nvPr>
        </p:nvSpPr>
        <p:spPr>
          <a:xfrm>
            <a:off x="1523999" y="3307311"/>
            <a:ext cx="9144000" cy="2387600"/>
          </a:xfrm>
        </p:spPr>
        <p:txBody>
          <a:bodyPr anchor="ctr"/>
          <a:lstStyle/>
          <a:p>
            <a:r>
              <a:rPr lang="en-US" dirty="0"/>
              <a:t>Login &amp; Notification Screens</a:t>
            </a:r>
          </a:p>
        </p:txBody>
      </p:sp>
      <p:sp>
        <p:nvSpPr>
          <p:cNvPr id="8" name="Date Placeholder 7">
            <a:extLst>
              <a:ext uri="{FF2B5EF4-FFF2-40B4-BE49-F238E27FC236}">
                <a16:creationId xmlns:a16="http://schemas.microsoft.com/office/drawing/2014/main" id="{B9570C7E-74F9-41FC-1ADE-66DF05982498}"/>
              </a:ext>
            </a:extLst>
          </p:cNvPr>
          <p:cNvSpPr>
            <a:spLocks noGrp="1"/>
          </p:cNvSpPr>
          <p:nvPr>
            <p:ph type="dt" sz="half" idx="10"/>
          </p:nvPr>
        </p:nvSpPr>
        <p:spPr/>
        <p:txBody>
          <a:bodyPr/>
          <a:lstStyle/>
          <a:p>
            <a:fld id="{5948895C-732D-4B88-B65C-5D83E3577007}" type="datetime1">
              <a:rPr lang="en-US" smtClean="0"/>
              <a:t>9/18/2025</a:t>
            </a:fld>
            <a:endParaRPr lang="en-US"/>
          </a:p>
        </p:txBody>
      </p:sp>
      <p:sp>
        <p:nvSpPr>
          <p:cNvPr id="9" name="Slide Number Placeholder 8">
            <a:extLst>
              <a:ext uri="{FF2B5EF4-FFF2-40B4-BE49-F238E27FC236}">
                <a16:creationId xmlns:a16="http://schemas.microsoft.com/office/drawing/2014/main" id="{6361681B-05D1-39AB-F96A-6266016D8B10}"/>
              </a:ext>
            </a:extLst>
          </p:cNvPr>
          <p:cNvSpPr>
            <a:spLocks noGrp="1"/>
          </p:cNvSpPr>
          <p:nvPr>
            <p:ph type="sldNum" sz="quarter" idx="12"/>
          </p:nvPr>
        </p:nvSpPr>
        <p:spPr/>
        <p:txBody>
          <a:bodyPr/>
          <a:lstStyle/>
          <a:p>
            <a:fld id="{330EA680-D336-4FF7-8B7A-9848BB0A1C32}" type="slidenum">
              <a:rPr lang="en-US" smtClean="0"/>
              <a:t>15</a:t>
            </a:fld>
            <a:endParaRPr lang="en-US"/>
          </a:p>
        </p:txBody>
      </p:sp>
      <p:pic>
        <p:nvPicPr>
          <p:cNvPr id="10" name="Picture 9" descr="GreenCircle Certified">
            <a:extLst>
              <a:ext uri="{FF2B5EF4-FFF2-40B4-BE49-F238E27FC236}">
                <a16:creationId xmlns:a16="http://schemas.microsoft.com/office/drawing/2014/main" id="{8BC9D880-2D06-69C6-D719-F105A09FA694}"/>
              </a:ext>
            </a:extLst>
          </p:cNvPr>
          <p:cNvPicPr>
            <a:picLocks noChangeAspect="1"/>
          </p:cNvPicPr>
          <p:nvPr/>
        </p:nvPicPr>
        <p:blipFill>
          <a:blip r:embed="rId2"/>
          <a:stretch>
            <a:fillRect/>
          </a:stretch>
        </p:blipFill>
        <p:spPr>
          <a:xfrm>
            <a:off x="4844495" y="1258786"/>
            <a:ext cx="2503009" cy="2400644"/>
          </a:xfrm>
          <a:prstGeom prst="rect">
            <a:avLst/>
          </a:prstGeom>
        </p:spPr>
      </p:pic>
    </p:spTree>
    <p:extLst>
      <p:ext uri="{BB962C8B-B14F-4D97-AF65-F5344CB8AC3E}">
        <p14:creationId xmlns:p14="http://schemas.microsoft.com/office/powerpoint/2010/main" val="3070947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31BD5-6BEA-3C5C-196D-E987FF14EF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2FBAA0-CBF4-D4E8-3B7F-7ADE4A44A910}"/>
              </a:ext>
            </a:extLst>
          </p:cNvPr>
          <p:cNvSpPr>
            <a:spLocks noGrp="1"/>
          </p:cNvSpPr>
          <p:nvPr>
            <p:ph type="title"/>
          </p:nvPr>
        </p:nvSpPr>
        <p:spPr>
          <a:xfrm>
            <a:off x="598503" y="193906"/>
            <a:ext cx="10515600" cy="487131"/>
          </a:xfrm>
          <a:prstGeom prst="rect">
            <a:avLst/>
          </a:prstGeom>
        </p:spPr>
        <p:txBody>
          <a:bodyPr anchor="ctr">
            <a:normAutofit/>
          </a:bodyPr>
          <a:lstStyle/>
          <a:p>
            <a:r>
              <a:rPr lang="en-US" sz="2800" dirty="0"/>
              <a:t>Notifications &amp; Alerts</a:t>
            </a:r>
          </a:p>
        </p:txBody>
      </p:sp>
      <p:sp>
        <p:nvSpPr>
          <p:cNvPr id="3" name="Date Placeholder 2">
            <a:extLst>
              <a:ext uri="{FF2B5EF4-FFF2-40B4-BE49-F238E27FC236}">
                <a16:creationId xmlns:a16="http://schemas.microsoft.com/office/drawing/2014/main" id="{E0DC78D8-CEED-AF4E-AD33-45DDDAA8419F}"/>
              </a:ext>
            </a:extLst>
          </p:cNvPr>
          <p:cNvSpPr>
            <a:spLocks noGrp="1"/>
          </p:cNvSpPr>
          <p:nvPr>
            <p:ph type="dt" sz="half" idx="10"/>
          </p:nvPr>
        </p:nvSpPr>
        <p:spPr>
          <a:xfrm>
            <a:off x="838200" y="6356350"/>
            <a:ext cx="2743200" cy="365125"/>
          </a:xfrm>
        </p:spPr>
        <p:txBody>
          <a:bodyPr anchor="ctr">
            <a:normAutofit/>
          </a:bodyPr>
          <a:lstStyle/>
          <a:p>
            <a:pPr>
              <a:spcAft>
                <a:spcPts val="600"/>
              </a:spcAft>
            </a:pPr>
            <a:fld id="{14EC8B48-3E80-40FE-82B7-08F610C8B0AF}" type="datetime1">
              <a:rPr lang="en-US" smtClean="0"/>
              <a:pPr>
                <a:spcAft>
                  <a:spcPts val="600"/>
                </a:spcAft>
              </a:pPr>
              <a:t>9/18/2025</a:t>
            </a:fld>
            <a:endParaRPr lang="en-US"/>
          </a:p>
        </p:txBody>
      </p:sp>
      <p:sp>
        <p:nvSpPr>
          <p:cNvPr id="4" name="Slide Number Placeholder 3">
            <a:extLst>
              <a:ext uri="{FF2B5EF4-FFF2-40B4-BE49-F238E27FC236}">
                <a16:creationId xmlns:a16="http://schemas.microsoft.com/office/drawing/2014/main" id="{9BF6ED04-09E1-663D-D0D9-4C847065DA10}"/>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16</a:t>
            </a:fld>
            <a:endParaRPr lang="en-US"/>
          </a:p>
        </p:txBody>
      </p:sp>
      <p:sp>
        <p:nvSpPr>
          <p:cNvPr id="6" name="TextBox 5">
            <a:extLst>
              <a:ext uri="{FF2B5EF4-FFF2-40B4-BE49-F238E27FC236}">
                <a16:creationId xmlns:a16="http://schemas.microsoft.com/office/drawing/2014/main" id="{05792F07-3808-9329-96F3-266DB6C566C8}"/>
              </a:ext>
            </a:extLst>
          </p:cNvPr>
          <p:cNvSpPr txBox="1"/>
          <p:nvPr/>
        </p:nvSpPr>
        <p:spPr>
          <a:xfrm>
            <a:off x="5704031" y="3546142"/>
            <a:ext cx="6148747" cy="2031325"/>
          </a:xfrm>
          <a:prstGeom prst="rect">
            <a:avLst/>
          </a:prstGeom>
          <a:solidFill>
            <a:schemeClr val="bg1"/>
          </a:solidFill>
        </p:spPr>
        <p:txBody>
          <a:bodyPr wrap="square">
            <a:spAutoFit/>
          </a:bodyPr>
          <a:lstStyle/>
          <a:p>
            <a:pPr>
              <a:buNone/>
            </a:pPr>
            <a:r>
              <a:rPr lang="en-US" sz="1400" dirty="0">
                <a:latin typeface="Century Gothic" panose="020B0502020202020204" pitchFamily="34" charset="0"/>
              </a:rPr>
              <a:t>Notes: </a:t>
            </a:r>
          </a:p>
          <a:p>
            <a:pPr marL="171450" indent="-171450">
              <a:buFont typeface="Arial" panose="020B0604020202020204" pitchFamily="34" charset="0"/>
              <a:buChar char="•"/>
            </a:pPr>
            <a:r>
              <a:rPr lang="en-US" sz="1400" dirty="0">
                <a:latin typeface="Century Gothic" panose="020B0502020202020204" pitchFamily="34" charset="0"/>
              </a:rPr>
              <a:t>Examples of notification and alerts. </a:t>
            </a:r>
          </a:p>
          <a:p>
            <a:pPr marL="171450" indent="-171450">
              <a:buFont typeface="Arial" panose="020B0604020202020204" pitchFamily="34" charset="0"/>
              <a:buChar char="•"/>
            </a:pPr>
            <a:r>
              <a:rPr lang="en-US" sz="1400" dirty="0">
                <a:latin typeface="Century Gothic" panose="020B0502020202020204" pitchFamily="34" charset="0"/>
              </a:rPr>
              <a:t>We will need to identify all instances of where notifications and alerts need to occur. </a:t>
            </a:r>
          </a:p>
          <a:p>
            <a:pPr marL="171450" indent="-171450">
              <a:buFont typeface="Arial" panose="020B0604020202020204" pitchFamily="34" charset="0"/>
              <a:buChar char="•"/>
            </a:pPr>
            <a:r>
              <a:rPr lang="en-US" sz="1400" dirty="0">
                <a:latin typeface="Century Gothic" panose="020B0502020202020204" pitchFamily="34" charset="0"/>
              </a:rPr>
              <a:t>Color-coded:</a:t>
            </a:r>
          </a:p>
          <a:p>
            <a:pPr marL="628650" lvl="1" indent="-171450">
              <a:buFont typeface="Arial" panose="020B0604020202020204" pitchFamily="34" charset="0"/>
              <a:buChar char="•"/>
            </a:pPr>
            <a:r>
              <a:rPr lang="en-US" sz="1400" dirty="0">
                <a:latin typeface="Century Gothic" panose="020B0502020202020204" pitchFamily="34" charset="0"/>
              </a:rPr>
              <a:t>Green for success</a:t>
            </a:r>
          </a:p>
          <a:p>
            <a:pPr marL="628650" lvl="1" indent="-171450">
              <a:buFont typeface="Arial" panose="020B0604020202020204" pitchFamily="34" charset="0"/>
              <a:buChar char="•"/>
            </a:pPr>
            <a:r>
              <a:rPr lang="en-US" sz="1400" dirty="0">
                <a:latin typeface="Century Gothic" panose="020B0502020202020204" pitchFamily="34" charset="0"/>
              </a:rPr>
              <a:t>Red for errors</a:t>
            </a:r>
          </a:p>
          <a:p>
            <a:pPr marL="628650" lvl="1" indent="-171450">
              <a:buFont typeface="Arial" panose="020B0604020202020204" pitchFamily="34" charset="0"/>
              <a:buChar char="•"/>
            </a:pPr>
            <a:r>
              <a:rPr lang="en-US" sz="1400" dirty="0">
                <a:latin typeface="Century Gothic" panose="020B0502020202020204" pitchFamily="34" charset="0"/>
              </a:rPr>
              <a:t>Yellow for warnings on toast messages. </a:t>
            </a:r>
          </a:p>
          <a:p>
            <a:pPr marL="628650" lvl="1" indent="-171450">
              <a:buFont typeface="Arial" panose="020B0604020202020204" pitchFamily="34" charset="0"/>
              <a:buChar char="•"/>
            </a:pPr>
            <a:r>
              <a:rPr lang="en-US" sz="1400" dirty="0">
                <a:latin typeface="Century Gothic" panose="020B0502020202020204" pitchFamily="34" charset="0"/>
              </a:rPr>
              <a:t>Blue/gray for info(navy blue)</a:t>
            </a:r>
          </a:p>
        </p:txBody>
      </p:sp>
      <p:pic>
        <p:nvPicPr>
          <p:cNvPr id="10" name="Picture 9">
            <a:extLst>
              <a:ext uri="{FF2B5EF4-FFF2-40B4-BE49-F238E27FC236}">
                <a16:creationId xmlns:a16="http://schemas.microsoft.com/office/drawing/2014/main" id="{BE086328-27AE-251D-F5A2-0B107C547948}"/>
              </a:ext>
            </a:extLst>
          </p:cNvPr>
          <p:cNvPicPr>
            <a:picLocks noChangeAspect="1"/>
          </p:cNvPicPr>
          <p:nvPr/>
        </p:nvPicPr>
        <p:blipFill>
          <a:blip r:embed="rId3"/>
          <a:srcRect t="36091"/>
          <a:stretch>
            <a:fillRect/>
          </a:stretch>
        </p:blipFill>
        <p:spPr>
          <a:xfrm>
            <a:off x="491769" y="2767262"/>
            <a:ext cx="4592697" cy="3589087"/>
          </a:xfrm>
          <a:prstGeom prst="rect">
            <a:avLst/>
          </a:prstGeom>
        </p:spPr>
      </p:pic>
      <p:pic>
        <p:nvPicPr>
          <p:cNvPr id="7" name="Picture 6">
            <a:extLst>
              <a:ext uri="{FF2B5EF4-FFF2-40B4-BE49-F238E27FC236}">
                <a16:creationId xmlns:a16="http://schemas.microsoft.com/office/drawing/2014/main" id="{6E12C132-97BA-9CB1-709F-88AD4434C8F3}"/>
              </a:ext>
            </a:extLst>
          </p:cNvPr>
          <p:cNvPicPr>
            <a:picLocks noChangeAspect="1"/>
          </p:cNvPicPr>
          <p:nvPr/>
        </p:nvPicPr>
        <p:blipFill>
          <a:blip r:embed="rId4"/>
          <a:srcRect b="50762"/>
          <a:stretch>
            <a:fillRect/>
          </a:stretch>
        </p:blipFill>
        <p:spPr>
          <a:xfrm>
            <a:off x="5427305" y="740450"/>
            <a:ext cx="4390464" cy="1930561"/>
          </a:xfrm>
          <a:prstGeom prst="rect">
            <a:avLst/>
          </a:prstGeom>
        </p:spPr>
      </p:pic>
      <p:pic>
        <p:nvPicPr>
          <p:cNvPr id="8" name="Picture 7">
            <a:extLst>
              <a:ext uri="{FF2B5EF4-FFF2-40B4-BE49-F238E27FC236}">
                <a16:creationId xmlns:a16="http://schemas.microsoft.com/office/drawing/2014/main" id="{B33AE60E-83A7-2489-2448-E50674663EC6}"/>
              </a:ext>
            </a:extLst>
          </p:cNvPr>
          <p:cNvPicPr>
            <a:picLocks noChangeAspect="1"/>
          </p:cNvPicPr>
          <p:nvPr/>
        </p:nvPicPr>
        <p:blipFill>
          <a:blip r:embed="rId5"/>
          <a:stretch>
            <a:fillRect/>
          </a:stretch>
        </p:blipFill>
        <p:spPr>
          <a:xfrm>
            <a:off x="491769" y="681038"/>
            <a:ext cx="4592697" cy="2022398"/>
          </a:xfrm>
          <a:prstGeom prst="rect">
            <a:avLst/>
          </a:prstGeom>
        </p:spPr>
      </p:pic>
    </p:spTree>
    <p:extLst>
      <p:ext uri="{BB962C8B-B14F-4D97-AF65-F5344CB8AC3E}">
        <p14:creationId xmlns:p14="http://schemas.microsoft.com/office/powerpoint/2010/main" val="33628217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C68F1-89EA-34EA-A857-27A311141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4853A1-B4A4-3435-EEB7-FE4E03BFE48E}"/>
              </a:ext>
            </a:extLst>
          </p:cNvPr>
          <p:cNvSpPr>
            <a:spLocks noGrp="1"/>
          </p:cNvSpPr>
          <p:nvPr>
            <p:ph type="title"/>
          </p:nvPr>
        </p:nvSpPr>
        <p:spPr>
          <a:xfrm>
            <a:off x="598503" y="193906"/>
            <a:ext cx="10515600" cy="487131"/>
          </a:xfrm>
          <a:prstGeom prst="rect">
            <a:avLst/>
          </a:prstGeom>
        </p:spPr>
        <p:txBody>
          <a:bodyPr anchor="ctr">
            <a:normAutofit/>
          </a:bodyPr>
          <a:lstStyle/>
          <a:p>
            <a:r>
              <a:rPr lang="en-US" sz="2800" dirty="0"/>
              <a:t>Notifications &amp; Alerts</a:t>
            </a:r>
          </a:p>
        </p:txBody>
      </p:sp>
      <p:sp>
        <p:nvSpPr>
          <p:cNvPr id="3" name="Date Placeholder 2">
            <a:extLst>
              <a:ext uri="{FF2B5EF4-FFF2-40B4-BE49-F238E27FC236}">
                <a16:creationId xmlns:a16="http://schemas.microsoft.com/office/drawing/2014/main" id="{FA03C458-CD3B-A228-EC32-4D2F4CEBC7CD}"/>
              </a:ext>
            </a:extLst>
          </p:cNvPr>
          <p:cNvSpPr>
            <a:spLocks noGrp="1"/>
          </p:cNvSpPr>
          <p:nvPr>
            <p:ph type="dt" sz="half" idx="10"/>
          </p:nvPr>
        </p:nvSpPr>
        <p:spPr>
          <a:xfrm>
            <a:off x="838200" y="6356350"/>
            <a:ext cx="2743200" cy="365125"/>
          </a:xfrm>
        </p:spPr>
        <p:txBody>
          <a:bodyPr anchor="ctr">
            <a:normAutofit/>
          </a:bodyPr>
          <a:lstStyle/>
          <a:p>
            <a:pPr>
              <a:spcAft>
                <a:spcPts val="600"/>
              </a:spcAft>
            </a:pPr>
            <a:fld id="{14EC8B48-3E80-40FE-82B7-08F610C8B0AF}" type="datetime1">
              <a:rPr lang="en-US" smtClean="0"/>
              <a:pPr>
                <a:spcAft>
                  <a:spcPts val="600"/>
                </a:spcAft>
              </a:pPr>
              <a:t>9/18/2025</a:t>
            </a:fld>
            <a:endParaRPr lang="en-US"/>
          </a:p>
        </p:txBody>
      </p:sp>
      <p:sp>
        <p:nvSpPr>
          <p:cNvPr id="4" name="Slide Number Placeholder 3">
            <a:extLst>
              <a:ext uri="{FF2B5EF4-FFF2-40B4-BE49-F238E27FC236}">
                <a16:creationId xmlns:a16="http://schemas.microsoft.com/office/drawing/2014/main" id="{4926E3A7-BD26-FF5A-336D-1FAFB4B63B29}"/>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17</a:t>
            </a:fld>
            <a:endParaRPr lang="en-US"/>
          </a:p>
        </p:txBody>
      </p:sp>
      <p:sp>
        <p:nvSpPr>
          <p:cNvPr id="6" name="TextBox 5">
            <a:extLst>
              <a:ext uri="{FF2B5EF4-FFF2-40B4-BE49-F238E27FC236}">
                <a16:creationId xmlns:a16="http://schemas.microsoft.com/office/drawing/2014/main" id="{D4608E96-635A-2C56-442A-9898A3D8FE56}"/>
              </a:ext>
            </a:extLst>
          </p:cNvPr>
          <p:cNvSpPr txBox="1"/>
          <p:nvPr/>
        </p:nvSpPr>
        <p:spPr>
          <a:xfrm>
            <a:off x="5216579" y="681037"/>
            <a:ext cx="3195548" cy="4154984"/>
          </a:xfrm>
          <a:prstGeom prst="rect">
            <a:avLst/>
          </a:prstGeom>
          <a:solidFill>
            <a:schemeClr val="bg1"/>
          </a:solidFill>
        </p:spPr>
        <p:txBody>
          <a:bodyPr wrap="square">
            <a:spAutoFit/>
          </a:bodyPr>
          <a:lstStyle/>
          <a:p>
            <a:pPr>
              <a:buNone/>
            </a:pPr>
            <a:r>
              <a:rPr lang="en-US" sz="1600" dirty="0">
                <a:latin typeface="Century Gothic" panose="020B0502020202020204" pitchFamily="34" charset="0"/>
              </a:rPr>
              <a:t>Notes: </a:t>
            </a:r>
          </a:p>
          <a:p>
            <a:pPr marL="171450" indent="-171450">
              <a:buFont typeface="Arial" panose="020B0604020202020204" pitchFamily="34" charset="0"/>
              <a:buChar char="•"/>
            </a:pPr>
            <a:r>
              <a:rPr lang="en-US" sz="1600" dirty="0">
                <a:latin typeface="Century Gothic" panose="020B0502020202020204" pitchFamily="34" charset="0"/>
              </a:rPr>
              <a:t>Examples of notification and alerts. </a:t>
            </a:r>
          </a:p>
          <a:p>
            <a:pPr marL="171450" indent="-171450">
              <a:buFont typeface="Arial" panose="020B0604020202020204" pitchFamily="34" charset="0"/>
              <a:buChar char="•"/>
            </a:pPr>
            <a:r>
              <a:rPr lang="en-US" sz="1600" dirty="0">
                <a:latin typeface="Century Gothic" panose="020B0502020202020204" pitchFamily="34" charset="0"/>
              </a:rPr>
              <a:t>We will need to identify all instances of where notifications and alerts need to occur. </a:t>
            </a:r>
          </a:p>
          <a:p>
            <a:pPr marL="171450" indent="-171450">
              <a:buFont typeface="Arial" panose="020B0604020202020204" pitchFamily="34" charset="0"/>
              <a:buChar char="•"/>
            </a:pPr>
            <a:r>
              <a:rPr lang="en-US" sz="1600" dirty="0">
                <a:latin typeface="Century Gothic" panose="020B0502020202020204" pitchFamily="34" charset="0"/>
              </a:rPr>
              <a:t>Color-coded:</a:t>
            </a:r>
          </a:p>
          <a:p>
            <a:pPr marL="628650" lvl="1" indent="-171450">
              <a:buFont typeface="Arial" panose="020B0604020202020204" pitchFamily="34" charset="0"/>
              <a:buChar char="•"/>
            </a:pPr>
            <a:r>
              <a:rPr lang="en-US" sz="1600" dirty="0">
                <a:latin typeface="Century Gothic" panose="020B0502020202020204" pitchFamily="34" charset="0"/>
              </a:rPr>
              <a:t>Green for success</a:t>
            </a:r>
          </a:p>
          <a:p>
            <a:pPr marL="628650" lvl="1" indent="-171450">
              <a:buFont typeface="Arial" panose="020B0604020202020204" pitchFamily="34" charset="0"/>
              <a:buChar char="•"/>
            </a:pPr>
            <a:r>
              <a:rPr lang="en-US" sz="1600" dirty="0">
                <a:latin typeface="Century Gothic" panose="020B0502020202020204" pitchFamily="34" charset="0"/>
              </a:rPr>
              <a:t>Red for errors</a:t>
            </a:r>
          </a:p>
          <a:p>
            <a:pPr marL="628650" lvl="1" indent="-171450">
              <a:buFont typeface="Arial" panose="020B0604020202020204" pitchFamily="34" charset="0"/>
              <a:buChar char="•"/>
            </a:pPr>
            <a:r>
              <a:rPr lang="en-US" sz="1600" dirty="0">
                <a:latin typeface="Century Gothic" panose="020B0502020202020204" pitchFamily="34" charset="0"/>
              </a:rPr>
              <a:t>Yellow for warnings</a:t>
            </a:r>
          </a:p>
          <a:p>
            <a:pPr marL="628650" lvl="1" indent="-171450">
              <a:buFont typeface="Arial" panose="020B0604020202020204" pitchFamily="34" charset="0"/>
              <a:buChar char="•"/>
            </a:pPr>
            <a:r>
              <a:rPr lang="en-US" sz="1600" dirty="0">
                <a:latin typeface="Century Gothic" panose="020B0502020202020204" pitchFamily="34" charset="0"/>
              </a:rPr>
              <a:t>Blue/gray for info(navy blue)</a:t>
            </a:r>
          </a:p>
          <a:p>
            <a:pPr>
              <a:buFont typeface="Arial" panose="020B0604020202020204" pitchFamily="34" charset="0"/>
              <a:buChar char="•"/>
            </a:pPr>
            <a:endParaRPr lang="en-US" sz="1400" dirty="0">
              <a:latin typeface="Century Gothic" panose="020B0502020202020204" pitchFamily="34" charset="0"/>
            </a:endParaRPr>
          </a:p>
          <a:p>
            <a:pPr>
              <a:buFont typeface="Arial" panose="020B0604020202020204" pitchFamily="34" charset="0"/>
              <a:buChar char="•"/>
            </a:pPr>
            <a:endParaRPr lang="en-US" sz="1400" dirty="0">
              <a:latin typeface="Century Gothic" panose="020B0502020202020204" pitchFamily="34" charset="0"/>
            </a:endParaRPr>
          </a:p>
          <a:p>
            <a:pPr>
              <a:buFont typeface="Arial" panose="020B0604020202020204" pitchFamily="34" charset="0"/>
              <a:buChar char="•"/>
            </a:pPr>
            <a:endParaRPr lang="en-US" sz="1400" dirty="0">
              <a:latin typeface="Century Gothic" panose="020B0502020202020204" pitchFamily="34" charset="0"/>
            </a:endParaRPr>
          </a:p>
          <a:p>
            <a:pPr>
              <a:buFont typeface="Arial" panose="020B0604020202020204" pitchFamily="34" charset="0"/>
              <a:buChar char="•"/>
            </a:pPr>
            <a:endParaRPr lang="en-US" sz="1400" dirty="0">
              <a:latin typeface="Century Gothic" panose="020B0502020202020204" pitchFamily="34" charset="0"/>
            </a:endParaRPr>
          </a:p>
        </p:txBody>
      </p:sp>
      <p:pic>
        <p:nvPicPr>
          <p:cNvPr id="8" name="Picture 7">
            <a:extLst>
              <a:ext uri="{FF2B5EF4-FFF2-40B4-BE49-F238E27FC236}">
                <a16:creationId xmlns:a16="http://schemas.microsoft.com/office/drawing/2014/main" id="{E7F22F3D-FBE2-D1A5-25EA-9E996F89D6CD}"/>
              </a:ext>
            </a:extLst>
          </p:cNvPr>
          <p:cNvPicPr>
            <a:picLocks noChangeAspect="1"/>
          </p:cNvPicPr>
          <p:nvPr/>
        </p:nvPicPr>
        <p:blipFill>
          <a:blip r:embed="rId3"/>
          <a:stretch>
            <a:fillRect/>
          </a:stretch>
        </p:blipFill>
        <p:spPr>
          <a:xfrm>
            <a:off x="598503" y="798075"/>
            <a:ext cx="4223156" cy="5069326"/>
          </a:xfrm>
          <a:prstGeom prst="rect">
            <a:avLst/>
          </a:prstGeom>
        </p:spPr>
      </p:pic>
    </p:spTree>
    <p:extLst>
      <p:ext uri="{BB962C8B-B14F-4D97-AF65-F5344CB8AC3E}">
        <p14:creationId xmlns:p14="http://schemas.microsoft.com/office/powerpoint/2010/main" val="264324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EDED9-6553-F839-5BB8-ECE530EFD9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886C03-7E70-39C1-D8A3-6327446F23B4}"/>
              </a:ext>
            </a:extLst>
          </p:cNvPr>
          <p:cNvSpPr>
            <a:spLocks noGrp="1"/>
          </p:cNvSpPr>
          <p:nvPr>
            <p:ph type="title"/>
          </p:nvPr>
        </p:nvSpPr>
        <p:spPr>
          <a:xfrm>
            <a:off x="598503" y="193906"/>
            <a:ext cx="10515600" cy="487131"/>
          </a:xfrm>
        </p:spPr>
        <p:txBody>
          <a:bodyPr>
            <a:normAutofit/>
          </a:bodyPr>
          <a:lstStyle/>
          <a:p>
            <a:r>
              <a:rPr lang="en-US" sz="2800" dirty="0"/>
              <a:t>Wireframe Notes – 6.1 – Login</a:t>
            </a:r>
          </a:p>
        </p:txBody>
      </p:sp>
      <p:sp>
        <p:nvSpPr>
          <p:cNvPr id="4" name="Date Placeholder 3">
            <a:extLst>
              <a:ext uri="{FF2B5EF4-FFF2-40B4-BE49-F238E27FC236}">
                <a16:creationId xmlns:a16="http://schemas.microsoft.com/office/drawing/2014/main" id="{7CEA786A-3A51-C83C-6A99-7F9D5D202F7D}"/>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F24EE21D-0ADF-CF2A-1B5C-EED77B63B112}"/>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18</a:t>
            </a:fld>
            <a:endParaRPr lang="en-US"/>
          </a:p>
        </p:txBody>
      </p:sp>
      <p:sp>
        <p:nvSpPr>
          <p:cNvPr id="7" name="TextBox 6">
            <a:extLst>
              <a:ext uri="{FF2B5EF4-FFF2-40B4-BE49-F238E27FC236}">
                <a16:creationId xmlns:a16="http://schemas.microsoft.com/office/drawing/2014/main" id="{1A4233D7-8F36-0C85-2459-7162568D352C}"/>
              </a:ext>
            </a:extLst>
          </p:cNvPr>
          <p:cNvSpPr txBox="1"/>
          <p:nvPr/>
        </p:nvSpPr>
        <p:spPr>
          <a:xfrm>
            <a:off x="7918597" y="936241"/>
            <a:ext cx="3989868" cy="2523768"/>
          </a:xfrm>
          <a:prstGeom prst="rect">
            <a:avLst/>
          </a:prstGeom>
          <a:noFill/>
        </p:spPr>
        <p:txBody>
          <a:bodyPr wrap="square">
            <a:spAutoFit/>
          </a:bodyPr>
          <a:lstStyle/>
          <a:p>
            <a:pPr>
              <a:buNone/>
            </a:pPr>
            <a:r>
              <a:rPr lang="en-US" sz="1600" b="1" dirty="0">
                <a:latin typeface="Century Gothic" panose="020B0502020202020204" pitchFamily="34" charset="0"/>
              </a:rPr>
              <a:t>Login Screen</a:t>
            </a:r>
            <a:endParaRPr lang="en-US" sz="1600" dirty="0">
              <a:latin typeface="Century Gothic" panose="020B0502020202020204" pitchFamily="34" charset="0"/>
            </a:endParaRPr>
          </a:p>
          <a:p>
            <a:pPr>
              <a:buFont typeface="Arial" panose="020B0604020202020204" pitchFamily="34" charset="0"/>
              <a:buChar char="•"/>
            </a:pPr>
            <a:r>
              <a:rPr lang="en-US" sz="1600" dirty="0">
                <a:latin typeface="Century Gothic" panose="020B0502020202020204" pitchFamily="34" charset="0"/>
              </a:rPr>
              <a:t>Username/Email and Password fields</a:t>
            </a:r>
          </a:p>
          <a:p>
            <a:pPr>
              <a:buFont typeface="Arial" panose="020B0604020202020204" pitchFamily="34" charset="0"/>
              <a:buChar char="•"/>
            </a:pPr>
            <a:r>
              <a:rPr lang="en-US" sz="1600" dirty="0">
                <a:latin typeface="Century Gothic" panose="020B0502020202020204" pitchFamily="34" charset="0"/>
              </a:rPr>
              <a:t>Login button</a:t>
            </a:r>
          </a:p>
          <a:p>
            <a:pPr>
              <a:buFont typeface="Arial" panose="020B0604020202020204" pitchFamily="34" charset="0"/>
              <a:buChar char="•"/>
            </a:pPr>
            <a:r>
              <a:rPr lang="en-US" sz="1600" dirty="0">
                <a:latin typeface="Century Gothic" panose="020B0502020202020204" pitchFamily="34" charset="0"/>
              </a:rPr>
              <a:t>"Forgot Password" link</a:t>
            </a:r>
          </a:p>
          <a:p>
            <a:pPr>
              <a:buFont typeface="Arial" panose="020B0604020202020204" pitchFamily="34" charset="0"/>
              <a:buChar char="•"/>
            </a:pPr>
            <a:endParaRPr lang="en-US" sz="1600" dirty="0">
              <a:latin typeface="Century Gothic" panose="020B0502020202020204" pitchFamily="34" charset="0"/>
            </a:endParaRPr>
          </a:p>
          <a:p>
            <a:pPr>
              <a:buFont typeface="Arial" panose="020B0604020202020204" pitchFamily="34" charset="0"/>
              <a:buChar char="•"/>
            </a:pPr>
            <a:endParaRPr lang="en-US" sz="1600" dirty="0">
              <a:latin typeface="Century Gothic" panose="020B0502020202020204" pitchFamily="34" charset="0"/>
            </a:endParaRPr>
          </a:p>
          <a:p>
            <a:pPr>
              <a:buFont typeface="Arial" panose="020B0604020202020204" pitchFamily="34" charset="0"/>
              <a:buChar char="•"/>
            </a:pPr>
            <a:r>
              <a:rPr lang="en-US" sz="1600" b="1" dirty="0">
                <a:solidFill>
                  <a:srgbClr val="FF0000"/>
                </a:solidFill>
                <a:latin typeface="Century Gothic" panose="020B0502020202020204" pitchFamily="34" charset="0"/>
              </a:rPr>
              <a:t>The login screen has been updated. If this UI is preferred. We can update the remaining login screens to match. </a:t>
            </a:r>
          </a:p>
          <a:p>
            <a:endParaRPr lang="en-US" sz="1400" dirty="0">
              <a:latin typeface="Century Gothic" panose="020B0502020202020204" pitchFamily="34" charset="0"/>
            </a:endParaRPr>
          </a:p>
        </p:txBody>
      </p:sp>
      <p:pic>
        <p:nvPicPr>
          <p:cNvPr id="8" name="Picture 7">
            <a:extLst>
              <a:ext uri="{FF2B5EF4-FFF2-40B4-BE49-F238E27FC236}">
                <a16:creationId xmlns:a16="http://schemas.microsoft.com/office/drawing/2014/main" id="{BDF1FC05-C05D-D736-6D21-9A7C75E913B9}"/>
              </a:ext>
            </a:extLst>
          </p:cNvPr>
          <p:cNvPicPr>
            <a:picLocks noChangeAspect="1"/>
          </p:cNvPicPr>
          <p:nvPr/>
        </p:nvPicPr>
        <p:blipFill>
          <a:blip r:embed="rId3"/>
          <a:stretch>
            <a:fillRect/>
          </a:stretch>
        </p:blipFill>
        <p:spPr>
          <a:xfrm>
            <a:off x="7977007" y="3703263"/>
            <a:ext cx="3873047" cy="2456664"/>
          </a:xfrm>
          <a:prstGeom prst="rect">
            <a:avLst/>
          </a:prstGeom>
        </p:spPr>
      </p:pic>
      <p:pic>
        <p:nvPicPr>
          <p:cNvPr id="12" name="Picture 11">
            <a:extLst>
              <a:ext uri="{FF2B5EF4-FFF2-40B4-BE49-F238E27FC236}">
                <a16:creationId xmlns:a16="http://schemas.microsoft.com/office/drawing/2014/main" id="{927FF4B5-4466-C960-691E-59323EE42FF1}"/>
              </a:ext>
            </a:extLst>
          </p:cNvPr>
          <p:cNvPicPr>
            <a:picLocks noChangeAspect="1"/>
          </p:cNvPicPr>
          <p:nvPr/>
        </p:nvPicPr>
        <p:blipFill>
          <a:blip r:embed="rId4"/>
          <a:stretch>
            <a:fillRect/>
          </a:stretch>
        </p:blipFill>
        <p:spPr>
          <a:xfrm>
            <a:off x="283535" y="852964"/>
            <a:ext cx="7441192" cy="5331458"/>
          </a:xfrm>
          <a:prstGeom prst="rect">
            <a:avLst/>
          </a:prstGeom>
        </p:spPr>
      </p:pic>
    </p:spTree>
    <p:extLst>
      <p:ext uri="{BB962C8B-B14F-4D97-AF65-F5344CB8AC3E}">
        <p14:creationId xmlns:p14="http://schemas.microsoft.com/office/powerpoint/2010/main" val="12110894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A775A-0F23-CDC1-1312-69EB2F118E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165BE3-4C59-9685-1D62-3E5D0AC05F93}"/>
              </a:ext>
            </a:extLst>
          </p:cNvPr>
          <p:cNvSpPr>
            <a:spLocks noGrp="1"/>
          </p:cNvSpPr>
          <p:nvPr>
            <p:ph type="title"/>
          </p:nvPr>
        </p:nvSpPr>
        <p:spPr>
          <a:xfrm>
            <a:off x="598503" y="193906"/>
            <a:ext cx="10515600" cy="487131"/>
          </a:xfrm>
        </p:spPr>
        <p:txBody>
          <a:bodyPr>
            <a:normAutofit/>
          </a:bodyPr>
          <a:lstStyle/>
          <a:p>
            <a:r>
              <a:rPr lang="en-US" sz="2800" dirty="0"/>
              <a:t>Wireframe Notes – 6.2 – Forgot Password</a:t>
            </a:r>
          </a:p>
        </p:txBody>
      </p:sp>
      <p:sp>
        <p:nvSpPr>
          <p:cNvPr id="4" name="Date Placeholder 3">
            <a:extLst>
              <a:ext uri="{FF2B5EF4-FFF2-40B4-BE49-F238E27FC236}">
                <a16:creationId xmlns:a16="http://schemas.microsoft.com/office/drawing/2014/main" id="{F3FBA27D-A21D-1FE8-BBFB-04F598303161}"/>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4591D889-0599-4C31-4E9B-72228748E26E}"/>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19</a:t>
            </a:fld>
            <a:endParaRPr lang="en-US"/>
          </a:p>
        </p:txBody>
      </p:sp>
      <p:sp>
        <p:nvSpPr>
          <p:cNvPr id="6" name="TextBox 5">
            <a:extLst>
              <a:ext uri="{FF2B5EF4-FFF2-40B4-BE49-F238E27FC236}">
                <a16:creationId xmlns:a16="http://schemas.microsoft.com/office/drawing/2014/main" id="{A630E09E-DC36-13B0-94EE-4F4834604C80}"/>
              </a:ext>
            </a:extLst>
          </p:cNvPr>
          <p:cNvSpPr txBox="1"/>
          <p:nvPr/>
        </p:nvSpPr>
        <p:spPr>
          <a:xfrm>
            <a:off x="8514021" y="968138"/>
            <a:ext cx="3458240" cy="830997"/>
          </a:xfrm>
          <a:prstGeom prst="rect">
            <a:avLst/>
          </a:prstGeom>
          <a:noFill/>
        </p:spPr>
        <p:txBody>
          <a:bodyPr wrap="square">
            <a:spAutoFit/>
          </a:bodyPr>
          <a:lstStyle/>
          <a:p>
            <a:pPr>
              <a:buNone/>
            </a:pPr>
            <a:r>
              <a:rPr lang="en-US" sz="1600" b="1" dirty="0">
                <a:latin typeface="Century Gothic" panose="020B0502020202020204" pitchFamily="34" charset="0"/>
              </a:rPr>
              <a:t>Forgot Password Screen</a:t>
            </a:r>
            <a:endParaRPr lang="en-US" sz="1600" dirty="0">
              <a:latin typeface="Century Gothic" panose="020B0502020202020204" pitchFamily="34" charset="0"/>
            </a:endParaRPr>
          </a:p>
          <a:p>
            <a:pPr>
              <a:buFont typeface="Arial" panose="020B0604020202020204" pitchFamily="34" charset="0"/>
              <a:buChar char="•"/>
            </a:pPr>
            <a:r>
              <a:rPr lang="en-US" sz="1600" dirty="0">
                <a:latin typeface="Century Gothic" panose="020B0502020202020204" pitchFamily="34" charset="0"/>
              </a:rPr>
              <a:t>Input: Email</a:t>
            </a:r>
          </a:p>
          <a:p>
            <a:pPr>
              <a:buFont typeface="Arial" panose="020B0604020202020204" pitchFamily="34" charset="0"/>
              <a:buChar char="•"/>
            </a:pPr>
            <a:r>
              <a:rPr lang="en-US" sz="1600" dirty="0">
                <a:latin typeface="Century Gothic" panose="020B0502020202020204" pitchFamily="34" charset="0"/>
              </a:rPr>
              <a:t>Submit button</a:t>
            </a:r>
          </a:p>
        </p:txBody>
      </p:sp>
      <p:pic>
        <p:nvPicPr>
          <p:cNvPr id="10" name="Picture 9">
            <a:extLst>
              <a:ext uri="{FF2B5EF4-FFF2-40B4-BE49-F238E27FC236}">
                <a16:creationId xmlns:a16="http://schemas.microsoft.com/office/drawing/2014/main" id="{E0AA9A73-2A05-6F60-7A94-759B7251333C}"/>
              </a:ext>
            </a:extLst>
          </p:cNvPr>
          <p:cNvPicPr>
            <a:picLocks noChangeAspect="1"/>
          </p:cNvPicPr>
          <p:nvPr/>
        </p:nvPicPr>
        <p:blipFill>
          <a:blip r:embed="rId3"/>
          <a:stretch>
            <a:fillRect/>
          </a:stretch>
        </p:blipFill>
        <p:spPr>
          <a:xfrm>
            <a:off x="681668" y="837881"/>
            <a:ext cx="4610743" cy="2410161"/>
          </a:xfrm>
          <a:prstGeom prst="rect">
            <a:avLst/>
          </a:prstGeom>
        </p:spPr>
      </p:pic>
    </p:spTree>
    <p:extLst>
      <p:ext uri="{BB962C8B-B14F-4D97-AF65-F5344CB8AC3E}">
        <p14:creationId xmlns:p14="http://schemas.microsoft.com/office/powerpoint/2010/main" val="32497154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70FA5-7257-88DA-A859-41BE2A2129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0FBB03-E4FD-5ACB-17E3-4D5C3FA15D56}"/>
              </a:ext>
            </a:extLst>
          </p:cNvPr>
          <p:cNvSpPr>
            <a:spLocks noGrp="1"/>
          </p:cNvSpPr>
          <p:nvPr>
            <p:ph type="title"/>
          </p:nvPr>
        </p:nvSpPr>
        <p:spPr>
          <a:xfrm>
            <a:off x="598503" y="193906"/>
            <a:ext cx="10515600" cy="487131"/>
          </a:xfrm>
        </p:spPr>
        <p:txBody>
          <a:bodyPr>
            <a:normAutofit/>
          </a:bodyPr>
          <a:lstStyle/>
          <a:p>
            <a:r>
              <a:rPr lang="en-US" sz="2800" dirty="0"/>
              <a:t>Wireframe Notes – 6.3 – Password Reset Confirmation</a:t>
            </a:r>
          </a:p>
        </p:txBody>
      </p:sp>
      <p:sp>
        <p:nvSpPr>
          <p:cNvPr id="4" name="Date Placeholder 3">
            <a:extLst>
              <a:ext uri="{FF2B5EF4-FFF2-40B4-BE49-F238E27FC236}">
                <a16:creationId xmlns:a16="http://schemas.microsoft.com/office/drawing/2014/main" id="{48747B52-8D18-DF07-56D2-267FC14B136E}"/>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F4A90F56-C4AD-BDF6-C1FE-8B40E1D70664}"/>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20</a:t>
            </a:fld>
            <a:endParaRPr lang="en-US"/>
          </a:p>
        </p:txBody>
      </p:sp>
      <p:sp>
        <p:nvSpPr>
          <p:cNvPr id="3" name="TextBox 2">
            <a:extLst>
              <a:ext uri="{FF2B5EF4-FFF2-40B4-BE49-F238E27FC236}">
                <a16:creationId xmlns:a16="http://schemas.microsoft.com/office/drawing/2014/main" id="{36CB1713-A41A-8206-B541-9F2A88B3FD1E}"/>
              </a:ext>
            </a:extLst>
          </p:cNvPr>
          <p:cNvSpPr txBox="1"/>
          <p:nvPr/>
        </p:nvSpPr>
        <p:spPr>
          <a:xfrm>
            <a:off x="8514021" y="968138"/>
            <a:ext cx="3458240" cy="2000548"/>
          </a:xfrm>
          <a:prstGeom prst="rect">
            <a:avLst/>
          </a:prstGeom>
          <a:noFill/>
        </p:spPr>
        <p:txBody>
          <a:bodyPr wrap="square">
            <a:spAutoFit/>
          </a:bodyPr>
          <a:lstStyle/>
          <a:p>
            <a:pPr>
              <a:buNone/>
            </a:pPr>
            <a:r>
              <a:rPr lang="en-US" sz="1600" b="1" dirty="0">
                <a:latin typeface="Century Gothic" panose="020B0502020202020204" pitchFamily="34" charset="0"/>
              </a:rPr>
              <a:t>Password Reset Confirmation Screen (Email Sent)</a:t>
            </a:r>
            <a:endParaRPr lang="en-US" sz="1600" dirty="0">
              <a:latin typeface="Century Gothic" panose="020B0502020202020204" pitchFamily="34" charset="0"/>
            </a:endParaRPr>
          </a:p>
          <a:p>
            <a:pPr>
              <a:buFont typeface="Arial" panose="020B0604020202020204" pitchFamily="34" charset="0"/>
              <a:buChar char="•"/>
            </a:pPr>
            <a:r>
              <a:rPr lang="en-US" sz="1600" dirty="0">
                <a:latin typeface="Century Gothic" panose="020B0502020202020204" pitchFamily="34" charset="0"/>
              </a:rPr>
              <a:t>Confirmation that an email was sent</a:t>
            </a:r>
          </a:p>
          <a:p>
            <a:pPr>
              <a:buFont typeface="Arial" panose="020B0604020202020204" pitchFamily="34" charset="0"/>
              <a:buChar char="•"/>
            </a:pPr>
            <a:r>
              <a:rPr lang="en-US" sz="1600" dirty="0">
                <a:latin typeface="Century Gothic" panose="020B0502020202020204" pitchFamily="34" charset="0"/>
              </a:rPr>
              <a:t>Option to resend</a:t>
            </a:r>
          </a:p>
          <a:p>
            <a:pPr>
              <a:buFont typeface="Arial" panose="020B0604020202020204" pitchFamily="34" charset="0"/>
              <a:buChar char="•"/>
            </a:pPr>
            <a:r>
              <a:rPr lang="en-US" sz="1600" dirty="0">
                <a:latin typeface="Century Gothic" panose="020B0502020202020204" pitchFamily="34" charset="0"/>
              </a:rPr>
              <a:t>Option to go back to Login</a:t>
            </a:r>
          </a:p>
          <a:p>
            <a:pPr>
              <a:buFont typeface="Arial" panose="020B0604020202020204" pitchFamily="34" charset="0"/>
              <a:buChar char="•"/>
            </a:pPr>
            <a:endParaRPr lang="en-US" sz="1400" dirty="0"/>
          </a:p>
          <a:p>
            <a:pPr>
              <a:buFont typeface="Arial" panose="020B0604020202020204" pitchFamily="34" charset="0"/>
              <a:buChar char="•"/>
            </a:pPr>
            <a:endParaRPr lang="en-US" sz="1400" dirty="0"/>
          </a:p>
        </p:txBody>
      </p:sp>
      <p:pic>
        <p:nvPicPr>
          <p:cNvPr id="7" name="Picture 6">
            <a:extLst>
              <a:ext uri="{FF2B5EF4-FFF2-40B4-BE49-F238E27FC236}">
                <a16:creationId xmlns:a16="http://schemas.microsoft.com/office/drawing/2014/main" id="{2F4EA04D-B09F-ED86-E273-5059DB04D170}"/>
              </a:ext>
            </a:extLst>
          </p:cNvPr>
          <p:cNvPicPr>
            <a:picLocks noChangeAspect="1"/>
          </p:cNvPicPr>
          <p:nvPr/>
        </p:nvPicPr>
        <p:blipFill>
          <a:blip r:embed="rId3"/>
          <a:stretch>
            <a:fillRect/>
          </a:stretch>
        </p:blipFill>
        <p:spPr>
          <a:xfrm>
            <a:off x="598503" y="968138"/>
            <a:ext cx="4515480" cy="2238687"/>
          </a:xfrm>
          <a:prstGeom prst="rect">
            <a:avLst/>
          </a:prstGeom>
        </p:spPr>
      </p:pic>
    </p:spTree>
    <p:extLst>
      <p:ext uri="{BB962C8B-B14F-4D97-AF65-F5344CB8AC3E}">
        <p14:creationId xmlns:p14="http://schemas.microsoft.com/office/powerpoint/2010/main" val="13337593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8969A-D813-F197-6971-1EC8C4ED01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59ABE5-8361-5026-B68D-2A7A27AC46E3}"/>
              </a:ext>
            </a:extLst>
          </p:cNvPr>
          <p:cNvSpPr>
            <a:spLocks noGrp="1"/>
          </p:cNvSpPr>
          <p:nvPr>
            <p:ph type="title"/>
          </p:nvPr>
        </p:nvSpPr>
        <p:spPr>
          <a:xfrm>
            <a:off x="598503" y="193906"/>
            <a:ext cx="10515600" cy="487131"/>
          </a:xfrm>
        </p:spPr>
        <p:txBody>
          <a:bodyPr>
            <a:normAutofit/>
          </a:bodyPr>
          <a:lstStyle/>
          <a:p>
            <a:r>
              <a:rPr lang="en-US" sz="2800" dirty="0"/>
              <a:t>Wireframe Notes – 6.4 – Reset Password</a:t>
            </a:r>
          </a:p>
        </p:txBody>
      </p:sp>
      <p:sp>
        <p:nvSpPr>
          <p:cNvPr id="4" name="Date Placeholder 3">
            <a:extLst>
              <a:ext uri="{FF2B5EF4-FFF2-40B4-BE49-F238E27FC236}">
                <a16:creationId xmlns:a16="http://schemas.microsoft.com/office/drawing/2014/main" id="{082AECFB-0FA5-F12D-50BE-4504401D368A}"/>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3B58D630-E51E-3B8F-A8CA-256A6AA9B3CD}"/>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21</a:t>
            </a:fld>
            <a:endParaRPr lang="en-US"/>
          </a:p>
        </p:txBody>
      </p:sp>
      <p:sp>
        <p:nvSpPr>
          <p:cNvPr id="3" name="TextBox 2">
            <a:extLst>
              <a:ext uri="{FF2B5EF4-FFF2-40B4-BE49-F238E27FC236}">
                <a16:creationId xmlns:a16="http://schemas.microsoft.com/office/drawing/2014/main" id="{804476BA-D980-3EA9-C870-340107DC01B2}"/>
              </a:ext>
            </a:extLst>
          </p:cNvPr>
          <p:cNvSpPr txBox="1"/>
          <p:nvPr/>
        </p:nvSpPr>
        <p:spPr>
          <a:xfrm>
            <a:off x="8514021" y="968138"/>
            <a:ext cx="3458240" cy="1569660"/>
          </a:xfrm>
          <a:prstGeom prst="rect">
            <a:avLst/>
          </a:prstGeom>
          <a:noFill/>
        </p:spPr>
        <p:txBody>
          <a:bodyPr wrap="square">
            <a:spAutoFit/>
          </a:bodyPr>
          <a:lstStyle/>
          <a:p>
            <a:pPr>
              <a:buNone/>
            </a:pPr>
            <a:r>
              <a:rPr lang="en-US" sz="1600" b="1" dirty="0">
                <a:latin typeface="Century Gothic" panose="020B0502020202020204" pitchFamily="34" charset="0"/>
              </a:rPr>
              <a:t>Reset Password Screen</a:t>
            </a:r>
            <a:endParaRPr lang="en-US" sz="1600" dirty="0">
              <a:latin typeface="Century Gothic" panose="020B0502020202020204" pitchFamily="34" charset="0"/>
            </a:endParaRPr>
          </a:p>
          <a:p>
            <a:pPr>
              <a:buFont typeface="Arial" panose="020B0604020202020204" pitchFamily="34" charset="0"/>
              <a:buChar char="•"/>
            </a:pPr>
            <a:r>
              <a:rPr lang="en-US" sz="1600" dirty="0">
                <a:latin typeface="Century Gothic" panose="020B0502020202020204" pitchFamily="34" charset="0"/>
              </a:rPr>
              <a:t>Accessed via email link (usually with token)</a:t>
            </a:r>
          </a:p>
          <a:p>
            <a:pPr>
              <a:buFont typeface="Arial" panose="020B0604020202020204" pitchFamily="34" charset="0"/>
              <a:buChar char="•"/>
            </a:pPr>
            <a:r>
              <a:rPr lang="en-US" sz="1600" dirty="0">
                <a:latin typeface="Century Gothic" panose="020B0502020202020204" pitchFamily="34" charset="0"/>
              </a:rPr>
              <a:t>New Password + Confirm Password</a:t>
            </a:r>
          </a:p>
          <a:p>
            <a:pPr>
              <a:buFont typeface="Arial" panose="020B0604020202020204" pitchFamily="34" charset="0"/>
              <a:buChar char="•"/>
            </a:pPr>
            <a:r>
              <a:rPr lang="en-US" sz="1600" dirty="0">
                <a:latin typeface="Century Gothic" panose="020B0502020202020204" pitchFamily="34" charset="0"/>
              </a:rPr>
              <a:t>Submit button</a:t>
            </a:r>
          </a:p>
        </p:txBody>
      </p:sp>
      <p:pic>
        <p:nvPicPr>
          <p:cNvPr id="8" name="Picture 7">
            <a:extLst>
              <a:ext uri="{FF2B5EF4-FFF2-40B4-BE49-F238E27FC236}">
                <a16:creationId xmlns:a16="http://schemas.microsoft.com/office/drawing/2014/main" id="{8916A999-6D66-5B40-8FA3-4A4C2B16BE3C}"/>
              </a:ext>
            </a:extLst>
          </p:cNvPr>
          <p:cNvPicPr>
            <a:picLocks noChangeAspect="1"/>
          </p:cNvPicPr>
          <p:nvPr/>
        </p:nvPicPr>
        <p:blipFill>
          <a:blip r:embed="rId3"/>
          <a:stretch>
            <a:fillRect/>
          </a:stretch>
        </p:blipFill>
        <p:spPr>
          <a:xfrm>
            <a:off x="598503" y="932608"/>
            <a:ext cx="4505954" cy="2410161"/>
          </a:xfrm>
          <a:prstGeom prst="rect">
            <a:avLst/>
          </a:prstGeom>
        </p:spPr>
      </p:pic>
    </p:spTree>
    <p:extLst>
      <p:ext uri="{BB962C8B-B14F-4D97-AF65-F5344CB8AC3E}">
        <p14:creationId xmlns:p14="http://schemas.microsoft.com/office/powerpoint/2010/main" val="35324508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4A49C-D341-CEE7-D8DE-6DEAEB303D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3E9A2-37F6-32DB-A950-1CFE2A84CF2D}"/>
              </a:ext>
            </a:extLst>
          </p:cNvPr>
          <p:cNvSpPr>
            <a:spLocks noGrp="1"/>
          </p:cNvSpPr>
          <p:nvPr>
            <p:ph type="title"/>
          </p:nvPr>
        </p:nvSpPr>
        <p:spPr>
          <a:xfrm>
            <a:off x="598503" y="193906"/>
            <a:ext cx="10515600" cy="487131"/>
          </a:xfrm>
        </p:spPr>
        <p:txBody>
          <a:bodyPr>
            <a:normAutofit/>
          </a:bodyPr>
          <a:lstStyle/>
          <a:p>
            <a:r>
              <a:rPr lang="en-US" sz="2800" dirty="0"/>
              <a:t>Wireframe Notes – 6.5 – Password Reset Successful</a:t>
            </a:r>
          </a:p>
        </p:txBody>
      </p:sp>
      <p:sp>
        <p:nvSpPr>
          <p:cNvPr id="4" name="Date Placeholder 3">
            <a:extLst>
              <a:ext uri="{FF2B5EF4-FFF2-40B4-BE49-F238E27FC236}">
                <a16:creationId xmlns:a16="http://schemas.microsoft.com/office/drawing/2014/main" id="{5D2CB3E1-23C0-D65D-CF90-2CD3A0D9249B}"/>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42FADA60-5553-58AD-BB94-46CAB33F99A6}"/>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22</a:t>
            </a:fld>
            <a:endParaRPr lang="en-US"/>
          </a:p>
        </p:txBody>
      </p:sp>
      <p:sp>
        <p:nvSpPr>
          <p:cNvPr id="3" name="TextBox 2">
            <a:extLst>
              <a:ext uri="{FF2B5EF4-FFF2-40B4-BE49-F238E27FC236}">
                <a16:creationId xmlns:a16="http://schemas.microsoft.com/office/drawing/2014/main" id="{580789C9-36BA-7B77-BBD6-EFF37F1AC8FD}"/>
              </a:ext>
            </a:extLst>
          </p:cNvPr>
          <p:cNvSpPr txBox="1"/>
          <p:nvPr/>
        </p:nvSpPr>
        <p:spPr>
          <a:xfrm>
            <a:off x="8514021" y="968138"/>
            <a:ext cx="3458240" cy="954107"/>
          </a:xfrm>
          <a:prstGeom prst="rect">
            <a:avLst/>
          </a:prstGeom>
          <a:noFill/>
        </p:spPr>
        <p:txBody>
          <a:bodyPr wrap="square">
            <a:spAutoFit/>
          </a:bodyPr>
          <a:lstStyle/>
          <a:p>
            <a:pPr>
              <a:buNone/>
            </a:pPr>
            <a:r>
              <a:rPr lang="en-US" sz="1400" b="1" dirty="0">
                <a:latin typeface="Century Gothic" panose="020B0502020202020204" pitchFamily="34" charset="0"/>
              </a:rPr>
              <a:t>Password Reset Success Screen</a:t>
            </a:r>
            <a:endParaRPr lang="en-US" sz="1400" dirty="0">
              <a:latin typeface="Century Gothic" panose="020B0502020202020204" pitchFamily="34" charset="0"/>
            </a:endParaRPr>
          </a:p>
          <a:p>
            <a:pPr>
              <a:buFont typeface="Arial" panose="020B0604020202020204" pitchFamily="34" charset="0"/>
              <a:buChar char="•"/>
            </a:pPr>
            <a:r>
              <a:rPr lang="en-US" sz="1400" dirty="0">
                <a:latin typeface="Century Gothic" panose="020B0502020202020204" pitchFamily="34" charset="0"/>
              </a:rPr>
              <a:t>Message: "Your password has been reset"</a:t>
            </a:r>
          </a:p>
          <a:p>
            <a:pPr>
              <a:buFont typeface="Arial" panose="020B0604020202020204" pitchFamily="34" charset="0"/>
              <a:buChar char="•"/>
            </a:pPr>
            <a:r>
              <a:rPr lang="en-US" sz="1400" dirty="0">
                <a:latin typeface="Century Gothic" panose="020B0502020202020204" pitchFamily="34" charset="0"/>
              </a:rPr>
              <a:t>Button to go back to Login</a:t>
            </a:r>
          </a:p>
        </p:txBody>
      </p:sp>
      <p:pic>
        <p:nvPicPr>
          <p:cNvPr id="7" name="Picture 6">
            <a:extLst>
              <a:ext uri="{FF2B5EF4-FFF2-40B4-BE49-F238E27FC236}">
                <a16:creationId xmlns:a16="http://schemas.microsoft.com/office/drawing/2014/main" id="{4990862A-D2F5-9B81-8B88-DC408789A0D2}"/>
              </a:ext>
            </a:extLst>
          </p:cNvPr>
          <p:cNvPicPr>
            <a:picLocks noChangeAspect="1"/>
          </p:cNvPicPr>
          <p:nvPr/>
        </p:nvPicPr>
        <p:blipFill>
          <a:blip r:embed="rId3"/>
          <a:stretch>
            <a:fillRect/>
          </a:stretch>
        </p:blipFill>
        <p:spPr>
          <a:xfrm>
            <a:off x="838200" y="882449"/>
            <a:ext cx="4496427" cy="1971950"/>
          </a:xfrm>
          <a:prstGeom prst="rect">
            <a:avLst/>
          </a:prstGeom>
        </p:spPr>
      </p:pic>
    </p:spTree>
    <p:extLst>
      <p:ext uri="{BB962C8B-B14F-4D97-AF65-F5344CB8AC3E}">
        <p14:creationId xmlns:p14="http://schemas.microsoft.com/office/powerpoint/2010/main" val="3543505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645C6-8F13-69EE-0B35-0EEA109FC1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29BBAF-8017-EBD2-798F-23792A8908C7}"/>
              </a:ext>
            </a:extLst>
          </p:cNvPr>
          <p:cNvSpPr>
            <a:spLocks noGrp="1"/>
          </p:cNvSpPr>
          <p:nvPr>
            <p:ph type="title"/>
          </p:nvPr>
        </p:nvSpPr>
        <p:spPr>
          <a:xfrm>
            <a:off x="598503" y="193906"/>
            <a:ext cx="10515600" cy="487131"/>
          </a:xfrm>
        </p:spPr>
        <p:txBody>
          <a:bodyPr>
            <a:normAutofit/>
          </a:bodyPr>
          <a:lstStyle/>
          <a:p>
            <a:r>
              <a:rPr lang="en-US" sz="2800" dirty="0"/>
              <a:t>Wireframe Notes – 6.6 – 2FA Authenticate OTP</a:t>
            </a:r>
          </a:p>
        </p:txBody>
      </p:sp>
      <p:sp>
        <p:nvSpPr>
          <p:cNvPr id="4" name="Date Placeholder 3">
            <a:extLst>
              <a:ext uri="{FF2B5EF4-FFF2-40B4-BE49-F238E27FC236}">
                <a16:creationId xmlns:a16="http://schemas.microsoft.com/office/drawing/2014/main" id="{8F0A4A2B-663D-E776-C35C-6E76A65855E6}"/>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6DCE38E2-182E-9985-4757-1991C1CFBD9E}"/>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23</a:t>
            </a:fld>
            <a:endParaRPr lang="en-US"/>
          </a:p>
        </p:txBody>
      </p:sp>
      <p:sp>
        <p:nvSpPr>
          <p:cNvPr id="3" name="TextBox 2">
            <a:extLst>
              <a:ext uri="{FF2B5EF4-FFF2-40B4-BE49-F238E27FC236}">
                <a16:creationId xmlns:a16="http://schemas.microsoft.com/office/drawing/2014/main" id="{403E0022-AE14-FB52-2A3A-9136DAE524FB}"/>
              </a:ext>
            </a:extLst>
          </p:cNvPr>
          <p:cNvSpPr txBox="1"/>
          <p:nvPr/>
        </p:nvSpPr>
        <p:spPr>
          <a:xfrm>
            <a:off x="8514021" y="968138"/>
            <a:ext cx="3458240" cy="1569660"/>
          </a:xfrm>
          <a:prstGeom prst="rect">
            <a:avLst/>
          </a:prstGeom>
          <a:noFill/>
        </p:spPr>
        <p:txBody>
          <a:bodyPr wrap="square">
            <a:spAutoFit/>
          </a:bodyPr>
          <a:lstStyle/>
          <a:p>
            <a:pPr>
              <a:buNone/>
            </a:pPr>
            <a:r>
              <a:rPr lang="en-US" sz="1600" b="1" dirty="0">
                <a:latin typeface="Century Gothic" panose="020B0502020202020204" pitchFamily="34" charset="0"/>
              </a:rPr>
              <a:t>Two-Factor Authentication (2FA) Screen</a:t>
            </a:r>
            <a:endParaRPr lang="en-US" sz="1600" dirty="0">
              <a:latin typeface="Century Gothic" panose="020B0502020202020204" pitchFamily="34" charset="0"/>
            </a:endParaRPr>
          </a:p>
          <a:p>
            <a:pPr>
              <a:buFont typeface="Arial" panose="020B0604020202020204" pitchFamily="34" charset="0"/>
              <a:buChar char="•"/>
            </a:pPr>
            <a:r>
              <a:rPr lang="en-US" sz="1600" dirty="0">
                <a:latin typeface="Century Gothic" panose="020B0502020202020204" pitchFamily="34" charset="0"/>
              </a:rPr>
              <a:t>Prompt for OTP or code from authenticator app</a:t>
            </a:r>
          </a:p>
          <a:p>
            <a:pPr>
              <a:buFont typeface="Arial" panose="020B0604020202020204" pitchFamily="34" charset="0"/>
              <a:buChar char="•"/>
            </a:pPr>
            <a:r>
              <a:rPr lang="en-US" sz="1600" dirty="0">
                <a:latin typeface="Century Gothic" panose="020B0502020202020204" pitchFamily="34" charset="0"/>
              </a:rPr>
              <a:t>Backup methods (e.g., SMS, email)</a:t>
            </a:r>
          </a:p>
        </p:txBody>
      </p:sp>
      <p:pic>
        <p:nvPicPr>
          <p:cNvPr id="8" name="Picture 7">
            <a:extLst>
              <a:ext uri="{FF2B5EF4-FFF2-40B4-BE49-F238E27FC236}">
                <a16:creationId xmlns:a16="http://schemas.microsoft.com/office/drawing/2014/main" id="{0D3638EE-2D8A-BE4C-AE18-8EE47095D3D6}"/>
              </a:ext>
            </a:extLst>
          </p:cNvPr>
          <p:cNvPicPr>
            <a:picLocks noChangeAspect="1"/>
          </p:cNvPicPr>
          <p:nvPr/>
        </p:nvPicPr>
        <p:blipFill>
          <a:blip r:embed="rId3"/>
          <a:stretch>
            <a:fillRect/>
          </a:stretch>
        </p:blipFill>
        <p:spPr>
          <a:xfrm>
            <a:off x="679945" y="968138"/>
            <a:ext cx="4401164" cy="2362530"/>
          </a:xfrm>
          <a:prstGeom prst="rect">
            <a:avLst/>
          </a:prstGeom>
        </p:spPr>
      </p:pic>
    </p:spTree>
    <p:extLst>
      <p:ext uri="{BB962C8B-B14F-4D97-AF65-F5344CB8AC3E}">
        <p14:creationId xmlns:p14="http://schemas.microsoft.com/office/powerpoint/2010/main" val="29208013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E0200-DBFC-860A-4A06-3CE37E372A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D8BD88-09DD-2B84-3907-3A0AFAC1DE9F}"/>
              </a:ext>
            </a:extLst>
          </p:cNvPr>
          <p:cNvSpPr>
            <a:spLocks noGrp="1"/>
          </p:cNvSpPr>
          <p:nvPr>
            <p:ph type="title"/>
          </p:nvPr>
        </p:nvSpPr>
        <p:spPr>
          <a:xfrm>
            <a:off x="598503" y="193906"/>
            <a:ext cx="10515600" cy="487131"/>
          </a:xfrm>
        </p:spPr>
        <p:txBody>
          <a:bodyPr>
            <a:normAutofit/>
          </a:bodyPr>
          <a:lstStyle/>
          <a:p>
            <a:r>
              <a:rPr lang="en-US" sz="2800" dirty="0"/>
              <a:t>Wireframe Notes – 6.7 – Sign-up Registration (out of Scope)</a:t>
            </a:r>
          </a:p>
        </p:txBody>
      </p:sp>
      <p:sp>
        <p:nvSpPr>
          <p:cNvPr id="4" name="Date Placeholder 3">
            <a:extLst>
              <a:ext uri="{FF2B5EF4-FFF2-40B4-BE49-F238E27FC236}">
                <a16:creationId xmlns:a16="http://schemas.microsoft.com/office/drawing/2014/main" id="{4C0AD5E1-7DFF-7B7C-53CD-6CE0DFA08653}"/>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395A9318-6419-BA9D-8361-9FCF05F12B3A}"/>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24</a:t>
            </a:fld>
            <a:endParaRPr lang="en-US"/>
          </a:p>
        </p:txBody>
      </p:sp>
      <p:sp>
        <p:nvSpPr>
          <p:cNvPr id="3" name="TextBox 2">
            <a:extLst>
              <a:ext uri="{FF2B5EF4-FFF2-40B4-BE49-F238E27FC236}">
                <a16:creationId xmlns:a16="http://schemas.microsoft.com/office/drawing/2014/main" id="{54072F0D-7A69-CF33-9683-876C1CC707E8}"/>
              </a:ext>
            </a:extLst>
          </p:cNvPr>
          <p:cNvSpPr txBox="1"/>
          <p:nvPr/>
        </p:nvSpPr>
        <p:spPr>
          <a:xfrm>
            <a:off x="9267159" y="867313"/>
            <a:ext cx="2743201" cy="5447645"/>
          </a:xfrm>
          <a:prstGeom prst="rect">
            <a:avLst/>
          </a:prstGeom>
          <a:noFill/>
        </p:spPr>
        <p:txBody>
          <a:bodyPr wrap="square">
            <a:spAutoFit/>
          </a:bodyPr>
          <a:lstStyle/>
          <a:p>
            <a:pPr>
              <a:buNone/>
            </a:pPr>
            <a:r>
              <a:rPr lang="en-US" sz="1400" dirty="0">
                <a:latin typeface="Century Gothic" panose="020B0502020202020204" pitchFamily="34" charset="0"/>
              </a:rPr>
              <a:t>Sign Up / Registration Screen (Disabled/Hidden)</a:t>
            </a:r>
          </a:p>
          <a:p>
            <a:pPr>
              <a:buFont typeface="Arial" panose="020B0604020202020204" pitchFamily="34" charset="0"/>
              <a:buChar char="•"/>
            </a:pPr>
            <a:r>
              <a:rPr lang="en-US" sz="1400" dirty="0">
                <a:latin typeface="Century Gothic" panose="020B0502020202020204" pitchFamily="34" charset="0"/>
              </a:rPr>
              <a:t>If account creation is allowed in the future</a:t>
            </a:r>
          </a:p>
          <a:p>
            <a:endParaRPr lang="en-US" sz="1400" dirty="0">
              <a:latin typeface="Century Gothic" panose="020B0502020202020204" pitchFamily="34" charset="0"/>
            </a:endParaRPr>
          </a:p>
          <a:p>
            <a:pPr>
              <a:buFont typeface="Arial" panose="020B0604020202020204" pitchFamily="34" charset="0"/>
              <a:buChar char="•"/>
            </a:pPr>
            <a:r>
              <a:rPr lang="en-US" sz="1400" dirty="0">
                <a:latin typeface="Century Gothic" panose="020B0502020202020204" pitchFamily="34" charset="0"/>
              </a:rPr>
              <a:t>Additional Screens:</a:t>
            </a:r>
          </a:p>
          <a:p>
            <a:pPr>
              <a:buNone/>
            </a:pPr>
            <a:r>
              <a:rPr lang="en-US" sz="1400" dirty="0">
                <a:latin typeface="Century Gothic" panose="020B0502020202020204" pitchFamily="34" charset="0"/>
              </a:rPr>
              <a:t>Account Lock/Too Many Attempts Screen</a:t>
            </a:r>
          </a:p>
          <a:p>
            <a:pPr>
              <a:buFont typeface="Arial" panose="020B0604020202020204" pitchFamily="34" charset="0"/>
              <a:buChar char="•"/>
            </a:pPr>
            <a:r>
              <a:rPr lang="en-US" sz="1400" dirty="0">
                <a:latin typeface="Century Gothic" panose="020B0502020202020204" pitchFamily="34" charset="0"/>
              </a:rPr>
              <a:t>Inform user of lockout</a:t>
            </a:r>
          </a:p>
          <a:p>
            <a:pPr>
              <a:buFont typeface="Arial" panose="020B0604020202020204" pitchFamily="34" charset="0"/>
              <a:buChar char="•"/>
            </a:pPr>
            <a:r>
              <a:rPr lang="en-US" sz="1400" dirty="0">
                <a:latin typeface="Century Gothic" panose="020B0502020202020204" pitchFamily="34" charset="0"/>
              </a:rPr>
              <a:t>Time remaining or action to unlock (e.g., via email)</a:t>
            </a:r>
          </a:p>
          <a:p>
            <a:pPr>
              <a:buNone/>
            </a:pPr>
            <a:r>
              <a:rPr lang="en-US" sz="1400" dirty="0">
                <a:latin typeface="Century Gothic" panose="020B0502020202020204" pitchFamily="34" charset="0"/>
              </a:rPr>
              <a:t>Email Verification Screen (Post Sign-up)</a:t>
            </a:r>
          </a:p>
          <a:p>
            <a:pPr>
              <a:buFont typeface="Arial" panose="020B0604020202020204" pitchFamily="34" charset="0"/>
              <a:buChar char="•"/>
            </a:pPr>
            <a:r>
              <a:rPr lang="en-US" sz="1400" dirty="0">
                <a:latin typeface="Century Gothic" panose="020B0502020202020204" pitchFamily="34" charset="0"/>
              </a:rPr>
              <a:t>“Check your email to verify your account”</a:t>
            </a:r>
          </a:p>
          <a:p>
            <a:pPr>
              <a:buNone/>
            </a:pPr>
            <a:r>
              <a:rPr lang="en-US" sz="1400" dirty="0">
                <a:latin typeface="Century Gothic" panose="020B0502020202020204" pitchFamily="34" charset="0"/>
              </a:rPr>
              <a:t>Resend Verification Email Screen</a:t>
            </a:r>
          </a:p>
          <a:p>
            <a:pPr>
              <a:buFont typeface="Arial" panose="020B0604020202020204" pitchFamily="34" charset="0"/>
              <a:buChar char="•"/>
            </a:pPr>
            <a:r>
              <a:rPr lang="en-US" sz="1400" dirty="0">
                <a:latin typeface="Century Gothic" panose="020B0502020202020204" pitchFamily="34" charset="0"/>
              </a:rPr>
              <a:t>In case the user didn’t receive the initial verification</a:t>
            </a:r>
          </a:p>
          <a:p>
            <a:pPr>
              <a:buNone/>
            </a:pPr>
            <a:r>
              <a:rPr lang="en-US" sz="1400" dirty="0">
                <a:latin typeface="Century Gothic" panose="020B0502020202020204" pitchFamily="34" charset="0"/>
              </a:rPr>
              <a:t>Login Success Redirect / Dashboard Screen</a:t>
            </a:r>
          </a:p>
          <a:p>
            <a:pPr>
              <a:buFont typeface="Arial" panose="020B0604020202020204" pitchFamily="34" charset="0"/>
              <a:buChar char="•"/>
            </a:pPr>
            <a:r>
              <a:rPr lang="en-US" sz="1400" dirty="0">
                <a:latin typeface="Century Gothic" panose="020B0502020202020204" pitchFamily="34" charset="0"/>
              </a:rPr>
              <a:t>After login, redirect to home, dashboard, or intended page</a:t>
            </a:r>
          </a:p>
          <a:p>
            <a:pPr>
              <a:buFont typeface="Arial" panose="020B0604020202020204" pitchFamily="34" charset="0"/>
              <a:buChar char="•"/>
            </a:pPr>
            <a:endParaRPr lang="en-US" sz="1200" dirty="0">
              <a:latin typeface="Century Gothic" panose="020B0502020202020204" pitchFamily="34" charset="0"/>
            </a:endParaRPr>
          </a:p>
        </p:txBody>
      </p:sp>
      <p:pic>
        <p:nvPicPr>
          <p:cNvPr id="7" name="Picture 6">
            <a:extLst>
              <a:ext uri="{FF2B5EF4-FFF2-40B4-BE49-F238E27FC236}">
                <a16:creationId xmlns:a16="http://schemas.microsoft.com/office/drawing/2014/main" id="{5F47A494-4B85-68C1-67CD-481614C0BD99}"/>
              </a:ext>
            </a:extLst>
          </p:cNvPr>
          <p:cNvPicPr>
            <a:picLocks noChangeAspect="1"/>
          </p:cNvPicPr>
          <p:nvPr/>
        </p:nvPicPr>
        <p:blipFill>
          <a:blip r:embed="rId3"/>
          <a:stretch>
            <a:fillRect/>
          </a:stretch>
        </p:blipFill>
        <p:spPr>
          <a:xfrm>
            <a:off x="5104913" y="914105"/>
            <a:ext cx="4114158" cy="5373954"/>
          </a:xfrm>
          <a:prstGeom prst="rect">
            <a:avLst/>
          </a:prstGeom>
        </p:spPr>
      </p:pic>
      <p:pic>
        <p:nvPicPr>
          <p:cNvPr id="9" name="Picture 8">
            <a:extLst>
              <a:ext uri="{FF2B5EF4-FFF2-40B4-BE49-F238E27FC236}">
                <a16:creationId xmlns:a16="http://schemas.microsoft.com/office/drawing/2014/main" id="{85B4AE35-B7C1-2A0F-FC74-3F6B158C2878}"/>
              </a:ext>
            </a:extLst>
          </p:cNvPr>
          <p:cNvPicPr>
            <a:picLocks noChangeAspect="1"/>
          </p:cNvPicPr>
          <p:nvPr/>
        </p:nvPicPr>
        <p:blipFill>
          <a:blip r:embed="rId4"/>
          <a:stretch>
            <a:fillRect/>
          </a:stretch>
        </p:blipFill>
        <p:spPr>
          <a:xfrm>
            <a:off x="488569" y="965161"/>
            <a:ext cx="4496427" cy="4143953"/>
          </a:xfrm>
          <a:prstGeom prst="rect">
            <a:avLst/>
          </a:prstGeom>
        </p:spPr>
      </p:pic>
    </p:spTree>
    <p:extLst>
      <p:ext uri="{BB962C8B-B14F-4D97-AF65-F5344CB8AC3E}">
        <p14:creationId xmlns:p14="http://schemas.microsoft.com/office/powerpoint/2010/main" val="42663177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C4430-6003-1F53-F493-22BA5A2DA6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A61F2D-8802-6399-2D12-834453AE289D}"/>
              </a:ext>
            </a:extLst>
          </p:cNvPr>
          <p:cNvSpPr>
            <a:spLocks noGrp="1"/>
          </p:cNvSpPr>
          <p:nvPr>
            <p:ph type="ctrTitle"/>
          </p:nvPr>
        </p:nvSpPr>
        <p:spPr>
          <a:xfrm>
            <a:off x="1524000" y="2351686"/>
            <a:ext cx="9144000" cy="2387600"/>
          </a:xfrm>
        </p:spPr>
        <p:txBody>
          <a:bodyPr/>
          <a:lstStyle/>
          <a:p>
            <a:r>
              <a:rPr lang="en-US" dirty="0"/>
              <a:t>Wireframes</a:t>
            </a:r>
          </a:p>
        </p:txBody>
      </p:sp>
      <p:sp>
        <p:nvSpPr>
          <p:cNvPr id="8" name="Date Placeholder 7">
            <a:extLst>
              <a:ext uri="{FF2B5EF4-FFF2-40B4-BE49-F238E27FC236}">
                <a16:creationId xmlns:a16="http://schemas.microsoft.com/office/drawing/2014/main" id="{15557286-7C37-7115-A4E1-BD3A0AA6B49E}"/>
              </a:ext>
            </a:extLst>
          </p:cNvPr>
          <p:cNvSpPr>
            <a:spLocks noGrp="1"/>
          </p:cNvSpPr>
          <p:nvPr>
            <p:ph type="dt" sz="half" idx="10"/>
          </p:nvPr>
        </p:nvSpPr>
        <p:spPr/>
        <p:txBody>
          <a:bodyPr/>
          <a:lstStyle/>
          <a:p>
            <a:fld id="{5948895C-732D-4B88-B65C-5D83E3577007}" type="datetime1">
              <a:rPr lang="en-US" smtClean="0"/>
              <a:t>9/18/2025</a:t>
            </a:fld>
            <a:endParaRPr lang="en-US"/>
          </a:p>
        </p:txBody>
      </p:sp>
      <p:sp>
        <p:nvSpPr>
          <p:cNvPr id="9" name="Slide Number Placeholder 8">
            <a:extLst>
              <a:ext uri="{FF2B5EF4-FFF2-40B4-BE49-F238E27FC236}">
                <a16:creationId xmlns:a16="http://schemas.microsoft.com/office/drawing/2014/main" id="{276380D5-E588-9497-76C7-1334BCE2620F}"/>
              </a:ext>
            </a:extLst>
          </p:cNvPr>
          <p:cNvSpPr>
            <a:spLocks noGrp="1"/>
          </p:cNvSpPr>
          <p:nvPr>
            <p:ph type="sldNum" sz="quarter" idx="12"/>
          </p:nvPr>
        </p:nvSpPr>
        <p:spPr/>
        <p:txBody>
          <a:bodyPr/>
          <a:lstStyle/>
          <a:p>
            <a:fld id="{330EA680-D336-4FF7-8B7A-9848BB0A1C32}" type="slidenum">
              <a:rPr lang="en-US" smtClean="0"/>
              <a:t>25</a:t>
            </a:fld>
            <a:endParaRPr lang="en-US"/>
          </a:p>
        </p:txBody>
      </p:sp>
      <p:pic>
        <p:nvPicPr>
          <p:cNvPr id="10" name="Picture 9" descr="GreenCircle Certified">
            <a:extLst>
              <a:ext uri="{FF2B5EF4-FFF2-40B4-BE49-F238E27FC236}">
                <a16:creationId xmlns:a16="http://schemas.microsoft.com/office/drawing/2014/main" id="{D03AA94E-9664-4D24-99F6-353E26C7C986}"/>
              </a:ext>
            </a:extLst>
          </p:cNvPr>
          <p:cNvPicPr>
            <a:picLocks noChangeAspect="1"/>
          </p:cNvPicPr>
          <p:nvPr/>
        </p:nvPicPr>
        <p:blipFill>
          <a:blip r:embed="rId4"/>
          <a:stretch>
            <a:fillRect/>
          </a:stretch>
        </p:blipFill>
        <p:spPr>
          <a:xfrm>
            <a:off x="4844495" y="1258786"/>
            <a:ext cx="2503009" cy="2400644"/>
          </a:xfrm>
          <a:prstGeom prst="rect">
            <a:avLst/>
          </a:prstGeom>
        </p:spPr>
      </p:pic>
    </p:spTree>
    <p:extLst>
      <p:ext uri="{BB962C8B-B14F-4D97-AF65-F5344CB8AC3E}">
        <p14:creationId xmlns:p14="http://schemas.microsoft.com/office/powerpoint/2010/main" val="943738598"/>
      </p:ext>
    </p:extLst>
  </p:cSld>
  <p:clrMapOvr>
    <a:masterClrMapping/>
  </p:clrMapOvr>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8EE01-7B29-ED1E-7644-9A63EBC411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C7AE14-B49D-C29F-4C86-FEEF3DB82812}"/>
              </a:ext>
            </a:extLst>
          </p:cNvPr>
          <p:cNvSpPr>
            <a:spLocks noGrp="1"/>
          </p:cNvSpPr>
          <p:nvPr>
            <p:ph type="title"/>
          </p:nvPr>
        </p:nvSpPr>
        <p:spPr>
          <a:xfrm>
            <a:off x="598503" y="193906"/>
            <a:ext cx="4649772" cy="487131"/>
          </a:xfrm>
        </p:spPr>
        <p:txBody>
          <a:bodyPr/>
          <a:lstStyle/>
          <a:p>
            <a:r>
              <a:rPr lang="en-US" sz="2800" dirty="0"/>
              <a:t>Wireframe Notes – 1.0 - Certificates</a:t>
            </a:r>
          </a:p>
        </p:txBody>
      </p:sp>
      <p:sp>
        <p:nvSpPr>
          <p:cNvPr id="4" name="Date Placeholder 3">
            <a:extLst>
              <a:ext uri="{FF2B5EF4-FFF2-40B4-BE49-F238E27FC236}">
                <a16:creationId xmlns:a16="http://schemas.microsoft.com/office/drawing/2014/main" id="{249AA1F1-6C03-D6F2-9761-0C42ED4867BB}"/>
              </a:ext>
            </a:extLst>
          </p:cNvPr>
          <p:cNvSpPr>
            <a:spLocks noGrp="1"/>
          </p:cNvSpPr>
          <p:nvPr>
            <p:ph type="dt" sz="half" idx="10"/>
          </p:nvPr>
        </p:nvSpPr>
        <p:spPr/>
        <p:txBody>
          <a:bodyPr/>
          <a:lstStyle/>
          <a:p>
            <a:fld id="{FAAB834C-2F9F-4134-A8A6-8D28F07BEAB5}" type="datetime1">
              <a:rPr lang="en-US" smtClean="0"/>
              <a:t>9/18/2025</a:t>
            </a:fld>
            <a:endParaRPr lang="en-US"/>
          </a:p>
        </p:txBody>
      </p:sp>
      <p:sp>
        <p:nvSpPr>
          <p:cNvPr id="5" name="Slide Number Placeholder 4">
            <a:extLst>
              <a:ext uri="{FF2B5EF4-FFF2-40B4-BE49-F238E27FC236}">
                <a16:creationId xmlns:a16="http://schemas.microsoft.com/office/drawing/2014/main" id="{1A00F7FE-3354-FEAC-1FEF-47889C73FF67}"/>
              </a:ext>
            </a:extLst>
          </p:cNvPr>
          <p:cNvSpPr>
            <a:spLocks noGrp="1"/>
          </p:cNvSpPr>
          <p:nvPr>
            <p:ph type="sldNum" sz="quarter" idx="12"/>
          </p:nvPr>
        </p:nvSpPr>
        <p:spPr/>
        <p:txBody>
          <a:bodyPr/>
          <a:lstStyle/>
          <a:p>
            <a:fld id="{330EA680-D336-4FF7-8B7A-9848BB0A1C32}" type="slidenum">
              <a:rPr lang="en-US" smtClean="0"/>
              <a:t>26</a:t>
            </a:fld>
            <a:endParaRPr lang="en-US"/>
          </a:p>
        </p:txBody>
      </p:sp>
      <p:sp>
        <p:nvSpPr>
          <p:cNvPr id="15" name="TextBox 14">
            <a:extLst>
              <a:ext uri="{FF2B5EF4-FFF2-40B4-BE49-F238E27FC236}">
                <a16:creationId xmlns:a16="http://schemas.microsoft.com/office/drawing/2014/main" id="{91BE873F-36EA-D363-9ECE-77A911E522B5}"/>
              </a:ext>
            </a:extLst>
          </p:cNvPr>
          <p:cNvSpPr txBox="1"/>
          <p:nvPr/>
        </p:nvSpPr>
        <p:spPr>
          <a:xfrm>
            <a:off x="745030" y="1115804"/>
            <a:ext cx="3813533" cy="1169551"/>
          </a:xfrm>
          <a:prstGeom prst="rect">
            <a:avLst/>
          </a:prstGeom>
          <a:noFill/>
        </p:spPr>
        <p:txBody>
          <a:bodyPr wrap="square">
            <a:spAutoFit/>
          </a:bodyPr>
          <a:lstStyle/>
          <a:p>
            <a:r>
              <a:rPr lang="en-US" sz="1400" b="1" dirty="0">
                <a:latin typeface="Century Gothic" panose="020B0502020202020204" pitchFamily="34" charset="0"/>
              </a:rPr>
              <a:t>Fields not included on Tile:</a:t>
            </a:r>
          </a:p>
          <a:p>
            <a:pPr marL="285750" indent="-285750">
              <a:buFont typeface="Arial" panose="020B0604020202020204" pitchFamily="34" charset="0"/>
              <a:buChar char="•"/>
            </a:pPr>
            <a:r>
              <a:rPr lang="en-US" sz="1400" b="0" i="0" u="none" strike="noStrike" baseline="0" dirty="0">
                <a:solidFill>
                  <a:srgbClr val="000000"/>
                </a:solidFill>
                <a:latin typeface="Century Gothic" panose="020B0502020202020204" pitchFamily="34" charset="0"/>
              </a:rPr>
              <a:t>Company Contact Email/URL </a:t>
            </a:r>
          </a:p>
          <a:p>
            <a:pPr marL="285750" indent="-285750">
              <a:buFont typeface="Arial" panose="020B0604020202020204" pitchFamily="34" charset="0"/>
              <a:buChar char="•"/>
            </a:pPr>
            <a:r>
              <a:rPr lang="en-US" sz="1400" b="0" i="0" u="none" strike="noStrike" baseline="0" dirty="0">
                <a:solidFill>
                  <a:srgbClr val="000000"/>
                </a:solidFill>
                <a:latin typeface="Century Gothic" panose="020B0502020202020204" pitchFamily="34" charset="0"/>
              </a:rPr>
              <a:t>Product Category</a:t>
            </a:r>
          </a:p>
          <a:p>
            <a:pPr marL="285750" indent="-285750">
              <a:buFont typeface="Arial" panose="020B0604020202020204" pitchFamily="34" charset="0"/>
              <a:buChar char="•"/>
            </a:pPr>
            <a:r>
              <a:rPr lang="en-US" sz="1400" dirty="0">
                <a:solidFill>
                  <a:srgbClr val="000000"/>
                </a:solidFill>
                <a:latin typeface="Century Gothic" panose="020B0502020202020204" pitchFamily="34" charset="0"/>
              </a:rPr>
              <a:t>Product Subcategory</a:t>
            </a:r>
          </a:p>
          <a:p>
            <a:pPr marL="285750" indent="-285750">
              <a:buFont typeface="Arial" panose="020B0604020202020204" pitchFamily="34" charset="0"/>
              <a:buChar char="•"/>
            </a:pPr>
            <a:r>
              <a:rPr lang="en-US" sz="1400" b="0" i="0" u="none" strike="noStrike" baseline="0" dirty="0">
                <a:solidFill>
                  <a:srgbClr val="000000"/>
                </a:solidFill>
                <a:latin typeface="Century Gothic" panose="020B0502020202020204" pitchFamily="34" charset="0"/>
              </a:rPr>
              <a:t>Tags</a:t>
            </a:r>
          </a:p>
        </p:txBody>
      </p:sp>
      <p:sp>
        <p:nvSpPr>
          <p:cNvPr id="7" name="TextBox 6">
            <a:extLst>
              <a:ext uri="{FF2B5EF4-FFF2-40B4-BE49-F238E27FC236}">
                <a16:creationId xmlns:a16="http://schemas.microsoft.com/office/drawing/2014/main" id="{714C56C7-EF7C-1EA9-E87B-E11B225D69D6}"/>
              </a:ext>
            </a:extLst>
          </p:cNvPr>
          <p:cNvSpPr txBox="1"/>
          <p:nvPr/>
        </p:nvSpPr>
        <p:spPr>
          <a:xfrm>
            <a:off x="745029" y="4357201"/>
            <a:ext cx="3213568" cy="1384995"/>
          </a:xfrm>
          <a:prstGeom prst="rect">
            <a:avLst/>
          </a:prstGeom>
          <a:noFill/>
        </p:spPr>
        <p:txBody>
          <a:bodyPr wrap="square">
            <a:spAutoFit/>
          </a:bodyPr>
          <a:lstStyle/>
          <a:p>
            <a:pPr marL="285750" indent="-285750">
              <a:buFont typeface="Arial" panose="020B0604020202020204" pitchFamily="34" charset="0"/>
              <a:buChar char="•"/>
            </a:pPr>
            <a:r>
              <a:rPr lang="en-US" sz="1400" i="0" u="none" strike="noStrike" baseline="0" dirty="0">
                <a:latin typeface="Century Gothic" panose="020B0502020202020204" pitchFamily="34" charset="0"/>
              </a:rPr>
              <a:t>Disclaimer is in the footer instead of the header an only visible on this page</a:t>
            </a:r>
            <a:r>
              <a:rPr lang="en-US" sz="1400" dirty="0">
                <a:latin typeface="Century Gothic" panose="020B0502020202020204" pitchFamily="34" charset="0"/>
              </a:rPr>
              <a:t> and single certificate view for public view.</a:t>
            </a:r>
          </a:p>
          <a:p>
            <a:pPr marL="285750" indent="-285750">
              <a:buFont typeface="Arial" panose="020B0604020202020204" pitchFamily="34" charset="0"/>
              <a:buChar char="•"/>
            </a:pPr>
            <a:r>
              <a:rPr lang="en-US" sz="1400" i="0" u="none" strike="noStrike" baseline="0" dirty="0">
                <a:latin typeface="Century Gothic" panose="020B0502020202020204" pitchFamily="34" charset="0"/>
              </a:rPr>
              <a:t>New subtext has been added to the header. </a:t>
            </a:r>
          </a:p>
        </p:txBody>
      </p:sp>
      <p:sp>
        <p:nvSpPr>
          <p:cNvPr id="6" name="TextBox 5">
            <a:extLst>
              <a:ext uri="{FF2B5EF4-FFF2-40B4-BE49-F238E27FC236}">
                <a16:creationId xmlns:a16="http://schemas.microsoft.com/office/drawing/2014/main" id="{39CA216E-82C7-156F-4911-11D0549AECE4}"/>
              </a:ext>
            </a:extLst>
          </p:cNvPr>
          <p:cNvSpPr txBox="1"/>
          <p:nvPr/>
        </p:nvSpPr>
        <p:spPr>
          <a:xfrm>
            <a:off x="745029" y="2337634"/>
            <a:ext cx="3523709" cy="1815882"/>
          </a:xfrm>
          <a:prstGeom prst="rect">
            <a:avLst/>
          </a:prstGeom>
          <a:noFill/>
        </p:spPr>
        <p:txBody>
          <a:bodyPr wrap="square">
            <a:spAutoFit/>
          </a:bodyPr>
          <a:lstStyle/>
          <a:p>
            <a:r>
              <a:rPr lang="en-US" sz="1400" b="1" dirty="0">
                <a:latin typeface="Century Gothic" panose="020B0502020202020204" pitchFamily="34" charset="0"/>
              </a:rPr>
              <a:t>Filter Sections</a:t>
            </a:r>
          </a:p>
          <a:p>
            <a:pPr marL="285750" indent="-285750">
              <a:buFont typeface="Arial" panose="020B0604020202020204" pitchFamily="34" charset="0"/>
              <a:buChar char="•"/>
            </a:pPr>
            <a:r>
              <a:rPr lang="en-US" sz="1400" b="0" i="0" u="none" strike="noStrike" baseline="0" dirty="0">
                <a:solidFill>
                  <a:srgbClr val="000000"/>
                </a:solidFill>
                <a:latin typeface="Century Gothic" panose="020B0502020202020204" pitchFamily="34" charset="0"/>
              </a:rPr>
              <a:t>Certification Type</a:t>
            </a:r>
          </a:p>
          <a:p>
            <a:pPr marL="285750" indent="-285750">
              <a:buFont typeface="Arial" panose="020B0604020202020204" pitchFamily="34" charset="0"/>
              <a:buChar char="•"/>
            </a:pPr>
            <a:r>
              <a:rPr lang="en-US" sz="1400" dirty="0">
                <a:solidFill>
                  <a:srgbClr val="000000"/>
                </a:solidFill>
                <a:latin typeface="Century Gothic" panose="020B0502020202020204" pitchFamily="34" charset="0"/>
              </a:rPr>
              <a:t>Product Categories (multiple level filtering)</a:t>
            </a:r>
          </a:p>
          <a:p>
            <a:pPr marL="285750" indent="-285750">
              <a:buFont typeface="Arial" panose="020B0604020202020204" pitchFamily="34" charset="0"/>
              <a:buChar char="•"/>
            </a:pPr>
            <a:r>
              <a:rPr lang="en-US" sz="1400" dirty="0">
                <a:solidFill>
                  <a:srgbClr val="000000"/>
                </a:solidFill>
                <a:latin typeface="Century Gothic" panose="020B0502020202020204" pitchFamily="34" charset="0"/>
              </a:rPr>
              <a:t>Company</a:t>
            </a:r>
          </a:p>
          <a:p>
            <a:pPr marL="285750" indent="-285750">
              <a:buFont typeface="Arial" panose="020B0604020202020204" pitchFamily="34" charset="0"/>
              <a:buChar char="•"/>
            </a:pPr>
            <a:r>
              <a:rPr lang="en-US" sz="1400" dirty="0">
                <a:solidFill>
                  <a:srgbClr val="000000"/>
                </a:solidFill>
                <a:latin typeface="Century Gothic" panose="020B0502020202020204" pitchFamily="34" charset="0"/>
              </a:rPr>
              <a:t>Countries</a:t>
            </a:r>
          </a:p>
          <a:p>
            <a:pPr marL="285750" indent="-285750">
              <a:buFont typeface="Arial" panose="020B0604020202020204" pitchFamily="34" charset="0"/>
              <a:buChar char="•"/>
            </a:pPr>
            <a:r>
              <a:rPr lang="en-US" sz="1400" b="0" i="0" u="none" strike="noStrike" baseline="0" dirty="0">
                <a:solidFill>
                  <a:srgbClr val="000000"/>
                </a:solidFill>
                <a:latin typeface="Century Gothic" panose="020B0502020202020204" pitchFamily="34" charset="0"/>
              </a:rPr>
              <a:t>Certificate Tags</a:t>
            </a:r>
          </a:p>
          <a:p>
            <a:pPr marL="285750" indent="-285750">
              <a:buFont typeface="Arial" panose="020B0604020202020204" pitchFamily="34" charset="0"/>
              <a:buChar char="•"/>
            </a:pPr>
            <a:r>
              <a:rPr lang="en-US" sz="1400" dirty="0">
                <a:solidFill>
                  <a:srgbClr val="000000"/>
                </a:solidFill>
                <a:latin typeface="Century Gothic" panose="020B0502020202020204" pitchFamily="34" charset="0"/>
              </a:rPr>
              <a:t>Additional</a:t>
            </a:r>
            <a:endParaRPr lang="en-US" sz="1400" b="0" i="0" u="none" strike="noStrike" baseline="0" dirty="0">
              <a:solidFill>
                <a:srgbClr val="000000"/>
              </a:solidFill>
              <a:latin typeface="Century Gothic" panose="020B0502020202020204" pitchFamily="34" charset="0"/>
            </a:endParaRPr>
          </a:p>
        </p:txBody>
      </p:sp>
      <p:pic>
        <p:nvPicPr>
          <p:cNvPr id="11" name="Picture 10">
            <a:extLst>
              <a:ext uri="{FF2B5EF4-FFF2-40B4-BE49-F238E27FC236}">
                <a16:creationId xmlns:a16="http://schemas.microsoft.com/office/drawing/2014/main" id="{1A0A3DDA-24E8-CEE6-B76F-06452F586178}"/>
              </a:ext>
            </a:extLst>
          </p:cNvPr>
          <p:cNvPicPr>
            <a:picLocks noChangeAspect="1"/>
          </p:cNvPicPr>
          <p:nvPr/>
        </p:nvPicPr>
        <p:blipFill>
          <a:blip r:embed="rId3"/>
          <a:stretch>
            <a:fillRect/>
          </a:stretch>
        </p:blipFill>
        <p:spPr>
          <a:xfrm>
            <a:off x="5389275" y="0"/>
            <a:ext cx="6802725" cy="6858000"/>
          </a:xfrm>
          <a:prstGeom prst="rect">
            <a:avLst/>
          </a:prstGeom>
        </p:spPr>
      </p:pic>
    </p:spTree>
    <p:extLst>
      <p:ext uri="{BB962C8B-B14F-4D97-AF65-F5344CB8AC3E}">
        <p14:creationId xmlns:p14="http://schemas.microsoft.com/office/powerpoint/2010/main" val="36452612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03C62-49E1-B1B7-3D69-7D036E15E8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BE1A6F-F232-0B6D-0F13-CD8CACE0762E}"/>
              </a:ext>
            </a:extLst>
          </p:cNvPr>
          <p:cNvSpPr>
            <a:spLocks noGrp="1"/>
          </p:cNvSpPr>
          <p:nvPr>
            <p:ph type="title"/>
          </p:nvPr>
        </p:nvSpPr>
        <p:spPr>
          <a:xfrm>
            <a:off x="598503" y="193906"/>
            <a:ext cx="11433076" cy="487131"/>
          </a:xfrm>
        </p:spPr>
        <p:txBody>
          <a:bodyPr/>
          <a:lstStyle/>
          <a:p>
            <a:r>
              <a:rPr lang="en-US" sz="2800" dirty="0"/>
              <a:t>Wireframe Notes – 1.0 - Certificates</a:t>
            </a:r>
          </a:p>
        </p:txBody>
      </p:sp>
      <p:sp>
        <p:nvSpPr>
          <p:cNvPr id="4" name="Date Placeholder 3">
            <a:extLst>
              <a:ext uri="{FF2B5EF4-FFF2-40B4-BE49-F238E27FC236}">
                <a16:creationId xmlns:a16="http://schemas.microsoft.com/office/drawing/2014/main" id="{10DF75CA-DFB5-FBFD-04CC-2CD6B8433DD1}"/>
              </a:ext>
            </a:extLst>
          </p:cNvPr>
          <p:cNvSpPr>
            <a:spLocks noGrp="1"/>
          </p:cNvSpPr>
          <p:nvPr>
            <p:ph type="dt" sz="half" idx="10"/>
          </p:nvPr>
        </p:nvSpPr>
        <p:spPr/>
        <p:txBody>
          <a:bodyPr/>
          <a:lstStyle/>
          <a:p>
            <a:fld id="{FAAB834C-2F9F-4134-A8A6-8D28F07BEAB5}" type="datetime1">
              <a:rPr lang="en-US" smtClean="0"/>
              <a:t>9/18/2025</a:t>
            </a:fld>
            <a:endParaRPr lang="en-US"/>
          </a:p>
        </p:txBody>
      </p:sp>
      <p:sp>
        <p:nvSpPr>
          <p:cNvPr id="5" name="Slide Number Placeholder 4">
            <a:extLst>
              <a:ext uri="{FF2B5EF4-FFF2-40B4-BE49-F238E27FC236}">
                <a16:creationId xmlns:a16="http://schemas.microsoft.com/office/drawing/2014/main" id="{D4037C55-BBAF-DA25-78CF-65968930CADB}"/>
              </a:ext>
            </a:extLst>
          </p:cNvPr>
          <p:cNvSpPr>
            <a:spLocks noGrp="1"/>
          </p:cNvSpPr>
          <p:nvPr>
            <p:ph type="sldNum" sz="quarter" idx="12"/>
          </p:nvPr>
        </p:nvSpPr>
        <p:spPr/>
        <p:txBody>
          <a:bodyPr/>
          <a:lstStyle/>
          <a:p>
            <a:fld id="{330EA680-D336-4FF7-8B7A-9848BB0A1C32}" type="slidenum">
              <a:rPr lang="en-US" smtClean="0"/>
              <a:t>27</a:t>
            </a:fld>
            <a:endParaRPr lang="en-US"/>
          </a:p>
        </p:txBody>
      </p:sp>
      <p:pic>
        <p:nvPicPr>
          <p:cNvPr id="10" name="Picture 9">
            <a:extLst>
              <a:ext uri="{FF2B5EF4-FFF2-40B4-BE49-F238E27FC236}">
                <a16:creationId xmlns:a16="http://schemas.microsoft.com/office/drawing/2014/main" id="{6787249A-2F86-9785-9DE5-B6E120A12AD5}"/>
              </a:ext>
            </a:extLst>
          </p:cNvPr>
          <p:cNvPicPr>
            <a:picLocks noChangeAspect="1"/>
          </p:cNvPicPr>
          <p:nvPr/>
        </p:nvPicPr>
        <p:blipFill>
          <a:blip r:embed="rId3"/>
          <a:stretch>
            <a:fillRect/>
          </a:stretch>
        </p:blipFill>
        <p:spPr>
          <a:xfrm>
            <a:off x="697158" y="782053"/>
            <a:ext cx="6697776" cy="6075947"/>
          </a:xfrm>
          <a:prstGeom prst="rect">
            <a:avLst/>
          </a:prstGeom>
        </p:spPr>
      </p:pic>
      <p:sp>
        <p:nvSpPr>
          <p:cNvPr id="8" name="TextBox 7">
            <a:extLst>
              <a:ext uri="{FF2B5EF4-FFF2-40B4-BE49-F238E27FC236}">
                <a16:creationId xmlns:a16="http://schemas.microsoft.com/office/drawing/2014/main" id="{F93802DE-E5F5-39AB-26D7-FE64D106A268}"/>
              </a:ext>
            </a:extLst>
          </p:cNvPr>
          <p:cNvSpPr txBox="1"/>
          <p:nvPr/>
        </p:nvSpPr>
        <p:spPr>
          <a:xfrm>
            <a:off x="7172325" y="230123"/>
            <a:ext cx="6096000" cy="369332"/>
          </a:xfrm>
          <a:prstGeom prst="rect">
            <a:avLst/>
          </a:prstGeom>
          <a:noFill/>
        </p:spPr>
        <p:txBody>
          <a:bodyPr wrap="square">
            <a:spAutoFit/>
          </a:bodyPr>
          <a:lstStyle/>
          <a:p>
            <a:r>
              <a:rPr lang="en-US" sz="1800" b="1" dirty="0">
                <a:solidFill>
                  <a:srgbClr val="FF0000"/>
                </a:solidFill>
                <a:latin typeface="Century Gothic" panose="020B0502020202020204" pitchFamily="34" charset="0"/>
              </a:rPr>
              <a:t>Zoomed out to show full page. </a:t>
            </a:r>
            <a:endParaRPr lang="en-US" b="1" dirty="0">
              <a:solidFill>
                <a:srgbClr val="FF0000"/>
              </a:solidFill>
            </a:endParaRPr>
          </a:p>
        </p:txBody>
      </p:sp>
    </p:spTree>
    <p:extLst>
      <p:ext uri="{BB962C8B-B14F-4D97-AF65-F5344CB8AC3E}">
        <p14:creationId xmlns:p14="http://schemas.microsoft.com/office/powerpoint/2010/main" val="18060715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7C89C-4DC5-C329-E721-95481389D0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CEB885-14EA-1EDD-A3A2-BDD7840A6AEC}"/>
              </a:ext>
            </a:extLst>
          </p:cNvPr>
          <p:cNvSpPr>
            <a:spLocks noGrp="1"/>
          </p:cNvSpPr>
          <p:nvPr>
            <p:ph type="title"/>
          </p:nvPr>
        </p:nvSpPr>
        <p:spPr>
          <a:xfrm>
            <a:off x="598503" y="193906"/>
            <a:ext cx="11433076" cy="487131"/>
          </a:xfrm>
        </p:spPr>
        <p:txBody>
          <a:bodyPr/>
          <a:lstStyle/>
          <a:p>
            <a:r>
              <a:rPr lang="en-US" sz="2800" dirty="0"/>
              <a:t>Wireframe Notes – 1.0 – Certificates – Mobile/Tablet Views</a:t>
            </a:r>
          </a:p>
        </p:txBody>
      </p:sp>
      <p:sp>
        <p:nvSpPr>
          <p:cNvPr id="4" name="Date Placeholder 3">
            <a:extLst>
              <a:ext uri="{FF2B5EF4-FFF2-40B4-BE49-F238E27FC236}">
                <a16:creationId xmlns:a16="http://schemas.microsoft.com/office/drawing/2014/main" id="{76954AA1-6DEC-9B47-5F31-B3A50F9A73BA}"/>
              </a:ext>
            </a:extLst>
          </p:cNvPr>
          <p:cNvSpPr>
            <a:spLocks noGrp="1"/>
          </p:cNvSpPr>
          <p:nvPr>
            <p:ph type="dt" sz="half" idx="10"/>
          </p:nvPr>
        </p:nvSpPr>
        <p:spPr/>
        <p:txBody>
          <a:bodyPr/>
          <a:lstStyle/>
          <a:p>
            <a:fld id="{FAAB834C-2F9F-4134-A8A6-8D28F07BEAB5}" type="datetime1">
              <a:rPr lang="en-US" smtClean="0"/>
              <a:t>9/18/2025</a:t>
            </a:fld>
            <a:endParaRPr lang="en-US"/>
          </a:p>
        </p:txBody>
      </p:sp>
      <p:sp>
        <p:nvSpPr>
          <p:cNvPr id="5" name="Slide Number Placeholder 4">
            <a:extLst>
              <a:ext uri="{FF2B5EF4-FFF2-40B4-BE49-F238E27FC236}">
                <a16:creationId xmlns:a16="http://schemas.microsoft.com/office/drawing/2014/main" id="{903C5075-130A-7B08-B5C6-271B62D52AE5}"/>
              </a:ext>
            </a:extLst>
          </p:cNvPr>
          <p:cNvSpPr>
            <a:spLocks noGrp="1"/>
          </p:cNvSpPr>
          <p:nvPr>
            <p:ph type="sldNum" sz="quarter" idx="12"/>
          </p:nvPr>
        </p:nvSpPr>
        <p:spPr/>
        <p:txBody>
          <a:bodyPr/>
          <a:lstStyle/>
          <a:p>
            <a:fld id="{330EA680-D336-4FF7-8B7A-9848BB0A1C32}" type="slidenum">
              <a:rPr lang="en-US" smtClean="0"/>
              <a:t>28</a:t>
            </a:fld>
            <a:endParaRPr lang="en-US"/>
          </a:p>
        </p:txBody>
      </p:sp>
      <p:pic>
        <p:nvPicPr>
          <p:cNvPr id="8" name="Picture 7">
            <a:extLst>
              <a:ext uri="{FF2B5EF4-FFF2-40B4-BE49-F238E27FC236}">
                <a16:creationId xmlns:a16="http://schemas.microsoft.com/office/drawing/2014/main" id="{ACD15D6D-F100-9139-5FEE-0F7AB53FFBC1}"/>
              </a:ext>
            </a:extLst>
          </p:cNvPr>
          <p:cNvPicPr>
            <a:picLocks noChangeAspect="1"/>
          </p:cNvPicPr>
          <p:nvPr/>
        </p:nvPicPr>
        <p:blipFill>
          <a:blip r:embed="rId3"/>
          <a:stretch>
            <a:fillRect/>
          </a:stretch>
        </p:blipFill>
        <p:spPr>
          <a:xfrm>
            <a:off x="598503" y="854242"/>
            <a:ext cx="1639548" cy="5809852"/>
          </a:xfrm>
          <a:prstGeom prst="rect">
            <a:avLst/>
          </a:prstGeom>
        </p:spPr>
      </p:pic>
      <p:pic>
        <p:nvPicPr>
          <p:cNvPr id="11" name="Picture 10">
            <a:extLst>
              <a:ext uri="{FF2B5EF4-FFF2-40B4-BE49-F238E27FC236}">
                <a16:creationId xmlns:a16="http://schemas.microsoft.com/office/drawing/2014/main" id="{B739776B-4D66-8181-03B4-DB132E2FE0E4}"/>
              </a:ext>
            </a:extLst>
          </p:cNvPr>
          <p:cNvPicPr>
            <a:picLocks noChangeAspect="1"/>
          </p:cNvPicPr>
          <p:nvPr/>
        </p:nvPicPr>
        <p:blipFill>
          <a:blip r:embed="rId4"/>
          <a:stretch>
            <a:fillRect/>
          </a:stretch>
        </p:blipFill>
        <p:spPr>
          <a:xfrm>
            <a:off x="2477748" y="693654"/>
            <a:ext cx="1654696" cy="6027821"/>
          </a:xfrm>
          <a:prstGeom prst="rect">
            <a:avLst/>
          </a:prstGeom>
        </p:spPr>
      </p:pic>
      <p:pic>
        <p:nvPicPr>
          <p:cNvPr id="14" name="Picture 13">
            <a:extLst>
              <a:ext uri="{FF2B5EF4-FFF2-40B4-BE49-F238E27FC236}">
                <a16:creationId xmlns:a16="http://schemas.microsoft.com/office/drawing/2014/main" id="{C34DABD3-4F2C-21CB-82A6-22C926D0825F}"/>
              </a:ext>
            </a:extLst>
          </p:cNvPr>
          <p:cNvPicPr>
            <a:picLocks noChangeAspect="1"/>
          </p:cNvPicPr>
          <p:nvPr/>
        </p:nvPicPr>
        <p:blipFill>
          <a:blip r:embed="rId5"/>
          <a:stretch>
            <a:fillRect/>
          </a:stretch>
        </p:blipFill>
        <p:spPr>
          <a:xfrm>
            <a:off x="4372141" y="787818"/>
            <a:ext cx="1715582" cy="5282364"/>
          </a:xfrm>
          <a:prstGeom prst="rect">
            <a:avLst/>
          </a:prstGeom>
        </p:spPr>
      </p:pic>
      <p:pic>
        <p:nvPicPr>
          <p:cNvPr id="17" name="Picture 16">
            <a:extLst>
              <a:ext uri="{FF2B5EF4-FFF2-40B4-BE49-F238E27FC236}">
                <a16:creationId xmlns:a16="http://schemas.microsoft.com/office/drawing/2014/main" id="{956539F6-74FD-F4DB-6C79-4172E93926E2}"/>
              </a:ext>
            </a:extLst>
          </p:cNvPr>
          <p:cNvPicPr>
            <a:picLocks noChangeAspect="1"/>
          </p:cNvPicPr>
          <p:nvPr/>
        </p:nvPicPr>
        <p:blipFill>
          <a:blip r:embed="rId6"/>
          <a:stretch>
            <a:fillRect/>
          </a:stretch>
        </p:blipFill>
        <p:spPr>
          <a:xfrm>
            <a:off x="6995823" y="787818"/>
            <a:ext cx="3426561" cy="5510757"/>
          </a:xfrm>
          <a:prstGeom prst="rect">
            <a:avLst/>
          </a:prstGeom>
        </p:spPr>
      </p:pic>
    </p:spTree>
    <p:extLst>
      <p:ext uri="{BB962C8B-B14F-4D97-AF65-F5344CB8AC3E}">
        <p14:creationId xmlns:p14="http://schemas.microsoft.com/office/powerpoint/2010/main" val="8438741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7C355-FB88-A272-56D3-1E79D3E662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05C042-2DC0-5F23-195B-B82ED9184931}"/>
              </a:ext>
            </a:extLst>
          </p:cNvPr>
          <p:cNvSpPr>
            <a:spLocks noGrp="1"/>
          </p:cNvSpPr>
          <p:nvPr>
            <p:ph type="title"/>
          </p:nvPr>
        </p:nvSpPr>
        <p:spPr>
          <a:xfrm>
            <a:off x="598503" y="193906"/>
            <a:ext cx="11433076" cy="487131"/>
          </a:xfrm>
        </p:spPr>
        <p:txBody>
          <a:bodyPr/>
          <a:lstStyle/>
          <a:p>
            <a:r>
              <a:rPr lang="en-US" sz="2800" dirty="0"/>
              <a:t>Wireframe Notes – 1.0 - Certificates</a:t>
            </a:r>
          </a:p>
        </p:txBody>
      </p:sp>
      <p:sp>
        <p:nvSpPr>
          <p:cNvPr id="4" name="Date Placeholder 3">
            <a:extLst>
              <a:ext uri="{FF2B5EF4-FFF2-40B4-BE49-F238E27FC236}">
                <a16:creationId xmlns:a16="http://schemas.microsoft.com/office/drawing/2014/main" id="{492A14A5-17EB-8B44-E2A6-030EC559B9D7}"/>
              </a:ext>
            </a:extLst>
          </p:cNvPr>
          <p:cNvSpPr>
            <a:spLocks noGrp="1"/>
          </p:cNvSpPr>
          <p:nvPr>
            <p:ph type="dt" sz="half" idx="10"/>
          </p:nvPr>
        </p:nvSpPr>
        <p:spPr/>
        <p:txBody>
          <a:bodyPr/>
          <a:lstStyle/>
          <a:p>
            <a:fld id="{FAAB834C-2F9F-4134-A8A6-8D28F07BEAB5}" type="datetime1">
              <a:rPr lang="en-US" smtClean="0"/>
              <a:t>9/18/2025</a:t>
            </a:fld>
            <a:endParaRPr lang="en-US"/>
          </a:p>
        </p:txBody>
      </p:sp>
      <p:sp>
        <p:nvSpPr>
          <p:cNvPr id="5" name="Slide Number Placeholder 4">
            <a:extLst>
              <a:ext uri="{FF2B5EF4-FFF2-40B4-BE49-F238E27FC236}">
                <a16:creationId xmlns:a16="http://schemas.microsoft.com/office/drawing/2014/main" id="{5905A857-389F-D00E-1D8E-C33E6DBADFD6}"/>
              </a:ext>
            </a:extLst>
          </p:cNvPr>
          <p:cNvSpPr>
            <a:spLocks noGrp="1"/>
          </p:cNvSpPr>
          <p:nvPr>
            <p:ph type="sldNum" sz="quarter" idx="12"/>
          </p:nvPr>
        </p:nvSpPr>
        <p:spPr>
          <a:xfrm>
            <a:off x="8610600" y="6201922"/>
            <a:ext cx="1811784" cy="365125"/>
          </a:xfrm>
        </p:spPr>
        <p:txBody>
          <a:bodyPr/>
          <a:lstStyle/>
          <a:p>
            <a:fld id="{330EA680-D336-4FF7-8B7A-9848BB0A1C32}" type="slidenum">
              <a:rPr lang="en-US" smtClean="0"/>
              <a:t>29</a:t>
            </a:fld>
            <a:endParaRPr lang="en-US"/>
          </a:p>
        </p:txBody>
      </p:sp>
      <p:sp>
        <p:nvSpPr>
          <p:cNvPr id="3" name="TextBox 2">
            <a:extLst>
              <a:ext uri="{FF2B5EF4-FFF2-40B4-BE49-F238E27FC236}">
                <a16:creationId xmlns:a16="http://schemas.microsoft.com/office/drawing/2014/main" id="{92E98E3B-E715-0FF3-68EC-2AF7E0167D9A}"/>
              </a:ext>
            </a:extLst>
          </p:cNvPr>
          <p:cNvSpPr txBox="1"/>
          <p:nvPr/>
        </p:nvSpPr>
        <p:spPr>
          <a:xfrm>
            <a:off x="598503" y="821932"/>
            <a:ext cx="4996544" cy="5693866"/>
          </a:xfrm>
          <a:prstGeom prst="rect">
            <a:avLst/>
          </a:prstGeom>
          <a:noFill/>
        </p:spPr>
        <p:txBody>
          <a:bodyPr wrap="square">
            <a:spAutoFit/>
          </a:bodyPr>
          <a:lstStyle/>
          <a:p>
            <a:r>
              <a:rPr lang="en-US" sz="1400" b="1" dirty="0">
                <a:latin typeface="Century Gothic" panose="020B0502020202020204" pitchFamily="34" charset="0"/>
              </a:rPr>
              <a:t>Sort by Options (</a:t>
            </a:r>
            <a:r>
              <a:rPr lang="en-US" sz="1600" b="1" dirty="0">
                <a:solidFill>
                  <a:srgbClr val="C00000"/>
                </a:solidFill>
                <a:latin typeface="Century Gothic" panose="020B0502020202020204" pitchFamily="34" charset="0"/>
              </a:rPr>
              <a:t>Confirm Final List with GCC</a:t>
            </a:r>
            <a:r>
              <a:rPr lang="en-US" sz="1400" b="1" dirty="0">
                <a:latin typeface="Century Gothic" panose="020B0502020202020204" pitchFamily="34" charset="0"/>
              </a:rPr>
              <a:t>)</a:t>
            </a:r>
          </a:p>
          <a:p>
            <a:endParaRPr lang="en-US" sz="1400" b="1" dirty="0">
              <a:latin typeface="Century Gothic" panose="020B0502020202020204" pitchFamily="34" charset="0"/>
            </a:endParaRPr>
          </a:p>
          <a:p>
            <a:r>
              <a:rPr lang="en-US" sz="1200" b="1" dirty="0"/>
              <a:t>Sort By Options</a:t>
            </a:r>
          </a:p>
          <a:p>
            <a:r>
              <a:rPr lang="en-US" sz="1200" b="1" dirty="0"/>
              <a:t>By Date</a:t>
            </a:r>
            <a:endParaRPr lang="en-US" sz="1200" dirty="0"/>
          </a:p>
          <a:p>
            <a:r>
              <a:rPr lang="en-US" sz="1200" dirty="0"/>
              <a:t>Newest Effective Date</a:t>
            </a:r>
          </a:p>
          <a:p>
            <a:r>
              <a:rPr lang="en-US" sz="1200" dirty="0"/>
              <a:t>Oldest Effective Date</a:t>
            </a:r>
          </a:p>
          <a:p>
            <a:r>
              <a:rPr lang="en-US" sz="1200" dirty="0">
                <a:solidFill>
                  <a:srgbClr val="FF0000"/>
                </a:solidFill>
              </a:rPr>
              <a:t>Expiring Soon</a:t>
            </a:r>
          </a:p>
          <a:p>
            <a:r>
              <a:rPr lang="en-US" sz="1200" dirty="0">
                <a:solidFill>
                  <a:srgbClr val="FF0000"/>
                </a:solidFill>
              </a:rPr>
              <a:t>Longest Validity Period</a:t>
            </a:r>
          </a:p>
          <a:p>
            <a:r>
              <a:rPr lang="en-US" sz="1200" dirty="0">
                <a:solidFill>
                  <a:srgbClr val="FF0000"/>
                </a:solidFill>
              </a:rPr>
              <a:t>Recently Issued (Last 30 Days)</a:t>
            </a:r>
          </a:p>
          <a:p>
            <a:r>
              <a:rPr lang="en-US" sz="1200" b="1" dirty="0"/>
              <a:t>By Certificate</a:t>
            </a:r>
            <a:endParaRPr lang="en-US" sz="1200" dirty="0"/>
          </a:p>
          <a:p>
            <a:r>
              <a:rPr lang="en-US" sz="1200" dirty="0"/>
              <a:t>Certificate Number (Newest)</a:t>
            </a:r>
          </a:p>
          <a:p>
            <a:r>
              <a:rPr lang="en-US" sz="1200" dirty="0"/>
              <a:t>Certificate Number (Oldest)</a:t>
            </a:r>
          </a:p>
          <a:p>
            <a:r>
              <a:rPr lang="en-US" sz="1200" dirty="0"/>
              <a:t>Certification Type A-Z</a:t>
            </a:r>
          </a:p>
          <a:p>
            <a:r>
              <a:rPr lang="en-US" sz="1200" dirty="0"/>
              <a:t>Certification Type Z-A</a:t>
            </a:r>
          </a:p>
          <a:p>
            <a:r>
              <a:rPr lang="en-US" sz="1200" b="1" dirty="0"/>
              <a:t>Alphabetical</a:t>
            </a:r>
            <a:endParaRPr lang="en-US" sz="1200" dirty="0"/>
          </a:p>
          <a:p>
            <a:r>
              <a:rPr lang="en-US" sz="1200" dirty="0"/>
              <a:t>Company A-Z</a:t>
            </a:r>
          </a:p>
          <a:p>
            <a:r>
              <a:rPr lang="en-US" sz="1200" dirty="0"/>
              <a:t>Company Z-A</a:t>
            </a:r>
          </a:p>
          <a:p>
            <a:r>
              <a:rPr lang="en-US" sz="1200" dirty="0"/>
              <a:t>Product Name A-Z</a:t>
            </a:r>
          </a:p>
          <a:p>
            <a:r>
              <a:rPr lang="en-US" sz="1200" dirty="0"/>
              <a:t>Product Name Z-A</a:t>
            </a:r>
          </a:p>
          <a:p>
            <a:r>
              <a:rPr lang="en-US" sz="1200" b="1" dirty="0"/>
              <a:t>By Location</a:t>
            </a:r>
            <a:endParaRPr lang="en-US" sz="1200" dirty="0"/>
          </a:p>
          <a:p>
            <a:r>
              <a:rPr lang="en-US" sz="1200" dirty="0"/>
              <a:t>Location A-Z</a:t>
            </a:r>
          </a:p>
          <a:p>
            <a:r>
              <a:rPr lang="en-US" sz="1200" dirty="0"/>
              <a:t>Location Z-A</a:t>
            </a:r>
          </a:p>
          <a:p>
            <a:r>
              <a:rPr lang="en-US" sz="1200" dirty="0"/>
              <a:t>Country A-Z</a:t>
            </a:r>
          </a:p>
          <a:p>
            <a:r>
              <a:rPr lang="en-US" sz="1200" dirty="0"/>
              <a:t>Country Z-A</a:t>
            </a:r>
          </a:p>
          <a:p>
            <a:r>
              <a:rPr lang="en-US" sz="1200" b="1" dirty="0">
                <a:solidFill>
                  <a:srgbClr val="FF0000"/>
                </a:solidFill>
              </a:rPr>
              <a:t>Advanced</a:t>
            </a:r>
            <a:endParaRPr lang="en-US" sz="1200" dirty="0">
              <a:solidFill>
                <a:srgbClr val="FF0000"/>
              </a:solidFill>
            </a:endParaRPr>
          </a:p>
          <a:p>
            <a:r>
              <a:rPr lang="en-US" sz="1200" dirty="0">
                <a:solidFill>
                  <a:srgbClr val="FF0000"/>
                </a:solidFill>
              </a:rPr>
              <a:t>Most Popular Companies</a:t>
            </a:r>
          </a:p>
          <a:p>
            <a:r>
              <a:rPr lang="en-US" sz="1200" dirty="0">
                <a:solidFill>
                  <a:srgbClr val="FF0000"/>
                </a:solidFill>
              </a:rPr>
              <a:t>Product Type A-Z</a:t>
            </a:r>
          </a:p>
          <a:p>
            <a:r>
              <a:rPr lang="en-US" sz="1200" dirty="0">
                <a:solidFill>
                  <a:srgbClr val="FF0000"/>
                </a:solidFill>
              </a:rPr>
              <a:t>Relevance Score</a:t>
            </a:r>
          </a:p>
          <a:p>
            <a:r>
              <a:rPr lang="en-US" sz="1200" dirty="0">
                <a:solidFill>
                  <a:srgbClr val="FF0000"/>
                </a:solidFill>
              </a:rPr>
              <a:t>Status</a:t>
            </a:r>
          </a:p>
          <a:p>
            <a:endParaRPr lang="en-US" sz="1200" b="1" dirty="0">
              <a:latin typeface="Century Gothic" panose="020B0502020202020204" pitchFamily="34" charset="0"/>
            </a:endParaRPr>
          </a:p>
        </p:txBody>
      </p:sp>
      <p:pic>
        <p:nvPicPr>
          <p:cNvPr id="7" name="Picture 6">
            <a:extLst>
              <a:ext uri="{FF2B5EF4-FFF2-40B4-BE49-F238E27FC236}">
                <a16:creationId xmlns:a16="http://schemas.microsoft.com/office/drawing/2014/main" id="{4A61FD3C-D229-6A7D-8CF4-9FB9CBEEF52B}"/>
              </a:ext>
            </a:extLst>
          </p:cNvPr>
          <p:cNvPicPr>
            <a:picLocks noChangeAspect="1"/>
          </p:cNvPicPr>
          <p:nvPr/>
        </p:nvPicPr>
        <p:blipFill>
          <a:blip r:embed="rId4"/>
          <a:srcRect l="6328"/>
          <a:stretch>
            <a:fillRect/>
          </a:stretch>
        </p:blipFill>
        <p:spPr>
          <a:xfrm>
            <a:off x="9448633" y="311707"/>
            <a:ext cx="1292988" cy="625954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Picture 8">
            <a:extLst>
              <a:ext uri="{FF2B5EF4-FFF2-40B4-BE49-F238E27FC236}">
                <a16:creationId xmlns:a16="http://schemas.microsoft.com/office/drawing/2014/main" id="{440AFADA-7008-C572-CF65-DDCC8E017F8B}"/>
              </a:ext>
            </a:extLst>
          </p:cNvPr>
          <p:cNvPicPr>
            <a:picLocks noChangeAspect="1"/>
          </p:cNvPicPr>
          <p:nvPr/>
        </p:nvPicPr>
        <p:blipFill>
          <a:blip r:embed="rId5"/>
          <a:stretch>
            <a:fillRect/>
          </a:stretch>
        </p:blipFill>
        <p:spPr>
          <a:xfrm>
            <a:off x="7105567" y="840758"/>
            <a:ext cx="1924050" cy="26955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TextBox 7">
            <a:extLst>
              <a:ext uri="{FF2B5EF4-FFF2-40B4-BE49-F238E27FC236}">
                <a16:creationId xmlns:a16="http://schemas.microsoft.com/office/drawing/2014/main" id="{AF0A4E9D-EF0A-65CE-FDDA-163C0AE96475}"/>
              </a:ext>
            </a:extLst>
          </p:cNvPr>
          <p:cNvSpPr txBox="1"/>
          <p:nvPr/>
        </p:nvSpPr>
        <p:spPr>
          <a:xfrm>
            <a:off x="3585090" y="4377149"/>
            <a:ext cx="5677244" cy="1569660"/>
          </a:xfrm>
          <a:prstGeom prst="rect">
            <a:avLst/>
          </a:prstGeom>
          <a:noFill/>
        </p:spPr>
        <p:txBody>
          <a:bodyPr wrap="square">
            <a:spAutoFit/>
          </a:bodyPr>
          <a:lstStyle/>
          <a:p>
            <a:pPr marR="2000" algn="l" rtl="0">
              <a:buSzPts val="1200"/>
            </a:pPr>
            <a:r>
              <a:rPr lang="en-US" sz="1600" b="0" i="0" u="none" strike="noStrike" baseline="0" dirty="0">
                <a:latin typeface="Century Gothic" panose="020B0502020202020204" pitchFamily="34" charset="0"/>
              </a:rPr>
              <a:t>Requirement: Ability to sort tiles on all Public database columns (Certificate #, Certification Type, Effective Date</a:t>
            </a:r>
            <a:r>
              <a:rPr lang="en-US" sz="1600" b="0" i="0" u="none" strike="noStrike" baseline="0" dirty="0">
                <a:solidFill>
                  <a:srgbClr val="FF0000"/>
                </a:solidFill>
                <a:latin typeface="Century Gothic" panose="020B0502020202020204" pitchFamily="34" charset="0"/>
              </a:rPr>
              <a:t>, Expiration Date</a:t>
            </a:r>
            <a:r>
              <a:rPr lang="en-US" sz="1600" b="0" i="0" u="none" strike="noStrike" baseline="0" dirty="0">
                <a:latin typeface="Century Gothic" panose="020B0502020202020204" pitchFamily="34" charset="0"/>
              </a:rPr>
              <a:t>, Company, </a:t>
            </a:r>
            <a:r>
              <a:rPr lang="en-US" sz="1600" b="0" i="0" u="none" strike="sngStrike" baseline="0" dirty="0">
                <a:latin typeface="Century Gothic" panose="020B0502020202020204" pitchFamily="34" charset="0"/>
              </a:rPr>
              <a:t>Company Contact Email/URL</a:t>
            </a:r>
            <a:r>
              <a:rPr lang="en-US" sz="1600" b="0" i="0" u="none" strike="noStrike" baseline="0" dirty="0">
                <a:latin typeface="Century Gothic" panose="020B0502020202020204" pitchFamily="34" charset="0"/>
              </a:rPr>
              <a:t>, Product Name, </a:t>
            </a:r>
            <a:r>
              <a:rPr lang="en-US" sz="1600" b="0" i="0" u="none" strike="noStrike" baseline="0" dirty="0">
                <a:solidFill>
                  <a:srgbClr val="FF0000"/>
                </a:solidFill>
                <a:latin typeface="Century Gothic" panose="020B0502020202020204" pitchFamily="34" charset="0"/>
              </a:rPr>
              <a:t>Product Category, Product Type</a:t>
            </a:r>
            <a:r>
              <a:rPr lang="en-US" sz="1600" b="0" i="0" u="none" strike="noStrike" baseline="0" dirty="0">
                <a:latin typeface="Century Gothic" panose="020B0502020202020204" pitchFamily="34" charset="0"/>
              </a:rPr>
              <a:t>, </a:t>
            </a:r>
            <a:r>
              <a:rPr lang="en-US" sz="1600" b="0" i="0" u="none" strike="sngStrike" baseline="0" dirty="0">
                <a:latin typeface="Century Gothic" panose="020B0502020202020204" pitchFamily="34" charset="0"/>
              </a:rPr>
              <a:t>Product Type Subcategory</a:t>
            </a:r>
            <a:r>
              <a:rPr lang="en-US" sz="1600" b="0" i="0" u="none" strike="noStrike" baseline="0" dirty="0">
                <a:latin typeface="Century Gothic" panose="020B0502020202020204" pitchFamily="34" charset="0"/>
              </a:rPr>
              <a:t>, Location, Country, </a:t>
            </a:r>
            <a:r>
              <a:rPr lang="en-US" sz="1600" b="0" i="0" u="none" strike="sngStrike" baseline="0" dirty="0">
                <a:latin typeface="Century Gothic" panose="020B0502020202020204" pitchFamily="34" charset="0"/>
              </a:rPr>
              <a:t>External Tag</a:t>
            </a:r>
            <a:r>
              <a:rPr lang="en-US" sz="1600" b="0" i="0" u="none" strike="noStrike" baseline="0" dirty="0">
                <a:latin typeface="Century Gothic" panose="020B0502020202020204" pitchFamily="34" charset="0"/>
              </a:rPr>
              <a:t>) (</a:t>
            </a:r>
            <a:r>
              <a:rPr lang="en-US" sz="1600" b="0" i="0" u="none" strike="noStrike" baseline="0" dirty="0" err="1">
                <a:latin typeface="Century Gothic" panose="020B0502020202020204" pitchFamily="34" charset="0"/>
              </a:rPr>
              <a:t>Striked</a:t>
            </a:r>
            <a:r>
              <a:rPr lang="en-US" sz="1600" b="0" i="0" u="none" strike="noStrike" baseline="0" dirty="0">
                <a:latin typeface="Century Gothic" panose="020B0502020202020204" pitchFamily="34" charset="0"/>
              </a:rPr>
              <a:t> out does not need sorting)</a:t>
            </a:r>
          </a:p>
        </p:txBody>
      </p:sp>
    </p:spTree>
    <p:extLst>
      <p:ext uri="{BB962C8B-B14F-4D97-AF65-F5344CB8AC3E}">
        <p14:creationId xmlns:p14="http://schemas.microsoft.com/office/powerpoint/2010/main" val="603027040"/>
      </p:ext>
    </p:extLst>
  </p:cSld>
  <p:clrMapOvr>
    <a:masterClrMapping/>
  </p:clrMapOvr>
  <p:extLst>
    <p:ext uri="{6950BFC3-D8DA-4A85-94F7-54DA5524770B}">
      <p188:commentRel xmlns:p188="http://schemas.microsoft.com/office/powerpoint/2018/8/main" r:id="rId3"/>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D1F55-D971-0CCC-98DF-87AD5D1CA2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6CC639-21BA-64EA-6DEC-280E1E0E5DC2}"/>
              </a:ext>
            </a:extLst>
          </p:cNvPr>
          <p:cNvSpPr>
            <a:spLocks noGrp="1"/>
          </p:cNvSpPr>
          <p:nvPr>
            <p:ph type="title"/>
          </p:nvPr>
        </p:nvSpPr>
        <p:spPr/>
        <p:txBody>
          <a:bodyPr/>
          <a:lstStyle/>
          <a:p>
            <a:r>
              <a:rPr lang="en-US" sz="2800"/>
              <a:t>Wireframe Notes – 1.0 - Certificate List (Public Page)</a:t>
            </a:r>
          </a:p>
        </p:txBody>
      </p:sp>
      <p:sp>
        <p:nvSpPr>
          <p:cNvPr id="3" name="Content Placeholder 2">
            <a:extLst>
              <a:ext uri="{FF2B5EF4-FFF2-40B4-BE49-F238E27FC236}">
                <a16:creationId xmlns:a16="http://schemas.microsoft.com/office/drawing/2014/main" id="{2C9363E6-30F2-E691-35EB-5F69D43BE164}"/>
              </a:ext>
            </a:extLst>
          </p:cNvPr>
          <p:cNvSpPr>
            <a:spLocks noGrp="1"/>
          </p:cNvSpPr>
          <p:nvPr>
            <p:ph idx="1"/>
          </p:nvPr>
        </p:nvSpPr>
        <p:spPr>
          <a:xfrm>
            <a:off x="598503" y="868054"/>
            <a:ext cx="10857773" cy="5139345"/>
          </a:xfrm>
        </p:spPr>
        <p:txBody>
          <a:bodyPr>
            <a:noAutofit/>
          </a:bodyPr>
          <a:lstStyle/>
          <a:p>
            <a:pPr marR="2000" algn="l" rtl="0">
              <a:buSzPts val="1200"/>
              <a:buFont typeface="Symbol" panose="05050102010706020507" pitchFamily="18" charset="2"/>
              <a:buChar char="·"/>
            </a:pPr>
            <a:r>
              <a:rPr lang="en-US" sz="1400" b="0" i="0" u="none" strike="noStrike" baseline="0" dirty="0"/>
              <a:t>This is the landing page (https://db.greencirclecertified.com/certificate) on the current website. </a:t>
            </a:r>
          </a:p>
          <a:p>
            <a:pPr marR="2000" algn="l" rtl="0">
              <a:buSzPts val="1200"/>
              <a:buFont typeface="Symbol" panose="05050102010706020507" pitchFamily="18" charset="2"/>
              <a:buChar char="·"/>
            </a:pPr>
            <a:r>
              <a:rPr lang="en-US" sz="1400" b="0" i="0" u="none" strike="noStrike" baseline="0" dirty="0"/>
              <a:t>Clicking anywhere on the tile of a certificate will take the user to the Certificate View, separate page that opens into a new window, that shows details about the selected certificate. </a:t>
            </a:r>
          </a:p>
          <a:p>
            <a:pPr marR="2000" algn="l" rtl="0">
              <a:buSzPts val="1200"/>
              <a:buFont typeface="Symbol" panose="05050102010706020507" pitchFamily="18" charset="2"/>
              <a:buChar char="·"/>
            </a:pPr>
            <a:r>
              <a:rPr lang="en-US" sz="1400" b="0" i="0" u="none" strike="noStrike" baseline="0" dirty="0"/>
              <a:t>Search bar, autocomplete suggestions, filters on search terms within results, mobile compatibility, and the ability to narrow down search results based on specific criteria within categories, allowing users to easily find specific content on a site. </a:t>
            </a:r>
          </a:p>
          <a:p>
            <a:pPr marR="2000" algn="l" rtl="0">
              <a:buSzPts val="1200"/>
              <a:buFont typeface="Symbol" panose="05050102010706020507" pitchFamily="18" charset="2"/>
              <a:buChar char="·"/>
            </a:pPr>
            <a:r>
              <a:rPr lang="en-US" sz="1400" b="0" i="0" u="none" strike="noStrike" baseline="0" dirty="0"/>
              <a:t>Ability to sort tiles on all Public database columns (Certificate #, Certification Type, Effective Date, Expiration Date, Company, </a:t>
            </a:r>
            <a:r>
              <a:rPr lang="en-US" sz="1400" b="0" i="0" u="none" strike="sngStrike" baseline="0" dirty="0"/>
              <a:t>Company Contact Email/URL</a:t>
            </a:r>
            <a:r>
              <a:rPr lang="en-US" sz="1400" b="0" i="0" u="none" strike="noStrike" baseline="0" dirty="0"/>
              <a:t>, Product Name, Product Category, Product Type, </a:t>
            </a:r>
            <a:r>
              <a:rPr lang="en-US" sz="1400" b="0" i="0" u="none" strike="sngStrike" baseline="0" dirty="0"/>
              <a:t>Product Type Subcategory</a:t>
            </a:r>
            <a:r>
              <a:rPr lang="en-US" sz="1400" b="0" i="0" u="none" strike="noStrike" baseline="0" dirty="0"/>
              <a:t>, Location, Country, </a:t>
            </a:r>
            <a:r>
              <a:rPr lang="en-US" sz="1400" b="0" i="0" u="none" strike="sngStrike" baseline="0" dirty="0"/>
              <a:t>External Tag</a:t>
            </a:r>
            <a:r>
              <a:rPr lang="en-US" sz="1400" b="0" i="0" u="none" strike="noStrike" baseline="0" dirty="0"/>
              <a:t>) (</a:t>
            </a:r>
            <a:r>
              <a:rPr lang="en-US" sz="1400" b="0" i="0" u="none" strike="noStrike" baseline="0" dirty="0" err="1"/>
              <a:t>Striked</a:t>
            </a:r>
            <a:r>
              <a:rPr lang="en-US" sz="1400" b="0" i="0" u="none" strike="noStrike" baseline="0" dirty="0"/>
              <a:t> out does not need sorting)</a:t>
            </a:r>
          </a:p>
          <a:p>
            <a:pPr marR="2000" algn="l" rtl="0">
              <a:buSzPts val="1200"/>
              <a:buFont typeface="Symbol" panose="05050102010706020507" pitchFamily="18" charset="2"/>
              <a:buChar char="·"/>
            </a:pPr>
            <a:r>
              <a:rPr lang="en-US" sz="1400" b="0" i="0" u="none" strike="noStrike" baseline="0" dirty="0"/>
              <a:t>Ability to filter by search categories</a:t>
            </a:r>
          </a:p>
          <a:p>
            <a:pPr marR="2000" algn="l" rtl="0">
              <a:buSzPts val="1200"/>
              <a:buFont typeface="Symbol" panose="05050102010706020507" pitchFamily="18" charset="2"/>
              <a:buChar char="·"/>
            </a:pPr>
            <a:r>
              <a:rPr lang="en-US" sz="1400" b="0" i="0" u="none" strike="noStrike" baseline="0" dirty="0"/>
              <a:t>All Public data fields to be displayed: Certificate #, Certification Type, Effective Date, Expiration Date, Company, Company Contact Email/URL, Product Name, Product Category, Product Type, Product Type Subcategory, Location, Country, External Tag</a:t>
            </a:r>
          </a:p>
          <a:p>
            <a:pPr marR="2000" algn="l" rtl="0">
              <a:buSzPts val="1200"/>
              <a:buFont typeface="Symbol" panose="05050102010706020507" pitchFamily="18" charset="2"/>
              <a:buChar char="·"/>
            </a:pPr>
            <a:r>
              <a:rPr lang="en-US" sz="1400" dirty="0"/>
              <a:t>Need to make sure a unique URL can be created based on search criteria so clients can directly link to DB with just listing of their certifications (SCS does this as you add search criteria). Unique URL per Certification View for direct cert access. </a:t>
            </a:r>
            <a:endParaRPr lang="en-US" sz="1400" b="0" i="0" u="none" strike="noStrike" baseline="0" dirty="0"/>
          </a:p>
          <a:p>
            <a:pPr marR="2000" algn="l" rtl="0">
              <a:buSzPts val="1200"/>
              <a:buFont typeface="Symbol" panose="05050102010706020507" pitchFamily="18" charset="2"/>
              <a:buChar char="·"/>
            </a:pPr>
            <a:r>
              <a:rPr lang="en-US" sz="1400" b="0" i="0" u="none" strike="noStrike" baseline="0" dirty="0"/>
              <a:t>Ability to view # Results</a:t>
            </a:r>
          </a:p>
          <a:p>
            <a:pPr marR="2000" algn="l" rtl="0">
              <a:buSzPts val="1200"/>
              <a:buFont typeface="Symbol" panose="05050102010706020507" pitchFamily="18" charset="2"/>
              <a:buChar char="·"/>
            </a:pPr>
            <a:r>
              <a:rPr lang="en-US" sz="1400" b="0" i="0" u="none" strike="noStrike" baseline="0" dirty="0"/>
              <a:t>Ability to Clear filters</a:t>
            </a:r>
          </a:p>
          <a:p>
            <a:pPr marR="2000" algn="l" rtl="0">
              <a:buSzPts val="1200"/>
              <a:buFont typeface="Symbol" panose="05050102010706020507" pitchFamily="18" charset="2"/>
              <a:buChar char="·"/>
            </a:pPr>
            <a:r>
              <a:rPr lang="en-US" sz="1400" dirty="0"/>
              <a:t>Certification download capability. Ability to download certificate directly from tile via download icon. </a:t>
            </a:r>
          </a:p>
          <a:p>
            <a:pPr marR="2000" algn="l" rtl="0">
              <a:buSzPts val="1200"/>
              <a:buFont typeface="Symbol" panose="05050102010706020507" pitchFamily="18" charset="2"/>
              <a:buChar char="·"/>
            </a:pPr>
            <a:r>
              <a:rPr lang="en-US" sz="1400" b="0" i="0" u="none" strike="noStrike" baseline="0" dirty="0"/>
              <a:t>*Wishlist: The ability to load the table as a user scrolls Lazy loading, rather than have the page control. </a:t>
            </a:r>
            <a:endParaRPr lang="en-US" sz="1400" dirty="0"/>
          </a:p>
        </p:txBody>
      </p:sp>
      <p:sp>
        <p:nvSpPr>
          <p:cNvPr id="4" name="Date Placeholder 3">
            <a:extLst>
              <a:ext uri="{FF2B5EF4-FFF2-40B4-BE49-F238E27FC236}">
                <a16:creationId xmlns:a16="http://schemas.microsoft.com/office/drawing/2014/main" id="{55A8439C-5E4B-2634-BA6D-692023AA54D2}"/>
              </a:ext>
            </a:extLst>
          </p:cNvPr>
          <p:cNvSpPr>
            <a:spLocks noGrp="1"/>
          </p:cNvSpPr>
          <p:nvPr>
            <p:ph type="dt" sz="half" idx="10"/>
          </p:nvPr>
        </p:nvSpPr>
        <p:spPr/>
        <p:txBody>
          <a:bodyPr/>
          <a:lstStyle/>
          <a:p>
            <a:fld id="{FAAB834C-2F9F-4134-A8A6-8D28F07BEAB5}" type="datetime1">
              <a:rPr lang="en-US" smtClean="0"/>
              <a:t>9/18/2025</a:t>
            </a:fld>
            <a:endParaRPr lang="en-US" dirty="0"/>
          </a:p>
        </p:txBody>
      </p:sp>
      <p:sp>
        <p:nvSpPr>
          <p:cNvPr id="5" name="Slide Number Placeholder 4">
            <a:extLst>
              <a:ext uri="{FF2B5EF4-FFF2-40B4-BE49-F238E27FC236}">
                <a16:creationId xmlns:a16="http://schemas.microsoft.com/office/drawing/2014/main" id="{43021164-2771-7367-6CBB-3DB8BC59DBD7}"/>
              </a:ext>
            </a:extLst>
          </p:cNvPr>
          <p:cNvSpPr>
            <a:spLocks noGrp="1"/>
          </p:cNvSpPr>
          <p:nvPr>
            <p:ph type="sldNum" sz="quarter" idx="12"/>
          </p:nvPr>
        </p:nvSpPr>
        <p:spPr/>
        <p:txBody>
          <a:bodyPr/>
          <a:lstStyle/>
          <a:p>
            <a:fld id="{330EA680-D336-4FF7-8B7A-9848BB0A1C32}" type="slidenum">
              <a:rPr lang="en-US" smtClean="0"/>
              <a:t>30</a:t>
            </a:fld>
            <a:endParaRPr lang="en-US"/>
          </a:p>
        </p:txBody>
      </p:sp>
    </p:spTree>
    <p:extLst>
      <p:ext uri="{BB962C8B-B14F-4D97-AF65-F5344CB8AC3E}">
        <p14:creationId xmlns:p14="http://schemas.microsoft.com/office/powerpoint/2010/main" val="3406086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28DA6-6EEC-C96A-30FD-14BE630A98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F90FAC-328A-A34F-9D86-21B0B9A8A064}"/>
              </a:ext>
            </a:extLst>
          </p:cNvPr>
          <p:cNvSpPr>
            <a:spLocks noGrp="1"/>
          </p:cNvSpPr>
          <p:nvPr>
            <p:ph type="title"/>
          </p:nvPr>
        </p:nvSpPr>
        <p:spPr>
          <a:xfrm>
            <a:off x="598503" y="193906"/>
            <a:ext cx="10515600" cy="487131"/>
          </a:xfrm>
        </p:spPr>
        <p:txBody>
          <a:bodyPr>
            <a:normAutofit/>
          </a:bodyPr>
          <a:lstStyle/>
          <a:p>
            <a:r>
              <a:rPr lang="en-US" sz="2800" dirty="0"/>
              <a:t>Wireframe Notes – 1.1 – Single Certificate View </a:t>
            </a:r>
          </a:p>
        </p:txBody>
      </p:sp>
      <p:sp>
        <p:nvSpPr>
          <p:cNvPr id="4" name="Date Placeholder 3">
            <a:extLst>
              <a:ext uri="{FF2B5EF4-FFF2-40B4-BE49-F238E27FC236}">
                <a16:creationId xmlns:a16="http://schemas.microsoft.com/office/drawing/2014/main" id="{66B09BDE-E8A8-D379-47E8-710C4316462F}"/>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80DBAD81-93E4-48CD-4AEC-66F8CE81CF51}"/>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31</a:t>
            </a:fld>
            <a:endParaRPr lang="en-US"/>
          </a:p>
        </p:txBody>
      </p:sp>
      <p:sp>
        <p:nvSpPr>
          <p:cNvPr id="11" name="TextBox 10">
            <a:extLst>
              <a:ext uri="{FF2B5EF4-FFF2-40B4-BE49-F238E27FC236}">
                <a16:creationId xmlns:a16="http://schemas.microsoft.com/office/drawing/2014/main" id="{1323AC92-48B1-AED7-C218-A1161F60363D}"/>
              </a:ext>
            </a:extLst>
          </p:cNvPr>
          <p:cNvSpPr txBox="1"/>
          <p:nvPr/>
        </p:nvSpPr>
        <p:spPr>
          <a:xfrm>
            <a:off x="7959634" y="993817"/>
            <a:ext cx="4070440" cy="1815882"/>
          </a:xfrm>
          <a:prstGeom prst="rect">
            <a:avLst/>
          </a:prstGeom>
          <a:noFill/>
        </p:spPr>
        <p:txBody>
          <a:bodyPr wrap="square">
            <a:spAutoFit/>
          </a:bodyPr>
          <a:lstStyle/>
          <a:p>
            <a:pPr marR="2000" algn="l" rtl="0">
              <a:buSzPts val="1200"/>
            </a:pPr>
            <a:r>
              <a:rPr lang="en-US" sz="1400" b="1" i="0" u="none" strike="noStrike" baseline="0" dirty="0">
                <a:solidFill>
                  <a:srgbClr val="606771"/>
                </a:solidFill>
                <a:latin typeface="Segoe UI" panose="020B0502040204020203" pitchFamily="34" charset="0"/>
              </a:rPr>
              <a:t>Notes:</a:t>
            </a:r>
          </a:p>
          <a:p>
            <a:pPr marL="285750" marR="2000" indent="-285750" algn="l" rtl="0">
              <a:buSzPts val="120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This is the Single Cert View for Public Users.</a:t>
            </a:r>
          </a:p>
          <a:p>
            <a:pPr marL="285750" marR="2000" indent="-285750" algn="l" rtl="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Ability to view all Public data fields for the selected Single Certificate.</a:t>
            </a:r>
          </a:p>
          <a:p>
            <a:pPr marL="285750" marR="2000" indent="-285750" algn="l" rtl="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Ability to Download the Certificate.</a:t>
            </a:r>
          </a:p>
          <a:p>
            <a:pPr marL="285750" marR="2000" indent="-285750" algn="l" rtl="0">
              <a:buFont typeface="Arial" panose="020B0604020202020204" pitchFamily="34" charset="0"/>
              <a:buChar char="•"/>
            </a:pPr>
            <a:r>
              <a:rPr lang="en-US" sz="1400" dirty="0">
                <a:solidFill>
                  <a:srgbClr val="606771"/>
                </a:solidFill>
                <a:latin typeface="Segoe UI" panose="020B0502040204020203" pitchFamily="34" charset="0"/>
              </a:rPr>
              <a:t>Certificate view will load into a new tab.</a:t>
            </a:r>
          </a:p>
          <a:p>
            <a:pPr marL="285750" marR="2000" indent="-285750" algn="l" rtl="0">
              <a:buFont typeface="Arial" panose="020B0604020202020204" pitchFamily="34" charset="0"/>
              <a:buChar char="•"/>
            </a:pPr>
            <a:endParaRPr lang="en-US" sz="1400" dirty="0">
              <a:solidFill>
                <a:srgbClr val="606771"/>
              </a:solidFill>
              <a:latin typeface="Segoe UI" panose="020B0502040204020203" pitchFamily="34" charset="0"/>
            </a:endParaRPr>
          </a:p>
          <a:p>
            <a:pPr marL="285750" marR="2000" indent="-285750" algn="l" rtl="0">
              <a:buFont typeface="Arial" panose="020B0604020202020204" pitchFamily="34" charset="0"/>
              <a:buChar char="•"/>
            </a:pPr>
            <a:endParaRPr lang="en-US" sz="1400" dirty="0">
              <a:solidFill>
                <a:srgbClr val="606771"/>
              </a:solidFill>
              <a:latin typeface="Segoe UI" panose="020B0502040204020203" pitchFamily="34" charset="0"/>
            </a:endParaRPr>
          </a:p>
        </p:txBody>
      </p:sp>
      <p:pic>
        <p:nvPicPr>
          <p:cNvPr id="16" name="Picture 15">
            <a:extLst>
              <a:ext uri="{FF2B5EF4-FFF2-40B4-BE49-F238E27FC236}">
                <a16:creationId xmlns:a16="http://schemas.microsoft.com/office/drawing/2014/main" id="{8252D9FB-BC7D-FB78-5705-A01D8EB34815}"/>
              </a:ext>
            </a:extLst>
          </p:cNvPr>
          <p:cNvPicPr>
            <a:picLocks noChangeAspect="1"/>
          </p:cNvPicPr>
          <p:nvPr/>
        </p:nvPicPr>
        <p:blipFill>
          <a:blip r:embed="rId3"/>
          <a:srcRect b="1521"/>
          <a:stretch>
            <a:fillRect/>
          </a:stretch>
        </p:blipFill>
        <p:spPr>
          <a:xfrm>
            <a:off x="714376" y="681037"/>
            <a:ext cx="6781799" cy="6088518"/>
          </a:xfrm>
          <a:prstGeom prst="rect">
            <a:avLst/>
          </a:prstGeom>
        </p:spPr>
      </p:pic>
    </p:spTree>
    <p:extLst>
      <p:ext uri="{BB962C8B-B14F-4D97-AF65-F5344CB8AC3E}">
        <p14:creationId xmlns:p14="http://schemas.microsoft.com/office/powerpoint/2010/main" val="21795356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D75A5-185E-A21A-5750-2ABF19A870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DFB6C9-DC01-7194-A2A4-5147A5BF39D9}"/>
              </a:ext>
            </a:extLst>
          </p:cNvPr>
          <p:cNvSpPr>
            <a:spLocks noGrp="1"/>
          </p:cNvSpPr>
          <p:nvPr>
            <p:ph type="title"/>
          </p:nvPr>
        </p:nvSpPr>
        <p:spPr>
          <a:xfrm>
            <a:off x="598502" y="193906"/>
            <a:ext cx="11353459" cy="487131"/>
          </a:xfrm>
        </p:spPr>
        <p:txBody>
          <a:bodyPr>
            <a:normAutofit fontScale="90000"/>
          </a:bodyPr>
          <a:lstStyle/>
          <a:p>
            <a:r>
              <a:rPr lang="en-US" sz="2800" dirty="0"/>
              <a:t>Wireframe Notes – 1.1 – Single Certificate View (Mobile/Tablet Views) </a:t>
            </a:r>
          </a:p>
        </p:txBody>
      </p:sp>
      <p:sp>
        <p:nvSpPr>
          <p:cNvPr id="4" name="Date Placeholder 3">
            <a:extLst>
              <a:ext uri="{FF2B5EF4-FFF2-40B4-BE49-F238E27FC236}">
                <a16:creationId xmlns:a16="http://schemas.microsoft.com/office/drawing/2014/main" id="{EC980FC3-2D9C-A9DF-3343-984E19F9F449}"/>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D4798A86-2A60-527D-6FF7-B33A7922B5DC}"/>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32</a:t>
            </a:fld>
            <a:endParaRPr lang="en-US"/>
          </a:p>
        </p:txBody>
      </p:sp>
      <p:pic>
        <p:nvPicPr>
          <p:cNvPr id="13" name="Picture 12">
            <a:extLst>
              <a:ext uri="{FF2B5EF4-FFF2-40B4-BE49-F238E27FC236}">
                <a16:creationId xmlns:a16="http://schemas.microsoft.com/office/drawing/2014/main" id="{6A7C8E0A-38AC-8156-3EF7-71695CAFAEB4}"/>
              </a:ext>
            </a:extLst>
          </p:cNvPr>
          <p:cNvPicPr>
            <a:picLocks noChangeAspect="1"/>
          </p:cNvPicPr>
          <p:nvPr/>
        </p:nvPicPr>
        <p:blipFill>
          <a:blip r:embed="rId3"/>
          <a:stretch>
            <a:fillRect/>
          </a:stretch>
        </p:blipFill>
        <p:spPr>
          <a:xfrm>
            <a:off x="240038" y="681037"/>
            <a:ext cx="922133" cy="6057900"/>
          </a:xfrm>
          <a:prstGeom prst="rect">
            <a:avLst/>
          </a:prstGeom>
        </p:spPr>
      </p:pic>
      <p:pic>
        <p:nvPicPr>
          <p:cNvPr id="17" name="Picture 16">
            <a:extLst>
              <a:ext uri="{FF2B5EF4-FFF2-40B4-BE49-F238E27FC236}">
                <a16:creationId xmlns:a16="http://schemas.microsoft.com/office/drawing/2014/main" id="{AB82E067-3493-FF7C-C180-1B5A432EE46F}"/>
              </a:ext>
            </a:extLst>
          </p:cNvPr>
          <p:cNvPicPr>
            <a:picLocks noChangeAspect="1"/>
          </p:cNvPicPr>
          <p:nvPr/>
        </p:nvPicPr>
        <p:blipFill>
          <a:blip r:embed="rId4"/>
          <a:stretch>
            <a:fillRect/>
          </a:stretch>
        </p:blipFill>
        <p:spPr>
          <a:xfrm>
            <a:off x="1904323" y="681037"/>
            <a:ext cx="1677077" cy="5895975"/>
          </a:xfrm>
          <a:prstGeom prst="rect">
            <a:avLst/>
          </a:prstGeom>
        </p:spPr>
      </p:pic>
      <p:pic>
        <p:nvPicPr>
          <p:cNvPr id="19" name="Picture 18">
            <a:extLst>
              <a:ext uri="{FF2B5EF4-FFF2-40B4-BE49-F238E27FC236}">
                <a16:creationId xmlns:a16="http://schemas.microsoft.com/office/drawing/2014/main" id="{4CB9B481-2885-E871-035F-CD2B71152275}"/>
              </a:ext>
            </a:extLst>
          </p:cNvPr>
          <p:cNvPicPr>
            <a:picLocks noChangeAspect="1"/>
          </p:cNvPicPr>
          <p:nvPr/>
        </p:nvPicPr>
        <p:blipFill>
          <a:blip r:embed="rId5"/>
          <a:stretch>
            <a:fillRect/>
          </a:stretch>
        </p:blipFill>
        <p:spPr>
          <a:xfrm>
            <a:off x="4323552" y="904874"/>
            <a:ext cx="3170459" cy="5610225"/>
          </a:xfrm>
          <a:prstGeom prst="rect">
            <a:avLst/>
          </a:prstGeom>
        </p:spPr>
      </p:pic>
    </p:spTree>
    <p:extLst>
      <p:ext uri="{BB962C8B-B14F-4D97-AF65-F5344CB8AC3E}">
        <p14:creationId xmlns:p14="http://schemas.microsoft.com/office/powerpoint/2010/main" val="33891459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E533E-E2CB-007B-B105-8DD1E356EE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A8DD62-99AB-8943-D384-2386D5BE8E25}"/>
              </a:ext>
            </a:extLst>
          </p:cNvPr>
          <p:cNvSpPr>
            <a:spLocks noGrp="1"/>
          </p:cNvSpPr>
          <p:nvPr>
            <p:ph type="title"/>
          </p:nvPr>
        </p:nvSpPr>
        <p:spPr>
          <a:xfrm>
            <a:off x="598503" y="193906"/>
            <a:ext cx="10515600" cy="487131"/>
          </a:xfrm>
        </p:spPr>
        <p:txBody>
          <a:bodyPr>
            <a:normAutofit/>
          </a:bodyPr>
          <a:lstStyle/>
          <a:p>
            <a:r>
              <a:rPr lang="en-US" sz="2800"/>
              <a:t>Wireframe Notes – 2.0 – Home (Dashboard)</a:t>
            </a:r>
          </a:p>
        </p:txBody>
      </p:sp>
      <p:sp>
        <p:nvSpPr>
          <p:cNvPr id="4" name="Date Placeholder 3">
            <a:extLst>
              <a:ext uri="{FF2B5EF4-FFF2-40B4-BE49-F238E27FC236}">
                <a16:creationId xmlns:a16="http://schemas.microsoft.com/office/drawing/2014/main" id="{CBC3F163-90E9-CB3E-659E-17DABAD9C3A2}"/>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F3FF73FD-D141-D7D6-34F0-52FDD020A942}"/>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33</a:t>
            </a:fld>
            <a:endParaRPr lang="en-US"/>
          </a:p>
        </p:txBody>
      </p:sp>
      <p:sp>
        <p:nvSpPr>
          <p:cNvPr id="10" name="TextBox 9">
            <a:extLst>
              <a:ext uri="{FF2B5EF4-FFF2-40B4-BE49-F238E27FC236}">
                <a16:creationId xmlns:a16="http://schemas.microsoft.com/office/drawing/2014/main" id="{BAFD4C4A-82BD-8F64-F0A0-410C86099CBA}"/>
              </a:ext>
            </a:extLst>
          </p:cNvPr>
          <p:cNvSpPr txBox="1"/>
          <p:nvPr/>
        </p:nvSpPr>
        <p:spPr>
          <a:xfrm>
            <a:off x="598503" y="874943"/>
            <a:ext cx="3493167" cy="3416320"/>
          </a:xfrm>
          <a:prstGeom prst="rect">
            <a:avLst/>
          </a:prstGeom>
          <a:noFill/>
        </p:spPr>
        <p:txBody>
          <a:bodyPr wrap="square">
            <a:spAutoFit/>
          </a:bodyPr>
          <a:lstStyle/>
          <a:p>
            <a:pPr marR="2000">
              <a:buSzPts val="1200"/>
            </a:pPr>
            <a:r>
              <a:rPr lang="en-US" sz="1200" b="1" dirty="0">
                <a:latin typeface="Century Gothic" panose="020B0502020202020204" pitchFamily="34" charset="0"/>
              </a:rPr>
              <a:t>Notes</a:t>
            </a:r>
            <a:r>
              <a:rPr lang="en-US" sz="1200" dirty="0">
                <a:latin typeface="Century Gothic" panose="020B0502020202020204" pitchFamily="34" charset="0"/>
              </a:rPr>
              <a:t>:</a:t>
            </a:r>
          </a:p>
          <a:p>
            <a:pPr marL="285750" marR="2000" indent="-285750">
              <a:buSzPts val="1200"/>
              <a:buFont typeface="Arial" panose="020B0604020202020204" pitchFamily="34" charset="0"/>
              <a:buChar char="•"/>
            </a:pPr>
            <a:r>
              <a:rPr lang="en-US" sz="1200" dirty="0">
                <a:latin typeface="Century Gothic" panose="020B0502020202020204" pitchFamily="34" charset="0"/>
              </a:rPr>
              <a:t>This is the dashboard reporting page for logged in GCC users (Analyst and Admins).</a:t>
            </a:r>
          </a:p>
          <a:p>
            <a:pPr marL="285750" marR="2000" indent="-285750">
              <a:buSzPts val="1200"/>
              <a:buFont typeface="Arial" panose="020B0604020202020204" pitchFamily="34" charset="0"/>
              <a:buChar char="•"/>
            </a:pPr>
            <a:r>
              <a:rPr lang="en-US" sz="1200" dirty="0">
                <a:latin typeface="Century Gothic" panose="020B0502020202020204" pitchFamily="34" charset="0"/>
              </a:rPr>
              <a:t>Containers represent the required metrics.</a:t>
            </a:r>
          </a:p>
          <a:p>
            <a:pPr marL="285750" marR="2000" indent="-285750" algn="l" rtl="0">
              <a:buFont typeface="Arial" panose="020B0604020202020204" pitchFamily="34" charset="0"/>
              <a:buChar char="•"/>
            </a:pPr>
            <a:r>
              <a:rPr lang="en-US" sz="1200" b="0" i="0" u="none" strike="noStrike" baseline="0" dirty="0">
                <a:latin typeface="Century Gothic" panose="020B0502020202020204" pitchFamily="34" charset="0"/>
              </a:rPr>
              <a:t>Ability to view designated metrics.</a:t>
            </a:r>
          </a:p>
          <a:p>
            <a:pPr marL="285750" marR="2000" indent="-285750" algn="l" rtl="0">
              <a:buFont typeface="Arial" panose="020B0604020202020204" pitchFamily="34" charset="0"/>
              <a:buChar char="•"/>
            </a:pPr>
            <a:r>
              <a:rPr lang="en-US" sz="1200" b="0" i="0" u="none" strike="noStrike" baseline="0" dirty="0">
                <a:latin typeface="Century Gothic" panose="020B0502020202020204" pitchFamily="34" charset="0"/>
              </a:rPr>
              <a:t>Ability to export Prebuilt Lists to Excel.</a:t>
            </a:r>
          </a:p>
          <a:p>
            <a:pPr marL="285750" marR="2000" indent="-285750" algn="l" rtl="0">
              <a:buFont typeface="Arial" panose="020B0604020202020204" pitchFamily="34" charset="0"/>
              <a:buChar char="•"/>
            </a:pPr>
            <a:r>
              <a:rPr lang="en-US" sz="1200" b="0" i="0" u="none" strike="noStrike" baseline="0" dirty="0">
                <a:latin typeface="Century Gothic" panose="020B0502020202020204" pitchFamily="34" charset="0"/>
              </a:rPr>
              <a:t>Ability to export the selected metric to Excel.</a:t>
            </a:r>
          </a:p>
          <a:p>
            <a:pPr marL="285750" marR="2000" indent="-285750" algn="l" rtl="0">
              <a:buFont typeface="Arial" panose="020B0604020202020204" pitchFamily="34" charset="0"/>
              <a:buChar char="•"/>
            </a:pPr>
            <a:endParaRPr lang="en-US" sz="1200" dirty="0">
              <a:latin typeface="Century Gothic" panose="020B0502020202020204" pitchFamily="34" charset="0"/>
            </a:endParaRPr>
          </a:p>
          <a:p>
            <a:endParaRPr lang="en-US" sz="1200" b="0" i="0" u="none" strike="noStrike" baseline="0" dirty="0">
              <a:latin typeface="Century Gothic" panose="020B0502020202020204" pitchFamily="34" charset="0"/>
            </a:endParaRPr>
          </a:p>
          <a:p>
            <a:r>
              <a:rPr lang="en-US" sz="1200" b="1" dirty="0">
                <a:latin typeface="Century Gothic" panose="020B0502020202020204" pitchFamily="34" charset="0"/>
              </a:rPr>
              <a:t>Other</a:t>
            </a:r>
          </a:p>
          <a:p>
            <a:pPr marL="285750" indent="-285750">
              <a:buFont typeface="Arial" panose="020B0604020202020204" pitchFamily="34" charset="0"/>
              <a:buChar char="•"/>
            </a:pPr>
            <a:r>
              <a:rPr lang="en-US" sz="1200" b="0" i="0" u="none" strike="noStrike" baseline="0" dirty="0">
                <a:latin typeface="Century Gothic" panose="020B0502020202020204" pitchFamily="34" charset="0"/>
              </a:rPr>
              <a:t>Nice to have</a:t>
            </a:r>
            <a:r>
              <a:rPr lang="en-US" sz="1200" dirty="0">
                <a:latin typeface="Century Gothic" panose="020B0502020202020204" pitchFamily="34" charset="0"/>
              </a:rPr>
              <a:t>, not part of scope, would be to have the dashboard available for external users with there specific data. (out of scope) </a:t>
            </a:r>
          </a:p>
          <a:p>
            <a:pPr marL="285750" indent="-285750">
              <a:buFont typeface="Arial" panose="020B0604020202020204" pitchFamily="34" charset="0"/>
              <a:buChar char="•"/>
            </a:pPr>
            <a:endParaRPr lang="en-US" sz="1200" b="0" i="0" u="none" strike="noStrike" baseline="0" dirty="0">
              <a:latin typeface="Century Gothic" panose="020B0502020202020204" pitchFamily="34" charset="0"/>
            </a:endParaRPr>
          </a:p>
        </p:txBody>
      </p:sp>
      <p:pic>
        <p:nvPicPr>
          <p:cNvPr id="9" name="Picture 8">
            <a:extLst>
              <a:ext uri="{FF2B5EF4-FFF2-40B4-BE49-F238E27FC236}">
                <a16:creationId xmlns:a16="http://schemas.microsoft.com/office/drawing/2014/main" id="{96ADD280-D40B-2570-0373-B1EE57B47BD7}"/>
              </a:ext>
            </a:extLst>
          </p:cNvPr>
          <p:cNvPicPr>
            <a:picLocks noChangeAspect="1"/>
          </p:cNvPicPr>
          <p:nvPr/>
        </p:nvPicPr>
        <p:blipFill>
          <a:blip r:embed="rId3"/>
          <a:stretch>
            <a:fillRect/>
          </a:stretch>
        </p:blipFill>
        <p:spPr>
          <a:xfrm>
            <a:off x="8446703" y="0"/>
            <a:ext cx="3745297" cy="6858000"/>
          </a:xfrm>
          <a:prstGeom prst="rect">
            <a:avLst/>
          </a:prstGeom>
        </p:spPr>
      </p:pic>
    </p:spTree>
    <p:extLst>
      <p:ext uri="{BB962C8B-B14F-4D97-AF65-F5344CB8AC3E}">
        <p14:creationId xmlns:p14="http://schemas.microsoft.com/office/powerpoint/2010/main" val="12746926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B1ACA-C358-D5E6-30DB-5186D66F80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28FB36-6BB7-BE21-4722-42119C3265E5}"/>
              </a:ext>
            </a:extLst>
          </p:cNvPr>
          <p:cNvSpPr>
            <a:spLocks noGrp="1"/>
          </p:cNvSpPr>
          <p:nvPr>
            <p:ph type="title"/>
          </p:nvPr>
        </p:nvSpPr>
        <p:spPr>
          <a:xfrm>
            <a:off x="598503" y="193906"/>
            <a:ext cx="10515600" cy="487131"/>
          </a:xfrm>
        </p:spPr>
        <p:txBody>
          <a:bodyPr>
            <a:normAutofit/>
          </a:bodyPr>
          <a:lstStyle/>
          <a:p>
            <a:r>
              <a:rPr lang="en-US" sz="2800"/>
              <a:t>Wireframe Notes – 2.0 – Home (Dashboard)</a:t>
            </a:r>
          </a:p>
        </p:txBody>
      </p:sp>
      <p:sp>
        <p:nvSpPr>
          <p:cNvPr id="4" name="Date Placeholder 3">
            <a:extLst>
              <a:ext uri="{FF2B5EF4-FFF2-40B4-BE49-F238E27FC236}">
                <a16:creationId xmlns:a16="http://schemas.microsoft.com/office/drawing/2014/main" id="{66892802-21A7-893B-DD8C-5C2748DA6F39}"/>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6C8961C5-A8E0-1B99-A749-DA3EE4E36475}"/>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34</a:t>
            </a:fld>
            <a:endParaRPr lang="en-US"/>
          </a:p>
        </p:txBody>
      </p:sp>
      <p:pic>
        <p:nvPicPr>
          <p:cNvPr id="12" name="Picture 11">
            <a:extLst>
              <a:ext uri="{FF2B5EF4-FFF2-40B4-BE49-F238E27FC236}">
                <a16:creationId xmlns:a16="http://schemas.microsoft.com/office/drawing/2014/main" id="{4D69FEFD-084B-226D-71B5-543EB333DC78}"/>
              </a:ext>
            </a:extLst>
          </p:cNvPr>
          <p:cNvPicPr>
            <a:picLocks noChangeAspect="1"/>
          </p:cNvPicPr>
          <p:nvPr/>
        </p:nvPicPr>
        <p:blipFill>
          <a:blip r:embed="rId3"/>
          <a:stretch>
            <a:fillRect/>
          </a:stretch>
        </p:blipFill>
        <p:spPr>
          <a:xfrm>
            <a:off x="598503" y="681037"/>
            <a:ext cx="9337153" cy="5915014"/>
          </a:xfrm>
          <a:prstGeom prst="rect">
            <a:avLst/>
          </a:prstGeom>
        </p:spPr>
      </p:pic>
    </p:spTree>
    <p:extLst>
      <p:ext uri="{BB962C8B-B14F-4D97-AF65-F5344CB8AC3E}">
        <p14:creationId xmlns:p14="http://schemas.microsoft.com/office/powerpoint/2010/main" val="21086371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335AB-BBCB-2217-D046-6F0F7AB678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45247D-4865-C30E-3BC5-79F83914BEC4}"/>
              </a:ext>
            </a:extLst>
          </p:cNvPr>
          <p:cNvSpPr>
            <a:spLocks noGrp="1"/>
          </p:cNvSpPr>
          <p:nvPr>
            <p:ph type="title"/>
          </p:nvPr>
        </p:nvSpPr>
        <p:spPr>
          <a:xfrm>
            <a:off x="598503" y="193906"/>
            <a:ext cx="10515600" cy="487131"/>
          </a:xfrm>
        </p:spPr>
        <p:txBody>
          <a:bodyPr>
            <a:normAutofit/>
          </a:bodyPr>
          <a:lstStyle/>
          <a:p>
            <a:r>
              <a:rPr lang="en-US" sz="2800"/>
              <a:t>Wireframe Notes – 2.0 – Home (Dashboard)</a:t>
            </a:r>
          </a:p>
        </p:txBody>
      </p:sp>
      <p:sp>
        <p:nvSpPr>
          <p:cNvPr id="4" name="Date Placeholder 3">
            <a:extLst>
              <a:ext uri="{FF2B5EF4-FFF2-40B4-BE49-F238E27FC236}">
                <a16:creationId xmlns:a16="http://schemas.microsoft.com/office/drawing/2014/main" id="{D8CB66E8-D896-2589-D0CF-FCB75FAEA561}"/>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FF01DA21-DA64-DCC3-7981-8EB1DE2D58D5}"/>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35</a:t>
            </a:fld>
            <a:endParaRPr lang="en-US"/>
          </a:p>
        </p:txBody>
      </p:sp>
      <p:pic>
        <p:nvPicPr>
          <p:cNvPr id="6" name="Picture 5">
            <a:extLst>
              <a:ext uri="{FF2B5EF4-FFF2-40B4-BE49-F238E27FC236}">
                <a16:creationId xmlns:a16="http://schemas.microsoft.com/office/drawing/2014/main" id="{EB51DDBF-B55B-74E2-7425-97BCEAA853D8}"/>
              </a:ext>
            </a:extLst>
          </p:cNvPr>
          <p:cNvPicPr>
            <a:picLocks noChangeAspect="1"/>
          </p:cNvPicPr>
          <p:nvPr/>
        </p:nvPicPr>
        <p:blipFill>
          <a:blip r:embed="rId3"/>
          <a:stretch>
            <a:fillRect/>
          </a:stretch>
        </p:blipFill>
        <p:spPr>
          <a:xfrm>
            <a:off x="419100" y="681037"/>
            <a:ext cx="10315575" cy="5729967"/>
          </a:xfrm>
          <a:prstGeom prst="rect">
            <a:avLst/>
          </a:prstGeom>
        </p:spPr>
      </p:pic>
    </p:spTree>
    <p:extLst>
      <p:ext uri="{BB962C8B-B14F-4D97-AF65-F5344CB8AC3E}">
        <p14:creationId xmlns:p14="http://schemas.microsoft.com/office/powerpoint/2010/main" val="37810886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13832-C0A9-60FD-9458-7F15A47755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AA51F-BCF1-470C-5A2E-D85D75D4D5B0}"/>
              </a:ext>
            </a:extLst>
          </p:cNvPr>
          <p:cNvSpPr>
            <a:spLocks noGrp="1"/>
          </p:cNvSpPr>
          <p:nvPr>
            <p:ph type="title"/>
          </p:nvPr>
        </p:nvSpPr>
        <p:spPr>
          <a:xfrm>
            <a:off x="598503" y="193906"/>
            <a:ext cx="10515600" cy="487131"/>
          </a:xfrm>
        </p:spPr>
        <p:txBody>
          <a:bodyPr>
            <a:normAutofit/>
          </a:bodyPr>
          <a:lstStyle/>
          <a:p>
            <a:r>
              <a:rPr lang="en-US" sz="2800" dirty="0"/>
              <a:t>Wireframe Notes – 2.0 – Dashboard (Mobile/Tablet)</a:t>
            </a:r>
          </a:p>
        </p:txBody>
      </p:sp>
      <p:sp>
        <p:nvSpPr>
          <p:cNvPr id="4" name="Date Placeholder 3">
            <a:extLst>
              <a:ext uri="{FF2B5EF4-FFF2-40B4-BE49-F238E27FC236}">
                <a16:creationId xmlns:a16="http://schemas.microsoft.com/office/drawing/2014/main" id="{475051A2-71B4-EAE2-8561-E2A6E67CC02E}"/>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E0D76EFC-F088-5F28-C232-AC1A378C6CCA}"/>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36</a:t>
            </a:fld>
            <a:endParaRPr lang="en-US"/>
          </a:p>
        </p:txBody>
      </p:sp>
      <p:pic>
        <p:nvPicPr>
          <p:cNvPr id="8" name="Picture 7">
            <a:extLst>
              <a:ext uri="{FF2B5EF4-FFF2-40B4-BE49-F238E27FC236}">
                <a16:creationId xmlns:a16="http://schemas.microsoft.com/office/drawing/2014/main" id="{36CA98B8-8B88-7193-C87B-EEF4E7D02EEE}"/>
              </a:ext>
            </a:extLst>
          </p:cNvPr>
          <p:cNvPicPr>
            <a:picLocks noChangeAspect="1"/>
          </p:cNvPicPr>
          <p:nvPr/>
        </p:nvPicPr>
        <p:blipFill>
          <a:blip r:embed="rId3"/>
          <a:stretch>
            <a:fillRect/>
          </a:stretch>
        </p:blipFill>
        <p:spPr>
          <a:xfrm>
            <a:off x="10461476" y="207988"/>
            <a:ext cx="1730524" cy="6650012"/>
          </a:xfrm>
          <a:prstGeom prst="rect">
            <a:avLst/>
          </a:prstGeom>
        </p:spPr>
      </p:pic>
      <p:pic>
        <p:nvPicPr>
          <p:cNvPr id="11" name="Picture 10">
            <a:extLst>
              <a:ext uri="{FF2B5EF4-FFF2-40B4-BE49-F238E27FC236}">
                <a16:creationId xmlns:a16="http://schemas.microsoft.com/office/drawing/2014/main" id="{E21712EF-D705-268C-99A8-3BB59181557E}"/>
              </a:ext>
            </a:extLst>
          </p:cNvPr>
          <p:cNvPicPr>
            <a:picLocks noChangeAspect="1"/>
          </p:cNvPicPr>
          <p:nvPr/>
        </p:nvPicPr>
        <p:blipFill>
          <a:blip r:embed="rId4"/>
          <a:srcRect l="-2189" b="80095"/>
          <a:stretch>
            <a:fillRect/>
          </a:stretch>
        </p:blipFill>
        <p:spPr>
          <a:xfrm>
            <a:off x="524848" y="846930"/>
            <a:ext cx="1863328" cy="5874545"/>
          </a:xfrm>
          <a:prstGeom prst="rect">
            <a:avLst/>
          </a:prstGeom>
        </p:spPr>
      </p:pic>
      <p:pic>
        <p:nvPicPr>
          <p:cNvPr id="14" name="Picture 13">
            <a:extLst>
              <a:ext uri="{FF2B5EF4-FFF2-40B4-BE49-F238E27FC236}">
                <a16:creationId xmlns:a16="http://schemas.microsoft.com/office/drawing/2014/main" id="{C504DC40-A056-C4C4-F6E6-D0BE5047ECAE}"/>
              </a:ext>
            </a:extLst>
          </p:cNvPr>
          <p:cNvPicPr>
            <a:picLocks noChangeAspect="1"/>
          </p:cNvPicPr>
          <p:nvPr/>
        </p:nvPicPr>
        <p:blipFill>
          <a:blip r:embed="rId5"/>
          <a:srcRect b="62682"/>
          <a:stretch>
            <a:fillRect/>
          </a:stretch>
        </p:blipFill>
        <p:spPr>
          <a:xfrm>
            <a:off x="4967948" y="1027231"/>
            <a:ext cx="1776710" cy="5329119"/>
          </a:xfrm>
          <a:prstGeom prst="rect">
            <a:avLst/>
          </a:prstGeom>
        </p:spPr>
      </p:pic>
      <p:pic>
        <p:nvPicPr>
          <p:cNvPr id="15" name="Picture 14">
            <a:extLst>
              <a:ext uri="{FF2B5EF4-FFF2-40B4-BE49-F238E27FC236}">
                <a16:creationId xmlns:a16="http://schemas.microsoft.com/office/drawing/2014/main" id="{2B929910-CAB5-F356-E4B9-8314AE71E7C9}"/>
              </a:ext>
            </a:extLst>
          </p:cNvPr>
          <p:cNvPicPr>
            <a:picLocks noChangeAspect="1"/>
          </p:cNvPicPr>
          <p:nvPr/>
        </p:nvPicPr>
        <p:blipFill>
          <a:blip r:embed="rId5"/>
          <a:srcRect t="56806"/>
          <a:stretch>
            <a:fillRect/>
          </a:stretch>
        </p:blipFill>
        <p:spPr>
          <a:xfrm>
            <a:off x="7450618" y="903874"/>
            <a:ext cx="1650833" cy="5731288"/>
          </a:xfrm>
          <a:prstGeom prst="rect">
            <a:avLst/>
          </a:prstGeom>
        </p:spPr>
      </p:pic>
      <p:pic>
        <p:nvPicPr>
          <p:cNvPr id="16" name="Picture 15">
            <a:extLst>
              <a:ext uri="{FF2B5EF4-FFF2-40B4-BE49-F238E27FC236}">
                <a16:creationId xmlns:a16="http://schemas.microsoft.com/office/drawing/2014/main" id="{F2B38683-20DE-B20C-A0ED-52CC9DECCC81}"/>
              </a:ext>
            </a:extLst>
          </p:cNvPr>
          <p:cNvPicPr>
            <a:picLocks noChangeAspect="1"/>
          </p:cNvPicPr>
          <p:nvPr/>
        </p:nvPicPr>
        <p:blipFill>
          <a:blip r:embed="rId4"/>
          <a:srcRect l="-2471" t="34208" r="284" b="43724"/>
          <a:stretch>
            <a:fillRect/>
          </a:stretch>
        </p:blipFill>
        <p:spPr>
          <a:xfrm>
            <a:off x="2701528" y="846930"/>
            <a:ext cx="1680675" cy="5874545"/>
          </a:xfrm>
          <a:prstGeom prst="rect">
            <a:avLst/>
          </a:prstGeom>
        </p:spPr>
      </p:pic>
    </p:spTree>
    <p:extLst>
      <p:ext uri="{BB962C8B-B14F-4D97-AF65-F5344CB8AC3E}">
        <p14:creationId xmlns:p14="http://schemas.microsoft.com/office/powerpoint/2010/main" val="25858109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F4CFB-95FF-9A0C-169B-4AC2A2673619}"/>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4BE1F745-16A8-7E5D-9050-172A50D3DB33}"/>
              </a:ext>
            </a:extLst>
          </p:cNvPr>
          <p:cNvPicPr>
            <a:picLocks noChangeAspect="1"/>
          </p:cNvPicPr>
          <p:nvPr/>
        </p:nvPicPr>
        <p:blipFill>
          <a:blip r:embed="rId3"/>
          <a:stretch>
            <a:fillRect/>
          </a:stretch>
        </p:blipFill>
        <p:spPr>
          <a:xfrm>
            <a:off x="881609" y="782425"/>
            <a:ext cx="4855084" cy="5394538"/>
          </a:xfrm>
          <a:prstGeom prst="rect">
            <a:avLst/>
          </a:prstGeom>
          <a:noFill/>
        </p:spPr>
      </p:pic>
      <p:sp>
        <p:nvSpPr>
          <p:cNvPr id="8" name="TextBox 7">
            <a:extLst>
              <a:ext uri="{FF2B5EF4-FFF2-40B4-BE49-F238E27FC236}">
                <a16:creationId xmlns:a16="http://schemas.microsoft.com/office/drawing/2014/main" id="{849B7032-5B37-2B1C-D6B4-668EE36DD067}"/>
              </a:ext>
            </a:extLst>
          </p:cNvPr>
          <p:cNvSpPr txBox="1"/>
          <p:nvPr/>
        </p:nvSpPr>
        <p:spPr>
          <a:xfrm>
            <a:off x="5932503" y="782425"/>
            <a:ext cx="5421297" cy="5394538"/>
          </a:xfrm>
          <a:prstGeom prst="rect">
            <a:avLst/>
          </a:prstGeom>
        </p:spPr>
        <p:txBody>
          <a:bodyPr vert="horz" lIns="91440" tIns="45720" rIns="91440" bIns="45720" rtlCol="0">
            <a:normAutofit/>
          </a:bodyPr>
          <a:lstStyle/>
          <a:p>
            <a:pPr marL="228600" marR="2000" indent="-228600">
              <a:lnSpc>
                <a:spcPct val="90000"/>
              </a:lnSpc>
              <a:spcBef>
                <a:spcPts val="1000"/>
              </a:spcBef>
              <a:buSzPts val="1200"/>
              <a:buFont typeface="Arial" panose="020B0604020202020204" pitchFamily="34" charset="0"/>
              <a:buChar char="•"/>
            </a:pPr>
            <a:r>
              <a:rPr lang="en-US" sz="1100" b="1">
                <a:latin typeface="Century Gothic" panose="020B0502020202020204" pitchFamily="34" charset="0"/>
              </a:rPr>
              <a:t>Notes</a:t>
            </a:r>
            <a:r>
              <a:rPr lang="en-US" sz="1100">
                <a:latin typeface="Century Gothic" panose="020B0502020202020204" pitchFamily="34" charset="0"/>
              </a:rPr>
              <a:t>:</a:t>
            </a:r>
          </a:p>
          <a:p>
            <a:pPr marL="228600" marR="2000" indent="-228600">
              <a:lnSpc>
                <a:spcPct val="90000"/>
              </a:lnSpc>
              <a:spcBef>
                <a:spcPts val="1000"/>
              </a:spcBef>
              <a:buSzPts val="1200"/>
              <a:buFont typeface="Arial" panose="020B0604020202020204" pitchFamily="34" charset="0"/>
              <a:buChar char="•"/>
            </a:pPr>
            <a:r>
              <a:rPr lang="en-US" sz="1100">
                <a:latin typeface="Century Gothic" panose="020B0502020202020204" pitchFamily="34" charset="0"/>
              </a:rPr>
              <a:t>Wireframe updated for infinite scrolling instead of pagination.</a:t>
            </a:r>
          </a:p>
          <a:p>
            <a:pPr marL="228600" marR="2000" indent="-228600">
              <a:lnSpc>
                <a:spcPct val="90000"/>
              </a:lnSpc>
              <a:spcBef>
                <a:spcPts val="1000"/>
              </a:spcBef>
              <a:buSzPts val="1200"/>
              <a:buFont typeface="Arial" panose="020B0604020202020204" pitchFamily="34" charset="0"/>
              <a:buChar char="•"/>
            </a:pPr>
            <a:r>
              <a:rPr lang="en-US" sz="1100">
                <a:latin typeface="Century Gothic" panose="020B0502020202020204" pitchFamily="34" charset="0"/>
              </a:rPr>
              <a:t>Add Certificates will only be available for Analyst and Admin users. </a:t>
            </a:r>
          </a:p>
          <a:p>
            <a:pPr marL="228600" marR="2000" indent="-228600">
              <a:lnSpc>
                <a:spcPct val="90000"/>
              </a:lnSpc>
              <a:spcBef>
                <a:spcPts val="1000"/>
              </a:spcBef>
              <a:buSzPts val="1200"/>
              <a:buFont typeface="Arial" panose="020B0604020202020204" pitchFamily="34" charset="0"/>
              <a:buChar char="•"/>
            </a:pPr>
            <a:r>
              <a:rPr lang="en-US" sz="1100">
                <a:latin typeface="Century Gothic" panose="020B0502020202020204" pitchFamily="34" charset="0"/>
              </a:rPr>
              <a:t>Edit/Delete Certificate will only be available for Analyst and Admin users.</a:t>
            </a:r>
          </a:p>
          <a:p>
            <a:pPr marL="228600" marR="2000" indent="-228600">
              <a:lnSpc>
                <a:spcPct val="90000"/>
              </a:lnSpc>
              <a:spcBef>
                <a:spcPts val="1000"/>
              </a:spcBef>
              <a:buSzPts val="1200"/>
              <a:buFont typeface="Arial" panose="020B0604020202020204" pitchFamily="34" charset="0"/>
              <a:buChar char="•"/>
            </a:pPr>
            <a:r>
              <a:rPr lang="en-US" sz="1100">
                <a:latin typeface="Century Gothic" panose="020B0502020202020204" pitchFamily="34" charset="0"/>
              </a:rPr>
              <a:t>Ability to toggle between List and Tile views.</a:t>
            </a:r>
          </a:p>
          <a:p>
            <a:pPr marL="228600" marR="2000" indent="-228600">
              <a:lnSpc>
                <a:spcPct val="90000"/>
              </a:lnSpc>
              <a:spcBef>
                <a:spcPts val="1000"/>
              </a:spcBef>
              <a:buSzPts val="1200"/>
              <a:buFont typeface="Arial" panose="020B0604020202020204" pitchFamily="34" charset="0"/>
              <a:buChar char="•"/>
            </a:pPr>
            <a:r>
              <a:rPr lang="en-US" sz="1100">
                <a:latin typeface="Century Gothic" panose="020B0502020202020204" pitchFamily="34" charset="0"/>
              </a:rPr>
              <a:t>The Tile view will display the same as 1.0 Certificate view. </a:t>
            </a:r>
          </a:p>
          <a:p>
            <a:pPr marL="228600" marR="2000" indent="-228600">
              <a:lnSpc>
                <a:spcPct val="90000"/>
              </a:lnSpc>
              <a:spcBef>
                <a:spcPts val="1000"/>
              </a:spcBef>
              <a:buSzPts val="1200"/>
              <a:buFont typeface="Arial" panose="020B0604020202020204" pitchFamily="34" charset="0"/>
              <a:buChar char="•"/>
            </a:pPr>
            <a:r>
              <a:rPr lang="en-US" sz="1100">
                <a:latin typeface="Century Gothic" panose="020B0502020202020204" pitchFamily="34" charset="0"/>
              </a:rPr>
              <a:t>List Sort by will allows users to sort on any column. </a:t>
            </a:r>
          </a:p>
          <a:p>
            <a:pPr marL="228600" marR="2000" indent="-228600">
              <a:lnSpc>
                <a:spcPct val="90000"/>
              </a:lnSpc>
              <a:spcBef>
                <a:spcPts val="1000"/>
              </a:spcBef>
              <a:buSzPts val="1200"/>
              <a:buFont typeface="Arial" panose="020B0604020202020204" pitchFamily="34" charset="0"/>
              <a:buChar char="•"/>
            </a:pPr>
            <a:r>
              <a:rPr lang="en-US" sz="1100" b="0" i="0" u="none" strike="noStrike" baseline="0">
                <a:latin typeface="Century Gothic" panose="020B0502020202020204" pitchFamily="34" charset="0"/>
              </a:rPr>
              <a:t>All data fields to be displayed based on user’s permissions: Certificate #, Certification Type, CSF Attributes, Status, Effective Date, Expiration Date, Company, Company Contact Email/URL, Product Name, Product Category, Product Type, Product Type Subcategory, Location, Country, External Tag, Internal Tag, ASIN, UPC, GTIN, EAN, </a:t>
            </a:r>
            <a:r>
              <a:rPr lang="en-US" sz="1100" b="1" i="0" u="none" strike="sngStrike" baseline="0">
                <a:latin typeface="Century Gothic" panose="020B0502020202020204" pitchFamily="34" charset="0"/>
              </a:rPr>
              <a:t>Certificate Upload, Record Created Date, Record Last Updated Date, Preview</a:t>
            </a:r>
          </a:p>
          <a:p>
            <a:pPr marL="228600" marR="2000" indent="-228600">
              <a:lnSpc>
                <a:spcPct val="90000"/>
              </a:lnSpc>
              <a:spcBef>
                <a:spcPts val="1000"/>
              </a:spcBef>
              <a:buSzPts val="1200"/>
              <a:buFont typeface="Arial" panose="020B0604020202020204" pitchFamily="34" charset="0"/>
              <a:buChar char="•"/>
            </a:pPr>
            <a:r>
              <a:rPr lang="en-US" sz="1100" b="0" i="0" u="none" strike="noStrike" baseline="0">
                <a:latin typeface="Century Gothic" panose="020B0502020202020204" pitchFamily="34" charset="0"/>
              </a:rPr>
              <a:t>2 types of External Users</a:t>
            </a:r>
          </a:p>
          <a:p>
            <a:pPr marL="228600" marR="2000" lvl="1" indent="-228600">
              <a:lnSpc>
                <a:spcPct val="90000"/>
              </a:lnSpc>
              <a:spcBef>
                <a:spcPts val="1000"/>
              </a:spcBef>
              <a:buSzPts val="1200"/>
              <a:buFont typeface="Arial" panose="020B0604020202020204" pitchFamily="34" charset="0"/>
              <a:buChar char="•"/>
            </a:pPr>
            <a:r>
              <a:rPr lang="en-US" sz="1100" b="0" i="0" u="none" strike="noStrike" baseline="0">
                <a:latin typeface="Century Gothic" panose="020B0502020202020204" pitchFamily="34" charset="0"/>
              </a:rPr>
              <a:t>Customers (accounted for here)</a:t>
            </a:r>
          </a:p>
          <a:p>
            <a:pPr marL="228600" marR="2000" lvl="1" indent="-228600">
              <a:lnSpc>
                <a:spcPct val="90000"/>
              </a:lnSpc>
              <a:spcBef>
                <a:spcPts val="1000"/>
              </a:spcBef>
              <a:buSzPts val="1200"/>
              <a:buFont typeface="Arial" panose="020B0604020202020204" pitchFamily="34" charset="0"/>
              <a:buChar char="•"/>
            </a:pPr>
            <a:r>
              <a:rPr lang="en-US" sz="1100">
                <a:latin typeface="Century Gothic" panose="020B0502020202020204" pitchFamily="34" charset="0"/>
              </a:rPr>
              <a:t>Partners (where they will have access across companies for products that are part of their program only – for example Amazon CPF clients/certs) (Need Clarification)</a:t>
            </a:r>
          </a:p>
          <a:p>
            <a:pPr marL="228600" marR="2000" indent="-228600">
              <a:lnSpc>
                <a:spcPct val="90000"/>
              </a:lnSpc>
              <a:spcBef>
                <a:spcPts val="1000"/>
              </a:spcBef>
              <a:buSzPts val="1200"/>
              <a:buFont typeface="Arial" panose="020B0604020202020204" pitchFamily="34" charset="0"/>
              <a:buChar char="•"/>
            </a:pPr>
            <a:r>
              <a:rPr lang="en-US" sz="1100">
                <a:latin typeface="Century Gothic" panose="020B0502020202020204" pitchFamily="34" charset="0"/>
              </a:rPr>
              <a:t>Defaults to List View</a:t>
            </a:r>
          </a:p>
          <a:p>
            <a:pPr marL="228600" marR="2000" indent="-228600">
              <a:lnSpc>
                <a:spcPct val="90000"/>
              </a:lnSpc>
              <a:spcBef>
                <a:spcPts val="1000"/>
              </a:spcBef>
              <a:buSzPts val="1200"/>
              <a:buFont typeface="Arial" panose="020B0604020202020204" pitchFamily="34" charset="0"/>
              <a:buChar char="•"/>
            </a:pPr>
            <a:endParaRPr lang="en-US" sz="1100">
              <a:latin typeface="Century Gothic" panose="020B0502020202020204" pitchFamily="34" charset="0"/>
            </a:endParaRPr>
          </a:p>
        </p:txBody>
      </p:sp>
      <p:sp>
        <p:nvSpPr>
          <p:cNvPr id="4" name="Date Placeholder 3">
            <a:extLst>
              <a:ext uri="{FF2B5EF4-FFF2-40B4-BE49-F238E27FC236}">
                <a16:creationId xmlns:a16="http://schemas.microsoft.com/office/drawing/2014/main" id="{C7651448-72A6-43CF-37AB-CC6E467406CC}"/>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FB748E5B-1494-BD0E-4D8A-3AF79FA7812C}"/>
              </a:ext>
            </a:extLst>
          </p:cNvPr>
          <p:cNvSpPr>
            <a:spLocks noGrp="1"/>
          </p:cNvSpPr>
          <p:nvPr>
            <p:ph type="sldNum" sz="quarter" idx="12"/>
          </p:nvPr>
        </p:nvSpPr>
        <p:spPr>
          <a:xfrm>
            <a:off x="8610600" y="6356350"/>
            <a:ext cx="1810512" cy="365125"/>
          </a:xfrm>
        </p:spPr>
        <p:txBody>
          <a:bodyPr vert="horz" lIns="91440" tIns="45720" rIns="91440" bIns="45720" rtlCol="0" anchor="ctr">
            <a:normAutofit/>
          </a:bodyPr>
          <a:lstStyle/>
          <a:p>
            <a:pPr>
              <a:spcAft>
                <a:spcPts val="600"/>
              </a:spcAft>
            </a:pPr>
            <a:fld id="{330EA680-D336-4FF7-8B7A-9848BB0A1C32}" type="slidenum">
              <a:rPr lang="en-US" smtClean="0"/>
              <a:pPr>
                <a:spcAft>
                  <a:spcPts val="600"/>
                </a:spcAft>
              </a:pPr>
              <a:t>37</a:t>
            </a:fld>
            <a:endParaRPr lang="en-US"/>
          </a:p>
        </p:txBody>
      </p:sp>
      <p:sp>
        <p:nvSpPr>
          <p:cNvPr id="2" name="Title 1">
            <a:extLst>
              <a:ext uri="{FF2B5EF4-FFF2-40B4-BE49-F238E27FC236}">
                <a16:creationId xmlns:a16="http://schemas.microsoft.com/office/drawing/2014/main" id="{E1D25653-433B-5234-E898-2C23050C4A75}"/>
              </a:ext>
            </a:extLst>
          </p:cNvPr>
          <p:cNvSpPr>
            <a:spLocks noGrp="1"/>
          </p:cNvSpPr>
          <p:nvPr>
            <p:ph type="title"/>
          </p:nvPr>
        </p:nvSpPr>
        <p:spPr>
          <a:xfrm>
            <a:off x="598503" y="193906"/>
            <a:ext cx="10515600" cy="487131"/>
          </a:xfrm>
        </p:spPr>
        <p:txBody>
          <a:bodyPr>
            <a:normAutofit/>
          </a:bodyPr>
          <a:lstStyle/>
          <a:p>
            <a:r>
              <a:rPr lang="en-US" sz="2800" kern="1200">
                <a:latin typeface="Century Gothic" panose="020B0502020202020204" pitchFamily="34" charset="0"/>
                <a:ea typeface="+mj-ea"/>
                <a:cs typeface="+mj-cs"/>
              </a:rPr>
              <a:t>Wireframe Notes – 3.0 – Certificate List (External)</a:t>
            </a:r>
          </a:p>
        </p:txBody>
      </p:sp>
    </p:spTree>
    <p:extLst>
      <p:ext uri="{BB962C8B-B14F-4D97-AF65-F5344CB8AC3E}">
        <p14:creationId xmlns:p14="http://schemas.microsoft.com/office/powerpoint/2010/main" val="2157400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11711-FA81-7589-6E78-AF87E1C188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A486FB-5CC0-A2AF-5585-25A0274EF721}"/>
              </a:ext>
            </a:extLst>
          </p:cNvPr>
          <p:cNvSpPr>
            <a:spLocks noGrp="1"/>
          </p:cNvSpPr>
          <p:nvPr>
            <p:ph type="title"/>
          </p:nvPr>
        </p:nvSpPr>
        <p:spPr>
          <a:xfrm>
            <a:off x="598503" y="193906"/>
            <a:ext cx="10515600" cy="487131"/>
          </a:xfrm>
        </p:spPr>
        <p:txBody>
          <a:bodyPr>
            <a:normAutofit/>
          </a:bodyPr>
          <a:lstStyle/>
          <a:p>
            <a:r>
              <a:rPr lang="en-US" sz="2800" dirty="0"/>
              <a:t>Wireframe Notes – 3.0 – Certificate List (External)</a:t>
            </a:r>
          </a:p>
        </p:txBody>
      </p:sp>
      <p:sp>
        <p:nvSpPr>
          <p:cNvPr id="4" name="Date Placeholder 3">
            <a:extLst>
              <a:ext uri="{FF2B5EF4-FFF2-40B4-BE49-F238E27FC236}">
                <a16:creationId xmlns:a16="http://schemas.microsoft.com/office/drawing/2014/main" id="{FA74C52E-BB39-3864-5A73-CFF2901E9068}"/>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DE33CE94-CCFF-7B81-CA93-1196A210E2BD}"/>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38</a:t>
            </a:fld>
            <a:endParaRPr lang="en-US"/>
          </a:p>
        </p:txBody>
      </p:sp>
      <p:pic>
        <p:nvPicPr>
          <p:cNvPr id="6" name="Picture 5">
            <a:extLst>
              <a:ext uri="{FF2B5EF4-FFF2-40B4-BE49-F238E27FC236}">
                <a16:creationId xmlns:a16="http://schemas.microsoft.com/office/drawing/2014/main" id="{AB3A4583-DC96-C8ED-8592-686570FD3DA8}"/>
              </a:ext>
            </a:extLst>
          </p:cNvPr>
          <p:cNvPicPr>
            <a:picLocks noChangeAspect="1"/>
          </p:cNvPicPr>
          <p:nvPr/>
        </p:nvPicPr>
        <p:blipFill>
          <a:blip r:embed="rId3"/>
          <a:srcRect b="24978"/>
          <a:stretch>
            <a:fillRect/>
          </a:stretch>
        </p:blipFill>
        <p:spPr>
          <a:xfrm>
            <a:off x="730785" y="681037"/>
            <a:ext cx="6844762" cy="6176963"/>
          </a:xfrm>
          <a:prstGeom prst="rect">
            <a:avLst/>
          </a:prstGeom>
        </p:spPr>
      </p:pic>
      <p:pic>
        <p:nvPicPr>
          <p:cNvPr id="9" name="Picture 8">
            <a:extLst>
              <a:ext uri="{FF2B5EF4-FFF2-40B4-BE49-F238E27FC236}">
                <a16:creationId xmlns:a16="http://schemas.microsoft.com/office/drawing/2014/main" id="{7689198D-B255-7911-B95A-87006D7A20AA}"/>
              </a:ext>
            </a:extLst>
          </p:cNvPr>
          <p:cNvPicPr>
            <a:picLocks noChangeAspect="1"/>
          </p:cNvPicPr>
          <p:nvPr/>
        </p:nvPicPr>
        <p:blipFill>
          <a:blip r:embed="rId4"/>
          <a:stretch>
            <a:fillRect/>
          </a:stretch>
        </p:blipFill>
        <p:spPr>
          <a:xfrm>
            <a:off x="7707829" y="1254784"/>
            <a:ext cx="4195150" cy="5029468"/>
          </a:xfrm>
          <a:prstGeom prst="rect">
            <a:avLst/>
          </a:prstGeom>
        </p:spPr>
      </p:pic>
    </p:spTree>
    <p:extLst>
      <p:ext uri="{BB962C8B-B14F-4D97-AF65-F5344CB8AC3E}">
        <p14:creationId xmlns:p14="http://schemas.microsoft.com/office/powerpoint/2010/main" val="1763499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227C2-20B1-CAB7-12BB-F6B4477D98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EA446A-70B4-070C-2FF4-01221AFCDA46}"/>
              </a:ext>
            </a:extLst>
          </p:cNvPr>
          <p:cNvSpPr>
            <a:spLocks noGrp="1"/>
          </p:cNvSpPr>
          <p:nvPr>
            <p:ph type="title"/>
          </p:nvPr>
        </p:nvSpPr>
        <p:spPr>
          <a:xfrm>
            <a:off x="598503" y="193906"/>
            <a:ext cx="4548263" cy="487131"/>
          </a:xfrm>
        </p:spPr>
        <p:txBody>
          <a:bodyPr>
            <a:normAutofit fontScale="90000"/>
          </a:bodyPr>
          <a:lstStyle/>
          <a:p>
            <a:r>
              <a:rPr lang="en-US" sz="2800" dirty="0"/>
              <a:t>Wireframe Notes – 3.0 – Certificate List (External)</a:t>
            </a:r>
          </a:p>
        </p:txBody>
      </p:sp>
      <p:sp>
        <p:nvSpPr>
          <p:cNvPr id="4" name="Date Placeholder 3">
            <a:extLst>
              <a:ext uri="{FF2B5EF4-FFF2-40B4-BE49-F238E27FC236}">
                <a16:creationId xmlns:a16="http://schemas.microsoft.com/office/drawing/2014/main" id="{407A0357-FDA6-C7D8-CE0E-8E21E8F4C1ED}"/>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F13F0D59-F1C6-C764-FB3A-3E06AF7DD672}"/>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39</a:t>
            </a:fld>
            <a:endParaRPr lang="en-US"/>
          </a:p>
        </p:txBody>
      </p:sp>
      <p:pic>
        <p:nvPicPr>
          <p:cNvPr id="7" name="Picture 6">
            <a:extLst>
              <a:ext uri="{FF2B5EF4-FFF2-40B4-BE49-F238E27FC236}">
                <a16:creationId xmlns:a16="http://schemas.microsoft.com/office/drawing/2014/main" id="{67565BF9-10DD-2EF6-25A3-0DC08D3A966A}"/>
              </a:ext>
            </a:extLst>
          </p:cNvPr>
          <p:cNvPicPr>
            <a:picLocks noChangeAspect="1"/>
          </p:cNvPicPr>
          <p:nvPr/>
        </p:nvPicPr>
        <p:blipFill>
          <a:blip r:embed="rId3"/>
          <a:stretch>
            <a:fillRect/>
          </a:stretch>
        </p:blipFill>
        <p:spPr>
          <a:xfrm>
            <a:off x="6096000" y="0"/>
            <a:ext cx="6022342" cy="6858000"/>
          </a:xfrm>
          <a:prstGeom prst="rect">
            <a:avLst/>
          </a:prstGeom>
        </p:spPr>
      </p:pic>
    </p:spTree>
    <p:extLst>
      <p:ext uri="{BB962C8B-B14F-4D97-AF65-F5344CB8AC3E}">
        <p14:creationId xmlns:p14="http://schemas.microsoft.com/office/powerpoint/2010/main" val="24228131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D8363-1BC8-17A2-308A-3239DBE153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2ABE33-15AB-F0BD-6BA7-7B06B3E560DB}"/>
              </a:ext>
            </a:extLst>
          </p:cNvPr>
          <p:cNvSpPr>
            <a:spLocks noGrp="1"/>
          </p:cNvSpPr>
          <p:nvPr>
            <p:ph type="title"/>
          </p:nvPr>
        </p:nvSpPr>
        <p:spPr/>
        <p:txBody>
          <a:bodyPr/>
          <a:lstStyle/>
          <a:p>
            <a:r>
              <a:rPr lang="en-US" sz="2800" dirty="0"/>
              <a:t>Wireframe Notes – 3.0 – Certificates List (External)(Samples)</a:t>
            </a:r>
          </a:p>
        </p:txBody>
      </p:sp>
      <p:sp>
        <p:nvSpPr>
          <p:cNvPr id="3" name="Content Placeholder 2">
            <a:extLst>
              <a:ext uri="{FF2B5EF4-FFF2-40B4-BE49-F238E27FC236}">
                <a16:creationId xmlns:a16="http://schemas.microsoft.com/office/drawing/2014/main" id="{C958CCF9-4296-9E9E-0FD9-BBC67F43188D}"/>
              </a:ext>
            </a:extLst>
          </p:cNvPr>
          <p:cNvSpPr>
            <a:spLocks noGrp="1"/>
          </p:cNvSpPr>
          <p:nvPr>
            <p:ph idx="1"/>
          </p:nvPr>
        </p:nvSpPr>
        <p:spPr>
          <a:xfrm>
            <a:off x="598503" y="868054"/>
            <a:ext cx="11053565" cy="487131"/>
          </a:xfrm>
        </p:spPr>
        <p:txBody>
          <a:bodyPr>
            <a:normAutofit/>
          </a:bodyPr>
          <a:lstStyle/>
          <a:p>
            <a:pPr marR="2000" algn="l" rtl="0">
              <a:buSzPts val="1200"/>
              <a:buFont typeface="Symbol" panose="05050102010706020507" pitchFamily="18" charset="2"/>
              <a:buChar char="·"/>
            </a:pPr>
            <a:r>
              <a:rPr lang="en-US" sz="1400" b="0" i="0" u="none" strike="noStrike" baseline="0" dirty="0">
                <a:solidFill>
                  <a:srgbClr val="606771"/>
                </a:solidFill>
              </a:rPr>
              <a:t>Handling a large amount of ASINS Options</a:t>
            </a:r>
            <a:br>
              <a:rPr lang="en-US" sz="1400" b="0" i="0" u="none" strike="noStrike" baseline="0" dirty="0">
                <a:solidFill>
                  <a:srgbClr val="606771"/>
                </a:solidFill>
              </a:rPr>
            </a:br>
            <a:endParaRPr lang="en-US" sz="1400" b="0" i="0" u="none" strike="noStrike" baseline="0" dirty="0">
              <a:solidFill>
                <a:srgbClr val="606771"/>
              </a:solidFill>
            </a:endParaRPr>
          </a:p>
          <a:p>
            <a:pPr marR="2000" algn="l" rtl="0">
              <a:buSzPts val="1200"/>
              <a:buFont typeface="Symbol" panose="05050102010706020507" pitchFamily="18" charset="2"/>
              <a:buChar char="·"/>
            </a:pPr>
            <a:endParaRPr lang="en-US" sz="1400" dirty="0"/>
          </a:p>
        </p:txBody>
      </p:sp>
      <p:sp>
        <p:nvSpPr>
          <p:cNvPr id="4" name="Date Placeholder 3">
            <a:extLst>
              <a:ext uri="{FF2B5EF4-FFF2-40B4-BE49-F238E27FC236}">
                <a16:creationId xmlns:a16="http://schemas.microsoft.com/office/drawing/2014/main" id="{10CAA500-1B5B-1ABC-4083-D57222A62554}"/>
              </a:ext>
            </a:extLst>
          </p:cNvPr>
          <p:cNvSpPr>
            <a:spLocks noGrp="1"/>
          </p:cNvSpPr>
          <p:nvPr>
            <p:ph type="dt" sz="half" idx="10"/>
          </p:nvPr>
        </p:nvSpPr>
        <p:spPr/>
        <p:txBody>
          <a:bodyPr/>
          <a:lstStyle/>
          <a:p>
            <a:fld id="{FAAB834C-2F9F-4134-A8A6-8D28F07BEAB5}" type="datetime1">
              <a:rPr lang="en-US" smtClean="0"/>
              <a:t>9/18/2025</a:t>
            </a:fld>
            <a:endParaRPr lang="en-US"/>
          </a:p>
        </p:txBody>
      </p:sp>
      <p:sp>
        <p:nvSpPr>
          <p:cNvPr id="5" name="Slide Number Placeholder 4">
            <a:extLst>
              <a:ext uri="{FF2B5EF4-FFF2-40B4-BE49-F238E27FC236}">
                <a16:creationId xmlns:a16="http://schemas.microsoft.com/office/drawing/2014/main" id="{5F89CA10-F307-4F1F-1925-1349F32328D7}"/>
              </a:ext>
            </a:extLst>
          </p:cNvPr>
          <p:cNvSpPr>
            <a:spLocks noGrp="1"/>
          </p:cNvSpPr>
          <p:nvPr>
            <p:ph type="sldNum" sz="quarter" idx="12"/>
          </p:nvPr>
        </p:nvSpPr>
        <p:spPr/>
        <p:txBody>
          <a:bodyPr/>
          <a:lstStyle/>
          <a:p>
            <a:fld id="{330EA680-D336-4FF7-8B7A-9848BB0A1C32}" type="slidenum">
              <a:rPr lang="en-US" smtClean="0"/>
              <a:t>40</a:t>
            </a:fld>
            <a:endParaRPr lang="en-US"/>
          </a:p>
        </p:txBody>
      </p:sp>
      <p:pic>
        <p:nvPicPr>
          <p:cNvPr id="7" name="Picture 6">
            <a:extLst>
              <a:ext uri="{FF2B5EF4-FFF2-40B4-BE49-F238E27FC236}">
                <a16:creationId xmlns:a16="http://schemas.microsoft.com/office/drawing/2014/main" id="{395BD37C-7152-1053-29A0-E96C374B4414}"/>
              </a:ext>
            </a:extLst>
          </p:cNvPr>
          <p:cNvPicPr>
            <a:picLocks noChangeAspect="1"/>
          </p:cNvPicPr>
          <p:nvPr/>
        </p:nvPicPr>
        <p:blipFill>
          <a:blip r:embed="rId4"/>
          <a:stretch>
            <a:fillRect/>
          </a:stretch>
        </p:blipFill>
        <p:spPr>
          <a:xfrm>
            <a:off x="675873" y="1288875"/>
            <a:ext cx="11261359" cy="1654629"/>
          </a:xfrm>
          <a:prstGeom prst="rect">
            <a:avLst/>
          </a:prstGeom>
        </p:spPr>
      </p:pic>
      <p:pic>
        <p:nvPicPr>
          <p:cNvPr id="9" name="Picture 8">
            <a:extLst>
              <a:ext uri="{FF2B5EF4-FFF2-40B4-BE49-F238E27FC236}">
                <a16:creationId xmlns:a16="http://schemas.microsoft.com/office/drawing/2014/main" id="{9B9CB6DB-E666-9617-EE94-25D13327A21B}"/>
              </a:ext>
            </a:extLst>
          </p:cNvPr>
          <p:cNvPicPr>
            <a:picLocks noChangeAspect="1"/>
          </p:cNvPicPr>
          <p:nvPr/>
        </p:nvPicPr>
        <p:blipFill>
          <a:blip r:embed="rId5"/>
          <a:stretch>
            <a:fillRect/>
          </a:stretch>
        </p:blipFill>
        <p:spPr>
          <a:xfrm>
            <a:off x="748937" y="3124200"/>
            <a:ext cx="11053565" cy="2059470"/>
          </a:xfrm>
          <a:prstGeom prst="rect">
            <a:avLst/>
          </a:prstGeom>
        </p:spPr>
      </p:pic>
      <p:sp>
        <p:nvSpPr>
          <p:cNvPr id="11" name="TextBox 10">
            <a:extLst>
              <a:ext uri="{FF2B5EF4-FFF2-40B4-BE49-F238E27FC236}">
                <a16:creationId xmlns:a16="http://schemas.microsoft.com/office/drawing/2014/main" id="{73B8C4ED-DC89-BB06-2096-E36E111F4ED8}"/>
              </a:ext>
            </a:extLst>
          </p:cNvPr>
          <p:cNvSpPr txBox="1"/>
          <p:nvPr/>
        </p:nvSpPr>
        <p:spPr>
          <a:xfrm>
            <a:off x="210551" y="5417631"/>
            <a:ext cx="9499506" cy="646331"/>
          </a:xfrm>
          <a:prstGeom prst="rect">
            <a:avLst/>
          </a:prstGeom>
          <a:noFill/>
        </p:spPr>
        <p:txBody>
          <a:bodyPr wrap="square">
            <a:spAutoFit/>
          </a:bodyPr>
          <a:lstStyle/>
          <a:p>
            <a:pPr marL="742950" marR="2000" lvl="1" indent="-285750">
              <a:buSzPts val="1200"/>
              <a:buFont typeface="Arial" panose="020B0604020202020204" pitchFamily="34" charset="0"/>
              <a:buChar char="•"/>
            </a:pPr>
            <a:r>
              <a:rPr lang="en-US" sz="1200" b="1" dirty="0">
                <a:solidFill>
                  <a:srgbClr val="C00000"/>
                </a:solidFill>
                <a:latin typeface="Century Gothic" panose="020B0502020202020204" pitchFamily="34" charset="0"/>
              </a:rPr>
              <a:t>Pending Decision: </a:t>
            </a:r>
            <a:r>
              <a:rPr lang="en-US" sz="1200" dirty="0">
                <a:solidFill>
                  <a:srgbClr val="C00000"/>
                </a:solidFill>
                <a:latin typeface="Century Gothic" panose="020B0502020202020204" pitchFamily="34" charset="0"/>
              </a:rPr>
              <a:t>Discuss how would you handle where there are thousands of ASINs under a certificate. </a:t>
            </a:r>
          </a:p>
          <a:p>
            <a:pPr marL="1200150" marR="2000" lvl="2" indent="-285750">
              <a:buSzPts val="1200"/>
              <a:buFont typeface="Arial" panose="020B0604020202020204" pitchFamily="34" charset="0"/>
              <a:buChar char="•"/>
            </a:pPr>
            <a:r>
              <a:rPr lang="en-US" sz="1200" dirty="0">
                <a:solidFill>
                  <a:srgbClr val="C00000"/>
                </a:solidFill>
                <a:latin typeface="Century Gothic" panose="020B0502020202020204" pitchFamily="34" charset="0"/>
              </a:rPr>
              <a:t>May need to give Products page access to external users because listing here would not be realistic. In which case there would not be a column for this, UPC, etc. </a:t>
            </a:r>
          </a:p>
        </p:txBody>
      </p:sp>
    </p:spTree>
    <p:extLst>
      <p:ext uri="{BB962C8B-B14F-4D97-AF65-F5344CB8AC3E}">
        <p14:creationId xmlns:p14="http://schemas.microsoft.com/office/powerpoint/2010/main" val="3264215488"/>
      </p:ext>
    </p:extLst>
  </p:cSld>
  <p:clrMapOvr>
    <a:masterClrMapping/>
  </p:clrMapOvr>
  <p:extLst>
    <p:ext uri="{6950BFC3-D8DA-4A85-94F7-54DA5524770B}">
      <p188:commentRel xmlns:p188="http://schemas.microsoft.com/office/powerpoint/2018/8/main" r:id="rId3"/>
    </p:ext>
  </p:extLs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A973A-18A2-FCC0-93AC-E0D7F10FB7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68173A-1A25-B7D4-DF5E-488E583DFA1F}"/>
              </a:ext>
            </a:extLst>
          </p:cNvPr>
          <p:cNvSpPr>
            <a:spLocks noGrp="1"/>
          </p:cNvSpPr>
          <p:nvPr>
            <p:ph type="title"/>
          </p:nvPr>
        </p:nvSpPr>
        <p:spPr>
          <a:xfrm>
            <a:off x="598503" y="193906"/>
            <a:ext cx="4183047" cy="487131"/>
          </a:xfrm>
        </p:spPr>
        <p:txBody>
          <a:bodyPr>
            <a:normAutofit fontScale="90000"/>
          </a:bodyPr>
          <a:lstStyle/>
          <a:p>
            <a:r>
              <a:rPr lang="en-US" sz="2800" dirty="0"/>
              <a:t>Wireframe Notes – 3.1 – External Single Certificate View</a:t>
            </a:r>
          </a:p>
        </p:txBody>
      </p:sp>
      <p:sp>
        <p:nvSpPr>
          <p:cNvPr id="4" name="Date Placeholder 3">
            <a:extLst>
              <a:ext uri="{FF2B5EF4-FFF2-40B4-BE49-F238E27FC236}">
                <a16:creationId xmlns:a16="http://schemas.microsoft.com/office/drawing/2014/main" id="{B528310E-80FB-3306-92F2-1EC43C06E821}"/>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90FAE7F1-F179-2FED-B777-E33AE940B83E}"/>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41</a:t>
            </a:fld>
            <a:endParaRPr lang="en-US"/>
          </a:p>
        </p:txBody>
      </p:sp>
      <p:sp>
        <p:nvSpPr>
          <p:cNvPr id="6" name="TextBox 5">
            <a:extLst>
              <a:ext uri="{FF2B5EF4-FFF2-40B4-BE49-F238E27FC236}">
                <a16:creationId xmlns:a16="http://schemas.microsoft.com/office/drawing/2014/main" id="{0B0378F0-32BC-84F4-3A90-B85D25CF4CD0}"/>
              </a:ext>
            </a:extLst>
          </p:cNvPr>
          <p:cNvSpPr txBox="1"/>
          <p:nvPr/>
        </p:nvSpPr>
        <p:spPr>
          <a:xfrm>
            <a:off x="147531" y="1437173"/>
            <a:ext cx="4902644" cy="2492990"/>
          </a:xfrm>
          <a:prstGeom prst="rect">
            <a:avLst/>
          </a:prstGeom>
          <a:noFill/>
        </p:spPr>
        <p:txBody>
          <a:bodyPr wrap="square">
            <a:spAutoFit/>
          </a:bodyPr>
          <a:lstStyle/>
          <a:p>
            <a:pPr marL="285750" marR="2000" indent="-285750">
              <a:buSzPts val="1200"/>
              <a:buFont typeface="Arial" panose="020B0604020202020204" pitchFamily="34" charset="0"/>
              <a:buChar char="•"/>
            </a:pPr>
            <a:r>
              <a:rPr lang="en-US" sz="1200" i="0" u="none" strike="noStrike" baseline="0" dirty="0">
                <a:solidFill>
                  <a:srgbClr val="606771"/>
                </a:solidFill>
                <a:latin typeface="Segoe UI" panose="020B0502040204020203" pitchFamily="34" charset="0"/>
              </a:rPr>
              <a:t>All data fields to be displayed based on user’s permissions: Certificate #, Certification Type, CSF Attributes, Status, Effective Date, Expiration Date, Company, Company Contact Email/URL, Product Name, Product Category, Product Type, Product Type Subcategory, Location, Country, External Tag, Internal Tag, ASIN, UPC, GTIN, EAN, </a:t>
            </a:r>
            <a:r>
              <a:rPr lang="en-US" sz="1200" b="1" i="0" u="none" strike="sngStrike" baseline="0" dirty="0">
                <a:solidFill>
                  <a:srgbClr val="606771"/>
                </a:solidFill>
                <a:latin typeface="Segoe UI" panose="020B0502040204020203" pitchFamily="34" charset="0"/>
              </a:rPr>
              <a:t>Certificate Upload, Record Created Date, Record Last Updated Date, Preview.</a:t>
            </a:r>
          </a:p>
          <a:p>
            <a:pPr marL="285750" marR="2000" indent="-285750">
              <a:buSzPts val="1200"/>
              <a:buFont typeface="Arial" panose="020B0604020202020204" pitchFamily="34" charset="0"/>
              <a:buChar char="•"/>
            </a:pPr>
            <a:r>
              <a:rPr lang="en-US" sz="1200" dirty="0">
                <a:solidFill>
                  <a:srgbClr val="606771"/>
                </a:solidFill>
                <a:latin typeface="Segoe UI" panose="020B0502040204020203" pitchFamily="34" charset="0"/>
              </a:rPr>
              <a:t>Verification URL: displayed at bottom of page to enable </a:t>
            </a:r>
          </a:p>
          <a:p>
            <a:pPr marL="285750" marR="2000" indent="-285750">
              <a:buSzPts val="1200"/>
              <a:buFont typeface="Arial" panose="020B0604020202020204" pitchFamily="34" charset="0"/>
              <a:buChar char="•"/>
            </a:pPr>
            <a:r>
              <a:rPr lang="en-US" sz="1200" i="0" u="none" strike="noStrike" baseline="0" dirty="0">
                <a:solidFill>
                  <a:srgbClr val="606771"/>
                </a:solidFill>
                <a:latin typeface="Segoe UI" panose="020B0502040204020203" pitchFamily="34" charset="0"/>
              </a:rPr>
              <a:t>Certificate View will load in a new tab.</a:t>
            </a:r>
          </a:p>
          <a:p>
            <a:pPr marL="285750" marR="2000" indent="-285750">
              <a:buSzPts val="1200"/>
              <a:buFont typeface="Arial" panose="020B0604020202020204" pitchFamily="34" charset="0"/>
              <a:buChar char="•"/>
            </a:pPr>
            <a:r>
              <a:rPr lang="en-US" sz="1200" dirty="0">
                <a:solidFill>
                  <a:srgbClr val="606771"/>
                </a:solidFill>
                <a:latin typeface="Segoe UI" panose="020B0502040204020203" pitchFamily="34" charset="0"/>
              </a:rPr>
              <a:t>CSF Attribute will only show when it is selected for a certification. (The field will not be required on the certificate create page)</a:t>
            </a:r>
          </a:p>
          <a:p>
            <a:pPr marL="285750" marR="2000" indent="-285750">
              <a:buSzPts val="1200"/>
              <a:buFont typeface="Arial" panose="020B0604020202020204" pitchFamily="34" charset="0"/>
              <a:buChar char="•"/>
            </a:pPr>
            <a:r>
              <a:rPr lang="en-US" sz="1200" b="1" i="0" u="none" strike="noStrike" baseline="0" dirty="0">
                <a:solidFill>
                  <a:srgbClr val="606771"/>
                </a:solidFill>
                <a:latin typeface="Segoe UI" panose="020B0502040204020203" pitchFamily="34" charset="0"/>
              </a:rPr>
              <a:t>Record Information will only be available for Analyst and Admin</a:t>
            </a:r>
          </a:p>
        </p:txBody>
      </p:sp>
      <p:pic>
        <p:nvPicPr>
          <p:cNvPr id="11" name="Picture 10">
            <a:extLst>
              <a:ext uri="{FF2B5EF4-FFF2-40B4-BE49-F238E27FC236}">
                <a16:creationId xmlns:a16="http://schemas.microsoft.com/office/drawing/2014/main" id="{E6451C72-48D8-BD5D-6385-C2A7226E848B}"/>
              </a:ext>
            </a:extLst>
          </p:cNvPr>
          <p:cNvPicPr>
            <a:picLocks noChangeAspect="1"/>
          </p:cNvPicPr>
          <p:nvPr/>
        </p:nvPicPr>
        <p:blipFill>
          <a:blip r:embed="rId3"/>
          <a:stretch>
            <a:fillRect/>
          </a:stretch>
        </p:blipFill>
        <p:spPr>
          <a:xfrm>
            <a:off x="5050175" y="0"/>
            <a:ext cx="7120850" cy="6858000"/>
          </a:xfrm>
          <a:prstGeom prst="rect">
            <a:avLst/>
          </a:prstGeom>
        </p:spPr>
      </p:pic>
    </p:spTree>
    <p:extLst>
      <p:ext uri="{BB962C8B-B14F-4D97-AF65-F5344CB8AC3E}">
        <p14:creationId xmlns:p14="http://schemas.microsoft.com/office/powerpoint/2010/main" val="11529328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7FA41-6D0C-59D0-1F0A-BC63B52F1C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6C1EA8-52D7-633E-E459-98CA628D023E}"/>
              </a:ext>
            </a:extLst>
          </p:cNvPr>
          <p:cNvSpPr>
            <a:spLocks noGrp="1"/>
          </p:cNvSpPr>
          <p:nvPr>
            <p:ph type="title"/>
          </p:nvPr>
        </p:nvSpPr>
        <p:spPr>
          <a:xfrm>
            <a:off x="598504" y="193906"/>
            <a:ext cx="2554272" cy="487131"/>
          </a:xfrm>
        </p:spPr>
        <p:txBody>
          <a:bodyPr>
            <a:normAutofit fontScale="90000"/>
          </a:bodyPr>
          <a:lstStyle/>
          <a:p>
            <a:r>
              <a:rPr lang="en-US" sz="2800" dirty="0"/>
              <a:t>Wireframe Notes – 3.1 – External Single Certificate View</a:t>
            </a:r>
          </a:p>
        </p:txBody>
      </p:sp>
      <p:sp>
        <p:nvSpPr>
          <p:cNvPr id="4" name="Date Placeholder 3">
            <a:extLst>
              <a:ext uri="{FF2B5EF4-FFF2-40B4-BE49-F238E27FC236}">
                <a16:creationId xmlns:a16="http://schemas.microsoft.com/office/drawing/2014/main" id="{89A45F05-0100-A31F-3C11-E8B30F4D5088}"/>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6C7C75A9-F75D-4BDD-41D5-943220367CEB}"/>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42</a:t>
            </a:fld>
            <a:endParaRPr lang="en-US"/>
          </a:p>
        </p:txBody>
      </p:sp>
      <p:pic>
        <p:nvPicPr>
          <p:cNvPr id="7" name="Picture 6">
            <a:extLst>
              <a:ext uri="{FF2B5EF4-FFF2-40B4-BE49-F238E27FC236}">
                <a16:creationId xmlns:a16="http://schemas.microsoft.com/office/drawing/2014/main" id="{128C9D9D-82DB-45C6-07D7-9126AF49FD1D}"/>
              </a:ext>
            </a:extLst>
          </p:cNvPr>
          <p:cNvPicPr>
            <a:picLocks noChangeAspect="1"/>
          </p:cNvPicPr>
          <p:nvPr/>
        </p:nvPicPr>
        <p:blipFill>
          <a:blip r:embed="rId3"/>
          <a:stretch>
            <a:fillRect/>
          </a:stretch>
        </p:blipFill>
        <p:spPr>
          <a:xfrm>
            <a:off x="3350859" y="136525"/>
            <a:ext cx="8653301" cy="6680158"/>
          </a:xfrm>
          <a:prstGeom prst="rect">
            <a:avLst/>
          </a:prstGeom>
        </p:spPr>
      </p:pic>
    </p:spTree>
    <p:extLst>
      <p:ext uri="{BB962C8B-B14F-4D97-AF65-F5344CB8AC3E}">
        <p14:creationId xmlns:p14="http://schemas.microsoft.com/office/powerpoint/2010/main" val="28436208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3F684-04B9-65CD-A8F8-EC99DD4065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D2E414-A962-3D6A-8F09-720B41475B19}"/>
              </a:ext>
            </a:extLst>
          </p:cNvPr>
          <p:cNvSpPr>
            <a:spLocks noGrp="1"/>
          </p:cNvSpPr>
          <p:nvPr>
            <p:ph type="title"/>
          </p:nvPr>
        </p:nvSpPr>
        <p:spPr/>
        <p:txBody>
          <a:bodyPr/>
          <a:lstStyle/>
          <a:p>
            <a:r>
              <a:rPr lang="en-US" sz="2800" dirty="0"/>
              <a:t>Wireframe Notes – 3.1 – External Single Certificate View</a:t>
            </a:r>
          </a:p>
        </p:txBody>
      </p:sp>
      <p:sp>
        <p:nvSpPr>
          <p:cNvPr id="3" name="Content Placeholder 2">
            <a:extLst>
              <a:ext uri="{FF2B5EF4-FFF2-40B4-BE49-F238E27FC236}">
                <a16:creationId xmlns:a16="http://schemas.microsoft.com/office/drawing/2014/main" id="{F86C29BC-AF5E-83D1-F6E9-5410ECFCB1A2}"/>
              </a:ext>
            </a:extLst>
          </p:cNvPr>
          <p:cNvSpPr>
            <a:spLocks noGrp="1"/>
          </p:cNvSpPr>
          <p:nvPr>
            <p:ph idx="1"/>
          </p:nvPr>
        </p:nvSpPr>
        <p:spPr/>
        <p:txBody>
          <a:bodyPr>
            <a:normAutofit/>
          </a:bodyPr>
          <a:lstStyle/>
          <a:p>
            <a:pPr marR="2000" algn="l" rtl="0">
              <a:buSzPts val="1200"/>
              <a:buFont typeface="Symbol" panose="05050102010706020507" pitchFamily="18" charset="2"/>
              <a:buChar char="·"/>
            </a:pPr>
            <a:r>
              <a:rPr lang="en-US" sz="1400" b="0" i="0" u="none" strike="noStrike" baseline="0" dirty="0">
                <a:solidFill>
                  <a:srgbClr val="606771"/>
                </a:solidFill>
              </a:rPr>
              <a:t>This is the List View for Logged In Clients.</a:t>
            </a:r>
          </a:p>
          <a:p>
            <a:pPr marR="2000" algn="l" rtl="0"/>
            <a:r>
              <a:rPr lang="en-US" sz="1400" b="0" i="0" u="none" strike="noStrike" baseline="0" dirty="0">
                <a:solidFill>
                  <a:srgbClr val="606771"/>
                </a:solidFill>
              </a:rPr>
              <a:t>Ability to Sort on all columns.</a:t>
            </a:r>
          </a:p>
          <a:p>
            <a:pPr marR="2000" algn="l" rtl="0"/>
            <a:r>
              <a:rPr lang="en-US" sz="1400" b="0" i="0" u="none" strike="noStrike" baseline="0" dirty="0">
                <a:solidFill>
                  <a:srgbClr val="606771"/>
                </a:solidFill>
              </a:rPr>
              <a:t>Ability to Filter by designated Search Categories.</a:t>
            </a:r>
          </a:p>
          <a:p>
            <a:pPr marR="2000" algn="l" rtl="0"/>
            <a:r>
              <a:rPr lang="en-US" sz="1400" b="0" i="0" u="none" strike="noStrike" baseline="0" dirty="0">
                <a:solidFill>
                  <a:srgbClr val="606771"/>
                </a:solidFill>
              </a:rPr>
              <a:t>Ability to scroll horizontally and vertically to see additional data fields.</a:t>
            </a:r>
          </a:p>
          <a:p>
            <a:pPr marR="2000" algn="l" rtl="0"/>
            <a:r>
              <a:rPr lang="en-US" sz="1400" b="0" i="0" u="none" strike="noStrike" baseline="0" dirty="0">
                <a:solidFill>
                  <a:srgbClr val="606771"/>
                </a:solidFill>
              </a:rPr>
              <a:t>Ability to multiselect for Download.</a:t>
            </a:r>
          </a:p>
          <a:p>
            <a:pPr marR="2000"/>
            <a:r>
              <a:rPr lang="en-US" sz="1400" dirty="0">
                <a:solidFill>
                  <a:srgbClr val="606771"/>
                </a:solidFill>
              </a:rPr>
              <a:t>Will Clients fall under the ‘Company’ data field or is there another way to associate them to a Product/Certificate?	</a:t>
            </a:r>
          </a:p>
          <a:p>
            <a:pPr marR="2000" lvl="1"/>
            <a:r>
              <a:rPr lang="en-US" sz="1400" dirty="0">
                <a:solidFill>
                  <a:srgbClr val="606771"/>
                </a:solidFill>
              </a:rPr>
              <a:t>When we grant permissions to clients it would be through Company - and there could be multiple companies associated with 1 client (ASSA ABLOY for example). However, on the partner side they would not be by Company but by new partner field.</a:t>
            </a:r>
          </a:p>
          <a:p>
            <a:pPr marR="2000" algn="l" rtl="0"/>
            <a:endParaRPr lang="en-US" sz="1400" dirty="0"/>
          </a:p>
        </p:txBody>
      </p:sp>
      <p:sp>
        <p:nvSpPr>
          <p:cNvPr id="4" name="Date Placeholder 3">
            <a:extLst>
              <a:ext uri="{FF2B5EF4-FFF2-40B4-BE49-F238E27FC236}">
                <a16:creationId xmlns:a16="http://schemas.microsoft.com/office/drawing/2014/main" id="{2FEA53B8-D918-019A-D13A-C93548A3DCD1}"/>
              </a:ext>
            </a:extLst>
          </p:cNvPr>
          <p:cNvSpPr>
            <a:spLocks noGrp="1"/>
          </p:cNvSpPr>
          <p:nvPr>
            <p:ph type="dt" sz="half" idx="10"/>
          </p:nvPr>
        </p:nvSpPr>
        <p:spPr/>
        <p:txBody>
          <a:bodyPr/>
          <a:lstStyle/>
          <a:p>
            <a:fld id="{FAAB834C-2F9F-4134-A8A6-8D28F07BEAB5}" type="datetime1">
              <a:rPr lang="en-US" smtClean="0"/>
              <a:t>9/18/2025</a:t>
            </a:fld>
            <a:endParaRPr lang="en-US"/>
          </a:p>
        </p:txBody>
      </p:sp>
      <p:sp>
        <p:nvSpPr>
          <p:cNvPr id="5" name="Slide Number Placeholder 4">
            <a:extLst>
              <a:ext uri="{FF2B5EF4-FFF2-40B4-BE49-F238E27FC236}">
                <a16:creationId xmlns:a16="http://schemas.microsoft.com/office/drawing/2014/main" id="{291CD4E8-ADA1-7D49-F52C-3510F68059B9}"/>
              </a:ext>
            </a:extLst>
          </p:cNvPr>
          <p:cNvSpPr>
            <a:spLocks noGrp="1"/>
          </p:cNvSpPr>
          <p:nvPr>
            <p:ph type="sldNum" sz="quarter" idx="12"/>
          </p:nvPr>
        </p:nvSpPr>
        <p:spPr/>
        <p:txBody>
          <a:bodyPr/>
          <a:lstStyle/>
          <a:p>
            <a:fld id="{330EA680-D336-4FF7-8B7A-9848BB0A1C32}" type="slidenum">
              <a:rPr lang="en-US" smtClean="0"/>
              <a:t>43</a:t>
            </a:fld>
            <a:endParaRPr lang="en-US"/>
          </a:p>
        </p:txBody>
      </p:sp>
    </p:spTree>
    <p:extLst>
      <p:ext uri="{BB962C8B-B14F-4D97-AF65-F5344CB8AC3E}">
        <p14:creationId xmlns:p14="http://schemas.microsoft.com/office/powerpoint/2010/main" val="25226770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C391D-A9E3-89DD-765A-F6FC9ED7CB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015568-3AE7-F71A-3B97-7A3763463A89}"/>
              </a:ext>
            </a:extLst>
          </p:cNvPr>
          <p:cNvSpPr>
            <a:spLocks noGrp="1"/>
          </p:cNvSpPr>
          <p:nvPr>
            <p:ph type="title"/>
          </p:nvPr>
        </p:nvSpPr>
        <p:spPr>
          <a:xfrm>
            <a:off x="598503" y="193906"/>
            <a:ext cx="10515600" cy="487131"/>
          </a:xfrm>
        </p:spPr>
        <p:txBody>
          <a:bodyPr>
            <a:normAutofit/>
          </a:bodyPr>
          <a:lstStyle/>
          <a:p>
            <a:r>
              <a:rPr lang="en-US" sz="2800" dirty="0"/>
              <a:t>Wireframe Notes – 3.2 – Certificate List (GCC Only)</a:t>
            </a:r>
          </a:p>
        </p:txBody>
      </p:sp>
      <p:sp>
        <p:nvSpPr>
          <p:cNvPr id="4" name="Date Placeholder 3">
            <a:extLst>
              <a:ext uri="{FF2B5EF4-FFF2-40B4-BE49-F238E27FC236}">
                <a16:creationId xmlns:a16="http://schemas.microsoft.com/office/drawing/2014/main" id="{56AFB039-4336-2CC5-2582-7418755AED6C}"/>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EA893253-A22D-1587-4EAB-90316F3129A2}"/>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44</a:t>
            </a:fld>
            <a:endParaRPr lang="en-US" dirty="0"/>
          </a:p>
        </p:txBody>
      </p:sp>
      <p:sp>
        <p:nvSpPr>
          <p:cNvPr id="8" name="TextBox 7">
            <a:extLst>
              <a:ext uri="{FF2B5EF4-FFF2-40B4-BE49-F238E27FC236}">
                <a16:creationId xmlns:a16="http://schemas.microsoft.com/office/drawing/2014/main" id="{7DAAB60F-27F5-601E-A52C-70D3001751EE}"/>
              </a:ext>
            </a:extLst>
          </p:cNvPr>
          <p:cNvSpPr txBox="1"/>
          <p:nvPr/>
        </p:nvSpPr>
        <p:spPr>
          <a:xfrm>
            <a:off x="6666468" y="802227"/>
            <a:ext cx="5257799" cy="3416320"/>
          </a:xfrm>
          <a:prstGeom prst="rect">
            <a:avLst/>
          </a:prstGeom>
          <a:noFill/>
        </p:spPr>
        <p:txBody>
          <a:bodyPr wrap="square">
            <a:spAutoFit/>
          </a:bodyPr>
          <a:lstStyle/>
          <a:p>
            <a:pPr marR="2000">
              <a:buSzPts val="1200"/>
            </a:pPr>
            <a:r>
              <a:rPr lang="en-US" sz="1200" b="1" dirty="0">
                <a:solidFill>
                  <a:srgbClr val="606771"/>
                </a:solidFill>
                <a:latin typeface="Century Gothic" panose="020B0502020202020204" pitchFamily="34" charset="0"/>
              </a:rPr>
              <a:t>Notes</a:t>
            </a:r>
            <a:r>
              <a:rPr lang="en-US" sz="1200" dirty="0">
                <a:solidFill>
                  <a:srgbClr val="606771"/>
                </a:solidFill>
                <a:latin typeface="Century Gothic" panose="020B0502020202020204" pitchFamily="34" charset="0"/>
              </a:rPr>
              <a:t>:</a:t>
            </a:r>
          </a:p>
          <a:p>
            <a:pPr marL="285750" marR="2000" indent="-285750">
              <a:buSzPts val="1200"/>
              <a:buFont typeface="Arial" panose="020B0604020202020204" pitchFamily="34" charset="0"/>
              <a:buChar char="•"/>
            </a:pPr>
            <a:r>
              <a:rPr lang="en-US" sz="1200" dirty="0">
                <a:solidFill>
                  <a:srgbClr val="606771"/>
                </a:solidFill>
                <a:latin typeface="Century Gothic" panose="020B0502020202020204" pitchFamily="34" charset="0"/>
              </a:rPr>
              <a:t>Wireframe updated for infinite scrolling instead of pagination.</a:t>
            </a:r>
          </a:p>
          <a:p>
            <a:pPr marL="285750" marR="2000" indent="-285750">
              <a:buSzPts val="1200"/>
              <a:buFont typeface="Arial" panose="020B0604020202020204" pitchFamily="34" charset="0"/>
              <a:buChar char="•"/>
            </a:pPr>
            <a:r>
              <a:rPr lang="en-US" sz="1200" dirty="0">
                <a:solidFill>
                  <a:srgbClr val="606771"/>
                </a:solidFill>
                <a:latin typeface="Century Gothic" panose="020B0502020202020204" pitchFamily="34" charset="0"/>
              </a:rPr>
              <a:t>Add Certificates will only be available for Analyst and Admin users. </a:t>
            </a:r>
          </a:p>
          <a:p>
            <a:pPr marL="285750" marR="2000" indent="-285750">
              <a:buSzPts val="1200"/>
              <a:buFont typeface="Arial" panose="020B0604020202020204" pitchFamily="34" charset="0"/>
              <a:buChar char="•"/>
            </a:pPr>
            <a:r>
              <a:rPr lang="en-US" sz="1200" dirty="0">
                <a:solidFill>
                  <a:srgbClr val="606771"/>
                </a:solidFill>
                <a:latin typeface="Century Gothic" panose="020B0502020202020204" pitchFamily="34" charset="0"/>
              </a:rPr>
              <a:t>Edit/Delete Certificate will only be available for Analyst and Admin users.</a:t>
            </a:r>
          </a:p>
          <a:p>
            <a:pPr marL="285750" marR="2000" indent="-285750">
              <a:buSzPts val="1200"/>
              <a:buFont typeface="Arial" panose="020B0604020202020204" pitchFamily="34" charset="0"/>
              <a:buChar char="•"/>
            </a:pPr>
            <a:r>
              <a:rPr lang="en-US" sz="1200" dirty="0">
                <a:solidFill>
                  <a:srgbClr val="606771"/>
                </a:solidFill>
                <a:latin typeface="Century Gothic" panose="020B0502020202020204" pitchFamily="34" charset="0"/>
              </a:rPr>
              <a:t>Ability to toggle between List and Tile views.</a:t>
            </a:r>
          </a:p>
          <a:p>
            <a:pPr marL="285750" marR="2000" indent="-285750">
              <a:buSzPts val="1200"/>
              <a:buFont typeface="Arial" panose="020B0604020202020204" pitchFamily="34" charset="0"/>
              <a:buChar char="•"/>
            </a:pPr>
            <a:r>
              <a:rPr lang="en-US" sz="1200" dirty="0">
                <a:solidFill>
                  <a:srgbClr val="606771"/>
                </a:solidFill>
                <a:latin typeface="Century Gothic" panose="020B0502020202020204" pitchFamily="34" charset="0"/>
              </a:rPr>
              <a:t>The Tile view will display the same as 1.0 Certificate view. </a:t>
            </a:r>
          </a:p>
          <a:p>
            <a:pPr marL="285750" marR="2000" indent="-285750">
              <a:buSzPts val="1200"/>
              <a:buFont typeface="Arial" panose="020B0604020202020204" pitchFamily="34" charset="0"/>
              <a:buChar char="•"/>
            </a:pPr>
            <a:r>
              <a:rPr lang="en-US" sz="1200" dirty="0">
                <a:solidFill>
                  <a:srgbClr val="606771"/>
                </a:solidFill>
                <a:latin typeface="Century Gothic" panose="020B0502020202020204" pitchFamily="34" charset="0"/>
              </a:rPr>
              <a:t>List Sort by will allows users to sort on any column. </a:t>
            </a:r>
          </a:p>
          <a:p>
            <a:pPr marL="285750" marR="2000" indent="-285750">
              <a:buSzPts val="120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All data fields to be displayed based on user’s permissions: Certificate #, Certification Type, CSF Attributes, Status, Effective Date, Expiration Date, Company, Company Contact Email/URL, Product Name, Product Category, Product Type, Product Type Subcategory, Location, Country, External Tag, Internal Tag, ASIN, UPC, GTIN, EAN, Certificate Upload, Record Created Date, Record Last Updated Date, </a:t>
            </a:r>
            <a:r>
              <a:rPr lang="en-US" sz="1200" b="1" i="0" u="none" strike="sngStrike" baseline="0" dirty="0">
                <a:solidFill>
                  <a:srgbClr val="606771"/>
                </a:solidFill>
                <a:latin typeface="Century Gothic" panose="020B0502020202020204" pitchFamily="34" charset="0"/>
              </a:rPr>
              <a:t>Preview</a:t>
            </a:r>
          </a:p>
          <a:p>
            <a:pPr marL="285750" marR="2000" indent="-285750">
              <a:buSzPts val="1200"/>
              <a:buFont typeface="Arial" panose="020B0604020202020204" pitchFamily="34" charset="0"/>
              <a:buChar char="•"/>
            </a:pPr>
            <a:endParaRPr lang="en-US" sz="1200" b="0" i="0" u="none" strike="noStrike" baseline="0" dirty="0">
              <a:solidFill>
                <a:srgbClr val="606771"/>
              </a:solidFill>
              <a:latin typeface="Century Gothic" panose="020B0502020202020204" pitchFamily="34" charset="0"/>
            </a:endParaRPr>
          </a:p>
          <a:p>
            <a:pPr marL="285750" marR="2000" indent="-285750">
              <a:buSzPts val="1200"/>
              <a:buFont typeface="Arial" panose="020B0604020202020204" pitchFamily="34" charset="0"/>
              <a:buChar char="•"/>
            </a:pPr>
            <a:endParaRPr lang="en-US" sz="1200" dirty="0">
              <a:latin typeface="Century Gothic" panose="020B0502020202020204" pitchFamily="34" charset="0"/>
            </a:endParaRPr>
          </a:p>
        </p:txBody>
      </p:sp>
      <p:pic>
        <p:nvPicPr>
          <p:cNvPr id="10" name="Picture 9">
            <a:extLst>
              <a:ext uri="{FF2B5EF4-FFF2-40B4-BE49-F238E27FC236}">
                <a16:creationId xmlns:a16="http://schemas.microsoft.com/office/drawing/2014/main" id="{8A33AE10-A0A4-74E7-9CA4-29786022589D}"/>
              </a:ext>
            </a:extLst>
          </p:cNvPr>
          <p:cNvPicPr>
            <a:picLocks noChangeAspect="1"/>
          </p:cNvPicPr>
          <p:nvPr/>
        </p:nvPicPr>
        <p:blipFill>
          <a:blip r:embed="rId3"/>
          <a:stretch>
            <a:fillRect/>
          </a:stretch>
        </p:blipFill>
        <p:spPr>
          <a:xfrm>
            <a:off x="838200" y="681037"/>
            <a:ext cx="5257800" cy="5837099"/>
          </a:xfrm>
          <a:prstGeom prst="rect">
            <a:avLst/>
          </a:prstGeom>
        </p:spPr>
      </p:pic>
    </p:spTree>
    <p:extLst>
      <p:ext uri="{BB962C8B-B14F-4D97-AF65-F5344CB8AC3E}">
        <p14:creationId xmlns:p14="http://schemas.microsoft.com/office/powerpoint/2010/main" val="17729711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A948B-9D8F-371C-9F99-1DB4EB1415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9A01C1-9187-D74E-945B-0A9C0ED66BE4}"/>
              </a:ext>
            </a:extLst>
          </p:cNvPr>
          <p:cNvSpPr>
            <a:spLocks noGrp="1"/>
          </p:cNvSpPr>
          <p:nvPr>
            <p:ph type="title"/>
          </p:nvPr>
        </p:nvSpPr>
        <p:spPr>
          <a:xfrm>
            <a:off x="598503" y="193906"/>
            <a:ext cx="10515600" cy="487131"/>
          </a:xfrm>
        </p:spPr>
        <p:txBody>
          <a:bodyPr>
            <a:normAutofit/>
          </a:bodyPr>
          <a:lstStyle/>
          <a:p>
            <a:r>
              <a:rPr lang="en-US" sz="2800" dirty="0"/>
              <a:t>Wireframe Notes – 3.2 – Certificate List (GCC Only)</a:t>
            </a:r>
          </a:p>
        </p:txBody>
      </p:sp>
      <p:sp>
        <p:nvSpPr>
          <p:cNvPr id="4" name="Date Placeholder 3">
            <a:extLst>
              <a:ext uri="{FF2B5EF4-FFF2-40B4-BE49-F238E27FC236}">
                <a16:creationId xmlns:a16="http://schemas.microsoft.com/office/drawing/2014/main" id="{725785BC-1BFD-099A-45B4-8ACE0D1599F8}"/>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676F1FF1-549E-2B4D-084D-627A641F3FB7}"/>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45</a:t>
            </a:fld>
            <a:endParaRPr lang="en-US" dirty="0"/>
          </a:p>
        </p:txBody>
      </p:sp>
      <p:pic>
        <p:nvPicPr>
          <p:cNvPr id="6" name="Picture 5">
            <a:extLst>
              <a:ext uri="{FF2B5EF4-FFF2-40B4-BE49-F238E27FC236}">
                <a16:creationId xmlns:a16="http://schemas.microsoft.com/office/drawing/2014/main" id="{ACFDDC19-606C-DB34-7B6A-1F35935FA212}"/>
              </a:ext>
            </a:extLst>
          </p:cNvPr>
          <p:cNvPicPr>
            <a:picLocks noChangeAspect="1"/>
          </p:cNvPicPr>
          <p:nvPr/>
        </p:nvPicPr>
        <p:blipFill>
          <a:blip r:embed="rId3"/>
          <a:stretch>
            <a:fillRect/>
          </a:stretch>
        </p:blipFill>
        <p:spPr>
          <a:xfrm>
            <a:off x="2893395" y="752392"/>
            <a:ext cx="6405209" cy="5911702"/>
          </a:xfrm>
          <a:prstGeom prst="rect">
            <a:avLst/>
          </a:prstGeom>
        </p:spPr>
      </p:pic>
    </p:spTree>
    <p:extLst>
      <p:ext uri="{BB962C8B-B14F-4D97-AF65-F5344CB8AC3E}">
        <p14:creationId xmlns:p14="http://schemas.microsoft.com/office/powerpoint/2010/main" val="2800351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BF1A5-1A4E-BBF5-12A9-3E8D629CF2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C672A6-0CF6-C1D2-827A-CDAA7FE0198A}"/>
              </a:ext>
            </a:extLst>
          </p:cNvPr>
          <p:cNvSpPr>
            <a:spLocks noGrp="1"/>
          </p:cNvSpPr>
          <p:nvPr>
            <p:ph type="title"/>
          </p:nvPr>
        </p:nvSpPr>
        <p:spPr>
          <a:xfrm>
            <a:off x="598503" y="193906"/>
            <a:ext cx="10515600" cy="487131"/>
          </a:xfrm>
        </p:spPr>
        <p:txBody>
          <a:bodyPr>
            <a:normAutofit/>
          </a:bodyPr>
          <a:lstStyle/>
          <a:p>
            <a:r>
              <a:rPr lang="en-US" sz="2800" dirty="0"/>
              <a:t>Wireframe Notes – 3.2 – Certificate List (GCC Only)</a:t>
            </a:r>
          </a:p>
        </p:txBody>
      </p:sp>
      <p:sp>
        <p:nvSpPr>
          <p:cNvPr id="4" name="Date Placeholder 3">
            <a:extLst>
              <a:ext uri="{FF2B5EF4-FFF2-40B4-BE49-F238E27FC236}">
                <a16:creationId xmlns:a16="http://schemas.microsoft.com/office/drawing/2014/main" id="{CE84B32F-BEC8-DD3D-7227-8DD18B382E04}"/>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21D7D20B-32EB-6E80-C697-72867E5651D9}"/>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46</a:t>
            </a:fld>
            <a:endParaRPr lang="en-US" dirty="0"/>
          </a:p>
        </p:txBody>
      </p:sp>
      <p:pic>
        <p:nvPicPr>
          <p:cNvPr id="7" name="Picture 6">
            <a:extLst>
              <a:ext uri="{FF2B5EF4-FFF2-40B4-BE49-F238E27FC236}">
                <a16:creationId xmlns:a16="http://schemas.microsoft.com/office/drawing/2014/main" id="{18DA22CA-0496-972C-70F1-DDA67BE12623}"/>
              </a:ext>
            </a:extLst>
          </p:cNvPr>
          <p:cNvPicPr>
            <a:picLocks noChangeAspect="1"/>
          </p:cNvPicPr>
          <p:nvPr/>
        </p:nvPicPr>
        <p:blipFill>
          <a:blip r:embed="rId3"/>
          <a:stretch>
            <a:fillRect/>
          </a:stretch>
        </p:blipFill>
        <p:spPr>
          <a:xfrm>
            <a:off x="3114450" y="734712"/>
            <a:ext cx="5963099" cy="5929382"/>
          </a:xfrm>
          <a:prstGeom prst="rect">
            <a:avLst/>
          </a:prstGeom>
        </p:spPr>
      </p:pic>
    </p:spTree>
    <p:extLst>
      <p:ext uri="{BB962C8B-B14F-4D97-AF65-F5344CB8AC3E}">
        <p14:creationId xmlns:p14="http://schemas.microsoft.com/office/powerpoint/2010/main" val="25999104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58101-E3DC-4E3A-F279-7DA99732A7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88EBB7-7480-7DF8-0199-7511ED3A6964}"/>
              </a:ext>
            </a:extLst>
          </p:cNvPr>
          <p:cNvSpPr>
            <a:spLocks noGrp="1"/>
          </p:cNvSpPr>
          <p:nvPr>
            <p:ph type="title"/>
          </p:nvPr>
        </p:nvSpPr>
        <p:spPr/>
        <p:txBody>
          <a:bodyPr/>
          <a:lstStyle/>
          <a:p>
            <a:r>
              <a:rPr lang="en-US" sz="2800" dirty="0"/>
              <a:t>Wireframe Notes – 3.2 – Certificate List (GCC Only)</a:t>
            </a:r>
          </a:p>
        </p:txBody>
      </p:sp>
      <p:sp>
        <p:nvSpPr>
          <p:cNvPr id="3" name="Content Placeholder 2">
            <a:extLst>
              <a:ext uri="{FF2B5EF4-FFF2-40B4-BE49-F238E27FC236}">
                <a16:creationId xmlns:a16="http://schemas.microsoft.com/office/drawing/2014/main" id="{F3FE0DA2-A439-40C8-28CB-A2C43F57C672}"/>
              </a:ext>
            </a:extLst>
          </p:cNvPr>
          <p:cNvSpPr>
            <a:spLocks noGrp="1"/>
          </p:cNvSpPr>
          <p:nvPr>
            <p:ph idx="1"/>
          </p:nvPr>
        </p:nvSpPr>
        <p:spPr>
          <a:xfrm>
            <a:off x="598504" y="868054"/>
            <a:ext cx="4635348" cy="5139345"/>
          </a:xfrm>
        </p:spPr>
        <p:txBody>
          <a:bodyPr>
            <a:normAutofit/>
          </a:bodyPr>
          <a:lstStyle/>
          <a:p>
            <a:pPr marR="2000" algn="l" rtl="0">
              <a:buSzPts val="1200"/>
              <a:buFont typeface="Symbol" panose="05050102010706020507" pitchFamily="18" charset="2"/>
              <a:buChar char="·"/>
            </a:pPr>
            <a:r>
              <a:rPr lang="en-US" sz="1400" b="0" i="0" u="none" strike="noStrike" baseline="0" dirty="0">
                <a:solidFill>
                  <a:srgbClr val="606771"/>
                </a:solidFill>
              </a:rPr>
              <a:t>This is the List View for Logged In Users.</a:t>
            </a:r>
          </a:p>
          <a:p>
            <a:pPr marR="2000" algn="l" rtl="0">
              <a:buSzPts val="1200"/>
              <a:buFont typeface="Symbol" panose="05050102010706020507" pitchFamily="18" charset="2"/>
              <a:buChar char="·"/>
            </a:pPr>
            <a:r>
              <a:rPr lang="en-US" sz="1400" b="0" i="0" u="none" strike="noStrike" baseline="0" dirty="0">
                <a:solidFill>
                  <a:srgbClr val="606771"/>
                </a:solidFill>
              </a:rPr>
              <a:t>Clicking anywhere on the row of a certificate will take the user to the Certificate List that shows details about the selected Certificate. </a:t>
            </a:r>
          </a:p>
          <a:p>
            <a:pPr marR="2000" algn="l" rtl="0">
              <a:buSzPts val="1200"/>
              <a:buFont typeface="Symbol" panose="05050102010706020507" pitchFamily="18" charset="2"/>
              <a:buChar char="·"/>
            </a:pPr>
            <a:r>
              <a:rPr lang="en-US" sz="1400" b="0" i="0" u="none" strike="noStrike" baseline="0" dirty="0">
                <a:solidFill>
                  <a:srgbClr val="606771"/>
                </a:solidFill>
              </a:rPr>
              <a:t>Ability to Sort on all columns.</a:t>
            </a:r>
          </a:p>
          <a:p>
            <a:pPr marR="2000" algn="l" rtl="0">
              <a:buSzPts val="1200"/>
              <a:buFont typeface="Symbol" panose="05050102010706020507" pitchFamily="18" charset="2"/>
              <a:buChar char="·"/>
            </a:pPr>
            <a:r>
              <a:rPr lang="en-US" sz="1400" b="0" i="0" u="none" strike="noStrike" baseline="0" dirty="0">
                <a:solidFill>
                  <a:srgbClr val="606771"/>
                </a:solidFill>
              </a:rPr>
              <a:t>Ability to Filter by designated Search Categories.</a:t>
            </a:r>
          </a:p>
          <a:p>
            <a:pPr marR="2000" algn="l" rtl="0">
              <a:buSzPts val="1200"/>
              <a:buFont typeface="Symbol" panose="05050102010706020507" pitchFamily="18" charset="2"/>
              <a:buChar char="·"/>
            </a:pPr>
            <a:r>
              <a:rPr lang="en-US" sz="1400" b="0" i="0" u="none" strike="noStrike" baseline="0" dirty="0">
                <a:solidFill>
                  <a:srgbClr val="606771"/>
                </a:solidFill>
              </a:rPr>
              <a:t>Ability to scroll horizontally and vertically to see additional data fields.</a:t>
            </a:r>
          </a:p>
          <a:p>
            <a:pPr marR="2000" algn="l" rtl="0">
              <a:buSzPts val="1200"/>
              <a:buFont typeface="Symbol" panose="05050102010706020507" pitchFamily="18" charset="2"/>
              <a:buChar char="·"/>
            </a:pPr>
            <a:r>
              <a:rPr lang="en-US" sz="1400" b="0" i="0" u="none" strike="noStrike" baseline="0" dirty="0">
                <a:solidFill>
                  <a:srgbClr val="606771"/>
                </a:solidFill>
              </a:rPr>
              <a:t>Ability to multiselect for Certificate Download.</a:t>
            </a:r>
          </a:p>
          <a:p>
            <a:pPr marR="2000" algn="l" rtl="0">
              <a:buSzPts val="1200"/>
              <a:buFont typeface="Symbol" panose="05050102010706020507" pitchFamily="18" charset="2"/>
              <a:buChar char="·"/>
            </a:pPr>
            <a:r>
              <a:rPr lang="en-US" sz="1400" b="0" i="0" u="none" strike="noStrike" baseline="0" dirty="0">
                <a:solidFill>
                  <a:srgbClr val="606771"/>
                </a:solidFill>
              </a:rPr>
              <a:t>Ability to Add a Certificate.</a:t>
            </a:r>
          </a:p>
          <a:p>
            <a:pPr marR="2000">
              <a:buSzPts val="1200"/>
              <a:buFont typeface="Symbol" panose="05050102010706020507" pitchFamily="18" charset="2"/>
              <a:buChar char="·"/>
            </a:pPr>
            <a:r>
              <a:rPr lang="en-US" sz="1400" dirty="0">
                <a:solidFill>
                  <a:srgbClr val="606771"/>
                </a:solidFill>
              </a:rPr>
              <a:t>Ability to Edit/Delete a selected Certificate.</a:t>
            </a:r>
          </a:p>
          <a:p>
            <a:pPr marR="2000">
              <a:buSzPts val="1200"/>
              <a:buFont typeface="Symbol" panose="05050102010706020507" pitchFamily="18" charset="2"/>
              <a:buChar char="·"/>
            </a:pPr>
            <a:r>
              <a:rPr lang="en-US" sz="1400" dirty="0">
                <a:solidFill>
                  <a:srgbClr val="606771"/>
                </a:solidFill>
              </a:rPr>
              <a:t>Note: Edit/Delete will be one at a time, no multiselect.	</a:t>
            </a:r>
          </a:p>
          <a:p>
            <a:pPr marR="2000">
              <a:buSzPts val="1200"/>
              <a:buFont typeface="Symbol" panose="05050102010706020507" pitchFamily="18" charset="2"/>
              <a:buChar char="·"/>
            </a:pPr>
            <a:r>
              <a:rPr lang="en-US" sz="1400" dirty="0">
                <a:solidFill>
                  <a:srgbClr val="606771"/>
                </a:solidFill>
              </a:rPr>
              <a:t>Excel download - based on filters can export full or filtered list</a:t>
            </a:r>
          </a:p>
          <a:p>
            <a:pPr marR="2000">
              <a:buSzPts val="1200"/>
              <a:buFont typeface="Symbol" panose="05050102010706020507" pitchFamily="18" charset="2"/>
              <a:buChar char="·"/>
            </a:pPr>
            <a:r>
              <a:rPr lang="en-US" sz="1400" dirty="0">
                <a:solidFill>
                  <a:srgbClr val="606771"/>
                </a:solidFill>
              </a:rPr>
              <a:t>*Wishlist: The ability to load the table as a user scrolls Lazy loading</a:t>
            </a:r>
            <a:r>
              <a:rPr lang="en-US" sz="1400" b="0" i="0" u="none" strike="noStrike" baseline="0" dirty="0">
                <a:solidFill>
                  <a:schemeClr val="accent6">
                    <a:lumMod val="50000"/>
                  </a:schemeClr>
                </a:solidFill>
              </a:rPr>
              <a:t>, rather than have the page control.</a:t>
            </a:r>
            <a:endParaRPr lang="en-US" sz="1400" dirty="0"/>
          </a:p>
        </p:txBody>
      </p:sp>
      <p:sp>
        <p:nvSpPr>
          <p:cNvPr id="4" name="Date Placeholder 3">
            <a:extLst>
              <a:ext uri="{FF2B5EF4-FFF2-40B4-BE49-F238E27FC236}">
                <a16:creationId xmlns:a16="http://schemas.microsoft.com/office/drawing/2014/main" id="{3FF7F3BE-A179-2FFA-BE4B-B04AA5C50738}"/>
              </a:ext>
            </a:extLst>
          </p:cNvPr>
          <p:cNvSpPr>
            <a:spLocks noGrp="1"/>
          </p:cNvSpPr>
          <p:nvPr>
            <p:ph type="dt" sz="half" idx="10"/>
          </p:nvPr>
        </p:nvSpPr>
        <p:spPr/>
        <p:txBody>
          <a:bodyPr/>
          <a:lstStyle/>
          <a:p>
            <a:fld id="{FAAB834C-2F9F-4134-A8A6-8D28F07BEAB5}" type="datetime1">
              <a:rPr lang="en-US" smtClean="0"/>
              <a:t>9/18/2025</a:t>
            </a:fld>
            <a:endParaRPr lang="en-US"/>
          </a:p>
        </p:txBody>
      </p:sp>
      <p:sp>
        <p:nvSpPr>
          <p:cNvPr id="5" name="Slide Number Placeholder 4">
            <a:extLst>
              <a:ext uri="{FF2B5EF4-FFF2-40B4-BE49-F238E27FC236}">
                <a16:creationId xmlns:a16="http://schemas.microsoft.com/office/drawing/2014/main" id="{3DE213A3-1BB7-DF2C-8F01-BBB9284835CA}"/>
              </a:ext>
            </a:extLst>
          </p:cNvPr>
          <p:cNvSpPr>
            <a:spLocks noGrp="1"/>
          </p:cNvSpPr>
          <p:nvPr>
            <p:ph type="sldNum" sz="quarter" idx="12"/>
          </p:nvPr>
        </p:nvSpPr>
        <p:spPr/>
        <p:txBody>
          <a:bodyPr/>
          <a:lstStyle/>
          <a:p>
            <a:fld id="{330EA680-D336-4FF7-8B7A-9848BB0A1C32}" type="slidenum">
              <a:rPr lang="en-US" smtClean="0"/>
              <a:t>47</a:t>
            </a:fld>
            <a:endParaRPr lang="en-US"/>
          </a:p>
        </p:txBody>
      </p:sp>
    </p:spTree>
    <p:extLst>
      <p:ext uri="{BB962C8B-B14F-4D97-AF65-F5344CB8AC3E}">
        <p14:creationId xmlns:p14="http://schemas.microsoft.com/office/powerpoint/2010/main" val="2466150600"/>
      </p:ext>
    </p:extLst>
  </p:cSld>
  <p:clrMapOvr>
    <a:masterClrMapping/>
  </p:clrMapOvr>
  <p:extLst>
    <p:ext uri="{6950BFC3-D8DA-4A85-94F7-54DA5524770B}">
      <p188:commentRel xmlns:p188="http://schemas.microsoft.com/office/powerpoint/2018/8/main" r:id="rId3"/>
    </p:ext>
  </p:extLs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A2DEC-841E-20B6-8EF8-C272ABB91D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BA217A-45AA-42F4-8BE5-381628965220}"/>
              </a:ext>
            </a:extLst>
          </p:cNvPr>
          <p:cNvSpPr>
            <a:spLocks noGrp="1"/>
          </p:cNvSpPr>
          <p:nvPr>
            <p:ph type="title"/>
          </p:nvPr>
        </p:nvSpPr>
        <p:spPr>
          <a:xfrm>
            <a:off x="598503" y="193906"/>
            <a:ext cx="5432287" cy="487131"/>
          </a:xfrm>
        </p:spPr>
        <p:txBody>
          <a:bodyPr>
            <a:normAutofit fontScale="90000"/>
          </a:bodyPr>
          <a:lstStyle/>
          <a:p>
            <a:r>
              <a:rPr lang="en-US" sz="2800" dirty="0"/>
              <a:t>Wireframe Notes – 3.3 – Add Certificate (GCC Only)</a:t>
            </a:r>
          </a:p>
        </p:txBody>
      </p:sp>
      <p:sp>
        <p:nvSpPr>
          <p:cNvPr id="4" name="Date Placeholder 3">
            <a:extLst>
              <a:ext uri="{FF2B5EF4-FFF2-40B4-BE49-F238E27FC236}">
                <a16:creationId xmlns:a16="http://schemas.microsoft.com/office/drawing/2014/main" id="{CA5D3090-F943-346A-21B4-89B201884503}"/>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3331A31D-F114-E9DA-69CE-246338307C1E}"/>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48</a:t>
            </a:fld>
            <a:endParaRPr lang="en-US"/>
          </a:p>
        </p:txBody>
      </p:sp>
      <p:sp>
        <p:nvSpPr>
          <p:cNvPr id="12" name="TextBox 11">
            <a:extLst>
              <a:ext uri="{FF2B5EF4-FFF2-40B4-BE49-F238E27FC236}">
                <a16:creationId xmlns:a16="http://schemas.microsoft.com/office/drawing/2014/main" id="{6697992D-96DA-23CF-2C9E-36112BC8A72A}"/>
              </a:ext>
            </a:extLst>
          </p:cNvPr>
          <p:cNvSpPr txBox="1"/>
          <p:nvPr/>
        </p:nvSpPr>
        <p:spPr>
          <a:xfrm>
            <a:off x="780451" y="1110075"/>
            <a:ext cx="5068389" cy="4185761"/>
          </a:xfrm>
          <a:prstGeom prst="rect">
            <a:avLst/>
          </a:prstGeom>
          <a:noFill/>
        </p:spPr>
        <p:txBody>
          <a:bodyPr wrap="square">
            <a:spAutoFit/>
          </a:bodyPr>
          <a:lstStyle/>
          <a:p>
            <a:pPr marL="285750" marR="2000" indent="-285750">
              <a:buSzPts val="1200"/>
              <a:buFont typeface="Arial" panose="020B0604020202020204" pitchFamily="34" charset="0"/>
              <a:buChar char="•"/>
            </a:pPr>
            <a:r>
              <a:rPr lang="en-US" sz="1400" dirty="0">
                <a:latin typeface="Century Gothic" panose="020B0502020202020204" pitchFamily="34" charset="0"/>
              </a:rPr>
              <a:t>Notes:</a:t>
            </a:r>
          </a:p>
          <a:p>
            <a:pPr marL="285750" marR="2000" indent="-285750">
              <a:buSzPts val="1200"/>
              <a:buFont typeface="Arial" panose="020B0604020202020204" pitchFamily="34" charset="0"/>
              <a:buChar char="•"/>
            </a:pPr>
            <a:r>
              <a:rPr lang="en-US" sz="1400" dirty="0">
                <a:latin typeface="Century Gothic" panose="020B0502020202020204" pitchFamily="34" charset="0"/>
              </a:rPr>
              <a:t>Admin can add new product categories. </a:t>
            </a:r>
          </a:p>
          <a:p>
            <a:pPr marL="285750" marR="2000" indent="-285750">
              <a:buSzPts val="1200"/>
              <a:buFont typeface="Arial" panose="020B0604020202020204" pitchFamily="34" charset="0"/>
              <a:buChar char="•"/>
            </a:pPr>
            <a:r>
              <a:rPr lang="en-US" sz="1400" dirty="0">
                <a:latin typeface="Century Gothic" panose="020B0502020202020204" pitchFamily="34" charset="0"/>
              </a:rPr>
              <a:t>Certification # will be auto generated by the database and created on the save </a:t>
            </a:r>
            <a:r>
              <a:rPr lang="en-US" sz="1400" b="1" dirty="0">
                <a:highlight>
                  <a:srgbClr val="FFFF00"/>
                </a:highlight>
                <a:latin typeface="Century Gothic" panose="020B0502020202020204" pitchFamily="34" charset="0"/>
              </a:rPr>
              <a:t>(As discussed prior, unless manually entered, you need instructional copy on the page for this like current </a:t>
            </a:r>
            <a:r>
              <a:rPr lang="en-US" sz="1400" b="1" dirty="0" err="1">
                <a:highlight>
                  <a:srgbClr val="FFFF00"/>
                </a:highlight>
                <a:latin typeface="Century Gothic" panose="020B0502020202020204" pitchFamily="34" charset="0"/>
              </a:rPr>
              <a:t>db</a:t>
            </a:r>
            <a:r>
              <a:rPr lang="en-US" sz="1400" b="1" dirty="0">
                <a:highlight>
                  <a:srgbClr val="FFFF00"/>
                </a:highlight>
                <a:latin typeface="Century Gothic" panose="020B0502020202020204" pitchFamily="34" charset="0"/>
              </a:rPr>
              <a:t>)</a:t>
            </a:r>
          </a:p>
          <a:p>
            <a:pPr marL="285750" marR="2000" indent="-285750">
              <a:buSzPts val="1200"/>
              <a:buFont typeface="Arial" panose="020B0604020202020204" pitchFamily="34" charset="0"/>
              <a:buChar char="•"/>
            </a:pPr>
            <a:r>
              <a:rPr lang="en-US" sz="1400" b="1" dirty="0">
                <a:solidFill>
                  <a:srgbClr val="002060"/>
                </a:solidFill>
                <a:latin typeface="Century Gothic" panose="020B0502020202020204" pitchFamily="34" charset="0"/>
              </a:rPr>
              <a:t>New Field:</a:t>
            </a:r>
            <a:r>
              <a:rPr lang="en-US" sz="1400" dirty="0">
                <a:solidFill>
                  <a:srgbClr val="002060"/>
                </a:solidFill>
                <a:latin typeface="Century Gothic" panose="020B0502020202020204" pitchFamily="34" charset="0"/>
              </a:rPr>
              <a:t> Partner: Amazon/Wayfair - required. </a:t>
            </a:r>
            <a:r>
              <a:rPr lang="en-US" sz="1400" b="1" dirty="0">
                <a:solidFill>
                  <a:srgbClr val="FF0000"/>
                </a:solidFill>
                <a:latin typeface="Century Gothic" panose="020B0502020202020204" pitchFamily="34" charset="0"/>
              </a:rPr>
              <a:t>(Need to add option of none and multiselect)</a:t>
            </a:r>
          </a:p>
          <a:p>
            <a:pPr marL="285750" marR="2000" indent="-285750">
              <a:buSzPts val="1200"/>
              <a:buFont typeface="Arial" panose="020B0604020202020204" pitchFamily="34" charset="0"/>
              <a:buChar char="•"/>
            </a:pPr>
            <a:r>
              <a:rPr lang="en-US" sz="1400" b="1" strike="sngStrike" dirty="0">
                <a:solidFill>
                  <a:srgbClr val="002060"/>
                </a:solidFill>
                <a:latin typeface="Century Gothic" panose="020B0502020202020204" pitchFamily="34" charset="0"/>
              </a:rPr>
              <a:t>New Field: </a:t>
            </a:r>
            <a:r>
              <a:rPr lang="en-US" sz="1400" strike="sngStrike" dirty="0">
                <a:solidFill>
                  <a:srgbClr val="002060"/>
                </a:solidFill>
                <a:latin typeface="Century Gothic" panose="020B0502020202020204" pitchFamily="34" charset="0"/>
              </a:rPr>
              <a:t>Status Type: to signify if a client doesn’t want to move forward.  (</a:t>
            </a:r>
            <a:r>
              <a:rPr lang="en-US" sz="1400" strike="sngStrike" dirty="0">
                <a:solidFill>
                  <a:srgbClr val="FF0000"/>
                </a:solidFill>
                <a:latin typeface="Century Gothic" panose="020B0502020202020204" pitchFamily="34" charset="0"/>
              </a:rPr>
              <a:t>This was added based on meeting)</a:t>
            </a:r>
          </a:p>
          <a:p>
            <a:pPr marL="285750" marR="2000" indent="-285750">
              <a:buSzPts val="1200"/>
              <a:buFont typeface="Arial" panose="020B0604020202020204" pitchFamily="34" charset="0"/>
              <a:buChar char="•"/>
            </a:pPr>
            <a:r>
              <a:rPr lang="en-US" sz="1400" dirty="0">
                <a:solidFill>
                  <a:srgbClr val="002060"/>
                </a:solidFill>
                <a:latin typeface="Century Gothic" panose="020B0502020202020204" pitchFamily="34" charset="0"/>
              </a:rPr>
              <a:t>Products will only show if they are associated with the certificate that is being displayed. </a:t>
            </a:r>
          </a:p>
          <a:p>
            <a:pPr marL="285750" marR="2000" indent="-285750">
              <a:buSzPts val="1200"/>
              <a:buFont typeface="Arial" panose="020B0604020202020204" pitchFamily="34" charset="0"/>
              <a:buChar char="•"/>
            </a:pPr>
            <a:r>
              <a:rPr lang="en-US" sz="1400" dirty="0">
                <a:solidFill>
                  <a:srgbClr val="002060"/>
                </a:solidFill>
                <a:latin typeface="Century Gothic" panose="020B0502020202020204" pitchFamily="34" charset="0"/>
              </a:rPr>
              <a:t>Users can select from dropdown existing Products or add a new. Product Category, Type, and Subcategory are not editable on this page and are assigned when adding a new product. </a:t>
            </a:r>
          </a:p>
          <a:p>
            <a:pPr marL="285750" marR="2000" indent="-285750">
              <a:buSzPts val="1200"/>
              <a:buFont typeface="Arial" panose="020B0604020202020204" pitchFamily="34" charset="0"/>
              <a:buChar char="•"/>
            </a:pPr>
            <a:endParaRPr lang="en-US" sz="1400" dirty="0">
              <a:latin typeface="Century Gothic" panose="020B0502020202020204" pitchFamily="34" charset="0"/>
            </a:endParaRPr>
          </a:p>
        </p:txBody>
      </p:sp>
      <p:pic>
        <p:nvPicPr>
          <p:cNvPr id="6" name="Picture 5">
            <a:extLst>
              <a:ext uri="{FF2B5EF4-FFF2-40B4-BE49-F238E27FC236}">
                <a16:creationId xmlns:a16="http://schemas.microsoft.com/office/drawing/2014/main" id="{3125C919-DA38-25DB-1428-9DBD4DD42BA9}"/>
              </a:ext>
            </a:extLst>
          </p:cNvPr>
          <p:cNvPicPr>
            <a:picLocks noChangeAspect="1"/>
          </p:cNvPicPr>
          <p:nvPr/>
        </p:nvPicPr>
        <p:blipFill>
          <a:blip r:embed="rId3"/>
          <a:stretch>
            <a:fillRect/>
          </a:stretch>
        </p:blipFill>
        <p:spPr>
          <a:xfrm>
            <a:off x="6499917" y="94901"/>
            <a:ext cx="5500495" cy="6668198"/>
          </a:xfrm>
          <a:prstGeom prst="rect">
            <a:avLst/>
          </a:prstGeom>
        </p:spPr>
      </p:pic>
      <p:sp>
        <p:nvSpPr>
          <p:cNvPr id="7" name="TextBox 6">
            <a:extLst>
              <a:ext uri="{FF2B5EF4-FFF2-40B4-BE49-F238E27FC236}">
                <a16:creationId xmlns:a16="http://schemas.microsoft.com/office/drawing/2014/main" id="{E0220A14-1FD9-45E1-73E3-6C1E492A0A21}"/>
              </a:ext>
            </a:extLst>
          </p:cNvPr>
          <p:cNvSpPr txBox="1"/>
          <p:nvPr/>
        </p:nvSpPr>
        <p:spPr>
          <a:xfrm>
            <a:off x="265759" y="4947217"/>
            <a:ext cx="6097772" cy="1815882"/>
          </a:xfrm>
          <a:prstGeom prst="rect">
            <a:avLst/>
          </a:prstGeom>
          <a:noFill/>
        </p:spPr>
        <p:txBody>
          <a:bodyPr wrap="square">
            <a:spAutoFit/>
          </a:bodyPr>
          <a:lstStyle/>
          <a:p>
            <a:pPr marL="742950" marR="2000" lvl="1" indent="-285750">
              <a:buSzPts val="1200"/>
              <a:buFont typeface="Arial" panose="020B0604020202020204" pitchFamily="34" charset="0"/>
              <a:buChar char="•"/>
            </a:pPr>
            <a:r>
              <a:rPr lang="en-US" sz="1400" i="0" u="none" strike="noStrike" baseline="0" dirty="0">
                <a:solidFill>
                  <a:srgbClr val="FF0000"/>
                </a:solidFill>
                <a:latin typeface="Century Gothic" panose="020B0502020202020204" pitchFamily="34" charset="0"/>
              </a:rPr>
              <a:t>Update Screenshot, add record information.  </a:t>
            </a:r>
          </a:p>
          <a:p>
            <a:pPr marL="742950" marR="2000" lvl="1" indent="-285750">
              <a:buSzPts val="1200"/>
              <a:buFont typeface="Arial" panose="020B0604020202020204" pitchFamily="34" charset="0"/>
              <a:buChar char="•"/>
            </a:pPr>
            <a:r>
              <a:rPr lang="en-US" sz="1400" dirty="0">
                <a:solidFill>
                  <a:srgbClr val="FF0000"/>
                </a:solidFill>
                <a:latin typeface="Century Gothic" panose="020B0502020202020204" pitchFamily="34" charset="0"/>
              </a:rPr>
              <a:t>Remove image section</a:t>
            </a:r>
          </a:p>
          <a:p>
            <a:pPr marL="742950" marR="2000" lvl="1" indent="-285750">
              <a:buSzPts val="1200"/>
              <a:buFont typeface="Arial" panose="020B0604020202020204" pitchFamily="34" charset="0"/>
              <a:buChar char="•"/>
            </a:pPr>
            <a:r>
              <a:rPr lang="en-US" sz="1400" i="0" u="none" strike="noStrike" baseline="0" dirty="0">
                <a:solidFill>
                  <a:srgbClr val="FF0000"/>
                </a:solidFill>
                <a:latin typeface="Century Gothic" panose="020B0502020202020204" pitchFamily="34" charset="0"/>
              </a:rPr>
              <a:t>Change Product ID Manager to Products</a:t>
            </a:r>
          </a:p>
          <a:p>
            <a:pPr marL="742950" marR="2000" lvl="1" indent="-285750">
              <a:buSzPts val="1200"/>
              <a:buFont typeface="Arial" panose="020B0604020202020204" pitchFamily="34" charset="0"/>
              <a:buChar char="•"/>
            </a:pPr>
            <a:r>
              <a:rPr lang="en-US" sz="1400" dirty="0">
                <a:solidFill>
                  <a:srgbClr val="FF0000"/>
                </a:solidFill>
                <a:latin typeface="Century Gothic" panose="020B0502020202020204" pitchFamily="34" charset="0"/>
              </a:rPr>
              <a:t>Company Contact should be two different fields. URL and Email (Phone?)</a:t>
            </a:r>
          </a:p>
          <a:p>
            <a:pPr marL="1200150" marR="2000" lvl="2" indent="-285750">
              <a:buSzPts val="1200"/>
              <a:buFont typeface="Arial" panose="020B0604020202020204" pitchFamily="34" charset="0"/>
              <a:buChar char="•"/>
            </a:pPr>
            <a:r>
              <a:rPr lang="en-US" sz="1400" dirty="0">
                <a:solidFill>
                  <a:srgbClr val="FF0000"/>
                </a:solidFill>
                <a:latin typeface="Century Gothic" panose="020B0502020202020204" pitchFamily="34" charset="0"/>
              </a:rPr>
              <a:t>Info should carry over from the Companies page fields, so it should not be open to edit here. When selecting company it would </a:t>
            </a:r>
            <a:r>
              <a:rPr lang="en-US" sz="1400" dirty="0" err="1">
                <a:solidFill>
                  <a:srgbClr val="FF0000"/>
                </a:solidFill>
                <a:latin typeface="Century Gothic" panose="020B0502020202020204" pitchFamily="34" charset="0"/>
              </a:rPr>
              <a:t>autopopulate</a:t>
            </a:r>
            <a:r>
              <a:rPr lang="en-US" sz="1400" dirty="0">
                <a:solidFill>
                  <a:srgbClr val="FF0000"/>
                </a:solidFill>
                <a:latin typeface="Century Gothic" panose="020B0502020202020204" pitchFamily="34" charset="0"/>
              </a:rPr>
              <a:t>. </a:t>
            </a:r>
            <a:endParaRPr lang="en-US" sz="1400" i="0" u="none" strike="noStrike" baseline="0" dirty="0">
              <a:solidFill>
                <a:srgbClr val="FF0000"/>
              </a:solidFill>
              <a:latin typeface="Century Gothic" panose="020B0502020202020204" pitchFamily="34" charset="0"/>
            </a:endParaRPr>
          </a:p>
        </p:txBody>
      </p:sp>
      <p:sp>
        <p:nvSpPr>
          <p:cNvPr id="8" name="TextBox 7">
            <a:extLst>
              <a:ext uri="{FF2B5EF4-FFF2-40B4-BE49-F238E27FC236}">
                <a16:creationId xmlns:a16="http://schemas.microsoft.com/office/drawing/2014/main" id="{77F8EE69-B8E6-17AB-8D6F-0A6B8DB4587F}"/>
              </a:ext>
            </a:extLst>
          </p:cNvPr>
          <p:cNvSpPr txBox="1"/>
          <p:nvPr/>
        </p:nvSpPr>
        <p:spPr>
          <a:xfrm>
            <a:off x="8315324" y="49135"/>
            <a:ext cx="3608943" cy="461665"/>
          </a:xfrm>
          <a:prstGeom prst="rect">
            <a:avLst/>
          </a:prstGeom>
          <a:solidFill>
            <a:schemeClr val="bg1">
              <a:lumMod val="95000"/>
            </a:schemeClr>
          </a:solidFill>
        </p:spPr>
        <p:txBody>
          <a:bodyPr wrap="square" rtlCol="0">
            <a:spAutoFit/>
          </a:bodyPr>
          <a:lstStyle/>
          <a:p>
            <a:pPr algn="ctr"/>
            <a:r>
              <a:rPr lang="en-US" sz="2400" b="1" dirty="0">
                <a:solidFill>
                  <a:srgbClr val="FF0000"/>
                </a:solidFill>
              </a:rPr>
              <a:t>Updates pending </a:t>
            </a:r>
          </a:p>
        </p:txBody>
      </p:sp>
    </p:spTree>
    <p:extLst>
      <p:ext uri="{BB962C8B-B14F-4D97-AF65-F5344CB8AC3E}">
        <p14:creationId xmlns:p14="http://schemas.microsoft.com/office/powerpoint/2010/main" val="26452536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BE1DA-3939-F852-8D07-BB6984C428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14CFFD-1203-4EA4-E69C-74E500406D1A}"/>
              </a:ext>
            </a:extLst>
          </p:cNvPr>
          <p:cNvSpPr>
            <a:spLocks noGrp="1"/>
          </p:cNvSpPr>
          <p:nvPr>
            <p:ph type="title"/>
          </p:nvPr>
        </p:nvSpPr>
        <p:spPr>
          <a:xfrm>
            <a:off x="598503" y="193906"/>
            <a:ext cx="10515600" cy="487131"/>
          </a:xfrm>
        </p:spPr>
        <p:txBody>
          <a:bodyPr>
            <a:normAutofit/>
          </a:bodyPr>
          <a:lstStyle/>
          <a:p>
            <a:r>
              <a:rPr lang="en-US" sz="2800" dirty="0"/>
              <a:t>Wireframe Notes – 3.3 – Add Certificate (GCC Only)</a:t>
            </a:r>
          </a:p>
        </p:txBody>
      </p:sp>
      <p:sp>
        <p:nvSpPr>
          <p:cNvPr id="4" name="Date Placeholder 3">
            <a:extLst>
              <a:ext uri="{FF2B5EF4-FFF2-40B4-BE49-F238E27FC236}">
                <a16:creationId xmlns:a16="http://schemas.microsoft.com/office/drawing/2014/main" id="{029DF9C5-3C94-764A-7AA9-9C4793CB3074}"/>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24749CDA-B383-8988-844D-7521C0812A6F}"/>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49</a:t>
            </a:fld>
            <a:endParaRPr lang="en-US"/>
          </a:p>
        </p:txBody>
      </p:sp>
      <p:sp>
        <p:nvSpPr>
          <p:cNvPr id="12" name="TextBox 11">
            <a:extLst>
              <a:ext uri="{FF2B5EF4-FFF2-40B4-BE49-F238E27FC236}">
                <a16:creationId xmlns:a16="http://schemas.microsoft.com/office/drawing/2014/main" id="{9A808762-98CE-F678-40FF-A69D972F3AAC}"/>
              </a:ext>
            </a:extLst>
          </p:cNvPr>
          <p:cNvSpPr txBox="1"/>
          <p:nvPr/>
        </p:nvSpPr>
        <p:spPr>
          <a:xfrm>
            <a:off x="7442791" y="1113727"/>
            <a:ext cx="4342145" cy="954107"/>
          </a:xfrm>
          <a:prstGeom prst="rect">
            <a:avLst/>
          </a:prstGeom>
          <a:noFill/>
        </p:spPr>
        <p:txBody>
          <a:bodyPr wrap="square">
            <a:spAutoFit/>
          </a:bodyPr>
          <a:lstStyle/>
          <a:p>
            <a:pPr marR="2000">
              <a:buSzPts val="1200"/>
            </a:pPr>
            <a:r>
              <a:rPr lang="en-US" sz="1400" dirty="0">
                <a:latin typeface="Century Gothic" panose="020B0502020202020204" pitchFamily="34" charset="0"/>
              </a:rPr>
              <a:t>Notes: </a:t>
            </a:r>
          </a:p>
          <a:p>
            <a:pPr marL="285750" marR="2000" indent="-285750">
              <a:buSzPts val="1200"/>
              <a:buFont typeface="Arial" panose="020B0604020202020204" pitchFamily="34" charset="0"/>
              <a:buChar char="•"/>
            </a:pPr>
            <a:r>
              <a:rPr lang="en-US" sz="1400" dirty="0">
                <a:latin typeface="Century Gothic" panose="020B0502020202020204" pitchFamily="34" charset="0"/>
              </a:rPr>
              <a:t>Example of Multi-select dropdown</a:t>
            </a:r>
            <a:endParaRPr lang="en-US" sz="1400" b="1" dirty="0">
              <a:latin typeface="Century Gothic" panose="020B0502020202020204" pitchFamily="34" charset="0"/>
            </a:endParaRPr>
          </a:p>
          <a:p>
            <a:pPr marL="742950" marR="2000" lvl="1" indent="-285750">
              <a:buSzPts val="1200"/>
              <a:buFont typeface="Arial" panose="020B0604020202020204" pitchFamily="34" charset="0"/>
              <a:buChar char="•"/>
            </a:pPr>
            <a:endParaRPr lang="en-US" sz="1400" dirty="0">
              <a:latin typeface="Century Gothic" panose="020B0502020202020204" pitchFamily="34" charset="0"/>
            </a:endParaRPr>
          </a:p>
          <a:p>
            <a:pPr marL="285750" marR="2000" indent="-285750">
              <a:buSzPts val="1200"/>
              <a:buFont typeface="Arial" panose="020B0604020202020204" pitchFamily="34" charset="0"/>
              <a:buChar char="•"/>
            </a:pPr>
            <a:endParaRPr lang="en-US" sz="1400" dirty="0">
              <a:latin typeface="Century Gothic" panose="020B0502020202020204" pitchFamily="34" charset="0"/>
            </a:endParaRPr>
          </a:p>
        </p:txBody>
      </p:sp>
      <p:pic>
        <p:nvPicPr>
          <p:cNvPr id="7" name="Picture 6">
            <a:extLst>
              <a:ext uri="{FF2B5EF4-FFF2-40B4-BE49-F238E27FC236}">
                <a16:creationId xmlns:a16="http://schemas.microsoft.com/office/drawing/2014/main" id="{02493686-A495-946E-7163-BCC1730AC2F5}"/>
              </a:ext>
            </a:extLst>
          </p:cNvPr>
          <p:cNvPicPr>
            <a:picLocks noChangeAspect="1"/>
          </p:cNvPicPr>
          <p:nvPr/>
        </p:nvPicPr>
        <p:blipFill>
          <a:blip r:embed="rId4"/>
          <a:stretch>
            <a:fillRect/>
          </a:stretch>
        </p:blipFill>
        <p:spPr>
          <a:xfrm>
            <a:off x="710061" y="771382"/>
            <a:ext cx="5268060" cy="3991532"/>
          </a:xfrm>
          <a:prstGeom prst="rect">
            <a:avLst/>
          </a:prstGeom>
        </p:spPr>
      </p:pic>
    </p:spTree>
    <p:extLst>
      <p:ext uri="{BB962C8B-B14F-4D97-AF65-F5344CB8AC3E}">
        <p14:creationId xmlns:p14="http://schemas.microsoft.com/office/powerpoint/2010/main" val="2962170263"/>
      </p:ext>
    </p:extLst>
  </p:cSld>
  <p:clrMapOvr>
    <a:masterClrMapping/>
  </p:clrMapOvr>
  <p:extLst>
    <p:ext uri="{6950BFC3-D8DA-4A85-94F7-54DA5524770B}">
      <p188:commentRel xmlns:p188="http://schemas.microsoft.com/office/powerpoint/2018/8/main" r:id="rId3"/>
    </p:ext>
  </p:extLs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2B114-369A-BDF9-AF39-177C30A258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6AB16C-0A10-F71A-BF39-B7F3B3B9FF96}"/>
              </a:ext>
            </a:extLst>
          </p:cNvPr>
          <p:cNvSpPr>
            <a:spLocks noGrp="1"/>
          </p:cNvSpPr>
          <p:nvPr>
            <p:ph type="title"/>
          </p:nvPr>
        </p:nvSpPr>
        <p:spPr/>
        <p:txBody>
          <a:bodyPr/>
          <a:lstStyle/>
          <a:p>
            <a:r>
              <a:rPr lang="en-US" sz="2800" dirty="0"/>
              <a:t>Wireframe Notes – 3.3 – Add Certificate (GCC Only)</a:t>
            </a:r>
          </a:p>
        </p:txBody>
      </p:sp>
      <p:sp>
        <p:nvSpPr>
          <p:cNvPr id="3" name="Content Placeholder 2">
            <a:extLst>
              <a:ext uri="{FF2B5EF4-FFF2-40B4-BE49-F238E27FC236}">
                <a16:creationId xmlns:a16="http://schemas.microsoft.com/office/drawing/2014/main" id="{EB5E93FB-5332-ECA6-9089-AFF532D27CD9}"/>
              </a:ext>
            </a:extLst>
          </p:cNvPr>
          <p:cNvSpPr>
            <a:spLocks noGrp="1"/>
          </p:cNvSpPr>
          <p:nvPr>
            <p:ph idx="1"/>
          </p:nvPr>
        </p:nvSpPr>
        <p:spPr/>
        <p:txBody>
          <a:bodyPr>
            <a:normAutofit/>
          </a:bodyPr>
          <a:lstStyle/>
          <a:p>
            <a:pPr marR="2000" algn="l" rtl="0">
              <a:buSzPts val="1200"/>
              <a:buFont typeface="Symbol" panose="05050102010706020507" pitchFamily="18" charset="2"/>
              <a:buChar char="·"/>
            </a:pPr>
            <a:r>
              <a:rPr lang="en-US" sz="1400" b="0" i="0" u="none" strike="noStrike" baseline="0" dirty="0">
                <a:solidFill>
                  <a:srgbClr val="606771"/>
                </a:solidFill>
              </a:rPr>
              <a:t>This is the Add Certificate View.</a:t>
            </a:r>
          </a:p>
          <a:p>
            <a:pPr marR="2000" algn="l" rtl="0">
              <a:buSzPts val="1200"/>
              <a:buFont typeface="Symbol" panose="05050102010706020507" pitchFamily="18" charset="2"/>
              <a:buChar char="·"/>
            </a:pPr>
            <a:r>
              <a:rPr lang="en-US" sz="1400" b="0" i="0" u="none" strike="noStrike" baseline="0" dirty="0">
                <a:solidFill>
                  <a:srgbClr val="606771"/>
                </a:solidFill>
              </a:rPr>
              <a:t>All Internal View Data:: Certificate #, Certification Type, CSF Attributes, Status, Effective Date, Expiration Date, Company, Company Contact Email/URL, Product Name, Product Category, Product Type, Product Type Subcategory, Location, Country, External Tag, Internal Tag, ASIN, UPC, GTIN, EAN, Certificate Upload, Record Created Date, </a:t>
            </a:r>
            <a:r>
              <a:rPr lang="en-US" sz="1400" b="1" i="0" u="none" strike="noStrike" baseline="0" dirty="0">
                <a:solidFill>
                  <a:srgbClr val="606771"/>
                </a:solidFill>
              </a:rPr>
              <a:t>Last Edited By, </a:t>
            </a:r>
            <a:r>
              <a:rPr lang="en-US" sz="1400" i="0" u="none" strike="noStrike" baseline="0" dirty="0">
                <a:solidFill>
                  <a:srgbClr val="606771"/>
                </a:solidFill>
              </a:rPr>
              <a:t>Record</a:t>
            </a:r>
            <a:r>
              <a:rPr lang="en-US" sz="1400" b="0" i="0" u="none" strike="noStrike" baseline="0" dirty="0">
                <a:solidFill>
                  <a:srgbClr val="606771"/>
                </a:solidFill>
              </a:rPr>
              <a:t> Last Updated Date, Preview</a:t>
            </a:r>
          </a:p>
          <a:p>
            <a:pPr marR="2000" algn="l" rtl="0">
              <a:buSzPts val="1200"/>
              <a:buFont typeface="Symbol" panose="05050102010706020507" pitchFamily="18" charset="2"/>
              <a:buChar char="·"/>
            </a:pPr>
            <a:endParaRPr lang="en-US" sz="1400" b="0" i="0" u="none" strike="noStrike" baseline="0" dirty="0">
              <a:solidFill>
                <a:srgbClr val="606771"/>
              </a:solidFill>
            </a:endParaRPr>
          </a:p>
          <a:p>
            <a:pPr marR="2000" algn="l" rtl="0"/>
            <a:r>
              <a:rPr lang="en-US" sz="1400" b="0" i="0" u="none" strike="noStrike" baseline="0" dirty="0">
                <a:solidFill>
                  <a:srgbClr val="606771"/>
                </a:solidFill>
              </a:rPr>
              <a:t>Ability to Add a Certificate with all Required Data Fields.</a:t>
            </a:r>
          </a:p>
          <a:p>
            <a:pPr marR="2000" algn="l" rtl="0"/>
            <a:r>
              <a:rPr lang="en-US" sz="1400" b="0" i="0" u="none" strike="noStrike" baseline="0" dirty="0">
                <a:solidFill>
                  <a:srgbClr val="606771"/>
                </a:solidFill>
              </a:rPr>
              <a:t>**Which data fields are required to Add a Cert? </a:t>
            </a:r>
          </a:p>
          <a:p>
            <a:pPr marR="2000" lvl="1"/>
            <a:r>
              <a:rPr lang="en-US" sz="1400" b="0" i="0" u="none" strike="noStrike" baseline="0" dirty="0">
                <a:solidFill>
                  <a:srgbClr val="606771"/>
                </a:solidFill>
              </a:rPr>
              <a:t>Cert Type, Status, Effective Date, Expiration Date, Company, Product Category (required when you have product name), Product Type (required when you hav</a:t>
            </a:r>
            <a:r>
              <a:rPr lang="en-US" sz="1400" dirty="0">
                <a:solidFill>
                  <a:srgbClr val="606771"/>
                </a:solidFill>
              </a:rPr>
              <a:t>e product name), Location, Country, Partner. </a:t>
            </a:r>
          </a:p>
          <a:p>
            <a:pPr marR="2000" lvl="1"/>
            <a:r>
              <a:rPr lang="en-US" sz="1400" b="0" i="0" u="none" strike="noStrike" baseline="0" dirty="0">
                <a:solidFill>
                  <a:srgbClr val="606771"/>
                </a:solidFill>
              </a:rPr>
              <a:t>Need to make sure we have N/A option for Product Category, Product Type, Subcategory, Partner. </a:t>
            </a:r>
          </a:p>
          <a:p>
            <a:pPr marR="2000" lvl="1"/>
            <a:r>
              <a:rPr lang="en-US" sz="1400" dirty="0">
                <a:solidFill>
                  <a:srgbClr val="606771"/>
                </a:solidFill>
              </a:rPr>
              <a:t>Cer # is required – but auto generated by DB if not manually entered. </a:t>
            </a:r>
            <a:endParaRPr lang="en-US" sz="1400" b="0" i="0" u="none" strike="noStrike" baseline="0" dirty="0">
              <a:solidFill>
                <a:srgbClr val="606771"/>
              </a:solidFill>
            </a:endParaRPr>
          </a:p>
          <a:p>
            <a:pPr marR="2000" algn="l" rtl="0"/>
            <a:r>
              <a:rPr lang="en-US" sz="1400" b="0" i="0" u="none" strike="noStrike" baseline="0" dirty="0">
                <a:solidFill>
                  <a:srgbClr val="606771"/>
                </a:solidFill>
              </a:rPr>
              <a:t>Which data fields will be generated by the system after adding?</a:t>
            </a:r>
          </a:p>
          <a:p>
            <a:pPr marR="2000" lvl="1"/>
            <a:r>
              <a:rPr lang="en-US" sz="1400" dirty="0">
                <a:solidFill>
                  <a:srgbClr val="606771"/>
                </a:solidFill>
              </a:rPr>
              <a:t>Just Cert number.  It would pull in company contact fields from the Companies page.  System also needs to automatically remove expired and inactive certs from public view. </a:t>
            </a:r>
            <a:endParaRPr lang="en-US" sz="1400" b="0" i="0" u="none" strike="noStrike" baseline="0" dirty="0">
              <a:solidFill>
                <a:srgbClr val="606771"/>
              </a:solidFill>
            </a:endParaRPr>
          </a:p>
          <a:p>
            <a:pPr marR="2000" algn="l" rtl="0"/>
            <a:r>
              <a:rPr lang="en-US" sz="1400" b="0" i="0" u="none" strike="noStrike" baseline="0" dirty="0">
                <a:solidFill>
                  <a:srgbClr val="606771"/>
                </a:solidFill>
              </a:rPr>
              <a:t>Ability to upload an image to use for the Product. 	</a:t>
            </a:r>
          </a:p>
          <a:p>
            <a:pPr marR="2000" algn="l" rtl="0"/>
            <a:r>
              <a:rPr lang="en-US" sz="1400" b="0" i="0" u="none" strike="noStrike" baseline="0" dirty="0">
                <a:solidFill>
                  <a:srgbClr val="606771"/>
                </a:solidFill>
              </a:rPr>
              <a:t>**Should we incorporate Product Image?</a:t>
            </a:r>
            <a:endParaRPr lang="en-US" sz="1400" dirty="0"/>
          </a:p>
        </p:txBody>
      </p:sp>
      <p:sp>
        <p:nvSpPr>
          <p:cNvPr id="4" name="Date Placeholder 3">
            <a:extLst>
              <a:ext uri="{FF2B5EF4-FFF2-40B4-BE49-F238E27FC236}">
                <a16:creationId xmlns:a16="http://schemas.microsoft.com/office/drawing/2014/main" id="{927F3BFF-53BE-F52C-BF68-9A004444DA6C}"/>
              </a:ext>
            </a:extLst>
          </p:cNvPr>
          <p:cNvSpPr>
            <a:spLocks noGrp="1"/>
          </p:cNvSpPr>
          <p:nvPr>
            <p:ph type="dt" sz="half" idx="10"/>
          </p:nvPr>
        </p:nvSpPr>
        <p:spPr/>
        <p:txBody>
          <a:bodyPr/>
          <a:lstStyle/>
          <a:p>
            <a:fld id="{FAAB834C-2F9F-4134-A8A6-8D28F07BEAB5}" type="datetime1">
              <a:rPr lang="en-US" smtClean="0"/>
              <a:t>9/18/2025</a:t>
            </a:fld>
            <a:endParaRPr lang="en-US"/>
          </a:p>
        </p:txBody>
      </p:sp>
      <p:sp>
        <p:nvSpPr>
          <p:cNvPr id="5" name="Slide Number Placeholder 4">
            <a:extLst>
              <a:ext uri="{FF2B5EF4-FFF2-40B4-BE49-F238E27FC236}">
                <a16:creationId xmlns:a16="http://schemas.microsoft.com/office/drawing/2014/main" id="{94660574-C57F-36C7-912E-271AF1FC2175}"/>
              </a:ext>
            </a:extLst>
          </p:cNvPr>
          <p:cNvSpPr>
            <a:spLocks noGrp="1"/>
          </p:cNvSpPr>
          <p:nvPr>
            <p:ph type="sldNum" sz="quarter" idx="12"/>
          </p:nvPr>
        </p:nvSpPr>
        <p:spPr/>
        <p:txBody>
          <a:bodyPr/>
          <a:lstStyle/>
          <a:p>
            <a:fld id="{330EA680-D336-4FF7-8B7A-9848BB0A1C32}" type="slidenum">
              <a:rPr lang="en-US" smtClean="0"/>
              <a:t>50</a:t>
            </a:fld>
            <a:endParaRPr lang="en-US" dirty="0"/>
          </a:p>
        </p:txBody>
      </p:sp>
    </p:spTree>
    <p:extLst>
      <p:ext uri="{BB962C8B-B14F-4D97-AF65-F5344CB8AC3E}">
        <p14:creationId xmlns:p14="http://schemas.microsoft.com/office/powerpoint/2010/main" val="4226111771"/>
      </p:ext>
    </p:extLst>
  </p:cSld>
  <p:clrMapOvr>
    <a:masterClrMapping/>
  </p:clrMapOvr>
  <p:extLst>
    <p:ext uri="{6950BFC3-D8DA-4A85-94F7-54DA5524770B}">
      <p188:commentRel xmlns:p188="http://schemas.microsoft.com/office/powerpoint/2018/8/main" r:id="rId3"/>
    </p:ext>
  </p:extLs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18DF6-1D90-C39E-2D36-49627515DD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2E59C9-0367-9241-BE81-8D150A9F70A7}"/>
              </a:ext>
            </a:extLst>
          </p:cNvPr>
          <p:cNvSpPr>
            <a:spLocks noGrp="1"/>
          </p:cNvSpPr>
          <p:nvPr>
            <p:ph type="title"/>
          </p:nvPr>
        </p:nvSpPr>
        <p:spPr>
          <a:xfrm>
            <a:off x="598503" y="193906"/>
            <a:ext cx="5793588" cy="487131"/>
          </a:xfrm>
        </p:spPr>
        <p:txBody>
          <a:bodyPr>
            <a:normAutofit fontScale="90000"/>
          </a:bodyPr>
          <a:lstStyle/>
          <a:p>
            <a:r>
              <a:rPr lang="en-US" sz="2800" dirty="0"/>
              <a:t>Wireframe Notes – 3.4 – Edit/Delete Certificate (GCC Only)</a:t>
            </a:r>
          </a:p>
        </p:txBody>
      </p:sp>
      <p:sp>
        <p:nvSpPr>
          <p:cNvPr id="4" name="Date Placeholder 3">
            <a:extLst>
              <a:ext uri="{FF2B5EF4-FFF2-40B4-BE49-F238E27FC236}">
                <a16:creationId xmlns:a16="http://schemas.microsoft.com/office/drawing/2014/main" id="{A25EAAE2-7CD7-05A1-490A-7746A6C12005}"/>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62196200-AB1D-EAC6-2993-F7095C7299E6}"/>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51</a:t>
            </a:fld>
            <a:endParaRPr lang="en-US"/>
          </a:p>
        </p:txBody>
      </p:sp>
      <p:sp>
        <p:nvSpPr>
          <p:cNvPr id="17" name="TextBox 16">
            <a:extLst>
              <a:ext uri="{FF2B5EF4-FFF2-40B4-BE49-F238E27FC236}">
                <a16:creationId xmlns:a16="http://schemas.microsoft.com/office/drawing/2014/main" id="{28FDF536-DC4D-432D-C5EC-2B4075F8CAFF}"/>
              </a:ext>
            </a:extLst>
          </p:cNvPr>
          <p:cNvSpPr txBox="1"/>
          <p:nvPr/>
        </p:nvSpPr>
        <p:spPr>
          <a:xfrm>
            <a:off x="533400" y="952474"/>
            <a:ext cx="6096000" cy="4924425"/>
          </a:xfrm>
          <a:prstGeom prst="rect">
            <a:avLst/>
          </a:prstGeom>
          <a:noFill/>
        </p:spPr>
        <p:txBody>
          <a:bodyPr wrap="square">
            <a:spAutoFit/>
          </a:bodyPr>
          <a:lstStyle/>
          <a:p>
            <a:pPr marL="285750" marR="2000" indent="-285750">
              <a:buSzPts val="1200"/>
              <a:buFont typeface="Arial" panose="020B0604020202020204" pitchFamily="34" charset="0"/>
              <a:buChar char="•"/>
            </a:pPr>
            <a:r>
              <a:rPr lang="en-US" sz="1400" dirty="0">
                <a:latin typeface="Century Gothic" panose="020B0502020202020204" pitchFamily="34" charset="0"/>
              </a:rPr>
              <a:t>Admin can add new product categories. </a:t>
            </a:r>
          </a:p>
          <a:p>
            <a:pPr marL="285750" marR="2000" indent="-285750">
              <a:buSzPts val="1200"/>
              <a:buFont typeface="Arial" panose="020B0604020202020204" pitchFamily="34" charset="0"/>
              <a:buChar char="•"/>
            </a:pPr>
            <a:r>
              <a:rPr lang="en-US" sz="1400" dirty="0">
                <a:latin typeface="Century Gothic" panose="020B0502020202020204" pitchFamily="34" charset="0"/>
              </a:rPr>
              <a:t>Certification # will be auto generated by the database and created on the save</a:t>
            </a:r>
          </a:p>
          <a:p>
            <a:pPr marL="285750" marR="2000" indent="-285750">
              <a:buSzPts val="1200"/>
              <a:buFont typeface="Arial" panose="020B0604020202020204" pitchFamily="34" charset="0"/>
              <a:buChar char="•"/>
            </a:pPr>
            <a:r>
              <a:rPr lang="en-US" sz="1400" b="1" dirty="0">
                <a:solidFill>
                  <a:srgbClr val="002060"/>
                </a:solidFill>
                <a:latin typeface="Century Gothic" panose="020B0502020202020204" pitchFamily="34" charset="0"/>
              </a:rPr>
              <a:t>New Field:</a:t>
            </a:r>
            <a:r>
              <a:rPr lang="en-US" sz="1400" dirty="0">
                <a:solidFill>
                  <a:srgbClr val="002060"/>
                </a:solidFill>
                <a:latin typeface="Century Gothic" panose="020B0502020202020204" pitchFamily="34" charset="0"/>
              </a:rPr>
              <a:t> Partner: Amazon/Wayfair - required.</a:t>
            </a:r>
          </a:p>
          <a:p>
            <a:pPr marL="285750" marR="2000" indent="-285750">
              <a:buSzPts val="1200"/>
              <a:buFont typeface="Arial" panose="020B0604020202020204" pitchFamily="34" charset="0"/>
              <a:buChar char="•"/>
            </a:pPr>
            <a:r>
              <a:rPr lang="en-US" sz="1400" b="1" dirty="0">
                <a:solidFill>
                  <a:srgbClr val="002060"/>
                </a:solidFill>
                <a:latin typeface="Century Gothic" panose="020B0502020202020204" pitchFamily="34" charset="0"/>
              </a:rPr>
              <a:t>New Field: </a:t>
            </a:r>
            <a:r>
              <a:rPr lang="en-US" sz="1400" dirty="0">
                <a:solidFill>
                  <a:srgbClr val="002060"/>
                </a:solidFill>
                <a:latin typeface="Century Gothic" panose="020B0502020202020204" pitchFamily="34" charset="0"/>
              </a:rPr>
              <a:t>Status Type: to signify if a client doesn’t want to move forward.  </a:t>
            </a:r>
          </a:p>
          <a:p>
            <a:pPr marL="285750" marR="2000" indent="-285750" algn="l" rtl="0">
              <a:buSzPts val="120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This is the Edit/Delete Certificate View.</a:t>
            </a:r>
          </a:p>
          <a:p>
            <a:pPr marL="285750" marR="2000" indent="-285750" algn="l" rtl="0">
              <a:buSzPts val="120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All Internal View Data: Certificate #, Certification Type, CSF Attributes, Status, Effective Date, Expiration Date, Company, Company Contact Email/URL, Product Name, Product Category, Product Type, Product Type Subcategory, Location, Country, External Tag, Internal Tag, ASIN, UPC, GTIN, EAN, Certificate Upload, Record Created Date, Last Edited By, Record Last Updated Date, Preview</a:t>
            </a:r>
          </a:p>
          <a:p>
            <a:pPr marL="285750" marR="2000" indent="-285750" algn="l" rtl="0">
              <a:buFont typeface="Arial" panose="020B0604020202020204" pitchFamily="34" charset="0"/>
              <a:buChar char="•"/>
            </a:pPr>
            <a:r>
              <a:rPr lang="en-US" sz="1400" b="0" i="0" u="none" strike="noStrike" baseline="0" dirty="0">
                <a:solidFill>
                  <a:srgbClr val="FF0000"/>
                </a:solidFill>
                <a:latin typeface="Segoe UI" panose="020B0502040204020203" pitchFamily="34" charset="0"/>
              </a:rPr>
              <a:t>Company Contact: separate into two </a:t>
            </a:r>
            <a:r>
              <a:rPr lang="en-US" sz="1400" dirty="0">
                <a:solidFill>
                  <a:srgbClr val="FF0000"/>
                </a:solidFill>
                <a:latin typeface="Segoe UI" panose="020B0502040204020203" pitchFamily="34" charset="0"/>
              </a:rPr>
              <a:t>URL/Email</a:t>
            </a:r>
            <a:endParaRPr lang="en-US" sz="1400" b="0" i="0" u="none" strike="noStrike" baseline="0" dirty="0">
              <a:solidFill>
                <a:srgbClr val="FF0000"/>
              </a:solidFill>
              <a:latin typeface="Segoe UI" panose="020B0502040204020203" pitchFamily="34" charset="0"/>
            </a:endParaRPr>
          </a:p>
          <a:p>
            <a:pPr marL="285750" marR="2000" indent="-285750" algn="l" rtl="0">
              <a:buFont typeface="Arial" panose="020B0604020202020204" pitchFamily="34" charset="0"/>
              <a:buChar char="•"/>
            </a:pPr>
            <a:r>
              <a:rPr lang="en-US" sz="1400" b="0" i="0" u="none" strike="noStrike" baseline="0" dirty="0">
                <a:solidFill>
                  <a:srgbClr val="FF0000"/>
                </a:solidFill>
                <a:latin typeface="Segoe UI" panose="020B0502040204020203" pitchFamily="34" charset="0"/>
              </a:rPr>
              <a:t>Ability to Edit/Delete the selected Certificate information and file.</a:t>
            </a:r>
          </a:p>
          <a:p>
            <a:pPr marL="285750" marR="2000" indent="-285750" algn="l" rtl="0">
              <a:buFont typeface="Arial" panose="020B0604020202020204" pitchFamily="34" charset="0"/>
              <a:buChar char="•"/>
            </a:pPr>
            <a:r>
              <a:rPr lang="en-US" sz="1400" dirty="0">
                <a:solidFill>
                  <a:srgbClr val="FF0000"/>
                </a:solidFill>
                <a:latin typeface="Segoe UI" panose="020B0502040204020203" pitchFamily="34" charset="0"/>
              </a:rPr>
              <a:t>The Products section should only show products under the Cert# being viewed. </a:t>
            </a:r>
          </a:p>
          <a:p>
            <a:pPr marL="285750" marR="2000" indent="-285750" algn="l" rtl="0">
              <a:buFont typeface="Arial" panose="020B0604020202020204" pitchFamily="34" charset="0"/>
              <a:buChar char="•"/>
            </a:pPr>
            <a:r>
              <a:rPr lang="en-US" sz="1400" dirty="0">
                <a:solidFill>
                  <a:srgbClr val="FF0000"/>
                </a:solidFill>
                <a:latin typeface="Segoe UI" panose="020B0502040204020203" pitchFamily="34" charset="0"/>
              </a:rPr>
              <a:t>Users can select from dropdown existing Products or add a new. Product Category, Type, and Subcategory are not editable on this page and are assigned when adding a new Product. (see current DB?)</a:t>
            </a:r>
          </a:p>
          <a:p>
            <a:pPr marL="285750" marR="2000" indent="-285750" algn="l" rtl="0">
              <a:buFont typeface="Arial" panose="020B0604020202020204" pitchFamily="34" charset="0"/>
              <a:buChar char="•"/>
            </a:pPr>
            <a:endParaRPr lang="en-US" sz="2000" dirty="0"/>
          </a:p>
          <a:p>
            <a:pPr marL="285750" marR="2000" indent="-285750">
              <a:buSzPts val="1200"/>
              <a:buFont typeface="Arial" panose="020B0604020202020204" pitchFamily="34" charset="0"/>
              <a:buChar char="•"/>
            </a:pPr>
            <a:endParaRPr lang="en-US" sz="1400" dirty="0">
              <a:solidFill>
                <a:srgbClr val="002060"/>
              </a:solidFill>
              <a:latin typeface="Century Gothic" panose="020B0502020202020204" pitchFamily="34" charset="0"/>
            </a:endParaRPr>
          </a:p>
        </p:txBody>
      </p:sp>
      <p:pic>
        <p:nvPicPr>
          <p:cNvPr id="19" name="Picture 18">
            <a:extLst>
              <a:ext uri="{FF2B5EF4-FFF2-40B4-BE49-F238E27FC236}">
                <a16:creationId xmlns:a16="http://schemas.microsoft.com/office/drawing/2014/main" id="{06D1B177-1163-666A-1A85-8A3AE07979E4}"/>
              </a:ext>
            </a:extLst>
          </p:cNvPr>
          <p:cNvPicPr>
            <a:picLocks noChangeAspect="1"/>
          </p:cNvPicPr>
          <p:nvPr/>
        </p:nvPicPr>
        <p:blipFill>
          <a:blip r:embed="rId4"/>
          <a:srcRect t="8889"/>
          <a:stretch>
            <a:fillRect/>
          </a:stretch>
        </p:blipFill>
        <p:spPr>
          <a:xfrm>
            <a:off x="6895883" y="609600"/>
            <a:ext cx="5241218" cy="6248399"/>
          </a:xfrm>
          <a:prstGeom prst="rect">
            <a:avLst/>
          </a:prstGeom>
        </p:spPr>
      </p:pic>
      <p:sp>
        <p:nvSpPr>
          <p:cNvPr id="3" name="TextBox 2">
            <a:extLst>
              <a:ext uri="{FF2B5EF4-FFF2-40B4-BE49-F238E27FC236}">
                <a16:creationId xmlns:a16="http://schemas.microsoft.com/office/drawing/2014/main" id="{ACA95FF4-BB01-FAFC-231D-27B0B7E9C1A0}"/>
              </a:ext>
            </a:extLst>
          </p:cNvPr>
          <p:cNvSpPr txBox="1"/>
          <p:nvPr/>
        </p:nvSpPr>
        <p:spPr>
          <a:xfrm>
            <a:off x="8315324" y="49135"/>
            <a:ext cx="3608943" cy="461665"/>
          </a:xfrm>
          <a:prstGeom prst="rect">
            <a:avLst/>
          </a:prstGeom>
          <a:solidFill>
            <a:schemeClr val="bg1">
              <a:lumMod val="95000"/>
            </a:schemeClr>
          </a:solidFill>
        </p:spPr>
        <p:txBody>
          <a:bodyPr wrap="square" rtlCol="0">
            <a:spAutoFit/>
          </a:bodyPr>
          <a:lstStyle/>
          <a:p>
            <a:pPr algn="ctr"/>
            <a:r>
              <a:rPr lang="en-US" sz="2400" b="1" dirty="0">
                <a:solidFill>
                  <a:srgbClr val="FF0000"/>
                </a:solidFill>
              </a:rPr>
              <a:t>Updates pending </a:t>
            </a:r>
          </a:p>
        </p:txBody>
      </p:sp>
    </p:spTree>
    <p:extLst>
      <p:ext uri="{BB962C8B-B14F-4D97-AF65-F5344CB8AC3E}">
        <p14:creationId xmlns:p14="http://schemas.microsoft.com/office/powerpoint/2010/main" val="2030547082"/>
      </p:ext>
    </p:extLst>
  </p:cSld>
  <p:clrMapOvr>
    <a:masterClrMapping/>
  </p:clrMapOvr>
  <p:extLst>
    <p:ext uri="{6950BFC3-D8DA-4A85-94F7-54DA5524770B}">
      <p188:commentRel xmlns:p188="http://schemas.microsoft.com/office/powerpoint/2018/8/main" r:id="rId3"/>
    </p:ext>
  </p:extLs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50694-6324-680F-918B-7A11F33065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BA3ED9-D532-D500-0330-940265061081}"/>
              </a:ext>
            </a:extLst>
          </p:cNvPr>
          <p:cNvSpPr>
            <a:spLocks noGrp="1"/>
          </p:cNvSpPr>
          <p:nvPr>
            <p:ph type="title"/>
          </p:nvPr>
        </p:nvSpPr>
        <p:spPr/>
        <p:txBody>
          <a:bodyPr/>
          <a:lstStyle/>
          <a:p>
            <a:r>
              <a:rPr lang="en-US" sz="2800" dirty="0"/>
              <a:t>Wireframe Notes – 5.0 – Companies &amp; Products</a:t>
            </a:r>
          </a:p>
        </p:txBody>
      </p:sp>
      <p:sp>
        <p:nvSpPr>
          <p:cNvPr id="3" name="Content Placeholder 2">
            <a:extLst>
              <a:ext uri="{FF2B5EF4-FFF2-40B4-BE49-F238E27FC236}">
                <a16:creationId xmlns:a16="http://schemas.microsoft.com/office/drawing/2014/main" id="{7868535F-9BC4-6152-FD13-EB245CB8F5EA}"/>
              </a:ext>
            </a:extLst>
          </p:cNvPr>
          <p:cNvSpPr>
            <a:spLocks noGrp="1"/>
          </p:cNvSpPr>
          <p:nvPr>
            <p:ph idx="1"/>
          </p:nvPr>
        </p:nvSpPr>
        <p:spPr/>
        <p:txBody>
          <a:bodyPr/>
          <a:lstStyle/>
          <a:p>
            <a:pPr marR="2000" algn="l" rtl="0">
              <a:buSzPts val="1200"/>
              <a:buFont typeface="Symbol" panose="05050102010706020507" pitchFamily="18" charset="2"/>
              <a:buChar char="·"/>
            </a:pPr>
            <a:r>
              <a:rPr lang="en-US" sz="1800" dirty="0">
                <a:solidFill>
                  <a:srgbClr val="606771"/>
                </a:solidFill>
                <a:latin typeface="Segoe UI" panose="020B0502040204020203" pitchFamily="34" charset="0"/>
              </a:rPr>
              <a:t>Navigation only, not a page. </a:t>
            </a:r>
            <a:r>
              <a:rPr lang="en-US" sz="1800" b="0" i="0" u="none" strike="noStrike" baseline="0" dirty="0">
                <a:solidFill>
                  <a:srgbClr val="606771"/>
                </a:solidFill>
                <a:latin typeface="Segoe UI" panose="020B0502040204020203" pitchFamily="34" charset="0"/>
              </a:rPr>
              <a:t> </a:t>
            </a:r>
            <a:endParaRPr lang="en-US" sz="180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p:txBody>
      </p:sp>
      <p:sp>
        <p:nvSpPr>
          <p:cNvPr id="4" name="Date Placeholder 3">
            <a:extLst>
              <a:ext uri="{FF2B5EF4-FFF2-40B4-BE49-F238E27FC236}">
                <a16:creationId xmlns:a16="http://schemas.microsoft.com/office/drawing/2014/main" id="{BE4C76B8-B6FC-C4D2-8783-22390BBA745D}"/>
              </a:ext>
            </a:extLst>
          </p:cNvPr>
          <p:cNvSpPr>
            <a:spLocks noGrp="1"/>
          </p:cNvSpPr>
          <p:nvPr>
            <p:ph type="dt" sz="half" idx="10"/>
          </p:nvPr>
        </p:nvSpPr>
        <p:spPr/>
        <p:txBody>
          <a:bodyPr/>
          <a:lstStyle/>
          <a:p>
            <a:fld id="{FAAB834C-2F9F-4134-A8A6-8D28F07BEAB5}" type="datetime1">
              <a:rPr lang="en-US" smtClean="0"/>
              <a:t>9/18/2025</a:t>
            </a:fld>
            <a:endParaRPr lang="en-US"/>
          </a:p>
        </p:txBody>
      </p:sp>
      <p:sp>
        <p:nvSpPr>
          <p:cNvPr id="5" name="Slide Number Placeholder 4">
            <a:extLst>
              <a:ext uri="{FF2B5EF4-FFF2-40B4-BE49-F238E27FC236}">
                <a16:creationId xmlns:a16="http://schemas.microsoft.com/office/drawing/2014/main" id="{E40A9DFE-9EEC-3D4A-BC2F-3C6FB4ED0B69}"/>
              </a:ext>
            </a:extLst>
          </p:cNvPr>
          <p:cNvSpPr>
            <a:spLocks noGrp="1"/>
          </p:cNvSpPr>
          <p:nvPr>
            <p:ph type="sldNum" sz="quarter" idx="12"/>
          </p:nvPr>
        </p:nvSpPr>
        <p:spPr/>
        <p:txBody>
          <a:bodyPr/>
          <a:lstStyle/>
          <a:p>
            <a:fld id="{330EA680-D336-4FF7-8B7A-9848BB0A1C32}" type="slidenum">
              <a:rPr lang="en-US" smtClean="0"/>
              <a:t>52</a:t>
            </a:fld>
            <a:endParaRPr lang="en-US"/>
          </a:p>
        </p:txBody>
      </p:sp>
    </p:spTree>
    <p:extLst>
      <p:ext uri="{BB962C8B-B14F-4D97-AF65-F5344CB8AC3E}">
        <p14:creationId xmlns:p14="http://schemas.microsoft.com/office/powerpoint/2010/main" val="3905066145"/>
      </p:ext>
    </p:extLst>
  </p:cSld>
  <p:clrMapOvr>
    <a:masterClrMapping/>
  </p:clrMapOvr>
  <p:extLst>
    <p:ext uri="{6950BFC3-D8DA-4A85-94F7-54DA5524770B}">
      <p188:commentRel xmlns:p188="http://schemas.microsoft.com/office/powerpoint/2018/8/main" r:id="rId3"/>
    </p:ext>
  </p:extLs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1C464-CE0C-E50C-0EFA-7221D98E60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A10536-8166-6937-1E92-48ABB7FE31D3}"/>
              </a:ext>
            </a:extLst>
          </p:cNvPr>
          <p:cNvSpPr>
            <a:spLocks noGrp="1"/>
          </p:cNvSpPr>
          <p:nvPr>
            <p:ph type="title"/>
          </p:nvPr>
        </p:nvSpPr>
        <p:spPr>
          <a:xfrm>
            <a:off x="598503" y="193906"/>
            <a:ext cx="10515600" cy="487131"/>
          </a:xfrm>
        </p:spPr>
        <p:txBody>
          <a:bodyPr>
            <a:normAutofit/>
          </a:bodyPr>
          <a:lstStyle/>
          <a:p>
            <a:r>
              <a:rPr lang="en-US" sz="2800" dirty="0"/>
              <a:t>Wireframe Notes – 5.1 – Companies</a:t>
            </a:r>
          </a:p>
        </p:txBody>
      </p:sp>
      <p:sp>
        <p:nvSpPr>
          <p:cNvPr id="4" name="Date Placeholder 3">
            <a:extLst>
              <a:ext uri="{FF2B5EF4-FFF2-40B4-BE49-F238E27FC236}">
                <a16:creationId xmlns:a16="http://schemas.microsoft.com/office/drawing/2014/main" id="{0449F3B1-E2EE-1246-5EA9-D46DDC523558}"/>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46C67CC4-93FB-3052-0130-E2077D848B18}"/>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53</a:t>
            </a:fld>
            <a:endParaRPr lang="en-US"/>
          </a:p>
        </p:txBody>
      </p:sp>
      <p:sp>
        <p:nvSpPr>
          <p:cNvPr id="7" name="TextBox 6">
            <a:extLst>
              <a:ext uri="{FF2B5EF4-FFF2-40B4-BE49-F238E27FC236}">
                <a16:creationId xmlns:a16="http://schemas.microsoft.com/office/drawing/2014/main" id="{B0F03C3F-3F4C-C3F7-6C62-3B574367C8B6}"/>
              </a:ext>
            </a:extLst>
          </p:cNvPr>
          <p:cNvSpPr txBox="1"/>
          <p:nvPr/>
        </p:nvSpPr>
        <p:spPr>
          <a:xfrm>
            <a:off x="7382808" y="136525"/>
            <a:ext cx="4642615" cy="1015663"/>
          </a:xfrm>
          <a:prstGeom prst="rect">
            <a:avLst/>
          </a:prstGeom>
          <a:noFill/>
        </p:spPr>
        <p:txBody>
          <a:bodyPr wrap="square">
            <a:spAutoFit/>
          </a:bodyPr>
          <a:lstStyle/>
          <a:p>
            <a:pPr marL="285750" marR="2000" indent="-285750">
              <a:buSzPts val="1200"/>
              <a:buFont typeface="Symbol" panose="05050102010706020507" pitchFamily="18" charset="2"/>
              <a:buChar char="·"/>
            </a:pPr>
            <a:r>
              <a:rPr lang="en-US" sz="1200" dirty="0">
                <a:latin typeface="Century Gothic" panose="020B0502020202020204" pitchFamily="34" charset="0"/>
              </a:rPr>
              <a:t>Required Fields </a:t>
            </a:r>
          </a:p>
          <a:p>
            <a:pPr marL="285750" marR="2000" indent="-285750">
              <a:buSzPts val="1200"/>
              <a:buFont typeface="Symbol" panose="05050102010706020507" pitchFamily="18" charset="2"/>
              <a:buChar char="·"/>
            </a:pPr>
            <a:r>
              <a:rPr lang="en-US" sz="1200" dirty="0">
                <a:latin typeface="Century Gothic" panose="020B0502020202020204" pitchFamily="34" charset="0"/>
              </a:rPr>
              <a:t>Company Name - Required dropdown with add capability (as referenced in Cert Upload Fields)</a:t>
            </a:r>
          </a:p>
          <a:p>
            <a:pPr marL="285750" marR="2000" indent="-285750">
              <a:buSzPts val="1200"/>
              <a:buFont typeface="Symbol" panose="05050102010706020507" pitchFamily="18" charset="2"/>
              <a:buChar char="·"/>
            </a:pPr>
            <a:r>
              <a:rPr lang="en-US" sz="1200" dirty="0">
                <a:latin typeface="Century Gothic" panose="020B0502020202020204" pitchFamily="34" charset="0"/>
              </a:rPr>
              <a:t>Company Contact Email - Separate field from URL</a:t>
            </a:r>
          </a:p>
          <a:p>
            <a:pPr marL="285750" marR="2000" indent="-285750">
              <a:buSzPts val="1200"/>
              <a:buFont typeface="Symbol" panose="05050102010706020507" pitchFamily="18" charset="2"/>
              <a:buChar char="·"/>
            </a:pPr>
            <a:r>
              <a:rPr lang="en-US" sz="1200" dirty="0">
                <a:latin typeface="Century Gothic" panose="020B0502020202020204" pitchFamily="34" charset="0"/>
              </a:rPr>
              <a:t>Company Contact URL - Separate field from Email</a:t>
            </a:r>
          </a:p>
        </p:txBody>
      </p:sp>
      <p:pic>
        <p:nvPicPr>
          <p:cNvPr id="10" name="Picture 9">
            <a:extLst>
              <a:ext uri="{FF2B5EF4-FFF2-40B4-BE49-F238E27FC236}">
                <a16:creationId xmlns:a16="http://schemas.microsoft.com/office/drawing/2014/main" id="{C84A940A-917B-ED91-25AD-6FC6FC1A35B1}"/>
              </a:ext>
            </a:extLst>
          </p:cNvPr>
          <p:cNvPicPr>
            <a:picLocks noChangeAspect="1"/>
          </p:cNvPicPr>
          <p:nvPr/>
        </p:nvPicPr>
        <p:blipFill>
          <a:blip r:embed="rId3"/>
          <a:stretch>
            <a:fillRect/>
          </a:stretch>
        </p:blipFill>
        <p:spPr>
          <a:xfrm>
            <a:off x="598503" y="1152188"/>
            <a:ext cx="10515600" cy="5188720"/>
          </a:xfrm>
          <a:prstGeom prst="rect">
            <a:avLst/>
          </a:prstGeom>
          <a:ln>
            <a:solidFill>
              <a:schemeClr val="bg1">
                <a:lumMod val="85000"/>
              </a:schemeClr>
            </a:solidFill>
          </a:ln>
        </p:spPr>
      </p:pic>
    </p:spTree>
    <p:extLst>
      <p:ext uri="{BB962C8B-B14F-4D97-AF65-F5344CB8AC3E}">
        <p14:creationId xmlns:p14="http://schemas.microsoft.com/office/powerpoint/2010/main" val="5742613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B7A68-1DC1-AA0D-DF16-960C035B5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E291D5-C737-3FD7-51B2-5C11F1782759}"/>
              </a:ext>
            </a:extLst>
          </p:cNvPr>
          <p:cNvSpPr>
            <a:spLocks noGrp="1"/>
          </p:cNvSpPr>
          <p:nvPr>
            <p:ph type="title"/>
          </p:nvPr>
        </p:nvSpPr>
        <p:spPr>
          <a:xfrm>
            <a:off x="598503" y="193906"/>
            <a:ext cx="10515600" cy="487131"/>
          </a:xfrm>
        </p:spPr>
        <p:txBody>
          <a:bodyPr>
            <a:normAutofit/>
          </a:bodyPr>
          <a:lstStyle/>
          <a:p>
            <a:r>
              <a:rPr lang="en-US" sz="2800" dirty="0"/>
              <a:t>Wireframe Notes – 5.1 – Companies</a:t>
            </a:r>
          </a:p>
        </p:txBody>
      </p:sp>
      <p:sp>
        <p:nvSpPr>
          <p:cNvPr id="4" name="Date Placeholder 3">
            <a:extLst>
              <a:ext uri="{FF2B5EF4-FFF2-40B4-BE49-F238E27FC236}">
                <a16:creationId xmlns:a16="http://schemas.microsoft.com/office/drawing/2014/main" id="{E5459A73-CC52-8C68-3375-DD930C453719}"/>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C942E37E-E6A7-0125-E4DA-2466863BA0DE}"/>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54</a:t>
            </a:fld>
            <a:endParaRPr lang="en-US"/>
          </a:p>
        </p:txBody>
      </p:sp>
      <p:sp>
        <p:nvSpPr>
          <p:cNvPr id="7" name="TextBox 6">
            <a:extLst>
              <a:ext uri="{FF2B5EF4-FFF2-40B4-BE49-F238E27FC236}">
                <a16:creationId xmlns:a16="http://schemas.microsoft.com/office/drawing/2014/main" id="{670EA992-1AEF-9978-B37C-AA23DA39FB46}"/>
              </a:ext>
            </a:extLst>
          </p:cNvPr>
          <p:cNvSpPr txBox="1"/>
          <p:nvPr/>
        </p:nvSpPr>
        <p:spPr>
          <a:xfrm>
            <a:off x="598504" y="751344"/>
            <a:ext cx="5430821" cy="4154984"/>
          </a:xfrm>
          <a:prstGeom prst="rect">
            <a:avLst/>
          </a:prstGeom>
          <a:noFill/>
        </p:spPr>
        <p:txBody>
          <a:bodyPr wrap="square">
            <a:spAutoFit/>
          </a:bodyPr>
          <a:lstStyle/>
          <a:p>
            <a:pPr marR="2000">
              <a:buSzPts val="1200"/>
            </a:pPr>
            <a:r>
              <a:rPr lang="en-US" sz="1200" b="1" dirty="0">
                <a:latin typeface="Century Gothic" panose="020B0502020202020204" pitchFamily="34" charset="0"/>
              </a:rPr>
              <a:t>Data Integration &amp; Auto-Population</a:t>
            </a:r>
          </a:p>
          <a:p>
            <a:pPr marL="171450" marR="2000" indent="-171450">
              <a:buSzPts val="1200"/>
              <a:buFont typeface="Symbol" panose="05050102010706020507" pitchFamily="18" charset="2"/>
              <a:buChar char="·"/>
            </a:pPr>
            <a:r>
              <a:rPr lang="en-US" sz="1200" dirty="0">
                <a:latin typeface="Century Gothic" panose="020B0502020202020204" pitchFamily="34" charset="0"/>
              </a:rPr>
              <a:t>Certificate Auto-Population: Company information from the Company Management screen should auto-populate when creating/editing certificates</a:t>
            </a:r>
          </a:p>
          <a:p>
            <a:pPr marL="171450" marR="2000" indent="-171450">
              <a:buSzPts val="1200"/>
              <a:buFont typeface="Symbol" panose="05050102010706020507" pitchFamily="18" charset="2"/>
              <a:buChar char="·"/>
            </a:pPr>
            <a:r>
              <a:rPr lang="en-US" sz="1200" dirty="0">
                <a:latin typeface="Century Gothic" panose="020B0502020202020204" pitchFamily="34" charset="0"/>
              </a:rPr>
              <a:t>Field Mapping: When selecting a company during certificate creation, Email and URL fields auto-populate and are not editable on the certificate form</a:t>
            </a:r>
          </a:p>
          <a:p>
            <a:pPr marL="171450" marR="2000" indent="-171450">
              <a:buSzPts val="1200"/>
              <a:buFont typeface="Symbol" panose="05050102010706020507" pitchFamily="18" charset="2"/>
              <a:buChar char="·"/>
            </a:pPr>
            <a:r>
              <a:rPr lang="en-US" sz="1200" dirty="0">
                <a:latin typeface="Century Gothic" panose="020B0502020202020204" pitchFamily="34" charset="0"/>
              </a:rPr>
              <a:t>Contact Information Usage: Only Email and URL are used as contact options on certificates (Phone field eliminated)</a:t>
            </a:r>
          </a:p>
          <a:p>
            <a:pPr marR="2000">
              <a:buSzPts val="1200"/>
            </a:pPr>
            <a:br>
              <a:rPr lang="en-US" sz="1200" dirty="0">
                <a:latin typeface="Century Gothic" panose="020B0502020202020204" pitchFamily="34" charset="0"/>
              </a:rPr>
            </a:br>
            <a:br>
              <a:rPr lang="en-US" sz="1200" dirty="0">
                <a:latin typeface="Century Gothic" panose="020B0502020202020204" pitchFamily="34" charset="0"/>
              </a:rPr>
            </a:br>
            <a:r>
              <a:rPr lang="en-US" sz="1200" b="1" dirty="0">
                <a:latin typeface="Century Gothic" panose="020B0502020202020204" pitchFamily="34" charset="0"/>
              </a:rPr>
              <a:t>Import/Export Behavior</a:t>
            </a:r>
          </a:p>
          <a:p>
            <a:pPr marL="171450" marR="2000" indent="-171450">
              <a:buSzPts val="1200"/>
              <a:buFont typeface="Symbol" panose="05050102010706020507" pitchFamily="18" charset="2"/>
              <a:buChar char="·"/>
            </a:pPr>
            <a:r>
              <a:rPr lang="en-US" sz="1200" dirty="0">
                <a:latin typeface="Century Gothic" panose="020B0502020202020204" pitchFamily="34" charset="0"/>
              </a:rPr>
              <a:t>Smart Import Logic: Import compares existing data and only uploads new records</a:t>
            </a:r>
          </a:p>
          <a:p>
            <a:pPr marL="171450" marR="2000" indent="-171450">
              <a:buSzPts val="1200"/>
              <a:buFont typeface="Symbol" panose="05050102010706020507" pitchFamily="18" charset="2"/>
              <a:buChar char="·"/>
            </a:pPr>
            <a:r>
              <a:rPr lang="en-US" sz="1200" dirty="0">
                <a:latin typeface="Century Gothic" panose="020B0502020202020204" pitchFamily="34" charset="0"/>
              </a:rPr>
              <a:t>Update Handling: If existing Certificate # is uploaded, only changed fields are updated</a:t>
            </a:r>
          </a:p>
          <a:p>
            <a:pPr marL="171450" marR="2000" indent="-171450">
              <a:buSzPts val="1200"/>
              <a:buFont typeface="Symbol" panose="05050102010706020507" pitchFamily="18" charset="2"/>
              <a:buChar char="·"/>
            </a:pPr>
            <a:r>
              <a:rPr lang="en-US" sz="1200" dirty="0">
                <a:latin typeface="Century Gothic" panose="020B0502020202020204" pitchFamily="34" charset="0"/>
              </a:rPr>
              <a:t>Data Integrity: Import will not override current data unless changes are detected</a:t>
            </a:r>
          </a:p>
          <a:p>
            <a:pPr marL="171450" marR="2000" indent="-171450">
              <a:buSzPts val="1200"/>
              <a:buFont typeface="Symbol" panose="05050102010706020507" pitchFamily="18" charset="2"/>
              <a:buChar char="·"/>
            </a:pPr>
            <a:r>
              <a:rPr lang="en-US" sz="1200" dirty="0">
                <a:latin typeface="Century Gothic" panose="020B0502020202020204" pitchFamily="34" charset="0"/>
              </a:rPr>
              <a:t>Audit Trail: History table tracks all changes made through imports or manual updates</a:t>
            </a:r>
          </a:p>
          <a:p>
            <a:pPr marL="1085850" marR="2000" lvl="2" indent="-171450">
              <a:buSzPts val="1200"/>
              <a:buFont typeface="Symbol" panose="05050102010706020507" pitchFamily="18" charset="2"/>
              <a:buChar char="·"/>
            </a:pPr>
            <a:endParaRPr lang="en-US" sz="1200" dirty="0">
              <a:latin typeface="Century Gothic" panose="020B0502020202020204" pitchFamily="34" charset="0"/>
            </a:endParaRPr>
          </a:p>
          <a:p>
            <a:pPr marL="1085850" marR="2000" lvl="2" indent="-171450">
              <a:buSzPts val="1200"/>
              <a:buFont typeface="Symbol" panose="05050102010706020507" pitchFamily="18" charset="2"/>
              <a:buChar char="·"/>
            </a:pPr>
            <a:endParaRPr lang="en-US" sz="1200" dirty="0">
              <a:latin typeface="Century Gothic" panose="020B0502020202020204" pitchFamily="34" charset="0"/>
            </a:endParaRPr>
          </a:p>
        </p:txBody>
      </p:sp>
      <p:sp>
        <p:nvSpPr>
          <p:cNvPr id="3" name="TextBox 2">
            <a:extLst>
              <a:ext uri="{FF2B5EF4-FFF2-40B4-BE49-F238E27FC236}">
                <a16:creationId xmlns:a16="http://schemas.microsoft.com/office/drawing/2014/main" id="{FC08FD94-749F-AEDC-20E2-F7B6FC57BBD0}"/>
              </a:ext>
            </a:extLst>
          </p:cNvPr>
          <p:cNvSpPr txBox="1"/>
          <p:nvPr/>
        </p:nvSpPr>
        <p:spPr>
          <a:xfrm>
            <a:off x="6353175" y="765631"/>
            <a:ext cx="5362575" cy="2123658"/>
          </a:xfrm>
          <a:prstGeom prst="rect">
            <a:avLst/>
          </a:prstGeom>
          <a:noFill/>
        </p:spPr>
        <p:txBody>
          <a:bodyPr wrap="square">
            <a:spAutoFit/>
          </a:bodyPr>
          <a:lstStyle/>
          <a:p>
            <a:pPr marR="2000">
              <a:buSzPts val="1200"/>
            </a:pPr>
            <a:r>
              <a:rPr lang="en-US" sz="1200" b="1" dirty="0">
                <a:latin typeface="Century Gothic" panose="020B0502020202020204" pitchFamily="34" charset="0"/>
              </a:rPr>
              <a:t>Key Decisions Made</a:t>
            </a:r>
          </a:p>
          <a:p>
            <a:pPr marL="171450" marR="2000" indent="-171450">
              <a:buSzPts val="1200"/>
              <a:buFont typeface="Symbol" panose="05050102010706020507" pitchFamily="18" charset="2"/>
              <a:buChar char="·"/>
            </a:pPr>
            <a:r>
              <a:rPr lang="en-US" sz="1200" dirty="0">
                <a:latin typeface="Century Gothic" panose="020B0502020202020204" pitchFamily="34" charset="0"/>
              </a:rPr>
              <a:t>Phone Field Eliminated: Replaced with URL field for certificate contact information</a:t>
            </a:r>
          </a:p>
          <a:p>
            <a:pPr marL="171450" marR="2000" indent="-171450">
              <a:buSzPts val="1200"/>
              <a:buFont typeface="Symbol" panose="05050102010706020507" pitchFamily="18" charset="2"/>
              <a:buChar char="·"/>
            </a:pPr>
            <a:r>
              <a:rPr lang="en-US" sz="1200" dirty="0">
                <a:latin typeface="Century Gothic" panose="020B0502020202020204" pitchFamily="34" charset="0"/>
              </a:rPr>
              <a:t>Two Contact Fields Only: Email and URL are the sole contact options</a:t>
            </a:r>
          </a:p>
          <a:p>
            <a:pPr marL="171450" marR="2000" indent="-171450">
              <a:buSzPts val="1200"/>
              <a:buFont typeface="Symbol" panose="05050102010706020507" pitchFamily="18" charset="2"/>
              <a:buChar char="·"/>
            </a:pPr>
            <a:r>
              <a:rPr lang="en-US" sz="1200" dirty="0">
                <a:latin typeface="Century Gothic" panose="020B0502020202020204" pitchFamily="34" charset="0"/>
              </a:rPr>
              <a:t>Auto-Population Confirmed: Company data from management screen carries over to certificates</a:t>
            </a:r>
          </a:p>
          <a:p>
            <a:pPr marL="171450" marR="2000" indent="-171450">
              <a:buSzPts val="1200"/>
              <a:buFont typeface="Symbol" panose="05050102010706020507" pitchFamily="18" charset="2"/>
              <a:buChar char="·"/>
            </a:pPr>
            <a:r>
              <a:rPr lang="en-US" sz="1200" dirty="0">
                <a:latin typeface="Century Gothic" panose="020B0502020202020204" pitchFamily="34" charset="0"/>
              </a:rPr>
              <a:t>Import Strategy: Compare-and-update approach prevents data loss</a:t>
            </a:r>
          </a:p>
          <a:p>
            <a:pPr marL="1085850" marR="2000" lvl="2" indent="-171450">
              <a:buSzPts val="1200"/>
              <a:buFont typeface="Symbol" panose="05050102010706020507" pitchFamily="18" charset="2"/>
              <a:buChar char="·"/>
            </a:pPr>
            <a:endParaRPr lang="en-US" sz="1200" dirty="0">
              <a:latin typeface="Century Gothic" panose="020B0502020202020204" pitchFamily="34" charset="0"/>
            </a:endParaRPr>
          </a:p>
          <a:p>
            <a:pPr marL="1085850" marR="2000" lvl="2" indent="-171450">
              <a:buSzPts val="1200"/>
              <a:buFont typeface="Symbol" panose="05050102010706020507" pitchFamily="18" charset="2"/>
              <a:buChar char="·"/>
            </a:pPr>
            <a:endParaRPr lang="en-US" sz="1200" dirty="0">
              <a:latin typeface="Century Gothic" panose="020B0502020202020204" pitchFamily="34" charset="0"/>
            </a:endParaRPr>
          </a:p>
        </p:txBody>
      </p:sp>
    </p:spTree>
    <p:extLst>
      <p:ext uri="{BB962C8B-B14F-4D97-AF65-F5344CB8AC3E}">
        <p14:creationId xmlns:p14="http://schemas.microsoft.com/office/powerpoint/2010/main" val="25819030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140C1-D583-F70E-468B-C4E4C694D3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A82D6D-C1E0-1993-D36A-9014E6A24E84}"/>
              </a:ext>
            </a:extLst>
          </p:cNvPr>
          <p:cNvSpPr>
            <a:spLocks noGrp="1"/>
          </p:cNvSpPr>
          <p:nvPr>
            <p:ph type="title"/>
          </p:nvPr>
        </p:nvSpPr>
        <p:spPr>
          <a:xfrm>
            <a:off x="598503" y="193906"/>
            <a:ext cx="10515600" cy="487131"/>
          </a:xfrm>
        </p:spPr>
        <p:txBody>
          <a:bodyPr>
            <a:normAutofit/>
          </a:bodyPr>
          <a:lstStyle/>
          <a:p>
            <a:r>
              <a:rPr lang="en-US" sz="2800" dirty="0"/>
              <a:t>Wireframe Notes – 5.2 – Products </a:t>
            </a:r>
          </a:p>
        </p:txBody>
      </p:sp>
      <p:sp>
        <p:nvSpPr>
          <p:cNvPr id="4" name="Date Placeholder 3">
            <a:extLst>
              <a:ext uri="{FF2B5EF4-FFF2-40B4-BE49-F238E27FC236}">
                <a16:creationId xmlns:a16="http://schemas.microsoft.com/office/drawing/2014/main" id="{0C4B17E8-8BD1-2564-A30E-57418FC37B38}"/>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036F19B2-1DE7-8786-0D5A-52E7DD398F9F}"/>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55</a:t>
            </a:fld>
            <a:endParaRPr lang="en-US"/>
          </a:p>
        </p:txBody>
      </p:sp>
      <p:sp>
        <p:nvSpPr>
          <p:cNvPr id="12" name="TextBox 11">
            <a:extLst>
              <a:ext uri="{FF2B5EF4-FFF2-40B4-BE49-F238E27FC236}">
                <a16:creationId xmlns:a16="http://schemas.microsoft.com/office/drawing/2014/main" id="{65CF7445-E5B4-6AE4-188B-DF9457D094D9}"/>
              </a:ext>
            </a:extLst>
          </p:cNvPr>
          <p:cNvSpPr txBox="1"/>
          <p:nvPr/>
        </p:nvSpPr>
        <p:spPr>
          <a:xfrm>
            <a:off x="492178" y="3567578"/>
            <a:ext cx="7484477" cy="2492990"/>
          </a:xfrm>
          <a:prstGeom prst="rect">
            <a:avLst/>
          </a:prstGeom>
          <a:solidFill>
            <a:schemeClr val="bg1"/>
          </a:solidFill>
        </p:spPr>
        <p:txBody>
          <a:bodyPr wrap="square">
            <a:spAutoFit/>
          </a:bodyPr>
          <a:lstStyle/>
          <a:p>
            <a:pPr marR="2000">
              <a:buSzPts val="1200"/>
            </a:pPr>
            <a:r>
              <a:rPr lang="en-US" sz="1200" b="1" dirty="0">
                <a:solidFill>
                  <a:srgbClr val="606771"/>
                </a:solidFill>
                <a:latin typeface="Century Gothic" panose="020B0502020202020204" pitchFamily="34" charset="0"/>
              </a:rPr>
              <a:t>Notes</a:t>
            </a:r>
            <a:r>
              <a:rPr lang="en-US" sz="1200" dirty="0">
                <a:solidFill>
                  <a:srgbClr val="606771"/>
                </a:solidFill>
                <a:latin typeface="Century Gothic" panose="020B0502020202020204" pitchFamily="34" charset="0"/>
              </a:rPr>
              <a:t>:</a:t>
            </a:r>
          </a:p>
          <a:p>
            <a:pPr marL="342900" marR="0" lvl="0" indent="-342900">
              <a:buFont typeface="Symbol" panose="05050102010706020507" pitchFamily="18" charset="2"/>
              <a:buChar char=""/>
            </a:pPr>
            <a:r>
              <a:rPr lang="en-US" sz="1200" dirty="0">
                <a:latin typeface="Aptos" panose="020B0004020202020204" pitchFamily="34" charset="0"/>
                <a:ea typeface="Times New Roman" panose="02020603050405020304" pitchFamily="18" charset="0"/>
                <a:cs typeface="Aptos" panose="020B0004020202020204" pitchFamily="34" charset="0"/>
              </a:rPr>
              <a:t>Admin users see: All buttons (Import, Export, Add Product), edit/delete actions, bulk operations</a:t>
            </a:r>
          </a:p>
          <a:p>
            <a:pPr marL="342900" marR="0" lvl="0" indent="-342900">
              <a:buFont typeface="Symbol" panose="05050102010706020507" pitchFamily="18" charset="2"/>
              <a:buChar char=""/>
            </a:pPr>
            <a:r>
              <a:rPr lang="en-US" sz="1200" dirty="0">
                <a:latin typeface="Aptos" panose="020B0004020202020204" pitchFamily="34" charset="0"/>
                <a:ea typeface="Times New Roman" panose="02020603050405020304" pitchFamily="18" charset="0"/>
                <a:cs typeface="Aptos" panose="020B0004020202020204" pitchFamily="34" charset="0"/>
              </a:rPr>
              <a:t>Partner/Client users would see: Read-only view with no administrative functions</a:t>
            </a: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Product identifier management for multiple types: ASIN, UPC, GTIN, and EAN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Search functionality to quickly find products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Filtering options by type, status, and partners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Status tracking (Active/Inactive) for each product ID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Partner association (currently showing Amazon)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Creation date and creator tracking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Import and export capabilities for bulk management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Adding new identifiers with dedicated buttons for each type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Linking multiple identifier types to the same product ID (as shown with PROD-1001 and PROD-1002)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Table view with deletion options (x button) for each entry</a:t>
            </a:r>
            <a:endParaRPr lang="en-US" sz="1200" dirty="0">
              <a:latin typeface="Century Gothic" panose="020B0502020202020204" pitchFamily="34" charset="0"/>
            </a:endParaRPr>
          </a:p>
        </p:txBody>
      </p:sp>
      <p:pic>
        <p:nvPicPr>
          <p:cNvPr id="9" name="Picture 8">
            <a:extLst>
              <a:ext uri="{FF2B5EF4-FFF2-40B4-BE49-F238E27FC236}">
                <a16:creationId xmlns:a16="http://schemas.microsoft.com/office/drawing/2014/main" id="{505E625A-76FA-B562-FA64-39C0B7029F49}"/>
              </a:ext>
            </a:extLst>
          </p:cNvPr>
          <p:cNvPicPr>
            <a:picLocks noChangeAspect="1"/>
          </p:cNvPicPr>
          <p:nvPr/>
        </p:nvPicPr>
        <p:blipFill>
          <a:blip r:embed="rId3"/>
          <a:stretch>
            <a:fillRect/>
          </a:stretch>
        </p:blipFill>
        <p:spPr>
          <a:xfrm>
            <a:off x="308344" y="681037"/>
            <a:ext cx="11759610" cy="2399410"/>
          </a:xfrm>
          <a:prstGeom prst="rect">
            <a:avLst/>
          </a:prstGeom>
        </p:spPr>
      </p:pic>
    </p:spTree>
    <p:extLst>
      <p:ext uri="{BB962C8B-B14F-4D97-AF65-F5344CB8AC3E}">
        <p14:creationId xmlns:p14="http://schemas.microsoft.com/office/powerpoint/2010/main" val="19140741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E8A4B-EF79-8718-ACFA-B2DADFF410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F301BA-37A1-AB51-080C-7D2074848B68}"/>
              </a:ext>
            </a:extLst>
          </p:cNvPr>
          <p:cNvSpPr>
            <a:spLocks noGrp="1"/>
          </p:cNvSpPr>
          <p:nvPr>
            <p:ph type="title"/>
          </p:nvPr>
        </p:nvSpPr>
        <p:spPr>
          <a:xfrm>
            <a:off x="598503" y="193906"/>
            <a:ext cx="10515600" cy="487131"/>
          </a:xfrm>
        </p:spPr>
        <p:txBody>
          <a:bodyPr>
            <a:normAutofit/>
          </a:bodyPr>
          <a:lstStyle/>
          <a:p>
            <a:r>
              <a:rPr lang="en-US" sz="2800" dirty="0"/>
              <a:t>Wireframe Notes – 5.2 – Products (Add) </a:t>
            </a:r>
          </a:p>
        </p:txBody>
      </p:sp>
      <p:sp>
        <p:nvSpPr>
          <p:cNvPr id="4" name="Date Placeholder 3">
            <a:extLst>
              <a:ext uri="{FF2B5EF4-FFF2-40B4-BE49-F238E27FC236}">
                <a16:creationId xmlns:a16="http://schemas.microsoft.com/office/drawing/2014/main" id="{D87B2F89-4280-60C5-1459-38FCA21AB9E4}"/>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FB04291C-06B8-3D42-607D-AE3B580EAAD6}"/>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56</a:t>
            </a:fld>
            <a:endParaRPr lang="en-US"/>
          </a:p>
        </p:txBody>
      </p:sp>
      <p:pic>
        <p:nvPicPr>
          <p:cNvPr id="9" name="Picture 8">
            <a:extLst>
              <a:ext uri="{FF2B5EF4-FFF2-40B4-BE49-F238E27FC236}">
                <a16:creationId xmlns:a16="http://schemas.microsoft.com/office/drawing/2014/main" id="{2EDCF552-3096-8B5C-20EF-F067903AE4D8}"/>
              </a:ext>
            </a:extLst>
          </p:cNvPr>
          <p:cNvPicPr>
            <a:picLocks noChangeAspect="1"/>
          </p:cNvPicPr>
          <p:nvPr/>
        </p:nvPicPr>
        <p:blipFill>
          <a:blip r:embed="rId3"/>
          <a:stretch>
            <a:fillRect/>
          </a:stretch>
        </p:blipFill>
        <p:spPr>
          <a:xfrm>
            <a:off x="180753" y="864521"/>
            <a:ext cx="11695814" cy="2696655"/>
          </a:xfrm>
          <a:prstGeom prst="rect">
            <a:avLst/>
          </a:prstGeom>
        </p:spPr>
      </p:pic>
    </p:spTree>
    <p:extLst>
      <p:ext uri="{BB962C8B-B14F-4D97-AF65-F5344CB8AC3E}">
        <p14:creationId xmlns:p14="http://schemas.microsoft.com/office/powerpoint/2010/main" val="240282468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66A8F-5E1B-315B-8D1A-62853E0456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18C405-159F-7BB3-F08B-0A54379B33DA}"/>
              </a:ext>
            </a:extLst>
          </p:cNvPr>
          <p:cNvSpPr>
            <a:spLocks noGrp="1"/>
          </p:cNvSpPr>
          <p:nvPr>
            <p:ph type="title"/>
          </p:nvPr>
        </p:nvSpPr>
        <p:spPr>
          <a:xfrm>
            <a:off x="598503" y="193906"/>
            <a:ext cx="10515600" cy="487131"/>
          </a:xfrm>
        </p:spPr>
        <p:txBody>
          <a:bodyPr>
            <a:normAutofit/>
          </a:bodyPr>
          <a:lstStyle/>
          <a:p>
            <a:r>
              <a:rPr lang="en-US" sz="2800" dirty="0"/>
              <a:t>Wireframe Notes – 5.2 – Products (Edit) </a:t>
            </a:r>
          </a:p>
        </p:txBody>
      </p:sp>
      <p:sp>
        <p:nvSpPr>
          <p:cNvPr id="4" name="Date Placeholder 3">
            <a:extLst>
              <a:ext uri="{FF2B5EF4-FFF2-40B4-BE49-F238E27FC236}">
                <a16:creationId xmlns:a16="http://schemas.microsoft.com/office/drawing/2014/main" id="{7880098A-63AC-74F5-A56A-451B00DFBCF9}"/>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3BFDE746-5A40-68AE-74D5-BC9C84F388BE}"/>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57</a:t>
            </a:fld>
            <a:endParaRPr lang="en-US"/>
          </a:p>
        </p:txBody>
      </p:sp>
      <p:pic>
        <p:nvPicPr>
          <p:cNvPr id="6" name="Picture 5">
            <a:extLst>
              <a:ext uri="{FF2B5EF4-FFF2-40B4-BE49-F238E27FC236}">
                <a16:creationId xmlns:a16="http://schemas.microsoft.com/office/drawing/2014/main" id="{ED5D684E-D46A-1D72-1599-2ED703F08794}"/>
              </a:ext>
            </a:extLst>
          </p:cNvPr>
          <p:cNvPicPr>
            <a:picLocks noChangeAspect="1"/>
          </p:cNvPicPr>
          <p:nvPr/>
        </p:nvPicPr>
        <p:blipFill>
          <a:blip r:embed="rId3"/>
          <a:stretch>
            <a:fillRect/>
          </a:stretch>
        </p:blipFill>
        <p:spPr>
          <a:xfrm>
            <a:off x="232144" y="1189075"/>
            <a:ext cx="11727712" cy="2345542"/>
          </a:xfrm>
          <a:prstGeom prst="rect">
            <a:avLst/>
          </a:prstGeom>
        </p:spPr>
      </p:pic>
    </p:spTree>
    <p:extLst>
      <p:ext uri="{BB962C8B-B14F-4D97-AF65-F5344CB8AC3E}">
        <p14:creationId xmlns:p14="http://schemas.microsoft.com/office/powerpoint/2010/main" val="32451607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9A7CA-15FF-E9EB-D881-6505CBD080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9BCA32-F8B5-7B75-E1B2-9F89E8BE7048}"/>
              </a:ext>
            </a:extLst>
          </p:cNvPr>
          <p:cNvSpPr>
            <a:spLocks noGrp="1"/>
          </p:cNvSpPr>
          <p:nvPr>
            <p:ph type="title"/>
          </p:nvPr>
        </p:nvSpPr>
        <p:spPr/>
        <p:txBody>
          <a:bodyPr/>
          <a:lstStyle/>
          <a:p>
            <a:r>
              <a:rPr lang="en-US" sz="2800" dirty="0"/>
              <a:t>Wireframe Notes – 7.0 – Administration</a:t>
            </a:r>
          </a:p>
        </p:txBody>
      </p:sp>
      <p:sp>
        <p:nvSpPr>
          <p:cNvPr id="3" name="Content Placeholder 2">
            <a:extLst>
              <a:ext uri="{FF2B5EF4-FFF2-40B4-BE49-F238E27FC236}">
                <a16:creationId xmlns:a16="http://schemas.microsoft.com/office/drawing/2014/main" id="{3FDF9918-21DF-AE60-8436-AE218D276C01}"/>
              </a:ext>
            </a:extLst>
          </p:cNvPr>
          <p:cNvSpPr>
            <a:spLocks noGrp="1"/>
          </p:cNvSpPr>
          <p:nvPr>
            <p:ph idx="1"/>
          </p:nvPr>
        </p:nvSpPr>
        <p:spPr/>
        <p:txBody>
          <a:bodyPr/>
          <a:lstStyle/>
          <a:p>
            <a:pPr marR="2000" algn="l" rtl="0">
              <a:buSzPts val="1200"/>
              <a:buFont typeface="Symbol" panose="05050102010706020507" pitchFamily="18" charset="2"/>
              <a:buChar char="·"/>
            </a:pPr>
            <a:r>
              <a:rPr lang="en-US" sz="1800" b="0" i="0" u="none" strike="noStrike" baseline="0" dirty="0">
                <a:solidFill>
                  <a:srgbClr val="606771"/>
                </a:solidFill>
                <a:latin typeface="Segoe UI" panose="020B0502040204020203" pitchFamily="34" charset="0"/>
              </a:rPr>
              <a:t>Admin Section does not have a main landing page. </a:t>
            </a:r>
            <a:endParaRPr lang="en-US" sz="180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p:txBody>
      </p:sp>
      <p:sp>
        <p:nvSpPr>
          <p:cNvPr id="4" name="Date Placeholder 3">
            <a:extLst>
              <a:ext uri="{FF2B5EF4-FFF2-40B4-BE49-F238E27FC236}">
                <a16:creationId xmlns:a16="http://schemas.microsoft.com/office/drawing/2014/main" id="{09B755D2-56A8-1785-0C9A-B43E85262A0C}"/>
              </a:ext>
            </a:extLst>
          </p:cNvPr>
          <p:cNvSpPr>
            <a:spLocks noGrp="1"/>
          </p:cNvSpPr>
          <p:nvPr>
            <p:ph type="dt" sz="half" idx="10"/>
          </p:nvPr>
        </p:nvSpPr>
        <p:spPr/>
        <p:txBody>
          <a:bodyPr/>
          <a:lstStyle/>
          <a:p>
            <a:fld id="{FAAB834C-2F9F-4134-A8A6-8D28F07BEAB5}" type="datetime1">
              <a:rPr lang="en-US" smtClean="0"/>
              <a:t>9/18/2025</a:t>
            </a:fld>
            <a:endParaRPr lang="en-US"/>
          </a:p>
        </p:txBody>
      </p:sp>
      <p:sp>
        <p:nvSpPr>
          <p:cNvPr id="5" name="Slide Number Placeholder 4">
            <a:extLst>
              <a:ext uri="{FF2B5EF4-FFF2-40B4-BE49-F238E27FC236}">
                <a16:creationId xmlns:a16="http://schemas.microsoft.com/office/drawing/2014/main" id="{B739B08A-8BF9-7F54-C46A-34BEBC4FCEE7}"/>
              </a:ext>
            </a:extLst>
          </p:cNvPr>
          <p:cNvSpPr>
            <a:spLocks noGrp="1"/>
          </p:cNvSpPr>
          <p:nvPr>
            <p:ph type="sldNum" sz="quarter" idx="12"/>
          </p:nvPr>
        </p:nvSpPr>
        <p:spPr/>
        <p:txBody>
          <a:bodyPr/>
          <a:lstStyle/>
          <a:p>
            <a:fld id="{330EA680-D336-4FF7-8B7A-9848BB0A1C32}" type="slidenum">
              <a:rPr lang="en-US" smtClean="0"/>
              <a:t>58</a:t>
            </a:fld>
            <a:endParaRPr lang="en-US"/>
          </a:p>
        </p:txBody>
      </p:sp>
    </p:spTree>
    <p:extLst>
      <p:ext uri="{BB962C8B-B14F-4D97-AF65-F5344CB8AC3E}">
        <p14:creationId xmlns:p14="http://schemas.microsoft.com/office/powerpoint/2010/main" val="4237410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4883C-DC79-3568-EACF-3C81D51487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93BA18-2B36-170C-72D7-BD26B41D5AF7}"/>
              </a:ext>
            </a:extLst>
          </p:cNvPr>
          <p:cNvSpPr>
            <a:spLocks noGrp="1"/>
          </p:cNvSpPr>
          <p:nvPr>
            <p:ph type="title"/>
          </p:nvPr>
        </p:nvSpPr>
        <p:spPr>
          <a:xfrm>
            <a:off x="598503" y="193906"/>
            <a:ext cx="10515600" cy="487131"/>
          </a:xfrm>
        </p:spPr>
        <p:txBody>
          <a:bodyPr>
            <a:normAutofit/>
          </a:bodyPr>
          <a:lstStyle/>
          <a:p>
            <a:r>
              <a:rPr lang="en-US" sz="2800" dirty="0"/>
              <a:t>Wireframe Notes – 7.1 – Role Management</a:t>
            </a:r>
          </a:p>
        </p:txBody>
      </p:sp>
      <p:sp>
        <p:nvSpPr>
          <p:cNvPr id="4" name="Date Placeholder 3">
            <a:extLst>
              <a:ext uri="{FF2B5EF4-FFF2-40B4-BE49-F238E27FC236}">
                <a16:creationId xmlns:a16="http://schemas.microsoft.com/office/drawing/2014/main" id="{822A952C-666F-C666-695D-200ADC081842}"/>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ECD032BD-682A-A53F-1CEC-88667C38E189}"/>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59</a:t>
            </a:fld>
            <a:endParaRPr lang="en-US"/>
          </a:p>
        </p:txBody>
      </p:sp>
      <p:sp>
        <p:nvSpPr>
          <p:cNvPr id="9" name="TextBox 8">
            <a:extLst>
              <a:ext uri="{FF2B5EF4-FFF2-40B4-BE49-F238E27FC236}">
                <a16:creationId xmlns:a16="http://schemas.microsoft.com/office/drawing/2014/main" id="{85FCD1B4-71BD-91D7-6CEF-ACC1C9125B74}"/>
              </a:ext>
            </a:extLst>
          </p:cNvPr>
          <p:cNvSpPr txBox="1"/>
          <p:nvPr/>
        </p:nvSpPr>
        <p:spPr>
          <a:xfrm>
            <a:off x="287382" y="5220249"/>
            <a:ext cx="9387841" cy="1015663"/>
          </a:xfrm>
          <a:prstGeom prst="rect">
            <a:avLst/>
          </a:prstGeom>
          <a:noFill/>
        </p:spPr>
        <p:txBody>
          <a:bodyPr wrap="square">
            <a:spAutoFit/>
          </a:bodyPr>
          <a:lstStyle/>
          <a:p>
            <a:pPr marL="285750" marR="2000" indent="-285750" algn="l" rtl="0">
              <a:buSzPts val="120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This is the Role Management (Page Level) Admin View.</a:t>
            </a:r>
          </a:p>
          <a:p>
            <a:pPr marL="285750" marR="2000" indent="-2857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Manage which roles have access to which pages of the site.</a:t>
            </a:r>
          </a:p>
          <a:p>
            <a:pPr marL="285750" marR="2000" indent="-2857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cancel changes.</a:t>
            </a:r>
          </a:p>
          <a:p>
            <a:pPr marL="285750" marR="2000" indent="-2857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Admin Users have access to all pages by default.</a:t>
            </a:r>
          </a:p>
          <a:p>
            <a:pPr marL="285750" marR="2000" indent="-285750" algn="l" rtl="0">
              <a:buFont typeface="Arial" panose="020B0604020202020204" pitchFamily="34" charset="0"/>
              <a:buChar char="•"/>
            </a:pPr>
            <a:r>
              <a:rPr lang="en-US" sz="1200" dirty="0">
                <a:solidFill>
                  <a:srgbClr val="606771"/>
                </a:solidFill>
                <a:latin typeface="Century Gothic" panose="020B0502020202020204" pitchFamily="34" charset="0"/>
              </a:rPr>
              <a:t>Delete disabled for Admin, Admin Panel checkbox disabled for Admin.</a:t>
            </a:r>
            <a:endParaRPr lang="en-US" sz="1200" dirty="0">
              <a:latin typeface="Century Gothic" panose="020B0502020202020204" pitchFamily="34" charset="0"/>
            </a:endParaRPr>
          </a:p>
        </p:txBody>
      </p:sp>
      <p:pic>
        <p:nvPicPr>
          <p:cNvPr id="10" name="Picture 9">
            <a:extLst>
              <a:ext uri="{FF2B5EF4-FFF2-40B4-BE49-F238E27FC236}">
                <a16:creationId xmlns:a16="http://schemas.microsoft.com/office/drawing/2014/main" id="{D63468CE-8865-45BC-7FAD-78496288A3BA}"/>
              </a:ext>
            </a:extLst>
          </p:cNvPr>
          <p:cNvPicPr>
            <a:picLocks noChangeAspect="1"/>
          </p:cNvPicPr>
          <p:nvPr/>
        </p:nvPicPr>
        <p:blipFill>
          <a:blip r:embed="rId3"/>
          <a:stretch>
            <a:fillRect/>
          </a:stretch>
        </p:blipFill>
        <p:spPr>
          <a:xfrm>
            <a:off x="137281" y="1085523"/>
            <a:ext cx="10130125" cy="3984030"/>
          </a:xfrm>
          <a:prstGeom prst="rect">
            <a:avLst/>
          </a:prstGeom>
        </p:spPr>
      </p:pic>
    </p:spTree>
    <p:extLst>
      <p:ext uri="{BB962C8B-B14F-4D97-AF65-F5344CB8AC3E}">
        <p14:creationId xmlns:p14="http://schemas.microsoft.com/office/powerpoint/2010/main" val="30554913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2B2FE-6968-52B4-47AA-D11ECBF0A9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93203F-71F5-B6FA-4289-26A39CFBAAE0}"/>
              </a:ext>
            </a:extLst>
          </p:cNvPr>
          <p:cNvSpPr>
            <a:spLocks noGrp="1"/>
          </p:cNvSpPr>
          <p:nvPr>
            <p:ph type="title"/>
          </p:nvPr>
        </p:nvSpPr>
        <p:spPr>
          <a:xfrm>
            <a:off x="598503" y="193906"/>
            <a:ext cx="10515600" cy="487131"/>
          </a:xfrm>
        </p:spPr>
        <p:txBody>
          <a:bodyPr>
            <a:normAutofit/>
          </a:bodyPr>
          <a:lstStyle/>
          <a:p>
            <a:r>
              <a:rPr lang="en-US" sz="2800" dirty="0"/>
              <a:t>Wireframe Notes – 7.1.1 – CRUD Role</a:t>
            </a:r>
          </a:p>
        </p:txBody>
      </p:sp>
      <p:sp>
        <p:nvSpPr>
          <p:cNvPr id="4" name="Date Placeholder 3">
            <a:extLst>
              <a:ext uri="{FF2B5EF4-FFF2-40B4-BE49-F238E27FC236}">
                <a16:creationId xmlns:a16="http://schemas.microsoft.com/office/drawing/2014/main" id="{AA8965CC-EEE0-D5CD-8C24-8F78E8C78761}"/>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DBBE9C01-2988-A3E0-7268-206CAB9220F1}"/>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60</a:t>
            </a:fld>
            <a:endParaRPr lang="en-US"/>
          </a:p>
        </p:txBody>
      </p:sp>
      <p:pic>
        <p:nvPicPr>
          <p:cNvPr id="6" name="Picture 5">
            <a:extLst>
              <a:ext uri="{FF2B5EF4-FFF2-40B4-BE49-F238E27FC236}">
                <a16:creationId xmlns:a16="http://schemas.microsoft.com/office/drawing/2014/main" id="{31647928-0930-A568-3556-2A1B6FC737AA}"/>
              </a:ext>
            </a:extLst>
          </p:cNvPr>
          <p:cNvPicPr>
            <a:picLocks noChangeAspect="1"/>
          </p:cNvPicPr>
          <p:nvPr/>
        </p:nvPicPr>
        <p:blipFill>
          <a:blip r:embed="rId4"/>
          <a:stretch>
            <a:fillRect/>
          </a:stretch>
        </p:blipFill>
        <p:spPr>
          <a:xfrm>
            <a:off x="664109" y="678935"/>
            <a:ext cx="9516211" cy="5679517"/>
          </a:xfrm>
          <a:prstGeom prst="rect">
            <a:avLst/>
          </a:prstGeom>
        </p:spPr>
      </p:pic>
    </p:spTree>
    <p:extLst>
      <p:ext uri="{BB962C8B-B14F-4D97-AF65-F5344CB8AC3E}">
        <p14:creationId xmlns:p14="http://schemas.microsoft.com/office/powerpoint/2010/main" val="189355083"/>
      </p:ext>
    </p:extLst>
  </p:cSld>
  <p:clrMapOvr>
    <a:masterClrMapping/>
  </p:clrMapOvr>
  <p:extLst>
    <p:ext uri="{6950BFC3-D8DA-4A85-94F7-54DA5524770B}">
      <p188:commentRel xmlns:p188="http://schemas.microsoft.com/office/powerpoint/2018/8/main" r:id="rId3"/>
    </p:ext>
  </p:extLs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D107F-95BF-53F3-27F0-1AF188CADE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51A447-28DA-1A91-C7FE-8C8E67421EC7}"/>
              </a:ext>
            </a:extLst>
          </p:cNvPr>
          <p:cNvSpPr>
            <a:spLocks noGrp="1"/>
          </p:cNvSpPr>
          <p:nvPr>
            <p:ph type="title"/>
          </p:nvPr>
        </p:nvSpPr>
        <p:spPr>
          <a:xfrm>
            <a:off x="598503" y="193906"/>
            <a:ext cx="10515600" cy="487131"/>
          </a:xfrm>
        </p:spPr>
        <p:txBody>
          <a:bodyPr>
            <a:normAutofit/>
          </a:bodyPr>
          <a:lstStyle/>
          <a:p>
            <a:r>
              <a:rPr lang="en-US" sz="2800" dirty="0"/>
              <a:t>Wireframe Notes – 7.2 – User Management</a:t>
            </a:r>
          </a:p>
        </p:txBody>
      </p:sp>
      <p:sp>
        <p:nvSpPr>
          <p:cNvPr id="4" name="Date Placeholder 3">
            <a:extLst>
              <a:ext uri="{FF2B5EF4-FFF2-40B4-BE49-F238E27FC236}">
                <a16:creationId xmlns:a16="http://schemas.microsoft.com/office/drawing/2014/main" id="{584F21E2-54F7-3A2C-394B-28B481FCEB0A}"/>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F8513A3A-90B5-A7D8-A005-FCE3C22E1C76}"/>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61</a:t>
            </a:fld>
            <a:endParaRPr lang="en-US"/>
          </a:p>
        </p:txBody>
      </p:sp>
      <p:sp>
        <p:nvSpPr>
          <p:cNvPr id="7" name="TextBox 6">
            <a:extLst>
              <a:ext uri="{FF2B5EF4-FFF2-40B4-BE49-F238E27FC236}">
                <a16:creationId xmlns:a16="http://schemas.microsoft.com/office/drawing/2014/main" id="{3EACE0A1-C0D6-1185-3C45-A2573D884E7A}"/>
              </a:ext>
            </a:extLst>
          </p:cNvPr>
          <p:cNvSpPr txBox="1"/>
          <p:nvPr/>
        </p:nvSpPr>
        <p:spPr>
          <a:xfrm>
            <a:off x="8782493" y="136525"/>
            <a:ext cx="3409507" cy="1200329"/>
          </a:xfrm>
          <a:prstGeom prst="rect">
            <a:avLst/>
          </a:prstGeom>
          <a:noFill/>
        </p:spPr>
        <p:txBody>
          <a:bodyPr wrap="square">
            <a:spAutoFit/>
          </a:bodyPr>
          <a:lstStyle/>
          <a:p>
            <a:pPr marL="171450" marR="2000" indent="-171450" algn="l" rtl="0">
              <a:buSzPts val="120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This is the Users (Roles) Admin View.</a:t>
            </a:r>
          </a:p>
          <a:p>
            <a:pPr marL="171450" marR="2000" indent="-1714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Add a new User.</a:t>
            </a:r>
          </a:p>
          <a:p>
            <a:pPr marL="171450" marR="2000" indent="-1714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Edit a selected current User.</a:t>
            </a:r>
          </a:p>
          <a:p>
            <a:pPr marL="171450" marR="2000" indent="-1714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an only Edit one user at a time.</a:t>
            </a:r>
          </a:p>
          <a:p>
            <a:pPr marL="171450" marR="2000" indent="-1714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navigate between admin screens via navigation.</a:t>
            </a:r>
            <a:endParaRPr lang="en-US" sz="1200" dirty="0">
              <a:latin typeface="Century Gothic" panose="020B0502020202020204" pitchFamily="34" charset="0"/>
            </a:endParaRPr>
          </a:p>
        </p:txBody>
      </p:sp>
      <p:pic>
        <p:nvPicPr>
          <p:cNvPr id="6" name="Picture 5">
            <a:extLst>
              <a:ext uri="{FF2B5EF4-FFF2-40B4-BE49-F238E27FC236}">
                <a16:creationId xmlns:a16="http://schemas.microsoft.com/office/drawing/2014/main" id="{CBEE307D-E206-B1D7-01D4-E5AF1A6AC077}"/>
              </a:ext>
            </a:extLst>
          </p:cNvPr>
          <p:cNvPicPr>
            <a:picLocks noChangeAspect="1"/>
          </p:cNvPicPr>
          <p:nvPr/>
        </p:nvPicPr>
        <p:blipFill>
          <a:blip r:embed="rId4"/>
          <a:stretch>
            <a:fillRect/>
          </a:stretch>
        </p:blipFill>
        <p:spPr>
          <a:xfrm>
            <a:off x="598503" y="681037"/>
            <a:ext cx="8322935" cy="5533050"/>
          </a:xfrm>
          <a:prstGeom prst="rect">
            <a:avLst/>
          </a:prstGeom>
        </p:spPr>
      </p:pic>
    </p:spTree>
    <p:extLst>
      <p:ext uri="{BB962C8B-B14F-4D97-AF65-F5344CB8AC3E}">
        <p14:creationId xmlns:p14="http://schemas.microsoft.com/office/powerpoint/2010/main" val="227883026"/>
      </p:ext>
    </p:extLst>
  </p:cSld>
  <p:clrMapOvr>
    <a:masterClrMapping/>
  </p:clrMapOvr>
  <p:extLst>
    <p:ext uri="{6950BFC3-D8DA-4A85-94F7-54DA5524770B}">
      <p188:commentRel xmlns:p188="http://schemas.microsoft.com/office/powerpoint/2018/8/main" r:id="rId3"/>
    </p:ext>
  </p:extLs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101EA-261E-810A-3ADC-850475262D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0F181B-AD3F-0C82-3992-FB0D8C5773E7}"/>
              </a:ext>
            </a:extLst>
          </p:cNvPr>
          <p:cNvSpPr>
            <a:spLocks noGrp="1"/>
          </p:cNvSpPr>
          <p:nvPr>
            <p:ph type="title"/>
          </p:nvPr>
        </p:nvSpPr>
        <p:spPr>
          <a:xfrm>
            <a:off x="598503" y="193906"/>
            <a:ext cx="10515600" cy="487131"/>
          </a:xfrm>
        </p:spPr>
        <p:txBody>
          <a:bodyPr>
            <a:normAutofit/>
          </a:bodyPr>
          <a:lstStyle/>
          <a:p>
            <a:r>
              <a:rPr lang="en-US" sz="2800" dirty="0"/>
              <a:t>Wireframe Notes – 7.2.1 – CRUD User (Add/Edit)</a:t>
            </a:r>
          </a:p>
        </p:txBody>
      </p:sp>
      <p:sp>
        <p:nvSpPr>
          <p:cNvPr id="4" name="Date Placeholder 3">
            <a:extLst>
              <a:ext uri="{FF2B5EF4-FFF2-40B4-BE49-F238E27FC236}">
                <a16:creationId xmlns:a16="http://schemas.microsoft.com/office/drawing/2014/main" id="{81470CDF-AE8E-9C56-6DF2-D0E537B3DFED}"/>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1057F635-90FA-F29B-F608-D27675FC1887}"/>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62</a:t>
            </a:fld>
            <a:endParaRPr lang="en-US"/>
          </a:p>
        </p:txBody>
      </p:sp>
      <p:pic>
        <p:nvPicPr>
          <p:cNvPr id="6" name="Picture 5">
            <a:extLst>
              <a:ext uri="{FF2B5EF4-FFF2-40B4-BE49-F238E27FC236}">
                <a16:creationId xmlns:a16="http://schemas.microsoft.com/office/drawing/2014/main" id="{3A787959-227E-7D03-5F15-943CD7D9BA6A}"/>
              </a:ext>
            </a:extLst>
          </p:cNvPr>
          <p:cNvPicPr>
            <a:picLocks noChangeAspect="1"/>
          </p:cNvPicPr>
          <p:nvPr/>
        </p:nvPicPr>
        <p:blipFill>
          <a:blip r:embed="rId4"/>
          <a:stretch>
            <a:fillRect/>
          </a:stretch>
        </p:blipFill>
        <p:spPr>
          <a:xfrm>
            <a:off x="598503" y="707621"/>
            <a:ext cx="4013993" cy="6088285"/>
          </a:xfrm>
          <a:prstGeom prst="rect">
            <a:avLst/>
          </a:prstGeom>
          <a:ln>
            <a:solidFill>
              <a:schemeClr val="bg1">
                <a:lumMod val="85000"/>
              </a:schemeClr>
            </a:solidFill>
          </a:ln>
        </p:spPr>
      </p:pic>
      <p:pic>
        <p:nvPicPr>
          <p:cNvPr id="8" name="Picture 7">
            <a:extLst>
              <a:ext uri="{FF2B5EF4-FFF2-40B4-BE49-F238E27FC236}">
                <a16:creationId xmlns:a16="http://schemas.microsoft.com/office/drawing/2014/main" id="{7F3B007C-2A5B-4437-06C2-44444D2EEF92}"/>
              </a:ext>
            </a:extLst>
          </p:cNvPr>
          <p:cNvPicPr>
            <a:picLocks noChangeAspect="1"/>
          </p:cNvPicPr>
          <p:nvPr/>
        </p:nvPicPr>
        <p:blipFill>
          <a:blip r:embed="rId5"/>
          <a:stretch>
            <a:fillRect/>
          </a:stretch>
        </p:blipFill>
        <p:spPr>
          <a:xfrm>
            <a:off x="5701696" y="718254"/>
            <a:ext cx="4027146" cy="6088284"/>
          </a:xfrm>
          <a:prstGeom prst="rect">
            <a:avLst/>
          </a:prstGeom>
          <a:ln w="3175">
            <a:solidFill>
              <a:schemeClr val="bg1">
                <a:lumMod val="85000"/>
              </a:schemeClr>
            </a:solidFill>
          </a:ln>
        </p:spPr>
      </p:pic>
    </p:spTree>
    <p:extLst>
      <p:ext uri="{BB962C8B-B14F-4D97-AF65-F5344CB8AC3E}">
        <p14:creationId xmlns:p14="http://schemas.microsoft.com/office/powerpoint/2010/main" val="1771833481"/>
      </p:ext>
    </p:extLst>
  </p:cSld>
  <p:clrMapOvr>
    <a:masterClrMapping/>
  </p:clrMapOvr>
  <p:extLst>
    <p:ext uri="{6950BFC3-D8DA-4A85-94F7-54DA5524770B}">
      <p188:commentRel xmlns:p188="http://schemas.microsoft.com/office/powerpoint/2018/8/main" r:id="rId3"/>
    </p:ext>
  </p:extLs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729A2-1BA1-C19A-3E8E-5A621EA9EBC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BBCD9D3-9342-CA5E-8DBC-D4D05099833A}"/>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6B54D0BE-647C-0D0D-D590-422FFE979067}"/>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63</a:t>
            </a:fld>
            <a:endParaRPr lang="en-US"/>
          </a:p>
        </p:txBody>
      </p:sp>
      <p:graphicFrame>
        <p:nvGraphicFramePr>
          <p:cNvPr id="3" name="Table 2">
            <a:extLst>
              <a:ext uri="{FF2B5EF4-FFF2-40B4-BE49-F238E27FC236}">
                <a16:creationId xmlns:a16="http://schemas.microsoft.com/office/drawing/2014/main" id="{CDC7B4C1-F485-7598-9713-7EBD9EFD787F}"/>
              </a:ext>
            </a:extLst>
          </p:cNvPr>
          <p:cNvGraphicFramePr>
            <a:graphicFrameLocks noGrp="1"/>
          </p:cNvGraphicFramePr>
          <p:nvPr>
            <p:extLst>
              <p:ext uri="{D42A27DB-BD31-4B8C-83A1-F6EECF244321}">
                <p14:modId xmlns:p14="http://schemas.microsoft.com/office/powerpoint/2010/main" val="2674295597"/>
              </p:ext>
            </p:extLst>
          </p:nvPr>
        </p:nvGraphicFramePr>
        <p:xfrm>
          <a:off x="598501" y="892926"/>
          <a:ext cx="11156353" cy="3833225"/>
        </p:xfrm>
        <a:graphic>
          <a:graphicData uri="http://schemas.openxmlformats.org/drawingml/2006/table">
            <a:tbl>
              <a:tblPr>
                <a:noFill/>
                <a:tableStyleId>{5C22544A-7EE6-4342-B048-85BDC9FD1C3A}</a:tableStyleId>
              </a:tblPr>
              <a:tblGrid>
                <a:gridCol w="2335469">
                  <a:extLst>
                    <a:ext uri="{9D8B030D-6E8A-4147-A177-3AD203B41FA5}">
                      <a16:colId xmlns:a16="http://schemas.microsoft.com/office/drawing/2014/main" val="1702428333"/>
                    </a:ext>
                  </a:extLst>
                </a:gridCol>
                <a:gridCol w="4669827">
                  <a:extLst>
                    <a:ext uri="{9D8B030D-6E8A-4147-A177-3AD203B41FA5}">
                      <a16:colId xmlns:a16="http://schemas.microsoft.com/office/drawing/2014/main" val="2512105456"/>
                    </a:ext>
                  </a:extLst>
                </a:gridCol>
                <a:gridCol w="1923179">
                  <a:extLst>
                    <a:ext uri="{9D8B030D-6E8A-4147-A177-3AD203B41FA5}">
                      <a16:colId xmlns:a16="http://schemas.microsoft.com/office/drawing/2014/main" val="188091098"/>
                    </a:ext>
                  </a:extLst>
                </a:gridCol>
                <a:gridCol w="2227878">
                  <a:extLst>
                    <a:ext uri="{9D8B030D-6E8A-4147-A177-3AD203B41FA5}">
                      <a16:colId xmlns:a16="http://schemas.microsoft.com/office/drawing/2014/main" val="3766690652"/>
                    </a:ext>
                  </a:extLst>
                </a:gridCol>
              </a:tblGrid>
              <a:tr h="766645">
                <a:tc>
                  <a:txBody>
                    <a:bodyPr/>
                    <a:lstStyle/>
                    <a:p>
                      <a:pPr algn="l" fontAlgn="t">
                        <a:buNone/>
                      </a:pPr>
                      <a:r>
                        <a:rPr lang="en-US" sz="1700" b="1" u="none" strike="noStrike" dirty="0">
                          <a:solidFill>
                            <a:schemeClr val="tx1">
                              <a:lumMod val="75000"/>
                              <a:lumOff val="25000"/>
                            </a:schemeClr>
                          </a:solidFill>
                          <a:effectLst/>
                          <a:latin typeface="Century Gothic" panose="020B0502020202020204" pitchFamily="34" charset="0"/>
                        </a:rPr>
                        <a:t>Method</a:t>
                      </a:r>
                      <a:endParaRPr lang="en-US" sz="1700" b="1" i="0" u="none" strike="noStrike" dirty="0">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b="1" u="none" strike="noStrike" dirty="0">
                          <a:solidFill>
                            <a:schemeClr val="tx1">
                              <a:lumMod val="75000"/>
                              <a:lumOff val="25000"/>
                            </a:schemeClr>
                          </a:solidFill>
                          <a:effectLst/>
                          <a:latin typeface="Century Gothic" panose="020B0502020202020204" pitchFamily="34" charset="0"/>
                        </a:rPr>
                        <a:t>Description</a:t>
                      </a:r>
                      <a:endParaRPr lang="en-US" sz="1700" b="1" i="0" u="none" strike="noStrike" dirty="0">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b="1" u="none" strike="noStrike" dirty="0">
                          <a:solidFill>
                            <a:schemeClr val="tx1">
                              <a:lumMod val="75000"/>
                              <a:lumOff val="25000"/>
                            </a:schemeClr>
                          </a:solidFill>
                          <a:effectLst/>
                          <a:latin typeface="Century Gothic" panose="020B0502020202020204" pitchFamily="34" charset="0"/>
                        </a:rPr>
                        <a:t>Security Level</a:t>
                      </a:r>
                      <a:endParaRPr lang="en-US" sz="1700" b="1" i="0" u="none" strike="noStrike" dirty="0">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b="1" u="none" strike="noStrike" dirty="0">
                          <a:solidFill>
                            <a:schemeClr val="tx1">
                              <a:lumMod val="75000"/>
                              <a:lumOff val="25000"/>
                            </a:schemeClr>
                          </a:solidFill>
                          <a:effectLst/>
                          <a:latin typeface="Century Gothic" panose="020B0502020202020204" pitchFamily="34" charset="0"/>
                        </a:rPr>
                        <a:t>Recommended</a:t>
                      </a:r>
                      <a:endParaRPr lang="en-US" sz="1700" b="1" i="0" u="none" strike="noStrike" dirty="0">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val="2294896522"/>
                  </a:ext>
                </a:extLst>
              </a:tr>
              <a:tr h="1031289">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TOTP Authenticator</a:t>
                      </a:r>
                      <a:endParaRPr lang="en-US" sz="1700" b="1"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Google Authenticator, Microsoft Authenticator, Authy (via QR code/secret)</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High</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dirty="0">
                          <a:solidFill>
                            <a:schemeClr val="tx1">
                              <a:lumMod val="75000"/>
                              <a:lumOff val="25000"/>
                            </a:schemeClr>
                          </a:solidFill>
                          <a:effectLst/>
                          <a:latin typeface="Century Gothic" panose="020B0502020202020204" pitchFamily="34" charset="0"/>
                        </a:rPr>
                        <a:t>Default</a:t>
                      </a:r>
                      <a:endParaRPr lang="en-US" sz="1700" b="0" i="0" u="none" strike="noStrike" dirty="0">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val="781725828"/>
                  </a:ext>
                </a:extLst>
              </a:tr>
              <a:tr h="766645">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SMS OTP</a:t>
                      </a:r>
                      <a:endParaRPr lang="en-US" sz="1700" b="1"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One-time code sent via text message</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Medium</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dirty="0">
                          <a:solidFill>
                            <a:schemeClr val="tx1">
                              <a:lumMod val="75000"/>
                              <a:lumOff val="25000"/>
                            </a:schemeClr>
                          </a:solidFill>
                          <a:effectLst/>
                          <a:latin typeface="Century Gothic" panose="020B0502020202020204" pitchFamily="34" charset="0"/>
                        </a:rPr>
                        <a:t>Optional</a:t>
                      </a:r>
                      <a:endParaRPr lang="en-US" sz="1700" b="0" i="0" u="none" strike="noStrike" dirty="0">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val="950694585"/>
                  </a:ext>
                </a:extLst>
              </a:tr>
              <a:tr h="502001">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Email OTP</a:t>
                      </a:r>
                      <a:endParaRPr lang="en-US" sz="1700" b="1"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One-time code sent to email</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Medium</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Optional</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val="114904855"/>
                  </a:ext>
                </a:extLst>
              </a:tr>
              <a:tr h="766645">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Backup Codes</a:t>
                      </a:r>
                      <a:endParaRPr lang="en-US" sz="1700" b="1"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Downloadable list of one-time recovery codes</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High</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dirty="0">
                          <a:solidFill>
                            <a:schemeClr val="tx1">
                              <a:lumMod val="75000"/>
                              <a:lumOff val="25000"/>
                            </a:schemeClr>
                          </a:solidFill>
                          <a:effectLst/>
                          <a:latin typeface="Century Gothic" panose="020B0502020202020204" pitchFamily="34" charset="0"/>
                        </a:rPr>
                        <a:t>Required upon setup</a:t>
                      </a:r>
                      <a:endParaRPr lang="en-US" sz="1700" b="0" i="0" u="none" strike="noStrike" dirty="0">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val="3534083057"/>
                  </a:ext>
                </a:extLst>
              </a:tr>
            </a:tbl>
          </a:graphicData>
        </a:graphic>
      </p:graphicFrame>
      <p:sp>
        <p:nvSpPr>
          <p:cNvPr id="7" name="TextBox 6">
            <a:extLst>
              <a:ext uri="{FF2B5EF4-FFF2-40B4-BE49-F238E27FC236}">
                <a16:creationId xmlns:a16="http://schemas.microsoft.com/office/drawing/2014/main" id="{4BC92F4A-BD73-1847-C557-F54ABDF48EF9}"/>
              </a:ext>
            </a:extLst>
          </p:cNvPr>
          <p:cNvSpPr txBox="1"/>
          <p:nvPr/>
        </p:nvSpPr>
        <p:spPr>
          <a:xfrm>
            <a:off x="534402" y="4938040"/>
            <a:ext cx="8898355" cy="1200329"/>
          </a:xfrm>
          <a:prstGeom prst="rect">
            <a:avLst/>
          </a:prstGeom>
          <a:noFill/>
        </p:spPr>
        <p:txBody>
          <a:bodyPr wrap="square">
            <a:spAutoFit/>
          </a:bodyPr>
          <a:lstStyle/>
          <a:p>
            <a:pPr>
              <a:buNone/>
            </a:pPr>
            <a:r>
              <a:rPr lang="en-US" dirty="0">
                <a:latin typeface="Century Gothic" panose="020B0502020202020204" pitchFamily="34" charset="0"/>
              </a:rPr>
              <a:t>For Admin Role</a:t>
            </a:r>
          </a:p>
          <a:p>
            <a:pPr marL="285750" indent="-285750">
              <a:buFont typeface="Arial" panose="020B0604020202020204" pitchFamily="34" charset="0"/>
              <a:buChar char="•"/>
            </a:pPr>
            <a:r>
              <a:rPr lang="en-US" dirty="0">
                <a:latin typeface="Century Gothic" panose="020B0502020202020204" pitchFamily="34" charset="0"/>
              </a:rPr>
              <a:t>Enforce TOTP</a:t>
            </a:r>
          </a:p>
          <a:p>
            <a:pPr marL="285750" indent="-285750">
              <a:buFont typeface="Arial" panose="020B0604020202020204" pitchFamily="34" charset="0"/>
              <a:buChar char="•"/>
            </a:pPr>
            <a:r>
              <a:rPr lang="en-US" dirty="0">
                <a:latin typeface="Century Gothic" panose="020B0502020202020204" pitchFamily="34" charset="0"/>
              </a:rPr>
              <a:t>Disallow SMS-only</a:t>
            </a:r>
          </a:p>
          <a:p>
            <a:pPr marL="285750" indent="-285750">
              <a:buFont typeface="Arial" panose="020B0604020202020204" pitchFamily="34" charset="0"/>
              <a:buChar char="•"/>
            </a:pPr>
            <a:r>
              <a:rPr lang="en-US" dirty="0">
                <a:latin typeface="Century Gothic" panose="020B0502020202020204" pitchFamily="34" charset="0"/>
              </a:rPr>
              <a:t>Require periodic re-authentication for critical operations</a:t>
            </a:r>
          </a:p>
        </p:txBody>
      </p:sp>
      <p:sp>
        <p:nvSpPr>
          <p:cNvPr id="10" name="Title 1">
            <a:extLst>
              <a:ext uri="{FF2B5EF4-FFF2-40B4-BE49-F238E27FC236}">
                <a16:creationId xmlns:a16="http://schemas.microsoft.com/office/drawing/2014/main" id="{3D15CEFB-F06C-02AE-44EF-F83C948F6DBE}"/>
              </a:ext>
            </a:extLst>
          </p:cNvPr>
          <p:cNvSpPr txBox="1">
            <a:spLocks/>
          </p:cNvSpPr>
          <p:nvPr/>
        </p:nvSpPr>
        <p:spPr>
          <a:xfrm>
            <a:off x="750903" y="346306"/>
            <a:ext cx="10515600" cy="487131"/>
          </a:xfrm>
          <a:prstGeom prst="rect">
            <a:avLst/>
          </a:prstGeom>
          <a:ln cmpd="dbl">
            <a:noFill/>
            <a:extLst>
              <a:ext uri="{C807C97D-BFC1-408E-A445-0C87EB9F89A2}">
                <ask:lineSketchStyleProps xmlns:ask="http://schemas.microsoft.com/office/drawing/2018/sketchyshapes" sd="1219033472">
                  <a:custGeom>
                    <a:avLst/>
                    <a:gdLst>
                      <a:gd name="connsiteX0" fmla="*/ 0 w 10515600"/>
                      <a:gd name="connsiteY0" fmla="*/ 0 h 487131"/>
                      <a:gd name="connsiteX1" fmla="*/ 10515600 w 10515600"/>
                      <a:gd name="connsiteY1" fmla="*/ 0 h 487131"/>
                      <a:gd name="connsiteX2" fmla="*/ 10515600 w 10515600"/>
                      <a:gd name="connsiteY2" fmla="*/ 487131 h 487131"/>
                      <a:gd name="connsiteX3" fmla="*/ 0 w 10515600"/>
                      <a:gd name="connsiteY3" fmla="*/ 487131 h 487131"/>
                      <a:gd name="connsiteX4" fmla="*/ 0 w 10515600"/>
                      <a:gd name="connsiteY4" fmla="*/ 0 h 487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0" h="487131" fill="none" extrusionOk="0">
                        <a:moveTo>
                          <a:pt x="0" y="0"/>
                        </a:moveTo>
                        <a:cubicBezTo>
                          <a:pt x="1336723" y="-49533"/>
                          <a:pt x="5786221" y="-14809"/>
                          <a:pt x="10515600" y="0"/>
                        </a:cubicBezTo>
                        <a:cubicBezTo>
                          <a:pt x="10494285" y="123102"/>
                          <a:pt x="10533522" y="381239"/>
                          <a:pt x="10515600" y="487131"/>
                        </a:cubicBezTo>
                        <a:cubicBezTo>
                          <a:pt x="5888664" y="438900"/>
                          <a:pt x="3324145" y="571586"/>
                          <a:pt x="0" y="487131"/>
                        </a:cubicBezTo>
                        <a:cubicBezTo>
                          <a:pt x="-33088" y="375820"/>
                          <a:pt x="-40187" y="169403"/>
                          <a:pt x="0" y="0"/>
                        </a:cubicBezTo>
                        <a:close/>
                      </a:path>
                      <a:path w="10515600" h="487131" stroke="0" extrusionOk="0">
                        <a:moveTo>
                          <a:pt x="0" y="0"/>
                        </a:moveTo>
                        <a:cubicBezTo>
                          <a:pt x="2385074" y="118645"/>
                          <a:pt x="7736396" y="116012"/>
                          <a:pt x="10515600" y="0"/>
                        </a:cubicBezTo>
                        <a:cubicBezTo>
                          <a:pt x="10490307" y="158588"/>
                          <a:pt x="10503601" y="250307"/>
                          <a:pt x="10515600" y="487131"/>
                        </a:cubicBezTo>
                        <a:cubicBezTo>
                          <a:pt x="8570514" y="621731"/>
                          <a:pt x="4733866" y="329935"/>
                          <a:pt x="0" y="487131"/>
                        </a:cubicBezTo>
                        <a:cubicBezTo>
                          <a:pt x="36258" y="435268"/>
                          <a:pt x="-4662" y="166128"/>
                          <a:pt x="0" y="0"/>
                        </a:cubicBezTo>
                        <a:close/>
                      </a:path>
                    </a:pathLst>
                  </a:custGeom>
                  <ask:type>
                    <ask:lineSketchNone/>
                  </ask:type>
                </ask:lineSketchStyleProps>
              </a:ext>
            </a:extLst>
          </a:ln>
        </p:spPr>
        <p:txBody>
          <a:bodyPr>
            <a:normAutofit/>
          </a:bodyPr>
          <a:lstStyle>
            <a:lvl1pPr algn="l" defTabSz="914400" rtl="0" eaLnBrk="1" latinLnBrk="0" hangingPunct="1">
              <a:lnSpc>
                <a:spcPct val="90000"/>
              </a:lnSpc>
              <a:spcBef>
                <a:spcPct val="0"/>
              </a:spcBef>
              <a:buNone/>
              <a:defRPr sz="4400" kern="1200">
                <a:solidFill>
                  <a:schemeClr val="tx1"/>
                </a:solidFill>
                <a:latin typeface="Century Gothic" panose="020B0502020202020204" pitchFamily="34" charset="0"/>
                <a:ea typeface="+mj-ea"/>
                <a:cs typeface="+mj-cs"/>
              </a:defRPr>
            </a:lvl1pPr>
          </a:lstStyle>
          <a:p>
            <a:r>
              <a:rPr lang="en-US" sz="2800"/>
              <a:t>Wireframe Notes – 7.2.1 – CRUD User</a:t>
            </a:r>
            <a:endParaRPr lang="en-US" sz="2800" dirty="0"/>
          </a:p>
        </p:txBody>
      </p:sp>
    </p:spTree>
    <p:extLst>
      <p:ext uri="{BB962C8B-B14F-4D97-AF65-F5344CB8AC3E}">
        <p14:creationId xmlns:p14="http://schemas.microsoft.com/office/powerpoint/2010/main" val="4293751006"/>
      </p:ext>
    </p:extLst>
  </p:cSld>
  <p:clrMapOvr>
    <a:masterClrMapping/>
  </p:clrMapOvr>
  <p:extLst>
    <p:ext uri="{6950BFC3-D8DA-4A85-94F7-54DA5524770B}">
      <p188:commentRel xmlns:p188="http://schemas.microsoft.com/office/powerpoint/2018/8/main" r:id="rId3"/>
    </p:ext>
  </p:extLs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CD150-DD70-2192-890B-00D9172C2C5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340C7C9-853B-9C46-6EFA-560B66951D7B}"/>
              </a:ext>
            </a:extLst>
          </p:cNvPr>
          <p:cNvSpPr txBox="1"/>
          <p:nvPr/>
        </p:nvSpPr>
        <p:spPr>
          <a:xfrm>
            <a:off x="598503" y="870453"/>
            <a:ext cx="8738002" cy="451823"/>
          </a:xfrm>
          <a:prstGeom prst="rect">
            <a:avLst/>
          </a:prstGeom>
        </p:spPr>
        <p:txBody>
          <a:bodyPr vert="horz" lIns="91440" tIns="45720" rIns="91440" bIns="45720" rtlCol="0">
            <a:normAutofit/>
          </a:bodyPr>
          <a:lstStyle/>
          <a:p>
            <a:pPr>
              <a:lnSpc>
                <a:spcPct val="90000"/>
              </a:lnSpc>
              <a:spcBef>
                <a:spcPts val="1000"/>
              </a:spcBef>
            </a:pPr>
            <a:r>
              <a:rPr lang="en-US" sz="2000" i="0" u="none" strike="noStrike" dirty="0">
                <a:effectLst/>
                <a:latin typeface="Century Gothic" panose="020B0502020202020204" pitchFamily="34" charset="0"/>
              </a:rPr>
              <a:t>Data to Collect and Securely Store:</a:t>
            </a:r>
            <a:r>
              <a:rPr lang="en-US" sz="2000" dirty="0">
                <a:latin typeface="Century Gothic" panose="020B0502020202020204" pitchFamily="34" charset="0"/>
              </a:rPr>
              <a:t> </a:t>
            </a:r>
          </a:p>
        </p:txBody>
      </p:sp>
      <p:sp>
        <p:nvSpPr>
          <p:cNvPr id="4" name="Date Placeholder 3">
            <a:extLst>
              <a:ext uri="{FF2B5EF4-FFF2-40B4-BE49-F238E27FC236}">
                <a16:creationId xmlns:a16="http://schemas.microsoft.com/office/drawing/2014/main" id="{520ED06F-9146-EDDB-6DFC-DA64D726B88F}"/>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528EFCB7-92D5-87E5-B54C-AD31B1CDE1D5}"/>
              </a:ext>
            </a:extLst>
          </p:cNvPr>
          <p:cNvSpPr>
            <a:spLocks noGrp="1"/>
          </p:cNvSpPr>
          <p:nvPr>
            <p:ph type="sldNum" sz="quarter" idx="12"/>
          </p:nvPr>
        </p:nvSpPr>
        <p:spPr>
          <a:xfrm>
            <a:off x="8610600" y="6356350"/>
            <a:ext cx="1810512" cy="365125"/>
          </a:xfrm>
        </p:spPr>
        <p:txBody>
          <a:bodyPr vert="horz" lIns="91440" tIns="45720" rIns="91440" bIns="45720" rtlCol="0" anchor="ctr">
            <a:normAutofit/>
          </a:bodyPr>
          <a:lstStyle/>
          <a:p>
            <a:pPr>
              <a:spcAft>
                <a:spcPts val="600"/>
              </a:spcAft>
            </a:pPr>
            <a:fld id="{330EA680-D336-4FF7-8B7A-9848BB0A1C32}" type="slidenum">
              <a:rPr lang="en-US" smtClean="0"/>
              <a:pPr>
                <a:spcAft>
                  <a:spcPts val="600"/>
                </a:spcAft>
              </a:pPr>
              <a:t>64</a:t>
            </a:fld>
            <a:endParaRPr lang="en-US"/>
          </a:p>
        </p:txBody>
      </p:sp>
      <p:sp>
        <p:nvSpPr>
          <p:cNvPr id="13" name="Title 1">
            <a:extLst>
              <a:ext uri="{FF2B5EF4-FFF2-40B4-BE49-F238E27FC236}">
                <a16:creationId xmlns:a16="http://schemas.microsoft.com/office/drawing/2014/main" id="{E59ED80D-3677-4E65-B38B-44EB4E6B252A}"/>
              </a:ext>
            </a:extLst>
          </p:cNvPr>
          <p:cNvSpPr txBox="1">
            <a:spLocks/>
          </p:cNvSpPr>
          <p:nvPr/>
        </p:nvSpPr>
        <p:spPr>
          <a:xfrm>
            <a:off x="750903" y="346306"/>
            <a:ext cx="10515600" cy="48713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Century Gothic" panose="020B0502020202020204" pitchFamily="34" charset="0"/>
                <a:ea typeface="+mj-ea"/>
                <a:cs typeface="+mj-cs"/>
              </a:defRPr>
            </a:lvl1pPr>
          </a:lstStyle>
          <a:p>
            <a:r>
              <a:rPr lang="en-US" sz="2800"/>
              <a:t>Wireframe Notes – 7.2.1 – CRUD User</a:t>
            </a:r>
            <a:endParaRPr lang="en-US" sz="2800" dirty="0"/>
          </a:p>
        </p:txBody>
      </p:sp>
      <p:graphicFrame>
        <p:nvGraphicFramePr>
          <p:cNvPr id="3" name="Table 2">
            <a:extLst>
              <a:ext uri="{FF2B5EF4-FFF2-40B4-BE49-F238E27FC236}">
                <a16:creationId xmlns:a16="http://schemas.microsoft.com/office/drawing/2014/main" id="{80D367FC-B17D-DE7E-8840-DFF6C26FB48B}"/>
              </a:ext>
            </a:extLst>
          </p:cNvPr>
          <p:cNvGraphicFramePr>
            <a:graphicFrameLocks noGrp="1"/>
          </p:cNvGraphicFramePr>
          <p:nvPr>
            <p:extLst>
              <p:ext uri="{D42A27DB-BD31-4B8C-83A1-F6EECF244321}">
                <p14:modId xmlns:p14="http://schemas.microsoft.com/office/powerpoint/2010/main" val="1765731403"/>
              </p:ext>
            </p:extLst>
          </p:nvPr>
        </p:nvGraphicFramePr>
        <p:xfrm>
          <a:off x="699294" y="1458913"/>
          <a:ext cx="8039100" cy="2286000"/>
        </p:xfrm>
        <a:graphic>
          <a:graphicData uri="http://schemas.openxmlformats.org/drawingml/2006/table">
            <a:tbl>
              <a:tblPr/>
              <a:tblGrid>
                <a:gridCol w="3086100">
                  <a:extLst>
                    <a:ext uri="{9D8B030D-6E8A-4147-A177-3AD203B41FA5}">
                      <a16:colId xmlns:a16="http://schemas.microsoft.com/office/drawing/2014/main" val="866787362"/>
                    </a:ext>
                  </a:extLst>
                </a:gridCol>
                <a:gridCol w="4953000">
                  <a:extLst>
                    <a:ext uri="{9D8B030D-6E8A-4147-A177-3AD203B41FA5}">
                      <a16:colId xmlns:a16="http://schemas.microsoft.com/office/drawing/2014/main" val="577137070"/>
                    </a:ext>
                  </a:extLst>
                </a:gridCol>
              </a:tblGrid>
              <a:tr h="228600">
                <a:tc>
                  <a:txBody>
                    <a:bodyPr/>
                    <a:lstStyle/>
                    <a:p>
                      <a:pPr algn="l" rtl="0" fontAlgn="ctr">
                        <a:buNone/>
                      </a:pPr>
                      <a:r>
                        <a:rPr lang="en-US" sz="1400" b="1" i="0" u="none" strike="noStrike">
                          <a:solidFill>
                            <a:srgbClr val="000000"/>
                          </a:solidFill>
                          <a:effectLst/>
                          <a:latin typeface="Century Gothic" panose="020B0502020202020204" pitchFamily="34" charset="0"/>
                        </a:rPr>
                        <a:t>Field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1" i="0" u="none" strike="noStrike">
                          <a:solidFill>
                            <a:srgbClr val="000000"/>
                          </a:solidFill>
                          <a:effectLst/>
                          <a:latin typeface="Century Gothic" panose="020B0502020202020204" pitchFamily="34" charset="0"/>
                        </a:rPr>
                        <a:t>Use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84785207"/>
                  </a:ext>
                </a:extLst>
              </a:tr>
              <a:tr h="228600">
                <a:tc>
                  <a:txBody>
                    <a:bodyPr/>
                    <a:lstStyle/>
                    <a:p>
                      <a:pPr algn="l" rtl="0" fontAlgn="ctr">
                        <a:buNone/>
                      </a:pPr>
                      <a:r>
                        <a:rPr lang="en-US" sz="1400" b="0" i="0" u="none" strike="noStrike">
                          <a:solidFill>
                            <a:srgbClr val="000000"/>
                          </a:solidFill>
                          <a:effectLst/>
                          <a:latin typeface="Century Gothic" panose="020B0502020202020204" pitchFamily="34" charset="0"/>
                        </a:rPr>
                        <a:t>email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0" i="0" u="none" strike="noStrike">
                          <a:solidFill>
                            <a:srgbClr val="000000"/>
                          </a:solidFill>
                          <a:effectLst/>
                          <a:latin typeface="Century Gothic" panose="020B0502020202020204" pitchFamily="34" charset="0"/>
                        </a:rPr>
                        <a:t>Login and recovery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18066662"/>
                  </a:ext>
                </a:extLst>
              </a:tr>
              <a:tr h="228600">
                <a:tc>
                  <a:txBody>
                    <a:bodyPr/>
                    <a:lstStyle/>
                    <a:p>
                      <a:pPr algn="l" rtl="0" fontAlgn="ctr">
                        <a:buNone/>
                      </a:pPr>
                      <a:r>
                        <a:rPr lang="en-US" sz="1400" b="0" i="0" u="none" strike="noStrike">
                          <a:solidFill>
                            <a:srgbClr val="000000"/>
                          </a:solidFill>
                          <a:effectLst/>
                          <a:latin typeface="Century Gothic" panose="020B0502020202020204" pitchFamily="34" charset="0"/>
                        </a:rPr>
                        <a:t>phone_number (optional)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0" i="0" u="none" strike="noStrike">
                          <a:solidFill>
                            <a:srgbClr val="000000"/>
                          </a:solidFill>
                          <a:effectLst/>
                          <a:latin typeface="Century Gothic" panose="020B0502020202020204" pitchFamily="34" charset="0"/>
                        </a:rPr>
                        <a:t>For SMS OTP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4003037"/>
                  </a:ext>
                </a:extLst>
              </a:tr>
              <a:tr h="228600">
                <a:tc>
                  <a:txBody>
                    <a:bodyPr/>
                    <a:lstStyle/>
                    <a:p>
                      <a:pPr algn="l" rtl="0" fontAlgn="ctr">
                        <a:buNone/>
                      </a:pPr>
                      <a:r>
                        <a:rPr lang="en-US" sz="1400" b="0" i="0" u="none" strike="noStrike">
                          <a:solidFill>
                            <a:srgbClr val="000000"/>
                          </a:solidFill>
                          <a:effectLst/>
                          <a:latin typeface="Century Gothic" panose="020B0502020202020204" pitchFamily="34" charset="0"/>
                        </a:rPr>
                        <a:t>totp_secret (encrypted)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0" i="0" u="none" strike="noStrike">
                          <a:solidFill>
                            <a:srgbClr val="000000"/>
                          </a:solidFill>
                          <a:effectLst/>
                          <a:latin typeface="Century Gothic" panose="020B0502020202020204" pitchFamily="34" charset="0"/>
                        </a:rPr>
                        <a:t>For TOTP verification (base32-encoded)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35019492"/>
                  </a:ext>
                </a:extLst>
              </a:tr>
              <a:tr h="228600">
                <a:tc>
                  <a:txBody>
                    <a:bodyPr/>
                    <a:lstStyle/>
                    <a:p>
                      <a:pPr algn="l" rtl="0" fontAlgn="ctr">
                        <a:buNone/>
                      </a:pPr>
                      <a:r>
                        <a:rPr lang="en-US" sz="1400" b="0" i="0" u="none" strike="noStrike">
                          <a:solidFill>
                            <a:srgbClr val="000000"/>
                          </a:solidFill>
                          <a:effectLst/>
                          <a:latin typeface="Century Gothic" panose="020B0502020202020204" pitchFamily="34" charset="0"/>
                        </a:rPr>
                        <a:t>recovery_codes[]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0" i="0" u="none" strike="noStrike">
                          <a:solidFill>
                            <a:srgbClr val="000000"/>
                          </a:solidFill>
                          <a:effectLst/>
                          <a:latin typeface="Century Gothic" panose="020B0502020202020204" pitchFamily="34" charset="0"/>
                        </a:rPr>
                        <a:t>One-time recovery (hashed or encrypted)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81278433"/>
                  </a:ext>
                </a:extLst>
              </a:tr>
              <a:tr h="228600">
                <a:tc>
                  <a:txBody>
                    <a:bodyPr/>
                    <a:lstStyle/>
                    <a:p>
                      <a:pPr algn="l" rtl="0" fontAlgn="ctr">
                        <a:buNone/>
                      </a:pPr>
                      <a:r>
                        <a:rPr lang="en-US" sz="1400" b="0" i="0" u="none" strike="noStrike">
                          <a:solidFill>
                            <a:srgbClr val="000000"/>
                          </a:solidFill>
                          <a:effectLst/>
                          <a:latin typeface="Century Gothic" panose="020B0502020202020204" pitchFamily="34" charset="0"/>
                        </a:rPr>
                        <a:t>2fa_enabled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0" i="0" u="none" strike="noStrike">
                          <a:solidFill>
                            <a:srgbClr val="000000"/>
                          </a:solidFill>
                          <a:effectLst/>
                          <a:latin typeface="Century Gothic" panose="020B0502020202020204" pitchFamily="34" charset="0"/>
                        </a:rPr>
                        <a:t>Boolean toggle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707088"/>
                  </a:ext>
                </a:extLst>
              </a:tr>
              <a:tr h="228600">
                <a:tc>
                  <a:txBody>
                    <a:bodyPr/>
                    <a:lstStyle/>
                    <a:p>
                      <a:pPr algn="l" rtl="0" fontAlgn="ctr">
                        <a:buNone/>
                      </a:pPr>
                      <a:r>
                        <a:rPr lang="en-US" sz="1400" b="0" i="0" u="none" strike="noStrike">
                          <a:solidFill>
                            <a:srgbClr val="000000"/>
                          </a:solidFill>
                          <a:effectLst/>
                          <a:latin typeface="Century Gothic" panose="020B0502020202020204" pitchFamily="34" charset="0"/>
                        </a:rPr>
                        <a:t>2fa_method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0" i="0" u="none" strike="noStrike">
                          <a:solidFill>
                            <a:srgbClr val="000000"/>
                          </a:solidFill>
                          <a:effectLst/>
                          <a:latin typeface="Century Gothic" panose="020B0502020202020204" pitchFamily="34" charset="0"/>
                        </a:rPr>
                        <a:t>email, sms, totp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18499492"/>
                  </a:ext>
                </a:extLst>
              </a:tr>
              <a:tr h="228600">
                <a:tc>
                  <a:txBody>
                    <a:bodyPr/>
                    <a:lstStyle/>
                    <a:p>
                      <a:pPr algn="l" rtl="0" fontAlgn="ctr">
                        <a:buNone/>
                      </a:pPr>
                      <a:r>
                        <a:rPr lang="en-US" sz="1400" b="0" i="0" u="none" strike="noStrike">
                          <a:solidFill>
                            <a:srgbClr val="000000"/>
                          </a:solidFill>
                          <a:effectLst/>
                          <a:latin typeface="Century Gothic" panose="020B0502020202020204" pitchFamily="34" charset="0"/>
                        </a:rPr>
                        <a:t>mfa_verified_at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0" i="0" u="none" strike="noStrike">
                          <a:solidFill>
                            <a:srgbClr val="000000"/>
                          </a:solidFill>
                          <a:effectLst/>
                          <a:latin typeface="Century Gothic" panose="020B0502020202020204" pitchFamily="34" charset="0"/>
                        </a:rPr>
                        <a:t>Timestamp of last verification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68490897"/>
                  </a:ext>
                </a:extLst>
              </a:tr>
              <a:tr h="228600">
                <a:tc>
                  <a:txBody>
                    <a:bodyPr/>
                    <a:lstStyle/>
                    <a:p>
                      <a:pPr algn="l" rtl="0" fontAlgn="ctr">
                        <a:buNone/>
                      </a:pPr>
                      <a:r>
                        <a:rPr lang="en-US" sz="1400" b="0" i="0" u="none" strike="noStrike">
                          <a:solidFill>
                            <a:srgbClr val="000000"/>
                          </a:solidFill>
                          <a:effectLst/>
                          <a:latin typeface="Century Gothic" panose="020B0502020202020204" pitchFamily="34" charset="0"/>
                        </a:rPr>
                        <a:t>is_admin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0" i="0" u="none" strike="noStrike">
                          <a:solidFill>
                            <a:srgbClr val="000000"/>
                          </a:solidFill>
                          <a:effectLst/>
                          <a:latin typeface="Century Gothic" panose="020B0502020202020204" pitchFamily="34" charset="0"/>
                        </a:rPr>
                        <a:t>Flag for admin access (to enforce stricter MFA policies)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96074962"/>
                  </a:ext>
                </a:extLst>
              </a:tr>
              <a:tr h="228600">
                <a:tc>
                  <a:txBody>
                    <a:bodyPr/>
                    <a:lstStyle/>
                    <a:p>
                      <a:pPr algn="l" rtl="0" fontAlgn="ctr">
                        <a:buNone/>
                      </a:pPr>
                      <a:r>
                        <a:rPr lang="en-US" sz="1400" b="0" i="0" u="none" strike="noStrike">
                          <a:solidFill>
                            <a:srgbClr val="000000"/>
                          </a:solidFill>
                          <a:effectLst/>
                          <a:latin typeface="Century Gothic" panose="020B0502020202020204" pitchFamily="34" charset="0"/>
                        </a:rPr>
                        <a:t>device_tokens[] (opt.)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0" i="0" u="none" strike="noStrike" dirty="0">
                          <a:solidFill>
                            <a:srgbClr val="000000"/>
                          </a:solidFill>
                          <a:effectLst/>
                          <a:latin typeface="Century Gothic" panose="020B0502020202020204" pitchFamily="34" charset="0"/>
                        </a:rPr>
                        <a:t>For device trust or remembered sessions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62652586"/>
                  </a:ext>
                </a:extLst>
              </a:tr>
            </a:tbl>
          </a:graphicData>
        </a:graphic>
      </p:graphicFrame>
    </p:spTree>
    <p:extLst>
      <p:ext uri="{BB962C8B-B14F-4D97-AF65-F5344CB8AC3E}">
        <p14:creationId xmlns:p14="http://schemas.microsoft.com/office/powerpoint/2010/main" val="4071549525"/>
      </p:ext>
    </p:extLst>
  </p:cSld>
  <p:clrMapOvr>
    <a:masterClrMapping/>
  </p:clrMapOvr>
  <p:extLst>
    <p:ext uri="{6950BFC3-D8DA-4A85-94F7-54DA5524770B}">
      <p188:commentRel xmlns:p188="http://schemas.microsoft.com/office/powerpoint/2018/8/main" r:id="rId3"/>
    </p:ext>
  </p:extLs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E2B92-61A0-08BF-5BD2-A48E892B2C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DC2B6C-B6DE-503B-203B-F23FF739B406}"/>
              </a:ext>
            </a:extLst>
          </p:cNvPr>
          <p:cNvSpPr>
            <a:spLocks noGrp="1"/>
          </p:cNvSpPr>
          <p:nvPr>
            <p:ph type="title"/>
          </p:nvPr>
        </p:nvSpPr>
        <p:spPr/>
        <p:txBody>
          <a:bodyPr/>
          <a:lstStyle/>
          <a:p>
            <a:r>
              <a:rPr lang="en-US" sz="2800" dirty="0"/>
              <a:t>Wireframe Notes – 7.3 – Configuration Settings</a:t>
            </a:r>
          </a:p>
        </p:txBody>
      </p:sp>
      <p:sp>
        <p:nvSpPr>
          <p:cNvPr id="3" name="Content Placeholder 2">
            <a:extLst>
              <a:ext uri="{FF2B5EF4-FFF2-40B4-BE49-F238E27FC236}">
                <a16:creationId xmlns:a16="http://schemas.microsoft.com/office/drawing/2014/main" id="{BAF7FB9C-294B-4339-2CD9-94A681F75D6E}"/>
              </a:ext>
            </a:extLst>
          </p:cNvPr>
          <p:cNvSpPr>
            <a:spLocks noGrp="1"/>
          </p:cNvSpPr>
          <p:nvPr>
            <p:ph idx="1"/>
          </p:nvPr>
        </p:nvSpPr>
        <p:spPr/>
        <p:txBody>
          <a:bodyPr/>
          <a:lstStyle/>
          <a:p>
            <a:pPr marR="2000" algn="l" rtl="0">
              <a:buSzPts val="1200"/>
              <a:buFont typeface="Symbol" panose="05050102010706020507" pitchFamily="18" charset="2"/>
              <a:buChar char="·"/>
            </a:pPr>
            <a:r>
              <a:rPr lang="en-US" sz="1800" b="0" i="0" u="none" strike="noStrike" baseline="0" dirty="0">
                <a:solidFill>
                  <a:srgbClr val="606771"/>
                </a:solidFill>
                <a:latin typeface="Segoe UI" panose="020B0502040204020203" pitchFamily="34" charset="0"/>
              </a:rPr>
              <a:t>Navigation only.  </a:t>
            </a:r>
            <a:endParaRPr lang="en-US" sz="180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p:txBody>
      </p:sp>
      <p:sp>
        <p:nvSpPr>
          <p:cNvPr id="4" name="Date Placeholder 3">
            <a:extLst>
              <a:ext uri="{FF2B5EF4-FFF2-40B4-BE49-F238E27FC236}">
                <a16:creationId xmlns:a16="http://schemas.microsoft.com/office/drawing/2014/main" id="{4520CDC9-5986-B197-BE1E-1C2E76E61EAD}"/>
              </a:ext>
            </a:extLst>
          </p:cNvPr>
          <p:cNvSpPr>
            <a:spLocks noGrp="1"/>
          </p:cNvSpPr>
          <p:nvPr>
            <p:ph type="dt" sz="half" idx="10"/>
          </p:nvPr>
        </p:nvSpPr>
        <p:spPr/>
        <p:txBody>
          <a:bodyPr/>
          <a:lstStyle/>
          <a:p>
            <a:fld id="{FAAB834C-2F9F-4134-A8A6-8D28F07BEAB5}" type="datetime1">
              <a:rPr lang="en-US" smtClean="0"/>
              <a:t>9/18/2025</a:t>
            </a:fld>
            <a:endParaRPr lang="en-US"/>
          </a:p>
        </p:txBody>
      </p:sp>
      <p:sp>
        <p:nvSpPr>
          <p:cNvPr id="5" name="Slide Number Placeholder 4">
            <a:extLst>
              <a:ext uri="{FF2B5EF4-FFF2-40B4-BE49-F238E27FC236}">
                <a16:creationId xmlns:a16="http://schemas.microsoft.com/office/drawing/2014/main" id="{933BC99A-BCD2-90A8-869B-501ED943BAA0}"/>
              </a:ext>
            </a:extLst>
          </p:cNvPr>
          <p:cNvSpPr>
            <a:spLocks noGrp="1"/>
          </p:cNvSpPr>
          <p:nvPr>
            <p:ph type="sldNum" sz="quarter" idx="12"/>
          </p:nvPr>
        </p:nvSpPr>
        <p:spPr/>
        <p:txBody>
          <a:bodyPr/>
          <a:lstStyle/>
          <a:p>
            <a:fld id="{330EA680-D336-4FF7-8B7A-9848BB0A1C32}" type="slidenum">
              <a:rPr lang="en-US" smtClean="0"/>
              <a:t>65</a:t>
            </a:fld>
            <a:endParaRPr lang="en-US"/>
          </a:p>
        </p:txBody>
      </p:sp>
    </p:spTree>
    <p:extLst>
      <p:ext uri="{BB962C8B-B14F-4D97-AF65-F5344CB8AC3E}">
        <p14:creationId xmlns:p14="http://schemas.microsoft.com/office/powerpoint/2010/main" val="46056374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16D1A-E7FD-990D-7C2D-7FCC64F65A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826D1D-CBC7-C8EF-4445-E550EF95F160}"/>
              </a:ext>
            </a:extLst>
          </p:cNvPr>
          <p:cNvSpPr>
            <a:spLocks noGrp="1"/>
          </p:cNvSpPr>
          <p:nvPr>
            <p:ph type="title"/>
          </p:nvPr>
        </p:nvSpPr>
        <p:spPr/>
        <p:txBody>
          <a:bodyPr/>
          <a:lstStyle/>
          <a:p>
            <a:r>
              <a:rPr lang="en-US" sz="2800" dirty="0"/>
              <a:t>Wireframe Notes – 7.3.1 – Google Analytics</a:t>
            </a:r>
          </a:p>
        </p:txBody>
      </p:sp>
      <p:sp>
        <p:nvSpPr>
          <p:cNvPr id="4" name="Date Placeholder 3">
            <a:extLst>
              <a:ext uri="{FF2B5EF4-FFF2-40B4-BE49-F238E27FC236}">
                <a16:creationId xmlns:a16="http://schemas.microsoft.com/office/drawing/2014/main" id="{B6193578-00E8-010C-5133-DF8364A9CA49}"/>
              </a:ext>
            </a:extLst>
          </p:cNvPr>
          <p:cNvSpPr>
            <a:spLocks noGrp="1"/>
          </p:cNvSpPr>
          <p:nvPr>
            <p:ph type="dt" sz="half" idx="10"/>
          </p:nvPr>
        </p:nvSpPr>
        <p:spPr/>
        <p:txBody>
          <a:bodyPr/>
          <a:lstStyle/>
          <a:p>
            <a:fld id="{FAAB834C-2F9F-4134-A8A6-8D28F07BEAB5}" type="datetime1">
              <a:rPr lang="en-US" smtClean="0"/>
              <a:t>9/18/2025</a:t>
            </a:fld>
            <a:endParaRPr lang="en-US"/>
          </a:p>
        </p:txBody>
      </p:sp>
      <p:sp>
        <p:nvSpPr>
          <p:cNvPr id="5" name="Slide Number Placeholder 4">
            <a:extLst>
              <a:ext uri="{FF2B5EF4-FFF2-40B4-BE49-F238E27FC236}">
                <a16:creationId xmlns:a16="http://schemas.microsoft.com/office/drawing/2014/main" id="{609BBC38-9DA9-F27C-F684-4027C4AFC69F}"/>
              </a:ext>
            </a:extLst>
          </p:cNvPr>
          <p:cNvSpPr>
            <a:spLocks noGrp="1"/>
          </p:cNvSpPr>
          <p:nvPr>
            <p:ph type="sldNum" sz="quarter" idx="12"/>
          </p:nvPr>
        </p:nvSpPr>
        <p:spPr/>
        <p:txBody>
          <a:bodyPr/>
          <a:lstStyle/>
          <a:p>
            <a:fld id="{330EA680-D336-4FF7-8B7A-9848BB0A1C32}" type="slidenum">
              <a:rPr lang="en-US" smtClean="0"/>
              <a:t>66</a:t>
            </a:fld>
            <a:endParaRPr lang="en-US"/>
          </a:p>
        </p:txBody>
      </p:sp>
      <p:pic>
        <p:nvPicPr>
          <p:cNvPr id="11" name="Picture 10">
            <a:extLst>
              <a:ext uri="{FF2B5EF4-FFF2-40B4-BE49-F238E27FC236}">
                <a16:creationId xmlns:a16="http://schemas.microsoft.com/office/drawing/2014/main" id="{5E0304AB-D4B7-7433-011C-F46F7C857644}"/>
              </a:ext>
            </a:extLst>
          </p:cNvPr>
          <p:cNvPicPr>
            <a:picLocks noChangeAspect="1"/>
          </p:cNvPicPr>
          <p:nvPr/>
        </p:nvPicPr>
        <p:blipFill>
          <a:blip r:embed="rId3"/>
          <a:stretch>
            <a:fillRect/>
          </a:stretch>
        </p:blipFill>
        <p:spPr>
          <a:xfrm>
            <a:off x="947007" y="846137"/>
            <a:ext cx="5268785" cy="5510213"/>
          </a:xfrm>
          <a:prstGeom prst="rect">
            <a:avLst/>
          </a:prstGeom>
        </p:spPr>
      </p:pic>
      <p:pic>
        <p:nvPicPr>
          <p:cNvPr id="13" name="Picture 12">
            <a:extLst>
              <a:ext uri="{FF2B5EF4-FFF2-40B4-BE49-F238E27FC236}">
                <a16:creationId xmlns:a16="http://schemas.microsoft.com/office/drawing/2014/main" id="{742D8261-2377-5A2A-AA17-6C43EBD04465}"/>
              </a:ext>
            </a:extLst>
          </p:cNvPr>
          <p:cNvPicPr>
            <a:picLocks noChangeAspect="1"/>
          </p:cNvPicPr>
          <p:nvPr/>
        </p:nvPicPr>
        <p:blipFill>
          <a:blip r:embed="rId4"/>
          <a:stretch>
            <a:fillRect/>
          </a:stretch>
        </p:blipFill>
        <p:spPr>
          <a:xfrm>
            <a:off x="6650610" y="879475"/>
            <a:ext cx="5267994" cy="5581650"/>
          </a:xfrm>
          <a:prstGeom prst="rect">
            <a:avLst/>
          </a:prstGeom>
        </p:spPr>
      </p:pic>
    </p:spTree>
    <p:extLst>
      <p:ext uri="{BB962C8B-B14F-4D97-AF65-F5344CB8AC3E}">
        <p14:creationId xmlns:p14="http://schemas.microsoft.com/office/powerpoint/2010/main" val="235930960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9209B-4F23-97D7-14CB-5BFBCE648F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0D91C1-B37A-A4CC-77C1-9F9C41DCA6A1}"/>
              </a:ext>
            </a:extLst>
          </p:cNvPr>
          <p:cNvSpPr>
            <a:spLocks noGrp="1"/>
          </p:cNvSpPr>
          <p:nvPr>
            <p:ph type="title"/>
          </p:nvPr>
        </p:nvSpPr>
        <p:spPr/>
        <p:txBody>
          <a:bodyPr/>
          <a:lstStyle/>
          <a:p>
            <a:r>
              <a:rPr lang="en-US" sz="2800" dirty="0"/>
              <a:t>Wireframe Notes – 7.4 – API Management</a:t>
            </a:r>
          </a:p>
        </p:txBody>
      </p:sp>
      <p:sp>
        <p:nvSpPr>
          <p:cNvPr id="4" name="Date Placeholder 3">
            <a:extLst>
              <a:ext uri="{FF2B5EF4-FFF2-40B4-BE49-F238E27FC236}">
                <a16:creationId xmlns:a16="http://schemas.microsoft.com/office/drawing/2014/main" id="{26370A2B-D142-71AC-DEEA-DE9830AE46CC}"/>
              </a:ext>
            </a:extLst>
          </p:cNvPr>
          <p:cNvSpPr>
            <a:spLocks noGrp="1"/>
          </p:cNvSpPr>
          <p:nvPr>
            <p:ph type="dt" sz="half" idx="10"/>
          </p:nvPr>
        </p:nvSpPr>
        <p:spPr/>
        <p:txBody>
          <a:bodyPr/>
          <a:lstStyle/>
          <a:p>
            <a:fld id="{FAAB834C-2F9F-4134-A8A6-8D28F07BEAB5}" type="datetime1">
              <a:rPr lang="en-US" smtClean="0"/>
              <a:t>9/18/2025</a:t>
            </a:fld>
            <a:endParaRPr lang="en-US"/>
          </a:p>
        </p:txBody>
      </p:sp>
      <p:sp>
        <p:nvSpPr>
          <p:cNvPr id="5" name="Slide Number Placeholder 4">
            <a:extLst>
              <a:ext uri="{FF2B5EF4-FFF2-40B4-BE49-F238E27FC236}">
                <a16:creationId xmlns:a16="http://schemas.microsoft.com/office/drawing/2014/main" id="{C1E68917-2F12-BC1D-4CB6-67AC78DD1D59}"/>
              </a:ext>
            </a:extLst>
          </p:cNvPr>
          <p:cNvSpPr>
            <a:spLocks noGrp="1"/>
          </p:cNvSpPr>
          <p:nvPr>
            <p:ph type="sldNum" sz="quarter" idx="12"/>
          </p:nvPr>
        </p:nvSpPr>
        <p:spPr/>
        <p:txBody>
          <a:bodyPr/>
          <a:lstStyle/>
          <a:p>
            <a:fld id="{330EA680-D336-4FF7-8B7A-9848BB0A1C32}" type="slidenum">
              <a:rPr lang="en-US" smtClean="0"/>
              <a:t>67</a:t>
            </a:fld>
            <a:endParaRPr lang="en-US"/>
          </a:p>
        </p:txBody>
      </p:sp>
      <p:pic>
        <p:nvPicPr>
          <p:cNvPr id="8" name="Picture 7">
            <a:extLst>
              <a:ext uri="{FF2B5EF4-FFF2-40B4-BE49-F238E27FC236}">
                <a16:creationId xmlns:a16="http://schemas.microsoft.com/office/drawing/2014/main" id="{C19618A7-F2DC-B324-D938-6CC7681FE2F7}"/>
              </a:ext>
            </a:extLst>
          </p:cNvPr>
          <p:cNvPicPr>
            <a:picLocks noChangeAspect="1"/>
          </p:cNvPicPr>
          <p:nvPr/>
        </p:nvPicPr>
        <p:blipFill>
          <a:blip r:embed="rId3"/>
          <a:stretch>
            <a:fillRect/>
          </a:stretch>
        </p:blipFill>
        <p:spPr>
          <a:xfrm>
            <a:off x="598504" y="773612"/>
            <a:ext cx="8459772" cy="5970692"/>
          </a:xfrm>
          <a:prstGeom prst="rect">
            <a:avLst/>
          </a:prstGeom>
        </p:spPr>
      </p:pic>
    </p:spTree>
    <p:extLst>
      <p:ext uri="{BB962C8B-B14F-4D97-AF65-F5344CB8AC3E}">
        <p14:creationId xmlns:p14="http://schemas.microsoft.com/office/powerpoint/2010/main" val="35529528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A027B-50EA-C780-DD5F-A0E05F7051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9F890F-C0E7-5BDD-0049-B437DA934CBA}"/>
              </a:ext>
            </a:extLst>
          </p:cNvPr>
          <p:cNvSpPr>
            <a:spLocks noGrp="1"/>
          </p:cNvSpPr>
          <p:nvPr>
            <p:ph type="title"/>
          </p:nvPr>
        </p:nvSpPr>
        <p:spPr/>
        <p:txBody>
          <a:bodyPr/>
          <a:lstStyle/>
          <a:p>
            <a:r>
              <a:rPr lang="en-US" sz="2800" dirty="0"/>
              <a:t>Wireframe Notes – 7.4.1 – Amazon API  Integration</a:t>
            </a:r>
          </a:p>
        </p:txBody>
      </p:sp>
      <p:sp>
        <p:nvSpPr>
          <p:cNvPr id="3" name="Content Placeholder 2">
            <a:extLst>
              <a:ext uri="{FF2B5EF4-FFF2-40B4-BE49-F238E27FC236}">
                <a16:creationId xmlns:a16="http://schemas.microsoft.com/office/drawing/2014/main" id="{2AB5384C-4706-E199-5503-B78F9D1DB197}"/>
              </a:ext>
            </a:extLst>
          </p:cNvPr>
          <p:cNvSpPr>
            <a:spLocks noGrp="1"/>
          </p:cNvSpPr>
          <p:nvPr>
            <p:ph idx="1"/>
          </p:nvPr>
        </p:nvSpPr>
        <p:spPr>
          <a:xfrm>
            <a:off x="598503" y="868055"/>
            <a:ext cx="10755297" cy="487132"/>
          </a:xfrm>
        </p:spPr>
        <p:txBody>
          <a:bodyPr/>
          <a:lstStyle/>
          <a:p>
            <a:pPr marR="2000" algn="l" rtl="0">
              <a:buSzPts val="1200"/>
              <a:buFont typeface="Symbol" panose="05050102010706020507" pitchFamily="18" charset="2"/>
              <a:buChar char="·"/>
            </a:pPr>
            <a:r>
              <a:rPr lang="en-US" sz="1800" b="0" i="0" u="none" strike="noStrike" baseline="0" dirty="0">
                <a:solidFill>
                  <a:srgbClr val="606771"/>
                </a:solidFill>
                <a:latin typeface="Segoe UI" panose="020B0502040204020203" pitchFamily="34" charset="0"/>
              </a:rPr>
              <a:t>Sample JSON to send to Amazon</a:t>
            </a:r>
            <a:endParaRPr lang="en-US" sz="180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p:txBody>
      </p:sp>
      <p:sp>
        <p:nvSpPr>
          <p:cNvPr id="4" name="Date Placeholder 3">
            <a:extLst>
              <a:ext uri="{FF2B5EF4-FFF2-40B4-BE49-F238E27FC236}">
                <a16:creationId xmlns:a16="http://schemas.microsoft.com/office/drawing/2014/main" id="{1966A050-7991-D01F-C4B9-46FB1F5BA0E1}"/>
              </a:ext>
            </a:extLst>
          </p:cNvPr>
          <p:cNvSpPr>
            <a:spLocks noGrp="1"/>
          </p:cNvSpPr>
          <p:nvPr>
            <p:ph type="dt" sz="half" idx="10"/>
          </p:nvPr>
        </p:nvSpPr>
        <p:spPr/>
        <p:txBody>
          <a:bodyPr/>
          <a:lstStyle/>
          <a:p>
            <a:fld id="{FAAB834C-2F9F-4134-A8A6-8D28F07BEAB5}" type="datetime1">
              <a:rPr lang="en-US" smtClean="0"/>
              <a:t>9/18/2025</a:t>
            </a:fld>
            <a:endParaRPr lang="en-US"/>
          </a:p>
        </p:txBody>
      </p:sp>
      <p:sp>
        <p:nvSpPr>
          <p:cNvPr id="5" name="Slide Number Placeholder 4">
            <a:extLst>
              <a:ext uri="{FF2B5EF4-FFF2-40B4-BE49-F238E27FC236}">
                <a16:creationId xmlns:a16="http://schemas.microsoft.com/office/drawing/2014/main" id="{AF34D916-35B0-95AC-BE27-A17D8EEA920B}"/>
              </a:ext>
            </a:extLst>
          </p:cNvPr>
          <p:cNvSpPr>
            <a:spLocks noGrp="1"/>
          </p:cNvSpPr>
          <p:nvPr>
            <p:ph type="sldNum" sz="quarter" idx="12"/>
          </p:nvPr>
        </p:nvSpPr>
        <p:spPr/>
        <p:txBody>
          <a:bodyPr/>
          <a:lstStyle/>
          <a:p>
            <a:fld id="{330EA680-D336-4FF7-8B7A-9848BB0A1C32}" type="slidenum">
              <a:rPr lang="en-US" smtClean="0"/>
              <a:t>68</a:t>
            </a:fld>
            <a:endParaRPr lang="en-US"/>
          </a:p>
        </p:txBody>
      </p:sp>
      <p:sp>
        <p:nvSpPr>
          <p:cNvPr id="9" name="TextBox 8">
            <a:extLst>
              <a:ext uri="{FF2B5EF4-FFF2-40B4-BE49-F238E27FC236}">
                <a16:creationId xmlns:a16="http://schemas.microsoft.com/office/drawing/2014/main" id="{0946A382-1876-8A44-C690-F3D83AC68D63}"/>
              </a:ext>
            </a:extLst>
          </p:cNvPr>
          <p:cNvSpPr txBox="1"/>
          <p:nvPr/>
        </p:nvSpPr>
        <p:spPr>
          <a:xfrm>
            <a:off x="851984" y="1346942"/>
            <a:ext cx="5124167" cy="4524315"/>
          </a:xfrm>
          <a:prstGeom prst="rect">
            <a:avLst/>
          </a:prstGeom>
          <a:noFill/>
        </p:spPr>
        <p:txBody>
          <a:bodyPr wrap="square">
            <a:spAutoFit/>
          </a:bodyPr>
          <a:lstStyle/>
          <a:p>
            <a:r>
              <a:rPr lang="en-US" sz="1200" dirty="0"/>
              <a:t>[</a:t>
            </a:r>
          </a:p>
          <a:p>
            <a:r>
              <a:rPr lang="en-US" sz="1200" dirty="0"/>
              <a:t>  {</a:t>
            </a:r>
          </a:p>
          <a:p>
            <a:r>
              <a:rPr lang="en-US" sz="1200" dirty="0"/>
              <a:t>    "</a:t>
            </a:r>
            <a:r>
              <a:rPr lang="en-US" sz="1200" dirty="0" err="1"/>
              <a:t>product_name</a:t>
            </a:r>
            <a:r>
              <a:rPr lang="en-US" sz="1200" dirty="0"/>
              <a:t>": "</a:t>
            </a:r>
            <a:r>
              <a:rPr lang="en-US" sz="1200" dirty="0" err="1"/>
              <a:t>EcoSmart</a:t>
            </a:r>
            <a:r>
              <a:rPr lang="en-US" sz="1200" dirty="0"/>
              <a:t> LED Bulb",</a:t>
            </a:r>
          </a:p>
          <a:p>
            <a:r>
              <a:rPr lang="en-US" sz="1200" dirty="0"/>
              <a:t>    "</a:t>
            </a:r>
            <a:r>
              <a:rPr lang="en-US" sz="1200" dirty="0" err="1"/>
              <a:t>product_id_type</a:t>
            </a:r>
            <a:r>
              <a:rPr lang="en-US" sz="1200" dirty="0"/>
              <a:t>": “ASIN",</a:t>
            </a:r>
          </a:p>
          <a:p>
            <a:r>
              <a:rPr lang="en-US" sz="1200" dirty="0"/>
              <a:t>    "</a:t>
            </a:r>
            <a:r>
              <a:rPr lang="en-US" sz="1200" dirty="0" err="1"/>
              <a:t>product_id</a:t>
            </a:r>
            <a:r>
              <a:rPr lang="en-US" sz="1200" dirty="0"/>
              <a:t>": "123456789012",</a:t>
            </a:r>
          </a:p>
          <a:p>
            <a:r>
              <a:rPr lang="en-US" sz="1200" dirty="0"/>
              <a:t>    "</a:t>
            </a:r>
            <a:r>
              <a:rPr lang="en-US" sz="1200" dirty="0" err="1"/>
              <a:t>certification_country</a:t>
            </a:r>
            <a:r>
              <a:rPr lang="en-US" sz="1200" dirty="0"/>
              <a:t>": "US",</a:t>
            </a:r>
          </a:p>
          <a:p>
            <a:r>
              <a:rPr lang="en-US" sz="1200" dirty="0"/>
              <a:t>    "</a:t>
            </a:r>
            <a:r>
              <a:rPr lang="en-US" sz="1200" dirty="0" err="1"/>
              <a:t>certification_agency</a:t>
            </a:r>
            <a:r>
              <a:rPr lang="en-US" sz="1200" dirty="0"/>
              <a:t>": "</a:t>
            </a:r>
            <a:r>
              <a:rPr lang="en-US" sz="1200" dirty="0" err="1"/>
              <a:t>greencircle_energy_savings</a:t>
            </a:r>
            <a:r>
              <a:rPr lang="en-US" sz="1200" dirty="0"/>
              <a:t>",</a:t>
            </a:r>
          </a:p>
          <a:p>
            <a:r>
              <a:rPr lang="en-US" sz="1200" dirty="0"/>
              <a:t>    "</a:t>
            </a:r>
            <a:r>
              <a:rPr lang="en-US" sz="1200" dirty="0" err="1"/>
              <a:t>certification_standard</a:t>
            </a:r>
            <a:r>
              <a:rPr lang="en-US" sz="1200" dirty="0"/>
              <a:t>": "",</a:t>
            </a:r>
          </a:p>
          <a:p>
            <a:r>
              <a:rPr lang="en-US" sz="1200" dirty="0"/>
              <a:t>    "</a:t>
            </a:r>
            <a:r>
              <a:rPr lang="en-US" sz="1200" dirty="0" err="1"/>
              <a:t>certification_value</a:t>
            </a:r>
            <a:r>
              <a:rPr lang="en-US" sz="1200" dirty="0"/>
              <a:t>": "",</a:t>
            </a:r>
          </a:p>
          <a:p>
            <a:r>
              <a:rPr lang="en-US" sz="1200" dirty="0"/>
              <a:t>    "</a:t>
            </a:r>
            <a:r>
              <a:rPr lang="en-US" sz="1200" dirty="0" err="1"/>
              <a:t>certification_end_date</a:t>
            </a:r>
            <a:r>
              <a:rPr lang="en-US" sz="1200" dirty="0"/>
              <a:t>": "2025-12-31",</a:t>
            </a:r>
          </a:p>
          <a:p>
            <a:r>
              <a:rPr lang="en-US" sz="1200" dirty="0"/>
              <a:t>    "</a:t>
            </a:r>
            <a:r>
              <a:rPr lang="en-US" sz="1200" dirty="0" err="1"/>
              <a:t>certification_status</a:t>
            </a:r>
            <a:r>
              <a:rPr lang="en-US" sz="1200" dirty="0"/>
              <a:t>": "certified"</a:t>
            </a:r>
          </a:p>
          <a:p>
            <a:r>
              <a:rPr lang="en-US" sz="1200" dirty="0"/>
              <a:t>  },</a:t>
            </a:r>
          </a:p>
          <a:p>
            <a:r>
              <a:rPr lang="en-US" sz="1200" dirty="0"/>
              <a:t>  {</a:t>
            </a:r>
          </a:p>
          <a:p>
            <a:r>
              <a:rPr lang="en-US" sz="1200" dirty="0"/>
              <a:t>    "</a:t>
            </a:r>
            <a:r>
              <a:rPr lang="en-US" sz="1200" dirty="0" err="1"/>
              <a:t>product_name</a:t>
            </a:r>
            <a:r>
              <a:rPr lang="en-US" sz="1200" dirty="0"/>
              <a:t>": "Recycled Office Chair",</a:t>
            </a:r>
          </a:p>
          <a:p>
            <a:r>
              <a:rPr lang="en-US" sz="1200" dirty="0"/>
              <a:t>    "</a:t>
            </a:r>
            <a:r>
              <a:rPr lang="en-US" sz="1200" dirty="0" err="1"/>
              <a:t>product_id_type</a:t>
            </a:r>
            <a:r>
              <a:rPr lang="en-US" sz="1200" dirty="0"/>
              <a:t>": “ASIN",</a:t>
            </a:r>
          </a:p>
          <a:p>
            <a:r>
              <a:rPr lang="en-US" sz="1200" dirty="0"/>
              <a:t>    "</a:t>
            </a:r>
            <a:r>
              <a:rPr lang="en-US" sz="1200" dirty="0" err="1"/>
              <a:t>product_id</a:t>
            </a:r>
            <a:r>
              <a:rPr lang="en-US" sz="1200" dirty="0"/>
              <a:t>": "9876543210987",</a:t>
            </a:r>
          </a:p>
          <a:p>
            <a:r>
              <a:rPr lang="en-US" sz="1200" dirty="0"/>
              <a:t>    "</a:t>
            </a:r>
            <a:r>
              <a:rPr lang="en-US" sz="1200" dirty="0" err="1"/>
              <a:t>certification_country</a:t>
            </a:r>
            <a:r>
              <a:rPr lang="en-US" sz="1200" dirty="0"/>
              <a:t>": "UK",</a:t>
            </a:r>
          </a:p>
          <a:p>
            <a:r>
              <a:rPr lang="en-US" sz="1200" dirty="0"/>
              <a:t>    "</a:t>
            </a:r>
            <a:r>
              <a:rPr lang="en-US" sz="1200" dirty="0" err="1"/>
              <a:t>certification_agency</a:t>
            </a:r>
            <a:r>
              <a:rPr lang="en-US" sz="1200" dirty="0"/>
              <a:t>": "</a:t>
            </a:r>
            <a:r>
              <a:rPr lang="en-US" sz="1200" dirty="0" err="1"/>
              <a:t>greencircle_recycled_content</a:t>
            </a:r>
            <a:r>
              <a:rPr lang="en-US" sz="1200" dirty="0"/>
              <a:t>",</a:t>
            </a:r>
          </a:p>
          <a:p>
            <a:r>
              <a:rPr lang="en-US" sz="1200" dirty="0"/>
              <a:t>    "</a:t>
            </a:r>
            <a:r>
              <a:rPr lang="en-US" sz="1200" dirty="0" err="1"/>
              <a:t>certification_standard</a:t>
            </a:r>
            <a:r>
              <a:rPr lang="en-US" sz="1200" dirty="0"/>
              <a:t>": "",</a:t>
            </a:r>
          </a:p>
          <a:p>
            <a:r>
              <a:rPr lang="en-US" sz="1200" dirty="0"/>
              <a:t>    "</a:t>
            </a:r>
            <a:r>
              <a:rPr lang="en-US" sz="1200" dirty="0" err="1"/>
              <a:t>certification_value</a:t>
            </a:r>
            <a:r>
              <a:rPr lang="en-US" sz="1200" dirty="0"/>
              <a:t>": "",</a:t>
            </a:r>
          </a:p>
          <a:p>
            <a:r>
              <a:rPr lang="en-US" sz="1200" dirty="0"/>
              <a:t>    "</a:t>
            </a:r>
            <a:r>
              <a:rPr lang="en-US" sz="1200" dirty="0" err="1"/>
              <a:t>certification_end_date</a:t>
            </a:r>
            <a:r>
              <a:rPr lang="en-US" sz="1200" dirty="0"/>
              <a:t>": "2024-11-01",</a:t>
            </a:r>
          </a:p>
          <a:p>
            <a:r>
              <a:rPr lang="en-US" sz="1200" dirty="0"/>
              <a:t>    "</a:t>
            </a:r>
            <a:r>
              <a:rPr lang="en-US" sz="1200" dirty="0" err="1"/>
              <a:t>certification_status</a:t>
            </a:r>
            <a:r>
              <a:rPr lang="en-US" sz="1200" dirty="0"/>
              <a:t>": "not certified"</a:t>
            </a:r>
          </a:p>
          <a:p>
            <a:r>
              <a:rPr lang="en-US" sz="1200" dirty="0"/>
              <a:t>  }</a:t>
            </a:r>
          </a:p>
          <a:p>
            <a:r>
              <a:rPr lang="en-US" sz="1200" dirty="0"/>
              <a:t>]</a:t>
            </a:r>
          </a:p>
        </p:txBody>
      </p:sp>
    </p:spTree>
    <p:extLst>
      <p:ext uri="{BB962C8B-B14F-4D97-AF65-F5344CB8AC3E}">
        <p14:creationId xmlns:p14="http://schemas.microsoft.com/office/powerpoint/2010/main" val="223032979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79DB7-075A-7F3C-0EFA-BC715DBA55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AEB179-5D5C-3B7D-2919-FEE629A138F9}"/>
              </a:ext>
            </a:extLst>
          </p:cNvPr>
          <p:cNvSpPr>
            <a:spLocks noGrp="1"/>
          </p:cNvSpPr>
          <p:nvPr>
            <p:ph type="title"/>
          </p:nvPr>
        </p:nvSpPr>
        <p:spPr/>
        <p:txBody>
          <a:bodyPr/>
          <a:lstStyle/>
          <a:p>
            <a:r>
              <a:rPr lang="en-US" sz="2800" dirty="0"/>
              <a:t>Wireframe Notes – 7.5 – Data Management</a:t>
            </a:r>
          </a:p>
        </p:txBody>
      </p:sp>
      <p:sp>
        <p:nvSpPr>
          <p:cNvPr id="3" name="Content Placeholder 2">
            <a:extLst>
              <a:ext uri="{FF2B5EF4-FFF2-40B4-BE49-F238E27FC236}">
                <a16:creationId xmlns:a16="http://schemas.microsoft.com/office/drawing/2014/main" id="{43EB4122-52EB-0462-81F4-5ABB134ED68C}"/>
              </a:ext>
            </a:extLst>
          </p:cNvPr>
          <p:cNvSpPr>
            <a:spLocks noGrp="1"/>
          </p:cNvSpPr>
          <p:nvPr>
            <p:ph idx="1"/>
          </p:nvPr>
        </p:nvSpPr>
        <p:spPr/>
        <p:txBody>
          <a:bodyPr/>
          <a:lstStyle/>
          <a:p>
            <a:pPr marR="2000" algn="l" rtl="0">
              <a:buSzPts val="1200"/>
              <a:buFont typeface="Symbol" panose="05050102010706020507" pitchFamily="18" charset="2"/>
              <a:buChar char="·"/>
            </a:pPr>
            <a:r>
              <a:rPr lang="en-US" sz="1800" b="0" i="0" u="none" strike="noStrike" baseline="0" dirty="0">
                <a:solidFill>
                  <a:srgbClr val="606771"/>
                </a:solidFill>
                <a:latin typeface="Segoe UI" panose="020B0502040204020203" pitchFamily="34" charset="0"/>
              </a:rPr>
              <a:t>Navigation only.  </a:t>
            </a:r>
            <a:endParaRPr lang="en-US" sz="180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p:txBody>
      </p:sp>
      <p:sp>
        <p:nvSpPr>
          <p:cNvPr id="4" name="Date Placeholder 3">
            <a:extLst>
              <a:ext uri="{FF2B5EF4-FFF2-40B4-BE49-F238E27FC236}">
                <a16:creationId xmlns:a16="http://schemas.microsoft.com/office/drawing/2014/main" id="{2BF2FA1F-D123-1B8C-15D7-CAB7174EEAC5}"/>
              </a:ext>
            </a:extLst>
          </p:cNvPr>
          <p:cNvSpPr>
            <a:spLocks noGrp="1"/>
          </p:cNvSpPr>
          <p:nvPr>
            <p:ph type="dt" sz="half" idx="10"/>
          </p:nvPr>
        </p:nvSpPr>
        <p:spPr/>
        <p:txBody>
          <a:bodyPr/>
          <a:lstStyle/>
          <a:p>
            <a:fld id="{FAAB834C-2F9F-4134-A8A6-8D28F07BEAB5}" type="datetime1">
              <a:rPr lang="en-US" smtClean="0"/>
              <a:t>9/18/2025</a:t>
            </a:fld>
            <a:endParaRPr lang="en-US"/>
          </a:p>
        </p:txBody>
      </p:sp>
      <p:sp>
        <p:nvSpPr>
          <p:cNvPr id="5" name="Slide Number Placeholder 4">
            <a:extLst>
              <a:ext uri="{FF2B5EF4-FFF2-40B4-BE49-F238E27FC236}">
                <a16:creationId xmlns:a16="http://schemas.microsoft.com/office/drawing/2014/main" id="{5D99AE4D-D5BC-2ECD-A6D4-22BA75342ABA}"/>
              </a:ext>
            </a:extLst>
          </p:cNvPr>
          <p:cNvSpPr>
            <a:spLocks noGrp="1"/>
          </p:cNvSpPr>
          <p:nvPr>
            <p:ph type="sldNum" sz="quarter" idx="12"/>
          </p:nvPr>
        </p:nvSpPr>
        <p:spPr/>
        <p:txBody>
          <a:bodyPr/>
          <a:lstStyle/>
          <a:p>
            <a:fld id="{330EA680-D336-4FF7-8B7A-9848BB0A1C32}" type="slidenum">
              <a:rPr lang="en-US" smtClean="0"/>
              <a:t>69</a:t>
            </a:fld>
            <a:endParaRPr lang="en-US"/>
          </a:p>
        </p:txBody>
      </p:sp>
    </p:spTree>
    <p:extLst>
      <p:ext uri="{BB962C8B-B14F-4D97-AF65-F5344CB8AC3E}">
        <p14:creationId xmlns:p14="http://schemas.microsoft.com/office/powerpoint/2010/main" val="300273681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91D98-1855-D154-0AF8-8F9247D42D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A30800-DCDF-CC65-B005-0058E6C0DDE2}"/>
              </a:ext>
            </a:extLst>
          </p:cNvPr>
          <p:cNvSpPr>
            <a:spLocks noGrp="1"/>
          </p:cNvSpPr>
          <p:nvPr>
            <p:ph type="title"/>
          </p:nvPr>
        </p:nvSpPr>
        <p:spPr>
          <a:xfrm>
            <a:off x="598503" y="193906"/>
            <a:ext cx="10515600" cy="487131"/>
          </a:xfrm>
        </p:spPr>
        <p:txBody>
          <a:bodyPr>
            <a:normAutofit/>
          </a:bodyPr>
          <a:lstStyle/>
          <a:p>
            <a:r>
              <a:rPr lang="en-US" sz="2800" dirty="0"/>
              <a:t>Wireframe Notes – 7.5.1 – Certificate Types</a:t>
            </a:r>
          </a:p>
        </p:txBody>
      </p:sp>
      <p:sp>
        <p:nvSpPr>
          <p:cNvPr id="4" name="Date Placeholder 3">
            <a:extLst>
              <a:ext uri="{FF2B5EF4-FFF2-40B4-BE49-F238E27FC236}">
                <a16:creationId xmlns:a16="http://schemas.microsoft.com/office/drawing/2014/main" id="{8F0429D1-C51C-95E2-66DD-A29D0D9DEA93}"/>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C226BFC0-4E52-0413-2D26-CA27CA9D81D3}"/>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70</a:t>
            </a:fld>
            <a:endParaRPr lang="en-US"/>
          </a:p>
        </p:txBody>
      </p:sp>
      <p:pic>
        <p:nvPicPr>
          <p:cNvPr id="6" name="Picture 5">
            <a:extLst>
              <a:ext uri="{FF2B5EF4-FFF2-40B4-BE49-F238E27FC236}">
                <a16:creationId xmlns:a16="http://schemas.microsoft.com/office/drawing/2014/main" id="{CADF803F-8EEB-4888-2E7A-B170455D1E2C}"/>
              </a:ext>
            </a:extLst>
          </p:cNvPr>
          <p:cNvPicPr>
            <a:picLocks noChangeAspect="1"/>
          </p:cNvPicPr>
          <p:nvPr/>
        </p:nvPicPr>
        <p:blipFill>
          <a:blip r:embed="rId3"/>
          <a:stretch>
            <a:fillRect/>
          </a:stretch>
        </p:blipFill>
        <p:spPr>
          <a:xfrm>
            <a:off x="437189" y="829340"/>
            <a:ext cx="9369479" cy="6028660"/>
          </a:xfrm>
          <a:prstGeom prst="rect">
            <a:avLst/>
          </a:prstGeom>
        </p:spPr>
      </p:pic>
    </p:spTree>
    <p:extLst>
      <p:ext uri="{BB962C8B-B14F-4D97-AF65-F5344CB8AC3E}">
        <p14:creationId xmlns:p14="http://schemas.microsoft.com/office/powerpoint/2010/main" val="306161469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9C731-72D1-84E2-5B1C-CDDBE5C64F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D1B739-2052-688C-3BA4-BAE6A0930814}"/>
              </a:ext>
            </a:extLst>
          </p:cNvPr>
          <p:cNvSpPr>
            <a:spLocks noGrp="1"/>
          </p:cNvSpPr>
          <p:nvPr>
            <p:ph type="title"/>
          </p:nvPr>
        </p:nvSpPr>
        <p:spPr>
          <a:xfrm>
            <a:off x="598503" y="193906"/>
            <a:ext cx="10515600" cy="487131"/>
          </a:xfrm>
        </p:spPr>
        <p:txBody>
          <a:bodyPr>
            <a:normAutofit/>
          </a:bodyPr>
          <a:lstStyle/>
          <a:p>
            <a:r>
              <a:rPr lang="en-US" sz="2800" dirty="0"/>
              <a:t>Wireframe Notes – 7.5.1 – Certificate Types (Add)</a:t>
            </a:r>
          </a:p>
        </p:txBody>
      </p:sp>
      <p:sp>
        <p:nvSpPr>
          <p:cNvPr id="4" name="Date Placeholder 3">
            <a:extLst>
              <a:ext uri="{FF2B5EF4-FFF2-40B4-BE49-F238E27FC236}">
                <a16:creationId xmlns:a16="http://schemas.microsoft.com/office/drawing/2014/main" id="{41845AD8-7BE0-D289-9B33-023AD8B14BF4}"/>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2B04F0BE-77E2-2D73-29B9-7085E278DBA8}"/>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71</a:t>
            </a:fld>
            <a:endParaRPr lang="en-US"/>
          </a:p>
        </p:txBody>
      </p:sp>
      <p:sp>
        <p:nvSpPr>
          <p:cNvPr id="7" name="TextBox 6">
            <a:extLst>
              <a:ext uri="{FF2B5EF4-FFF2-40B4-BE49-F238E27FC236}">
                <a16:creationId xmlns:a16="http://schemas.microsoft.com/office/drawing/2014/main" id="{624AC6A6-97CC-6EAE-40BB-BA0AE3699956}"/>
              </a:ext>
            </a:extLst>
          </p:cNvPr>
          <p:cNvSpPr txBox="1"/>
          <p:nvPr/>
        </p:nvSpPr>
        <p:spPr>
          <a:xfrm>
            <a:off x="9218428" y="964351"/>
            <a:ext cx="2775098" cy="3416320"/>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Century Gothic" panose="020B0502020202020204" pitchFamily="34" charset="0"/>
              </a:rPr>
              <a:t>This is the Certificate Types Admin View.</a:t>
            </a:r>
          </a:p>
          <a:p>
            <a:pPr marL="285750" indent="-285750">
              <a:buFont typeface="Arial" panose="020B0604020202020204" pitchFamily="34" charset="0"/>
              <a:buChar char="•"/>
            </a:pPr>
            <a:r>
              <a:rPr lang="en-US" sz="1600" dirty="0">
                <a:latin typeface="Century Gothic" panose="020B0502020202020204" pitchFamily="34" charset="0"/>
              </a:rPr>
              <a:t>Ability to Add or Edit Certificate Types.</a:t>
            </a:r>
          </a:p>
          <a:p>
            <a:pPr marL="285750" indent="-285750">
              <a:buFont typeface="Arial" panose="020B0604020202020204" pitchFamily="34" charset="0"/>
              <a:buChar char="•"/>
            </a:pPr>
            <a:r>
              <a:rPr lang="en-US" sz="1600" dirty="0">
                <a:latin typeface="Century Gothic" panose="020B0502020202020204" pitchFamily="34" charset="0"/>
              </a:rPr>
              <a:t>The save row in the screenshot is to show the add view of the data grid. It would only be visible when a user clicks the Add New Certificate Type Button.</a:t>
            </a:r>
          </a:p>
          <a:p>
            <a:pPr marL="285750" indent="-285750">
              <a:buFont typeface="Arial" panose="020B0604020202020204" pitchFamily="34" charset="0"/>
              <a:buChar char="•"/>
            </a:pPr>
            <a:endParaRPr lang="en-US" sz="1200" dirty="0">
              <a:latin typeface="Century Gothic" panose="020B0502020202020204" pitchFamily="34" charset="0"/>
            </a:endParaRPr>
          </a:p>
          <a:p>
            <a:endParaRPr lang="en-US" sz="1200" dirty="0">
              <a:latin typeface="Century Gothic" panose="020B0502020202020204" pitchFamily="34" charset="0"/>
            </a:endParaRPr>
          </a:p>
        </p:txBody>
      </p:sp>
      <p:pic>
        <p:nvPicPr>
          <p:cNvPr id="10" name="Picture 9">
            <a:extLst>
              <a:ext uri="{FF2B5EF4-FFF2-40B4-BE49-F238E27FC236}">
                <a16:creationId xmlns:a16="http://schemas.microsoft.com/office/drawing/2014/main" id="{93348F42-0FC8-3576-F647-CDE128664EBB}"/>
              </a:ext>
            </a:extLst>
          </p:cNvPr>
          <p:cNvPicPr>
            <a:picLocks noChangeAspect="1"/>
          </p:cNvPicPr>
          <p:nvPr/>
        </p:nvPicPr>
        <p:blipFill>
          <a:blip r:embed="rId3"/>
          <a:stretch>
            <a:fillRect/>
          </a:stretch>
        </p:blipFill>
        <p:spPr>
          <a:xfrm>
            <a:off x="598503" y="839916"/>
            <a:ext cx="8317359" cy="5824178"/>
          </a:xfrm>
          <a:prstGeom prst="rect">
            <a:avLst/>
          </a:prstGeom>
        </p:spPr>
      </p:pic>
    </p:spTree>
    <p:extLst>
      <p:ext uri="{BB962C8B-B14F-4D97-AF65-F5344CB8AC3E}">
        <p14:creationId xmlns:p14="http://schemas.microsoft.com/office/powerpoint/2010/main" val="220887496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2EF95-FA62-B69F-6D69-326CB8DB0C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31E855-0646-0796-94B4-2783A8E88F48}"/>
              </a:ext>
            </a:extLst>
          </p:cNvPr>
          <p:cNvSpPr>
            <a:spLocks noGrp="1"/>
          </p:cNvSpPr>
          <p:nvPr>
            <p:ph type="title"/>
          </p:nvPr>
        </p:nvSpPr>
        <p:spPr>
          <a:xfrm>
            <a:off x="598503" y="193906"/>
            <a:ext cx="10515600" cy="487131"/>
          </a:xfrm>
        </p:spPr>
        <p:txBody>
          <a:bodyPr>
            <a:normAutofit/>
          </a:bodyPr>
          <a:lstStyle/>
          <a:p>
            <a:r>
              <a:rPr lang="en-US" sz="2800" dirty="0"/>
              <a:t>Wireframe Notes – 7.5.1 – Certificate Types (Edit)</a:t>
            </a:r>
          </a:p>
        </p:txBody>
      </p:sp>
      <p:sp>
        <p:nvSpPr>
          <p:cNvPr id="4" name="Date Placeholder 3">
            <a:extLst>
              <a:ext uri="{FF2B5EF4-FFF2-40B4-BE49-F238E27FC236}">
                <a16:creationId xmlns:a16="http://schemas.microsoft.com/office/drawing/2014/main" id="{FD5A88C3-49E2-CF6F-50C1-0A88332ECE7C}"/>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E58D4644-D51A-4619-1E5B-8B91C95BD396}"/>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72</a:t>
            </a:fld>
            <a:endParaRPr lang="en-US"/>
          </a:p>
        </p:txBody>
      </p:sp>
      <p:pic>
        <p:nvPicPr>
          <p:cNvPr id="12" name="Picture 11">
            <a:extLst>
              <a:ext uri="{FF2B5EF4-FFF2-40B4-BE49-F238E27FC236}">
                <a16:creationId xmlns:a16="http://schemas.microsoft.com/office/drawing/2014/main" id="{998D465C-87B5-6A16-ADD4-449A4F8CA1B5}"/>
              </a:ext>
            </a:extLst>
          </p:cNvPr>
          <p:cNvPicPr>
            <a:picLocks noChangeAspect="1"/>
          </p:cNvPicPr>
          <p:nvPr/>
        </p:nvPicPr>
        <p:blipFill>
          <a:blip r:embed="rId3"/>
          <a:stretch>
            <a:fillRect/>
          </a:stretch>
        </p:blipFill>
        <p:spPr>
          <a:xfrm>
            <a:off x="450180" y="681038"/>
            <a:ext cx="9544426" cy="6095278"/>
          </a:xfrm>
          <a:prstGeom prst="rect">
            <a:avLst/>
          </a:prstGeom>
        </p:spPr>
      </p:pic>
    </p:spTree>
    <p:extLst>
      <p:ext uri="{BB962C8B-B14F-4D97-AF65-F5344CB8AC3E}">
        <p14:creationId xmlns:p14="http://schemas.microsoft.com/office/powerpoint/2010/main" val="243103071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EB820-69B5-D4E1-F9A9-2E0251E879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E61F42-C95C-6659-C358-270A845AF354}"/>
              </a:ext>
            </a:extLst>
          </p:cNvPr>
          <p:cNvSpPr>
            <a:spLocks noGrp="1"/>
          </p:cNvSpPr>
          <p:nvPr>
            <p:ph type="title"/>
          </p:nvPr>
        </p:nvSpPr>
        <p:spPr>
          <a:xfrm>
            <a:off x="598503" y="193906"/>
            <a:ext cx="10515600" cy="487131"/>
          </a:xfrm>
        </p:spPr>
        <p:txBody>
          <a:bodyPr>
            <a:normAutofit/>
          </a:bodyPr>
          <a:lstStyle/>
          <a:p>
            <a:r>
              <a:rPr lang="en-US" sz="2800" dirty="0"/>
              <a:t>Wireframe Notes – 7.5.2 – Product Types (Tree View)</a:t>
            </a:r>
          </a:p>
        </p:txBody>
      </p:sp>
      <p:sp>
        <p:nvSpPr>
          <p:cNvPr id="4" name="Date Placeholder 3">
            <a:extLst>
              <a:ext uri="{FF2B5EF4-FFF2-40B4-BE49-F238E27FC236}">
                <a16:creationId xmlns:a16="http://schemas.microsoft.com/office/drawing/2014/main" id="{8EE3E8F1-814D-63EA-EAD1-0F932C0E810B}"/>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5A8B7C69-8430-7DFA-89CA-CD779994F4EA}"/>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73</a:t>
            </a:fld>
            <a:endParaRPr lang="en-US"/>
          </a:p>
        </p:txBody>
      </p:sp>
      <p:pic>
        <p:nvPicPr>
          <p:cNvPr id="6" name="Picture 5">
            <a:extLst>
              <a:ext uri="{FF2B5EF4-FFF2-40B4-BE49-F238E27FC236}">
                <a16:creationId xmlns:a16="http://schemas.microsoft.com/office/drawing/2014/main" id="{541352C1-0E21-0206-521C-98FF95F95910}"/>
              </a:ext>
            </a:extLst>
          </p:cNvPr>
          <p:cNvPicPr>
            <a:picLocks noChangeAspect="1"/>
          </p:cNvPicPr>
          <p:nvPr/>
        </p:nvPicPr>
        <p:blipFill>
          <a:blip r:embed="rId3"/>
          <a:stretch>
            <a:fillRect/>
          </a:stretch>
        </p:blipFill>
        <p:spPr>
          <a:xfrm>
            <a:off x="161925" y="677072"/>
            <a:ext cx="7848600" cy="5902490"/>
          </a:xfrm>
          <a:prstGeom prst="rect">
            <a:avLst/>
          </a:prstGeom>
        </p:spPr>
      </p:pic>
    </p:spTree>
    <p:extLst>
      <p:ext uri="{BB962C8B-B14F-4D97-AF65-F5344CB8AC3E}">
        <p14:creationId xmlns:p14="http://schemas.microsoft.com/office/powerpoint/2010/main" val="401646238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7BE5B-51CE-E9B1-706B-1E198DA430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ADEB99-DDB6-685A-8C29-12A9A811EAC8}"/>
              </a:ext>
            </a:extLst>
          </p:cNvPr>
          <p:cNvSpPr>
            <a:spLocks noGrp="1"/>
          </p:cNvSpPr>
          <p:nvPr>
            <p:ph type="title"/>
          </p:nvPr>
        </p:nvSpPr>
        <p:spPr>
          <a:xfrm>
            <a:off x="598503" y="193906"/>
            <a:ext cx="10515600" cy="487131"/>
          </a:xfrm>
        </p:spPr>
        <p:txBody>
          <a:bodyPr>
            <a:normAutofit/>
          </a:bodyPr>
          <a:lstStyle/>
          <a:p>
            <a:r>
              <a:rPr lang="en-US" sz="2800" dirty="0"/>
              <a:t>Wireframe Notes – 7.5.2 – Product Types (Tree View)</a:t>
            </a:r>
          </a:p>
        </p:txBody>
      </p:sp>
      <p:sp>
        <p:nvSpPr>
          <p:cNvPr id="4" name="Date Placeholder 3">
            <a:extLst>
              <a:ext uri="{FF2B5EF4-FFF2-40B4-BE49-F238E27FC236}">
                <a16:creationId xmlns:a16="http://schemas.microsoft.com/office/drawing/2014/main" id="{56F97053-0D75-D107-39F2-36E5406E2D6E}"/>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2396014A-821C-42B7-7695-FA5D06BC5794}"/>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74</a:t>
            </a:fld>
            <a:endParaRPr lang="en-US"/>
          </a:p>
        </p:txBody>
      </p:sp>
      <p:sp>
        <p:nvSpPr>
          <p:cNvPr id="7" name="TextBox 6">
            <a:extLst>
              <a:ext uri="{FF2B5EF4-FFF2-40B4-BE49-F238E27FC236}">
                <a16:creationId xmlns:a16="http://schemas.microsoft.com/office/drawing/2014/main" id="{E7BD3EF7-D11D-9392-E821-C3D3B7019B52}"/>
              </a:ext>
            </a:extLst>
          </p:cNvPr>
          <p:cNvSpPr txBox="1"/>
          <p:nvPr/>
        </p:nvSpPr>
        <p:spPr>
          <a:xfrm>
            <a:off x="8743406" y="677072"/>
            <a:ext cx="3348189" cy="1569660"/>
          </a:xfrm>
          <a:prstGeom prst="rect">
            <a:avLst/>
          </a:prstGeom>
          <a:noFill/>
        </p:spPr>
        <p:txBody>
          <a:bodyPr wrap="square">
            <a:spAutoFit/>
          </a:bodyPr>
          <a:lstStyle/>
          <a:p>
            <a:pPr marL="171450" marR="2000" indent="-171450" algn="l" rtl="0">
              <a:buSzPts val="120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This is the Product Types Admin View.</a:t>
            </a:r>
          </a:p>
          <a:p>
            <a:pPr marL="171450" marR="2000" indent="-1714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Add Product Categories, Product Types, and Product Type Subcategories.</a:t>
            </a:r>
          </a:p>
          <a:p>
            <a:pPr marL="171450" marR="2000" indent="-1714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Edit/Delete Selected Line Item.</a:t>
            </a:r>
          </a:p>
          <a:p>
            <a:pPr marL="171450" marR="2000" indent="-171450">
              <a:buFont typeface="Arial" panose="020B0604020202020204" pitchFamily="34" charset="0"/>
              <a:buChar char="•"/>
            </a:pPr>
            <a:r>
              <a:rPr lang="en-US" sz="1200" dirty="0">
                <a:solidFill>
                  <a:srgbClr val="606771"/>
                </a:solidFill>
                <a:latin typeface="Century Gothic" panose="020B0502020202020204" pitchFamily="34" charset="0"/>
              </a:rPr>
              <a:t>One-to-Many relationship between Product Types, and Product Type Subcategories.</a:t>
            </a:r>
            <a:endParaRPr lang="en-US" sz="1200" dirty="0">
              <a:latin typeface="Century Gothic" panose="020B0502020202020204" pitchFamily="34" charset="0"/>
            </a:endParaRPr>
          </a:p>
        </p:txBody>
      </p:sp>
      <p:pic>
        <p:nvPicPr>
          <p:cNvPr id="8" name="Picture 7">
            <a:extLst>
              <a:ext uri="{FF2B5EF4-FFF2-40B4-BE49-F238E27FC236}">
                <a16:creationId xmlns:a16="http://schemas.microsoft.com/office/drawing/2014/main" id="{9D7ED815-4209-A072-D928-2EE225E31757}"/>
              </a:ext>
            </a:extLst>
          </p:cNvPr>
          <p:cNvPicPr>
            <a:picLocks noChangeAspect="1"/>
          </p:cNvPicPr>
          <p:nvPr/>
        </p:nvPicPr>
        <p:blipFill>
          <a:blip r:embed="rId3"/>
          <a:stretch>
            <a:fillRect/>
          </a:stretch>
        </p:blipFill>
        <p:spPr>
          <a:xfrm>
            <a:off x="537540" y="764162"/>
            <a:ext cx="8218006" cy="5503856"/>
          </a:xfrm>
          <a:prstGeom prst="rect">
            <a:avLst/>
          </a:prstGeom>
        </p:spPr>
      </p:pic>
    </p:spTree>
    <p:extLst>
      <p:ext uri="{BB962C8B-B14F-4D97-AF65-F5344CB8AC3E}">
        <p14:creationId xmlns:p14="http://schemas.microsoft.com/office/powerpoint/2010/main" val="405525659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2AF98-B97B-E76F-D5C0-57F58D094E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86FCBD-02BF-BD48-5C1F-FAE923F86AD5}"/>
              </a:ext>
            </a:extLst>
          </p:cNvPr>
          <p:cNvSpPr>
            <a:spLocks noGrp="1"/>
          </p:cNvSpPr>
          <p:nvPr>
            <p:ph type="title"/>
          </p:nvPr>
        </p:nvSpPr>
        <p:spPr>
          <a:xfrm>
            <a:off x="598503" y="193906"/>
            <a:ext cx="10515600" cy="487131"/>
          </a:xfrm>
        </p:spPr>
        <p:txBody>
          <a:bodyPr>
            <a:normAutofit/>
          </a:bodyPr>
          <a:lstStyle/>
          <a:p>
            <a:r>
              <a:rPr lang="en-US" sz="2800" dirty="0"/>
              <a:t>Wireframe Notes – 7.5.2 – Product Types (Tree View – Edit)</a:t>
            </a:r>
          </a:p>
        </p:txBody>
      </p:sp>
      <p:sp>
        <p:nvSpPr>
          <p:cNvPr id="4" name="Date Placeholder 3">
            <a:extLst>
              <a:ext uri="{FF2B5EF4-FFF2-40B4-BE49-F238E27FC236}">
                <a16:creationId xmlns:a16="http://schemas.microsoft.com/office/drawing/2014/main" id="{5C31A32A-2E7D-AADF-4B74-8B5210E4FF88}"/>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94DF8312-5E5D-36EA-F0A7-993B74FE2831}"/>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75</a:t>
            </a:fld>
            <a:endParaRPr lang="en-US"/>
          </a:p>
        </p:txBody>
      </p:sp>
      <p:pic>
        <p:nvPicPr>
          <p:cNvPr id="10" name="Picture 9">
            <a:extLst>
              <a:ext uri="{FF2B5EF4-FFF2-40B4-BE49-F238E27FC236}">
                <a16:creationId xmlns:a16="http://schemas.microsoft.com/office/drawing/2014/main" id="{673526CF-A3D4-7CE4-7900-44F50A7F245A}"/>
              </a:ext>
            </a:extLst>
          </p:cNvPr>
          <p:cNvPicPr>
            <a:picLocks noChangeAspect="1"/>
          </p:cNvPicPr>
          <p:nvPr/>
        </p:nvPicPr>
        <p:blipFill>
          <a:blip r:embed="rId3"/>
          <a:stretch>
            <a:fillRect/>
          </a:stretch>
        </p:blipFill>
        <p:spPr>
          <a:xfrm>
            <a:off x="598503" y="681037"/>
            <a:ext cx="9032837" cy="6135677"/>
          </a:xfrm>
          <a:prstGeom prst="rect">
            <a:avLst/>
          </a:prstGeom>
        </p:spPr>
      </p:pic>
    </p:spTree>
    <p:extLst>
      <p:ext uri="{BB962C8B-B14F-4D97-AF65-F5344CB8AC3E}">
        <p14:creationId xmlns:p14="http://schemas.microsoft.com/office/powerpoint/2010/main" val="170691639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72608-D7BA-C89B-5E50-6EC4CC0697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D40539-3E56-D858-DA3D-852DBEE3B874}"/>
              </a:ext>
            </a:extLst>
          </p:cNvPr>
          <p:cNvSpPr>
            <a:spLocks noGrp="1"/>
          </p:cNvSpPr>
          <p:nvPr>
            <p:ph type="title"/>
          </p:nvPr>
        </p:nvSpPr>
        <p:spPr>
          <a:xfrm>
            <a:off x="598503" y="193906"/>
            <a:ext cx="10515600" cy="487131"/>
          </a:xfrm>
        </p:spPr>
        <p:txBody>
          <a:bodyPr>
            <a:normAutofit/>
          </a:bodyPr>
          <a:lstStyle/>
          <a:p>
            <a:r>
              <a:rPr lang="en-US" sz="2800" dirty="0"/>
              <a:t>Wireframe Notes – 7.5.2 – Product Types (Table View)</a:t>
            </a:r>
          </a:p>
        </p:txBody>
      </p:sp>
      <p:sp>
        <p:nvSpPr>
          <p:cNvPr id="4" name="Date Placeholder 3">
            <a:extLst>
              <a:ext uri="{FF2B5EF4-FFF2-40B4-BE49-F238E27FC236}">
                <a16:creationId xmlns:a16="http://schemas.microsoft.com/office/drawing/2014/main" id="{4600C3BA-CE8B-18B5-BCA9-1680C0AAD5A1}"/>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0BE5BA43-BE8B-075B-C297-6E5AC9C77902}"/>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76</a:t>
            </a:fld>
            <a:endParaRPr lang="en-US"/>
          </a:p>
        </p:txBody>
      </p:sp>
      <p:pic>
        <p:nvPicPr>
          <p:cNvPr id="8" name="Picture 7">
            <a:extLst>
              <a:ext uri="{FF2B5EF4-FFF2-40B4-BE49-F238E27FC236}">
                <a16:creationId xmlns:a16="http://schemas.microsoft.com/office/drawing/2014/main" id="{1DCF713A-E03E-5198-9231-C5D9BA38BCB2}"/>
              </a:ext>
            </a:extLst>
          </p:cNvPr>
          <p:cNvPicPr>
            <a:picLocks noChangeAspect="1"/>
          </p:cNvPicPr>
          <p:nvPr/>
        </p:nvPicPr>
        <p:blipFill>
          <a:blip r:embed="rId3"/>
          <a:stretch>
            <a:fillRect/>
          </a:stretch>
        </p:blipFill>
        <p:spPr>
          <a:xfrm>
            <a:off x="598503" y="751176"/>
            <a:ext cx="9303046" cy="6106824"/>
          </a:xfrm>
          <a:prstGeom prst="rect">
            <a:avLst/>
          </a:prstGeom>
        </p:spPr>
      </p:pic>
    </p:spTree>
    <p:extLst>
      <p:ext uri="{BB962C8B-B14F-4D97-AF65-F5344CB8AC3E}">
        <p14:creationId xmlns:p14="http://schemas.microsoft.com/office/powerpoint/2010/main" val="261442363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E3C27-8B51-C7B8-C619-466E49FD7A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654609-5557-DB08-A224-7AB74DB187E5}"/>
              </a:ext>
            </a:extLst>
          </p:cNvPr>
          <p:cNvSpPr>
            <a:spLocks noGrp="1"/>
          </p:cNvSpPr>
          <p:nvPr>
            <p:ph type="title"/>
          </p:nvPr>
        </p:nvSpPr>
        <p:spPr/>
        <p:txBody>
          <a:bodyPr/>
          <a:lstStyle/>
          <a:p>
            <a:r>
              <a:rPr lang="en-US" sz="2800" dirty="0"/>
              <a:t>Wireframe Notes – 7.5.3 – Certification Field Management</a:t>
            </a:r>
          </a:p>
        </p:txBody>
      </p:sp>
      <p:sp>
        <p:nvSpPr>
          <p:cNvPr id="4" name="Date Placeholder 3">
            <a:extLst>
              <a:ext uri="{FF2B5EF4-FFF2-40B4-BE49-F238E27FC236}">
                <a16:creationId xmlns:a16="http://schemas.microsoft.com/office/drawing/2014/main" id="{679AE757-2C72-734B-FC5C-CA44272C69B7}"/>
              </a:ext>
            </a:extLst>
          </p:cNvPr>
          <p:cNvSpPr>
            <a:spLocks noGrp="1"/>
          </p:cNvSpPr>
          <p:nvPr>
            <p:ph type="dt" sz="half" idx="10"/>
          </p:nvPr>
        </p:nvSpPr>
        <p:spPr/>
        <p:txBody>
          <a:bodyPr/>
          <a:lstStyle/>
          <a:p>
            <a:fld id="{FAAB834C-2F9F-4134-A8A6-8D28F07BEAB5}" type="datetime1">
              <a:rPr lang="en-US" smtClean="0"/>
              <a:t>9/18/2025</a:t>
            </a:fld>
            <a:endParaRPr lang="en-US"/>
          </a:p>
        </p:txBody>
      </p:sp>
      <p:sp>
        <p:nvSpPr>
          <p:cNvPr id="5" name="Slide Number Placeholder 4">
            <a:extLst>
              <a:ext uri="{FF2B5EF4-FFF2-40B4-BE49-F238E27FC236}">
                <a16:creationId xmlns:a16="http://schemas.microsoft.com/office/drawing/2014/main" id="{8DBBEDC6-679E-67DA-6BEC-F3EC78B29092}"/>
              </a:ext>
            </a:extLst>
          </p:cNvPr>
          <p:cNvSpPr>
            <a:spLocks noGrp="1"/>
          </p:cNvSpPr>
          <p:nvPr>
            <p:ph type="sldNum" sz="quarter" idx="12"/>
          </p:nvPr>
        </p:nvSpPr>
        <p:spPr/>
        <p:txBody>
          <a:bodyPr/>
          <a:lstStyle/>
          <a:p>
            <a:fld id="{330EA680-D336-4FF7-8B7A-9848BB0A1C32}" type="slidenum">
              <a:rPr lang="en-US" smtClean="0"/>
              <a:t>77</a:t>
            </a:fld>
            <a:endParaRPr lang="en-US"/>
          </a:p>
        </p:txBody>
      </p:sp>
      <p:sp>
        <p:nvSpPr>
          <p:cNvPr id="11" name="TextBox 10">
            <a:extLst>
              <a:ext uri="{FF2B5EF4-FFF2-40B4-BE49-F238E27FC236}">
                <a16:creationId xmlns:a16="http://schemas.microsoft.com/office/drawing/2014/main" id="{6B423A43-D7D6-6C00-91FB-968D5B84776F}"/>
              </a:ext>
            </a:extLst>
          </p:cNvPr>
          <p:cNvSpPr txBox="1"/>
          <p:nvPr/>
        </p:nvSpPr>
        <p:spPr>
          <a:xfrm>
            <a:off x="8610600" y="926782"/>
            <a:ext cx="3407229" cy="3046988"/>
          </a:xfrm>
          <a:prstGeom prst="rect">
            <a:avLst/>
          </a:prstGeom>
          <a:noFill/>
        </p:spPr>
        <p:txBody>
          <a:bodyPr wrap="square">
            <a:spAutoFit/>
          </a:bodyPr>
          <a:lstStyle/>
          <a:p>
            <a:r>
              <a:rPr lang="en-US" sz="1200" b="1" dirty="0">
                <a:latin typeface="Century Gothic" panose="020B0502020202020204" pitchFamily="34" charset="0"/>
              </a:rPr>
              <a:t>Fields:</a:t>
            </a:r>
          </a:p>
          <a:p>
            <a:r>
              <a:rPr lang="en-US" sz="1200" dirty="0">
                <a:latin typeface="Century Gothic" panose="020B0502020202020204" pitchFamily="34" charset="0"/>
              </a:rPr>
              <a:t>Public Users: Certificate #, Certification Type, Effective Date, Expiration Date, Company, Company Contact Email/URL, Product Name, Product Category, Product Type, Product Type Subcategory, Location, Country, External Tag</a:t>
            </a:r>
          </a:p>
          <a:p>
            <a:pPr marL="285750" indent="-285750">
              <a:buFont typeface="Arial" panose="020B0604020202020204" pitchFamily="34" charset="0"/>
              <a:buChar char="•"/>
            </a:pPr>
            <a:r>
              <a:rPr lang="en-US" sz="1200" dirty="0">
                <a:latin typeface="Century Gothic" panose="020B0502020202020204" pitchFamily="34" charset="0"/>
              </a:rPr>
              <a:t>External/Client Users: All public fields plus CSF Attributes, Status, Internal Tag, ASIN, UPC, GTIN, EAN, Certificate Upload</a:t>
            </a:r>
          </a:p>
          <a:p>
            <a:pPr marL="171450" indent="-171450">
              <a:buFont typeface="Arial" panose="020B0604020202020204" pitchFamily="34" charset="0"/>
              <a:buChar char="•"/>
            </a:pPr>
            <a:r>
              <a:rPr lang="en-US" sz="1200" dirty="0">
                <a:latin typeface="Century Gothic" panose="020B0502020202020204" pitchFamily="34" charset="0"/>
              </a:rPr>
              <a:t>Analyst/Admin Users: All fields including Record Information (Created Date, Last Updated Date, Last Edited By)</a:t>
            </a:r>
          </a:p>
          <a:p>
            <a:pPr marL="171450" indent="-171450">
              <a:buFont typeface="Arial" panose="020B0604020202020204" pitchFamily="34" charset="0"/>
              <a:buChar char="•"/>
            </a:pPr>
            <a:r>
              <a:rPr lang="en-US" sz="1200" dirty="0">
                <a:latin typeface="Century Gothic" panose="020B0502020202020204" pitchFamily="34" charset="0"/>
              </a:rPr>
              <a:t>Fields auto-append to bottom of their assigned section for logical grouping</a:t>
            </a:r>
          </a:p>
        </p:txBody>
      </p:sp>
      <p:pic>
        <p:nvPicPr>
          <p:cNvPr id="13" name="Picture 12">
            <a:extLst>
              <a:ext uri="{FF2B5EF4-FFF2-40B4-BE49-F238E27FC236}">
                <a16:creationId xmlns:a16="http://schemas.microsoft.com/office/drawing/2014/main" id="{85F8224A-6C13-C712-A46A-3DD8EE57B60C}"/>
              </a:ext>
            </a:extLst>
          </p:cNvPr>
          <p:cNvPicPr>
            <a:picLocks noChangeAspect="1"/>
          </p:cNvPicPr>
          <p:nvPr/>
        </p:nvPicPr>
        <p:blipFill>
          <a:blip r:embed="rId2"/>
          <a:stretch>
            <a:fillRect/>
          </a:stretch>
        </p:blipFill>
        <p:spPr>
          <a:xfrm>
            <a:off x="771315" y="745834"/>
            <a:ext cx="7606332" cy="5593617"/>
          </a:xfrm>
          <a:prstGeom prst="rect">
            <a:avLst/>
          </a:prstGeom>
        </p:spPr>
      </p:pic>
    </p:spTree>
    <p:extLst>
      <p:ext uri="{BB962C8B-B14F-4D97-AF65-F5344CB8AC3E}">
        <p14:creationId xmlns:p14="http://schemas.microsoft.com/office/powerpoint/2010/main" val="142828811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0E7F0-4403-40EF-C775-42068027444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BDE50D7-8BC8-9FFF-3BE2-61BB97ACAB59}"/>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56A2D4EC-BCE1-A7F1-6659-49466381E27D}"/>
              </a:ext>
            </a:extLst>
          </p:cNvPr>
          <p:cNvSpPr>
            <a:spLocks noGrp="1"/>
          </p:cNvSpPr>
          <p:nvPr>
            <p:ph type="sldNum" sz="quarter" idx="12"/>
          </p:nvPr>
        </p:nvSpPr>
        <p:spPr>
          <a:xfrm>
            <a:off x="8610600" y="6356350"/>
            <a:ext cx="1810512" cy="365125"/>
          </a:xfrm>
        </p:spPr>
        <p:txBody>
          <a:bodyPr anchor="ctr">
            <a:normAutofit/>
          </a:bodyPr>
          <a:lstStyle/>
          <a:p>
            <a:pPr>
              <a:spcAft>
                <a:spcPts val="600"/>
              </a:spcAft>
            </a:pPr>
            <a:fld id="{330EA680-D336-4FF7-8B7A-9848BB0A1C32}" type="slidenum">
              <a:rPr lang="en-US" smtClean="0"/>
              <a:pPr>
                <a:spcAft>
                  <a:spcPts val="600"/>
                </a:spcAft>
              </a:pPr>
              <a:t>78</a:t>
            </a:fld>
            <a:endParaRPr lang="en-US"/>
          </a:p>
        </p:txBody>
      </p:sp>
      <p:sp>
        <p:nvSpPr>
          <p:cNvPr id="2" name="Title 1">
            <a:extLst>
              <a:ext uri="{FF2B5EF4-FFF2-40B4-BE49-F238E27FC236}">
                <a16:creationId xmlns:a16="http://schemas.microsoft.com/office/drawing/2014/main" id="{58851E51-CA15-F7B6-CA57-32EBF041399C}"/>
              </a:ext>
            </a:extLst>
          </p:cNvPr>
          <p:cNvSpPr>
            <a:spLocks noGrp="1"/>
          </p:cNvSpPr>
          <p:nvPr>
            <p:ph type="title"/>
          </p:nvPr>
        </p:nvSpPr>
        <p:spPr>
          <a:xfrm>
            <a:off x="557560" y="-30772"/>
            <a:ext cx="11634440" cy="487131"/>
          </a:xfrm>
        </p:spPr>
        <p:txBody>
          <a:bodyPr>
            <a:normAutofit/>
          </a:bodyPr>
          <a:lstStyle/>
          <a:p>
            <a:r>
              <a:rPr lang="en-US" sz="2800" dirty="0"/>
              <a:t>Wireframe Notes – 7.5.3 – Certification Field Management (Add)</a:t>
            </a:r>
          </a:p>
        </p:txBody>
      </p:sp>
      <p:pic>
        <p:nvPicPr>
          <p:cNvPr id="9" name="Picture 8">
            <a:extLst>
              <a:ext uri="{FF2B5EF4-FFF2-40B4-BE49-F238E27FC236}">
                <a16:creationId xmlns:a16="http://schemas.microsoft.com/office/drawing/2014/main" id="{FE6ABB37-2552-8AC0-8F24-E9BC92AE133A}"/>
              </a:ext>
            </a:extLst>
          </p:cNvPr>
          <p:cNvPicPr>
            <a:picLocks noChangeAspect="1"/>
          </p:cNvPicPr>
          <p:nvPr/>
        </p:nvPicPr>
        <p:blipFill>
          <a:blip r:embed="rId3"/>
          <a:stretch>
            <a:fillRect/>
          </a:stretch>
        </p:blipFill>
        <p:spPr>
          <a:xfrm>
            <a:off x="662583" y="456359"/>
            <a:ext cx="7506058" cy="6145585"/>
          </a:xfrm>
          <a:prstGeom prst="rect">
            <a:avLst/>
          </a:prstGeom>
        </p:spPr>
      </p:pic>
    </p:spTree>
    <p:extLst>
      <p:ext uri="{BB962C8B-B14F-4D97-AF65-F5344CB8AC3E}">
        <p14:creationId xmlns:p14="http://schemas.microsoft.com/office/powerpoint/2010/main" val="162335344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DC89E-005B-E788-26FC-2C0A86E9B81F}"/>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331A349C-2A09-7EA3-750F-00D0FF5A48D5}"/>
              </a:ext>
            </a:extLst>
          </p:cNvPr>
          <p:cNvPicPr>
            <a:picLocks noChangeAspect="1"/>
          </p:cNvPicPr>
          <p:nvPr/>
        </p:nvPicPr>
        <p:blipFill>
          <a:blip r:embed="rId3"/>
          <a:stretch>
            <a:fillRect/>
          </a:stretch>
        </p:blipFill>
        <p:spPr>
          <a:xfrm>
            <a:off x="321597" y="500062"/>
            <a:ext cx="7809381" cy="6116290"/>
          </a:xfrm>
          <a:prstGeom prst="rect">
            <a:avLst/>
          </a:prstGeom>
        </p:spPr>
      </p:pic>
      <p:sp>
        <p:nvSpPr>
          <p:cNvPr id="4" name="Date Placeholder 3">
            <a:extLst>
              <a:ext uri="{FF2B5EF4-FFF2-40B4-BE49-F238E27FC236}">
                <a16:creationId xmlns:a16="http://schemas.microsoft.com/office/drawing/2014/main" id="{D89295FA-A398-4209-3051-34BFC1DA81B0}"/>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35F3CD2E-0E74-2AF2-1D77-8DFE262F7BB5}"/>
              </a:ext>
            </a:extLst>
          </p:cNvPr>
          <p:cNvSpPr>
            <a:spLocks noGrp="1"/>
          </p:cNvSpPr>
          <p:nvPr>
            <p:ph type="sldNum" sz="quarter" idx="12"/>
          </p:nvPr>
        </p:nvSpPr>
        <p:spPr>
          <a:xfrm>
            <a:off x="8610600" y="6356350"/>
            <a:ext cx="1810512" cy="365125"/>
          </a:xfrm>
        </p:spPr>
        <p:txBody>
          <a:bodyPr anchor="ctr">
            <a:normAutofit/>
          </a:bodyPr>
          <a:lstStyle/>
          <a:p>
            <a:pPr>
              <a:spcAft>
                <a:spcPts val="600"/>
              </a:spcAft>
            </a:pPr>
            <a:fld id="{330EA680-D336-4FF7-8B7A-9848BB0A1C32}" type="slidenum">
              <a:rPr lang="en-US" smtClean="0"/>
              <a:pPr>
                <a:spcAft>
                  <a:spcPts val="600"/>
                </a:spcAft>
              </a:pPr>
              <a:t>79</a:t>
            </a:fld>
            <a:endParaRPr lang="en-US"/>
          </a:p>
        </p:txBody>
      </p:sp>
      <p:sp>
        <p:nvSpPr>
          <p:cNvPr id="2" name="Title 1">
            <a:extLst>
              <a:ext uri="{FF2B5EF4-FFF2-40B4-BE49-F238E27FC236}">
                <a16:creationId xmlns:a16="http://schemas.microsoft.com/office/drawing/2014/main" id="{3EDADE3E-46A7-2A66-FA86-30B98D35A9E5}"/>
              </a:ext>
            </a:extLst>
          </p:cNvPr>
          <p:cNvSpPr>
            <a:spLocks noGrp="1"/>
          </p:cNvSpPr>
          <p:nvPr>
            <p:ph type="title"/>
          </p:nvPr>
        </p:nvSpPr>
        <p:spPr>
          <a:xfrm>
            <a:off x="557560" y="-30772"/>
            <a:ext cx="10515600" cy="487131"/>
          </a:xfrm>
        </p:spPr>
        <p:txBody>
          <a:bodyPr>
            <a:normAutofit/>
          </a:bodyPr>
          <a:lstStyle/>
          <a:p>
            <a:r>
              <a:rPr lang="en-US" sz="2800" dirty="0"/>
              <a:t>Wireframe Notes – 7.5.3 – Certification Field Management</a:t>
            </a:r>
          </a:p>
        </p:txBody>
      </p:sp>
      <p:pic>
        <p:nvPicPr>
          <p:cNvPr id="10" name="Picture 9">
            <a:extLst>
              <a:ext uri="{FF2B5EF4-FFF2-40B4-BE49-F238E27FC236}">
                <a16:creationId xmlns:a16="http://schemas.microsoft.com/office/drawing/2014/main" id="{96E01157-00EF-99C2-2B5A-2843775825B0}"/>
              </a:ext>
            </a:extLst>
          </p:cNvPr>
          <p:cNvPicPr>
            <a:picLocks noChangeAspect="1"/>
          </p:cNvPicPr>
          <p:nvPr/>
        </p:nvPicPr>
        <p:blipFill>
          <a:blip r:embed="rId4"/>
          <a:stretch>
            <a:fillRect/>
          </a:stretch>
        </p:blipFill>
        <p:spPr>
          <a:xfrm>
            <a:off x="514749" y="2780766"/>
            <a:ext cx="1038571" cy="1109787"/>
          </a:xfrm>
          <a:prstGeom prst="rect">
            <a:avLst/>
          </a:prstGeom>
        </p:spPr>
      </p:pic>
      <p:pic>
        <p:nvPicPr>
          <p:cNvPr id="12" name="Picture 11">
            <a:extLst>
              <a:ext uri="{FF2B5EF4-FFF2-40B4-BE49-F238E27FC236}">
                <a16:creationId xmlns:a16="http://schemas.microsoft.com/office/drawing/2014/main" id="{6F2B96EA-79D9-F1F4-D9EF-FC6E8473A861}"/>
              </a:ext>
            </a:extLst>
          </p:cNvPr>
          <p:cNvPicPr>
            <a:picLocks noChangeAspect="1"/>
          </p:cNvPicPr>
          <p:nvPr/>
        </p:nvPicPr>
        <p:blipFill>
          <a:blip r:embed="rId5"/>
          <a:stretch>
            <a:fillRect/>
          </a:stretch>
        </p:blipFill>
        <p:spPr>
          <a:xfrm>
            <a:off x="2967711" y="2780766"/>
            <a:ext cx="836652" cy="1271712"/>
          </a:xfrm>
          <a:prstGeom prst="rect">
            <a:avLst/>
          </a:prstGeom>
        </p:spPr>
      </p:pic>
      <p:pic>
        <p:nvPicPr>
          <p:cNvPr id="14" name="Picture 13">
            <a:extLst>
              <a:ext uri="{FF2B5EF4-FFF2-40B4-BE49-F238E27FC236}">
                <a16:creationId xmlns:a16="http://schemas.microsoft.com/office/drawing/2014/main" id="{000FE37C-7429-E7BD-6F31-C83D00B701C8}"/>
              </a:ext>
            </a:extLst>
          </p:cNvPr>
          <p:cNvPicPr>
            <a:picLocks noChangeAspect="1"/>
          </p:cNvPicPr>
          <p:nvPr/>
        </p:nvPicPr>
        <p:blipFill>
          <a:blip r:embed="rId6"/>
          <a:srcRect b="26039"/>
          <a:stretch>
            <a:fillRect/>
          </a:stretch>
        </p:blipFill>
        <p:spPr>
          <a:xfrm>
            <a:off x="3878522" y="2761465"/>
            <a:ext cx="715219" cy="478121"/>
          </a:xfrm>
          <a:prstGeom prst="rect">
            <a:avLst/>
          </a:prstGeom>
        </p:spPr>
      </p:pic>
      <p:sp>
        <p:nvSpPr>
          <p:cNvPr id="16" name="TextBox 15">
            <a:extLst>
              <a:ext uri="{FF2B5EF4-FFF2-40B4-BE49-F238E27FC236}">
                <a16:creationId xmlns:a16="http://schemas.microsoft.com/office/drawing/2014/main" id="{47CC6866-3D39-8E36-5CB9-3EB6FD1F8FAB}"/>
              </a:ext>
            </a:extLst>
          </p:cNvPr>
          <p:cNvSpPr txBox="1"/>
          <p:nvPr/>
        </p:nvSpPr>
        <p:spPr>
          <a:xfrm>
            <a:off x="8130978" y="500062"/>
            <a:ext cx="3965771" cy="3077766"/>
          </a:xfrm>
          <a:prstGeom prst="rect">
            <a:avLst/>
          </a:prstGeom>
          <a:noFill/>
        </p:spPr>
        <p:txBody>
          <a:bodyPr wrap="square">
            <a:spAutoFit/>
          </a:bodyPr>
          <a:lstStyle/>
          <a:p>
            <a:r>
              <a:rPr lang="en-US" sz="1200" b="1" dirty="0">
                <a:latin typeface="Century Gothic" panose="020B0502020202020204" pitchFamily="34" charset="0"/>
              </a:rPr>
              <a:t>Field Visibility by User Role</a:t>
            </a:r>
          </a:p>
          <a:p>
            <a:pPr marL="285750" indent="-285750">
              <a:buFont typeface="Arial" panose="020B0604020202020204" pitchFamily="34" charset="0"/>
              <a:buChar char="•"/>
            </a:pPr>
            <a:r>
              <a:rPr lang="en-US" sz="1200" dirty="0">
                <a:latin typeface="Century Gothic" panose="020B0502020202020204" pitchFamily="34" charset="0"/>
              </a:rPr>
              <a:t>Public Users: Certificate #, Certification Type, Effective Date, Expiration Date, Company, Company Contact Email/URL, Product Name, Product Category, Product Type, Product Type Subcategory, Location, Country, External Tag</a:t>
            </a:r>
          </a:p>
          <a:p>
            <a:pPr marL="285750" indent="-285750">
              <a:buFont typeface="Arial" panose="020B0604020202020204" pitchFamily="34" charset="0"/>
              <a:buChar char="•"/>
            </a:pPr>
            <a:r>
              <a:rPr lang="en-US" sz="1200" dirty="0">
                <a:latin typeface="Century Gothic" panose="020B0502020202020204" pitchFamily="34" charset="0"/>
              </a:rPr>
              <a:t>External/Client Users: All public fields plus CSF Attributes, Status, Internal Tag, ASIN, UPC, GTIN, EAN, Certificate Upload</a:t>
            </a:r>
          </a:p>
          <a:p>
            <a:pPr marL="171450" indent="-171450">
              <a:buFont typeface="Arial" panose="020B0604020202020204" pitchFamily="34" charset="0"/>
              <a:buChar char="•"/>
            </a:pPr>
            <a:r>
              <a:rPr lang="en-US" sz="1200" dirty="0">
                <a:latin typeface="Century Gothic" panose="020B0502020202020204" pitchFamily="34" charset="0"/>
              </a:rPr>
              <a:t>Analyst/Admin Users: All fields including Record Information (Created Date, Last Updated Date, Last Edited By)</a:t>
            </a:r>
            <a:br>
              <a:rPr lang="en-US" sz="1200" dirty="0">
                <a:latin typeface="Century Gothic" panose="020B0502020202020204" pitchFamily="34" charset="0"/>
              </a:rPr>
            </a:br>
            <a:br>
              <a:rPr lang="en-US" sz="1200" dirty="0">
                <a:latin typeface="Century Gothic" panose="020B0502020202020204" pitchFamily="34" charset="0"/>
              </a:rPr>
            </a:br>
            <a:endParaRPr lang="en-US" sz="1200" dirty="0">
              <a:latin typeface="Century Gothic" panose="020B0502020202020204" pitchFamily="34" charset="0"/>
            </a:endParaRPr>
          </a:p>
          <a:p>
            <a:pPr marL="171450" indent="-171450">
              <a:buFont typeface="Arial" panose="020B0604020202020204" pitchFamily="34" charset="0"/>
              <a:buChar char="•"/>
            </a:pPr>
            <a:r>
              <a:rPr lang="en-US" sz="1200" dirty="0">
                <a:latin typeface="Century Gothic" panose="020B0502020202020204" pitchFamily="34" charset="0"/>
              </a:rPr>
              <a:t>Fields auto-append to bottom of their assigned section for logical grouping</a:t>
            </a:r>
          </a:p>
        </p:txBody>
      </p:sp>
    </p:spTree>
    <p:extLst>
      <p:ext uri="{BB962C8B-B14F-4D97-AF65-F5344CB8AC3E}">
        <p14:creationId xmlns:p14="http://schemas.microsoft.com/office/powerpoint/2010/main" val="321222888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E4FA2-7CC3-AD4A-A567-EBF431370C2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E0F69ED-F784-A49E-8A2D-5C5C2211D39B}"/>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BE54FCEA-0430-CB2B-997D-A7CD3A3591A2}"/>
              </a:ext>
            </a:extLst>
          </p:cNvPr>
          <p:cNvSpPr>
            <a:spLocks noGrp="1"/>
          </p:cNvSpPr>
          <p:nvPr>
            <p:ph type="sldNum" sz="quarter" idx="12"/>
          </p:nvPr>
        </p:nvSpPr>
        <p:spPr>
          <a:xfrm>
            <a:off x="8610600" y="6356350"/>
            <a:ext cx="1810512" cy="365125"/>
          </a:xfrm>
        </p:spPr>
        <p:txBody>
          <a:bodyPr anchor="ctr">
            <a:normAutofit/>
          </a:bodyPr>
          <a:lstStyle/>
          <a:p>
            <a:pPr>
              <a:spcAft>
                <a:spcPts val="600"/>
              </a:spcAft>
            </a:pPr>
            <a:fld id="{330EA680-D336-4FF7-8B7A-9848BB0A1C32}" type="slidenum">
              <a:rPr lang="en-US" smtClean="0"/>
              <a:pPr>
                <a:spcAft>
                  <a:spcPts val="600"/>
                </a:spcAft>
              </a:pPr>
              <a:t>80</a:t>
            </a:fld>
            <a:endParaRPr lang="en-US"/>
          </a:p>
        </p:txBody>
      </p:sp>
      <p:sp>
        <p:nvSpPr>
          <p:cNvPr id="2" name="Title 1">
            <a:extLst>
              <a:ext uri="{FF2B5EF4-FFF2-40B4-BE49-F238E27FC236}">
                <a16:creationId xmlns:a16="http://schemas.microsoft.com/office/drawing/2014/main" id="{E06B64D8-A4FD-5BA0-0141-EE80EA1D9538}"/>
              </a:ext>
            </a:extLst>
          </p:cNvPr>
          <p:cNvSpPr>
            <a:spLocks noGrp="1"/>
          </p:cNvSpPr>
          <p:nvPr>
            <p:ph type="title"/>
          </p:nvPr>
        </p:nvSpPr>
        <p:spPr>
          <a:xfrm>
            <a:off x="557560" y="-30772"/>
            <a:ext cx="10515600" cy="487131"/>
          </a:xfrm>
        </p:spPr>
        <p:txBody>
          <a:bodyPr>
            <a:normAutofit/>
          </a:bodyPr>
          <a:lstStyle/>
          <a:p>
            <a:r>
              <a:rPr lang="en-US" sz="2800" dirty="0"/>
              <a:t>Wireframe Notes – 7.5.3 – Certification Field Management</a:t>
            </a:r>
          </a:p>
        </p:txBody>
      </p:sp>
      <p:graphicFrame>
        <p:nvGraphicFramePr>
          <p:cNvPr id="9" name="Table 8">
            <a:extLst>
              <a:ext uri="{FF2B5EF4-FFF2-40B4-BE49-F238E27FC236}">
                <a16:creationId xmlns:a16="http://schemas.microsoft.com/office/drawing/2014/main" id="{A04F2FA0-BB57-215F-50C8-96166B5A99BB}"/>
              </a:ext>
            </a:extLst>
          </p:cNvPr>
          <p:cNvGraphicFramePr>
            <a:graphicFrameLocks noGrp="1"/>
          </p:cNvGraphicFramePr>
          <p:nvPr>
            <p:extLst>
              <p:ext uri="{D42A27DB-BD31-4B8C-83A1-F6EECF244321}">
                <p14:modId xmlns:p14="http://schemas.microsoft.com/office/powerpoint/2010/main" val="4081180531"/>
              </p:ext>
            </p:extLst>
          </p:nvPr>
        </p:nvGraphicFramePr>
        <p:xfrm>
          <a:off x="120266" y="349320"/>
          <a:ext cx="11626479" cy="6450934"/>
        </p:xfrm>
        <a:graphic>
          <a:graphicData uri="http://schemas.openxmlformats.org/drawingml/2006/table">
            <a:tbl>
              <a:tblPr firstRow="1" bandRow="1">
                <a:noFill/>
                <a:tableStyleId>{5C22544A-7EE6-4342-B048-85BDC9FD1C3A}</a:tableStyleId>
              </a:tblPr>
              <a:tblGrid>
                <a:gridCol w="2406494">
                  <a:extLst>
                    <a:ext uri="{9D8B030D-6E8A-4147-A177-3AD203B41FA5}">
                      <a16:colId xmlns:a16="http://schemas.microsoft.com/office/drawing/2014/main" val="270282215"/>
                    </a:ext>
                  </a:extLst>
                </a:gridCol>
                <a:gridCol w="2265889">
                  <a:extLst>
                    <a:ext uri="{9D8B030D-6E8A-4147-A177-3AD203B41FA5}">
                      <a16:colId xmlns:a16="http://schemas.microsoft.com/office/drawing/2014/main" val="232458938"/>
                    </a:ext>
                  </a:extLst>
                </a:gridCol>
                <a:gridCol w="1727004">
                  <a:extLst>
                    <a:ext uri="{9D8B030D-6E8A-4147-A177-3AD203B41FA5}">
                      <a16:colId xmlns:a16="http://schemas.microsoft.com/office/drawing/2014/main" val="2608536211"/>
                    </a:ext>
                  </a:extLst>
                </a:gridCol>
                <a:gridCol w="1419367">
                  <a:extLst>
                    <a:ext uri="{9D8B030D-6E8A-4147-A177-3AD203B41FA5}">
                      <a16:colId xmlns:a16="http://schemas.microsoft.com/office/drawing/2014/main" val="741115505"/>
                    </a:ext>
                  </a:extLst>
                </a:gridCol>
                <a:gridCol w="3807725">
                  <a:extLst>
                    <a:ext uri="{9D8B030D-6E8A-4147-A177-3AD203B41FA5}">
                      <a16:colId xmlns:a16="http://schemas.microsoft.com/office/drawing/2014/main" val="2591012902"/>
                    </a:ext>
                  </a:extLst>
                </a:gridCol>
              </a:tblGrid>
              <a:tr h="190936">
                <a:tc>
                  <a:txBody>
                    <a:bodyPr/>
                    <a:lstStyle/>
                    <a:p>
                      <a:pPr algn="ctr" fontAlgn="t">
                        <a:buNone/>
                      </a:pPr>
                      <a:r>
                        <a:rPr lang="en-US" sz="1200" b="1" u="none" strike="noStrike" cap="none" spc="60" dirty="0">
                          <a:solidFill>
                            <a:schemeClr val="bg1"/>
                          </a:solidFill>
                          <a:effectLst/>
                          <a:latin typeface="Century Gothic" panose="020B0502020202020204" pitchFamily="34" charset="0"/>
                        </a:rPr>
                        <a:t>Section</a:t>
                      </a:r>
                      <a:endParaRPr lang="en-US" sz="1200" b="1" i="0" u="none" strike="noStrike" cap="none" spc="60" dirty="0">
                        <a:solidFill>
                          <a:schemeClr val="bg1"/>
                        </a:solidFill>
                        <a:effectLst/>
                        <a:latin typeface="Century Gothic" panose="020B0502020202020204" pitchFamily="34" charset="0"/>
                      </a:endParaRPr>
                    </a:p>
                  </a:txBody>
                  <a:tcPr marL="4320" marR="4320" marT="39566"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ctr" fontAlgn="t">
                        <a:buNone/>
                      </a:pPr>
                      <a:r>
                        <a:rPr lang="en-US" sz="1200" b="1" u="none" strike="noStrike" cap="none" spc="60" dirty="0">
                          <a:solidFill>
                            <a:schemeClr val="bg1"/>
                          </a:solidFill>
                          <a:effectLst/>
                          <a:latin typeface="Century Gothic" panose="020B0502020202020204" pitchFamily="34" charset="0"/>
                        </a:rPr>
                        <a:t>Field Name</a:t>
                      </a:r>
                      <a:endParaRPr lang="en-US" sz="1200" b="1" i="0" u="none" strike="noStrike" cap="none" spc="60" dirty="0">
                        <a:solidFill>
                          <a:schemeClr val="bg1"/>
                        </a:solidFill>
                        <a:effectLst/>
                        <a:latin typeface="Century Gothic" panose="020B0502020202020204" pitchFamily="34" charset="0"/>
                      </a:endParaRPr>
                    </a:p>
                  </a:txBody>
                  <a:tcPr marL="4320" marR="4320" marT="39566"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ctr" fontAlgn="t">
                        <a:buNone/>
                      </a:pPr>
                      <a:r>
                        <a:rPr lang="en-US" sz="1200" b="1" u="none" strike="noStrike" cap="none" spc="60" dirty="0">
                          <a:solidFill>
                            <a:schemeClr val="bg1"/>
                          </a:solidFill>
                          <a:effectLst/>
                          <a:latin typeface="Century Gothic" panose="020B0502020202020204" pitchFamily="34" charset="0"/>
                        </a:rPr>
                        <a:t>Control Type</a:t>
                      </a:r>
                      <a:endParaRPr lang="en-US" sz="1200" b="1" i="0" u="none" strike="noStrike" cap="none" spc="60" dirty="0">
                        <a:solidFill>
                          <a:schemeClr val="bg1"/>
                        </a:solidFill>
                        <a:effectLst/>
                        <a:latin typeface="Century Gothic" panose="020B0502020202020204" pitchFamily="34" charset="0"/>
                      </a:endParaRPr>
                    </a:p>
                  </a:txBody>
                  <a:tcPr marL="4320" marR="4320" marT="39566"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ctr" fontAlgn="t">
                        <a:buNone/>
                      </a:pPr>
                      <a:r>
                        <a:rPr lang="en-US" sz="1200" b="1" u="none" strike="noStrike" cap="none" spc="60" dirty="0">
                          <a:solidFill>
                            <a:schemeClr val="bg1"/>
                          </a:solidFill>
                          <a:effectLst/>
                          <a:latin typeface="Century Gothic" panose="020B0502020202020204" pitchFamily="34" charset="0"/>
                        </a:rPr>
                        <a:t>Required</a:t>
                      </a:r>
                      <a:endParaRPr lang="en-US" sz="1200" b="1" i="0" u="none" strike="noStrike" cap="none" spc="60" dirty="0">
                        <a:solidFill>
                          <a:schemeClr val="bg1"/>
                        </a:solidFill>
                        <a:effectLst/>
                        <a:latin typeface="Century Gothic" panose="020B0502020202020204" pitchFamily="34" charset="0"/>
                      </a:endParaRPr>
                    </a:p>
                  </a:txBody>
                  <a:tcPr marL="4320" marR="4320" marT="39566"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ctr" fontAlgn="t">
                        <a:buNone/>
                      </a:pPr>
                      <a:r>
                        <a:rPr lang="en-US" sz="1200" b="1" u="none" strike="noStrike" cap="none" spc="60" dirty="0">
                          <a:solidFill>
                            <a:schemeClr val="bg1"/>
                          </a:solidFill>
                          <a:effectLst/>
                          <a:latin typeface="Century Gothic" panose="020B0502020202020204" pitchFamily="34" charset="0"/>
                        </a:rPr>
                        <a:t>Notes</a:t>
                      </a:r>
                      <a:endParaRPr lang="en-US" sz="1200" b="1" i="0" u="none" strike="noStrike" cap="none" spc="60" dirty="0">
                        <a:solidFill>
                          <a:schemeClr val="bg1"/>
                        </a:solidFill>
                        <a:effectLst/>
                        <a:latin typeface="Century Gothic" panose="020B0502020202020204" pitchFamily="34" charset="0"/>
                      </a:endParaRPr>
                    </a:p>
                  </a:txBody>
                  <a:tcPr marL="4320" marR="4320" marT="39566" marB="0"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4131429964"/>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Core Certificate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Certificate #</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Auto-generated if left blank</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38100" cmpd="sng">
                      <a:noFill/>
                    </a:lnT>
                    <a:lnB w="12700" cap="flat" cmpd="sng" algn="ctr">
                      <a:noFill/>
                      <a:prstDash val="solid"/>
                    </a:lnB>
                    <a:noFill/>
                  </a:tcPr>
                </a:tc>
                <a:extLst>
                  <a:ext uri="{0D108BD9-81ED-4DB2-BD59-A6C34878D82A}">
                    <a16:rowId xmlns:a16="http://schemas.microsoft.com/office/drawing/2014/main" val="732833671"/>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Core Certificate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Certification Type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Dropdown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Type of certification issued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589739294"/>
                  </a:ext>
                </a:extLst>
              </a:tr>
              <a:tr h="190936">
                <a:tc>
                  <a:txBody>
                    <a:bodyPr/>
                    <a:lstStyle/>
                    <a:p>
                      <a:pPr algn="l" fontAlgn="b">
                        <a:buNone/>
                      </a:pPr>
                      <a:r>
                        <a:rPr lang="en-US" sz="1200" u="none" strike="noStrike" cap="none" spc="0" dirty="0">
                          <a:solidFill>
                            <a:schemeClr val="tx1"/>
                          </a:solidFill>
                          <a:effectLst/>
                          <a:latin typeface="Century Gothic" panose="020B0502020202020204" pitchFamily="34" charset="0"/>
                        </a:rPr>
                        <a:t>Core Certificate Information</a:t>
                      </a:r>
                      <a:endParaRPr lang="en-US" sz="1200" b="0" i="0" u="none" strike="noStrike" cap="none" spc="0" dirty="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CSF Attributes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Multi-Select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Certification specific framework attributes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68001149"/>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Core Certificate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Status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Dropdown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 for public visibility</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97079524"/>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Core Certificate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Effective Date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Date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When the certification becomes effective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3525196501"/>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Core Certificate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Expiration Date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Date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When the certification expires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961036096"/>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Company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Company</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Company receiving certification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779306370"/>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Company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Company Contact Email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Company email contact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251079790"/>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Company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Company Contact URL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Company website URL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2853599088"/>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Product Name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Name of the certified product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202448366"/>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Product Category</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Dropdown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Main category of the product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291086837"/>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Product Type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Dropdown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Specific type within category</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599344561"/>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dirty="0">
                          <a:solidFill>
                            <a:schemeClr val="tx1"/>
                          </a:solidFill>
                          <a:effectLst/>
                          <a:latin typeface="Century Gothic" panose="020B0502020202020204" pitchFamily="34" charset="0"/>
                        </a:rPr>
                        <a:t>Product Type Subcategory</a:t>
                      </a:r>
                      <a:endParaRPr lang="en-US" sz="1200" b="0" i="0" u="none" strike="noStrike" cap="none" spc="0" dirty="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Dropdown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Subcategory within product type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287785888"/>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Location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Manufacturing or certification location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636398205"/>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Country</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Dropdown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Country of origin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924298148"/>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Identifiers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ASIN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Amazon Standard Identification Number</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384673605"/>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Identifiers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UPC</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Universal Product Code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2372843243"/>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Identifiers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GTIN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Global Trade Item Number</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4083575254"/>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Identifiers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EAN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European Article Number</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3492156857"/>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Tagging &amp; Classification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External Tag</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Multi-Select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External classification tags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941208185"/>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Tagging &amp; Classification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Internal Tag</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Multi-Select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Internal classification tags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2149832550"/>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New Required Fields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Partner</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Multi-Select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Amazon/Wayfair/None/Other partners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955813305"/>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New Required Fields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Status Type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Dropdown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To signify if client doesn't want to move forward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2347812028"/>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File Management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Certificate Upload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File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Upload certificate document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917792028"/>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File Management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Preview</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System Generated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Auto</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Certificate preview/thumbnail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3843788262"/>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Record Management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Record Created Date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Date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Auto-generated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When record was created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235178743"/>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Record Management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Record Last Updated Date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Date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Auto-generated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dirty="0">
                          <a:solidFill>
                            <a:schemeClr val="tx1"/>
                          </a:solidFill>
                          <a:effectLst/>
                          <a:latin typeface="Century Gothic" panose="020B0502020202020204" pitchFamily="34" charset="0"/>
                        </a:rPr>
                        <a:t>When record was last modified</a:t>
                      </a:r>
                      <a:endParaRPr lang="en-US" sz="1200" b="0" i="0" u="none" strike="noStrike" cap="none" spc="0" dirty="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3706604778"/>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Record Management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Last Edited By</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System Generated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Auto</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dirty="0">
                          <a:solidFill>
                            <a:schemeClr val="tx1"/>
                          </a:solidFill>
                          <a:effectLst/>
                          <a:latin typeface="Century Gothic" panose="020B0502020202020204" pitchFamily="34" charset="0"/>
                        </a:rPr>
                        <a:t>User who last edited the record</a:t>
                      </a:r>
                      <a:endParaRPr lang="en-US" sz="1200" b="0" i="0" u="none" strike="noStrike" cap="none" spc="0" dirty="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628945192"/>
                  </a:ext>
                </a:extLst>
              </a:tr>
            </a:tbl>
          </a:graphicData>
        </a:graphic>
      </p:graphicFrame>
    </p:spTree>
    <p:extLst>
      <p:ext uri="{BB962C8B-B14F-4D97-AF65-F5344CB8AC3E}">
        <p14:creationId xmlns:p14="http://schemas.microsoft.com/office/powerpoint/2010/main" val="17415859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9B143-7AE0-08E3-C21B-CE535976DF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13990C-AD1B-6629-2983-F2D5B25336DA}"/>
              </a:ext>
            </a:extLst>
          </p:cNvPr>
          <p:cNvSpPr>
            <a:spLocks noGrp="1"/>
          </p:cNvSpPr>
          <p:nvPr>
            <p:ph type="title"/>
          </p:nvPr>
        </p:nvSpPr>
        <p:spPr>
          <a:xfrm>
            <a:off x="598503" y="193906"/>
            <a:ext cx="10515600" cy="487131"/>
          </a:xfrm>
        </p:spPr>
        <p:txBody>
          <a:bodyPr>
            <a:normAutofit/>
          </a:bodyPr>
          <a:lstStyle/>
          <a:p>
            <a:r>
              <a:rPr lang="en-US" sz="2800" dirty="0"/>
              <a:t>Wireframe Notes – 7.5.4 – CSF Attributes</a:t>
            </a:r>
          </a:p>
        </p:txBody>
      </p:sp>
      <p:sp>
        <p:nvSpPr>
          <p:cNvPr id="4" name="Date Placeholder 3">
            <a:extLst>
              <a:ext uri="{FF2B5EF4-FFF2-40B4-BE49-F238E27FC236}">
                <a16:creationId xmlns:a16="http://schemas.microsoft.com/office/drawing/2014/main" id="{7F2DE5F9-27FC-51FB-3CDE-BD29C3E7F14F}"/>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EE0DFA24-972F-FACE-4507-0DACCEDC2DD5}"/>
              </a:ext>
            </a:extLst>
          </p:cNvPr>
          <p:cNvSpPr>
            <a:spLocks noGrp="1"/>
          </p:cNvSpPr>
          <p:nvPr>
            <p:ph type="sldNum" sz="quarter" idx="12"/>
          </p:nvPr>
        </p:nvSpPr>
        <p:spPr>
          <a:xfrm>
            <a:off x="8610602" y="6306770"/>
            <a:ext cx="1811784" cy="365125"/>
          </a:xfrm>
        </p:spPr>
        <p:txBody>
          <a:bodyPr anchor="ctr">
            <a:normAutofit/>
          </a:bodyPr>
          <a:lstStyle/>
          <a:p>
            <a:pPr>
              <a:spcAft>
                <a:spcPts val="600"/>
              </a:spcAft>
            </a:pPr>
            <a:fld id="{330EA680-D336-4FF7-8B7A-9848BB0A1C32}" type="slidenum">
              <a:rPr lang="en-US" smtClean="0"/>
              <a:pPr>
                <a:spcAft>
                  <a:spcPts val="600"/>
                </a:spcAft>
              </a:pPr>
              <a:t>81</a:t>
            </a:fld>
            <a:endParaRPr lang="en-US"/>
          </a:p>
        </p:txBody>
      </p:sp>
      <p:sp>
        <p:nvSpPr>
          <p:cNvPr id="3" name="Content Placeholder 2">
            <a:extLst>
              <a:ext uri="{FF2B5EF4-FFF2-40B4-BE49-F238E27FC236}">
                <a16:creationId xmlns:a16="http://schemas.microsoft.com/office/drawing/2014/main" id="{3288FCDB-5B14-1D8B-08C3-EA5D50E609ED}"/>
              </a:ext>
            </a:extLst>
          </p:cNvPr>
          <p:cNvSpPr>
            <a:spLocks noGrp="1"/>
          </p:cNvSpPr>
          <p:nvPr>
            <p:ph idx="1"/>
          </p:nvPr>
        </p:nvSpPr>
        <p:spPr>
          <a:xfrm>
            <a:off x="9453259" y="1056721"/>
            <a:ext cx="2594542" cy="4865613"/>
          </a:xfrm>
        </p:spPr>
        <p:txBody>
          <a:bodyPr>
            <a:normAutofit/>
          </a:bodyPr>
          <a:lstStyle/>
          <a:p>
            <a:pPr marR="2000">
              <a:buSzPts val="1200"/>
            </a:pPr>
            <a:r>
              <a:rPr lang="en-US" sz="1200" b="0" i="0" u="none" strike="noStrike" baseline="0" dirty="0">
                <a:solidFill>
                  <a:srgbClr val="606771"/>
                </a:solidFill>
              </a:rPr>
              <a:t>This is the CSF Attributes View.</a:t>
            </a:r>
          </a:p>
          <a:p>
            <a:pPr marR="2000">
              <a:buSzPts val="1200"/>
            </a:pPr>
            <a:r>
              <a:rPr lang="en-US" sz="1200" b="0" i="0" u="none" strike="noStrike" baseline="0" dirty="0">
                <a:solidFill>
                  <a:srgbClr val="606771"/>
                </a:solidFill>
              </a:rPr>
              <a:t>Only Admins can edit this page. </a:t>
            </a:r>
          </a:p>
          <a:p>
            <a:pPr marR="2000"/>
            <a:r>
              <a:rPr lang="en-US" sz="1200" b="0" i="0" u="none" strike="noStrike" baseline="0" dirty="0">
                <a:solidFill>
                  <a:srgbClr val="606771"/>
                </a:solidFill>
              </a:rPr>
              <a:t>Ability to Add </a:t>
            </a:r>
            <a:r>
              <a:rPr lang="en-US" sz="1200" dirty="0">
                <a:solidFill>
                  <a:srgbClr val="606771"/>
                </a:solidFill>
              </a:rPr>
              <a:t>CSF Attributes</a:t>
            </a:r>
            <a:endParaRPr lang="en-US" sz="1200" b="0" i="0" u="none" strike="noStrike" baseline="0" dirty="0">
              <a:solidFill>
                <a:srgbClr val="606771"/>
              </a:solidFill>
            </a:endParaRPr>
          </a:p>
          <a:p>
            <a:pPr marR="2000"/>
            <a:r>
              <a:rPr lang="en-US" sz="1200" b="0" i="0" u="none" strike="noStrike" baseline="0" dirty="0">
                <a:solidFill>
                  <a:srgbClr val="606771"/>
                </a:solidFill>
              </a:rPr>
              <a:t>Ability to Edit/Delete Selected CSF Attributes.</a:t>
            </a:r>
          </a:p>
          <a:p>
            <a:pPr marR="2000"/>
            <a:r>
              <a:rPr lang="en-US" sz="1200" dirty="0"/>
              <a:t>All Grids have inline edit. The screenshot below shows example of the inline edit.  </a:t>
            </a:r>
          </a:p>
          <a:p>
            <a:pPr marR="2000"/>
            <a:r>
              <a:rPr lang="en-US" sz="1200" b="0" i="0" u="none" strike="noStrike" baseline="0" dirty="0">
                <a:solidFill>
                  <a:srgbClr val="606771"/>
                </a:solidFill>
              </a:rPr>
              <a:t>Delete Buttons will have a popup </a:t>
            </a:r>
            <a:r>
              <a:rPr lang="en-US" sz="1200" dirty="0">
                <a:solidFill>
                  <a:srgbClr val="606771"/>
                </a:solidFill>
              </a:rPr>
              <a:t>d</a:t>
            </a:r>
            <a:r>
              <a:rPr lang="en-US" sz="1200" b="0" i="0" u="none" strike="noStrike" baseline="0" dirty="0">
                <a:solidFill>
                  <a:srgbClr val="606771"/>
                </a:solidFill>
              </a:rPr>
              <a:t>elete confirmation</a:t>
            </a:r>
          </a:p>
          <a:p>
            <a:pPr marR="2000"/>
            <a:endParaRPr lang="en-US" sz="1200" dirty="0">
              <a:solidFill>
                <a:srgbClr val="606771"/>
              </a:solidFill>
            </a:endParaRPr>
          </a:p>
        </p:txBody>
      </p:sp>
      <p:pic>
        <p:nvPicPr>
          <p:cNvPr id="13" name="Picture 12">
            <a:extLst>
              <a:ext uri="{FF2B5EF4-FFF2-40B4-BE49-F238E27FC236}">
                <a16:creationId xmlns:a16="http://schemas.microsoft.com/office/drawing/2014/main" id="{F1F287D6-61D3-B063-1A59-81D5725251D4}"/>
              </a:ext>
            </a:extLst>
          </p:cNvPr>
          <p:cNvPicPr>
            <a:picLocks noChangeAspect="1"/>
          </p:cNvPicPr>
          <p:nvPr/>
        </p:nvPicPr>
        <p:blipFill>
          <a:blip r:embed="rId3"/>
          <a:srcRect t="35002" b="32606"/>
          <a:stretch>
            <a:fillRect/>
          </a:stretch>
        </p:blipFill>
        <p:spPr>
          <a:xfrm>
            <a:off x="9133071" y="5100396"/>
            <a:ext cx="3008994" cy="1191837"/>
          </a:xfrm>
          <a:prstGeom prst="rect">
            <a:avLst/>
          </a:prstGeom>
        </p:spPr>
      </p:pic>
      <p:pic>
        <p:nvPicPr>
          <p:cNvPr id="14" name="Picture 13">
            <a:extLst>
              <a:ext uri="{FF2B5EF4-FFF2-40B4-BE49-F238E27FC236}">
                <a16:creationId xmlns:a16="http://schemas.microsoft.com/office/drawing/2014/main" id="{815A0EB0-69DB-332C-81FB-74751215952E}"/>
              </a:ext>
            </a:extLst>
          </p:cNvPr>
          <p:cNvPicPr>
            <a:picLocks noChangeAspect="1"/>
          </p:cNvPicPr>
          <p:nvPr/>
        </p:nvPicPr>
        <p:blipFill>
          <a:blip r:embed="rId4"/>
          <a:stretch>
            <a:fillRect/>
          </a:stretch>
        </p:blipFill>
        <p:spPr>
          <a:xfrm>
            <a:off x="9133071" y="3676678"/>
            <a:ext cx="3008994" cy="1325013"/>
          </a:xfrm>
          <a:prstGeom prst="rect">
            <a:avLst/>
          </a:prstGeom>
        </p:spPr>
      </p:pic>
      <p:pic>
        <p:nvPicPr>
          <p:cNvPr id="7" name="Picture 6">
            <a:extLst>
              <a:ext uri="{FF2B5EF4-FFF2-40B4-BE49-F238E27FC236}">
                <a16:creationId xmlns:a16="http://schemas.microsoft.com/office/drawing/2014/main" id="{691488B2-687C-D1B3-07E8-1324BAF20714}"/>
              </a:ext>
            </a:extLst>
          </p:cNvPr>
          <p:cNvPicPr>
            <a:picLocks noChangeAspect="1"/>
          </p:cNvPicPr>
          <p:nvPr/>
        </p:nvPicPr>
        <p:blipFill>
          <a:blip r:embed="rId5"/>
          <a:stretch>
            <a:fillRect/>
          </a:stretch>
        </p:blipFill>
        <p:spPr>
          <a:xfrm>
            <a:off x="247209" y="1050328"/>
            <a:ext cx="8885862" cy="5173024"/>
          </a:xfrm>
          <a:prstGeom prst="rect">
            <a:avLst/>
          </a:prstGeom>
        </p:spPr>
      </p:pic>
    </p:spTree>
    <p:extLst>
      <p:ext uri="{BB962C8B-B14F-4D97-AF65-F5344CB8AC3E}">
        <p14:creationId xmlns:p14="http://schemas.microsoft.com/office/powerpoint/2010/main" val="70859906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F3508-36B3-B4F4-2F18-0DD85C457A13}"/>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013FBF8F-0F5B-8007-07A4-F4793D41FF59}"/>
              </a:ext>
            </a:extLst>
          </p:cNvPr>
          <p:cNvPicPr>
            <a:picLocks noChangeAspect="1"/>
          </p:cNvPicPr>
          <p:nvPr/>
        </p:nvPicPr>
        <p:blipFill>
          <a:blip r:embed="rId4"/>
          <a:stretch>
            <a:fillRect/>
          </a:stretch>
        </p:blipFill>
        <p:spPr>
          <a:xfrm>
            <a:off x="463100" y="681037"/>
            <a:ext cx="9839036" cy="5093053"/>
          </a:xfrm>
          <a:prstGeom prst="rect">
            <a:avLst/>
          </a:prstGeom>
        </p:spPr>
      </p:pic>
      <p:sp>
        <p:nvSpPr>
          <p:cNvPr id="2" name="Title 1">
            <a:extLst>
              <a:ext uri="{FF2B5EF4-FFF2-40B4-BE49-F238E27FC236}">
                <a16:creationId xmlns:a16="http://schemas.microsoft.com/office/drawing/2014/main" id="{E0AE21B2-1684-2279-195F-09FFC9B24E1A}"/>
              </a:ext>
            </a:extLst>
          </p:cNvPr>
          <p:cNvSpPr>
            <a:spLocks noGrp="1"/>
          </p:cNvSpPr>
          <p:nvPr>
            <p:ph type="title"/>
          </p:nvPr>
        </p:nvSpPr>
        <p:spPr>
          <a:xfrm>
            <a:off x="598503" y="193906"/>
            <a:ext cx="10515600" cy="487131"/>
          </a:xfrm>
        </p:spPr>
        <p:txBody>
          <a:bodyPr>
            <a:normAutofit/>
          </a:bodyPr>
          <a:lstStyle/>
          <a:p>
            <a:r>
              <a:rPr lang="en-US" sz="2800" dirty="0"/>
              <a:t>Wireframe Notes – 7.5.5 – Tags</a:t>
            </a:r>
          </a:p>
        </p:txBody>
      </p:sp>
      <p:sp>
        <p:nvSpPr>
          <p:cNvPr id="4" name="Date Placeholder 3">
            <a:extLst>
              <a:ext uri="{FF2B5EF4-FFF2-40B4-BE49-F238E27FC236}">
                <a16:creationId xmlns:a16="http://schemas.microsoft.com/office/drawing/2014/main" id="{3911C153-8313-9885-8ABA-71266B455495}"/>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291981D3-6B4C-80D2-5CBA-90874F748DBC}"/>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82</a:t>
            </a:fld>
            <a:endParaRPr lang="en-US"/>
          </a:p>
        </p:txBody>
      </p:sp>
      <p:sp>
        <p:nvSpPr>
          <p:cNvPr id="3" name="Content Placeholder 2">
            <a:extLst>
              <a:ext uri="{FF2B5EF4-FFF2-40B4-BE49-F238E27FC236}">
                <a16:creationId xmlns:a16="http://schemas.microsoft.com/office/drawing/2014/main" id="{0B0EEA07-2167-16AF-2577-22D201F6EF77}"/>
              </a:ext>
            </a:extLst>
          </p:cNvPr>
          <p:cNvSpPr>
            <a:spLocks noGrp="1"/>
          </p:cNvSpPr>
          <p:nvPr>
            <p:ph idx="1"/>
          </p:nvPr>
        </p:nvSpPr>
        <p:spPr>
          <a:xfrm>
            <a:off x="463100" y="5576168"/>
            <a:ext cx="9053392" cy="1191974"/>
          </a:xfrm>
        </p:spPr>
        <p:txBody>
          <a:bodyPr>
            <a:normAutofit/>
          </a:bodyPr>
          <a:lstStyle/>
          <a:p>
            <a:pPr marR="2000">
              <a:buSzPts val="1200"/>
            </a:pPr>
            <a:r>
              <a:rPr lang="en-US" sz="1200" b="0" i="0" u="none" strike="noStrike" baseline="0" dirty="0">
                <a:solidFill>
                  <a:srgbClr val="606771"/>
                </a:solidFill>
              </a:rPr>
              <a:t>This is the Tags Admin View.</a:t>
            </a:r>
          </a:p>
          <a:p>
            <a:pPr marR="2000"/>
            <a:r>
              <a:rPr lang="en-US" sz="1200" b="0" i="0" u="none" strike="noStrike" baseline="0" dirty="0">
                <a:solidFill>
                  <a:srgbClr val="606771"/>
                </a:solidFill>
              </a:rPr>
              <a:t>Ability to Add, Edit/Delete Selected Tags.</a:t>
            </a:r>
          </a:p>
          <a:p>
            <a:pPr marR="2000"/>
            <a:r>
              <a:rPr lang="en-US" sz="1200" dirty="0">
                <a:solidFill>
                  <a:srgbClr val="606771"/>
                </a:solidFill>
              </a:rPr>
              <a:t>Ability to sort tags.</a:t>
            </a:r>
            <a:endParaRPr lang="en-US" sz="1200" dirty="0"/>
          </a:p>
        </p:txBody>
      </p:sp>
      <p:sp>
        <p:nvSpPr>
          <p:cNvPr id="7" name="TextBox 6">
            <a:extLst>
              <a:ext uri="{FF2B5EF4-FFF2-40B4-BE49-F238E27FC236}">
                <a16:creationId xmlns:a16="http://schemas.microsoft.com/office/drawing/2014/main" id="{E3D9CBC2-693F-A9B4-CC17-155DDBFCE7EC}"/>
              </a:ext>
            </a:extLst>
          </p:cNvPr>
          <p:cNvSpPr txBox="1"/>
          <p:nvPr/>
        </p:nvSpPr>
        <p:spPr>
          <a:xfrm>
            <a:off x="10302136" y="1083910"/>
            <a:ext cx="1946107" cy="738664"/>
          </a:xfrm>
          <a:prstGeom prst="rect">
            <a:avLst/>
          </a:prstGeom>
          <a:noFill/>
        </p:spPr>
        <p:txBody>
          <a:bodyPr wrap="square">
            <a:spAutoFit/>
          </a:bodyPr>
          <a:lstStyle/>
          <a:p>
            <a:pPr marR="2000"/>
            <a:r>
              <a:rPr lang="en-US" sz="1400" b="0" i="0" u="none" strike="noStrike" baseline="0" dirty="0">
                <a:solidFill>
                  <a:srgbClr val="606771"/>
                </a:solidFill>
                <a:latin typeface="Century Gothic" panose="020B0502020202020204" pitchFamily="34" charset="0"/>
              </a:rPr>
              <a:t>Delete Buttons will have a popup </a:t>
            </a:r>
            <a:r>
              <a:rPr lang="en-US" sz="1400" dirty="0">
                <a:solidFill>
                  <a:srgbClr val="606771"/>
                </a:solidFill>
                <a:latin typeface="Century Gothic" panose="020B0502020202020204" pitchFamily="34" charset="0"/>
              </a:rPr>
              <a:t>d</a:t>
            </a:r>
            <a:r>
              <a:rPr lang="en-US" sz="1400" b="0" i="0" u="none" strike="noStrike" baseline="0" dirty="0">
                <a:solidFill>
                  <a:srgbClr val="606771"/>
                </a:solidFill>
                <a:latin typeface="Century Gothic" panose="020B0502020202020204" pitchFamily="34" charset="0"/>
              </a:rPr>
              <a:t>elete confirmation</a:t>
            </a:r>
          </a:p>
        </p:txBody>
      </p:sp>
      <p:pic>
        <p:nvPicPr>
          <p:cNvPr id="9" name="Picture 8">
            <a:extLst>
              <a:ext uri="{FF2B5EF4-FFF2-40B4-BE49-F238E27FC236}">
                <a16:creationId xmlns:a16="http://schemas.microsoft.com/office/drawing/2014/main" id="{860CF7FB-6A7E-0E2F-1D16-1FB6CCFDF794}"/>
              </a:ext>
            </a:extLst>
          </p:cNvPr>
          <p:cNvPicPr>
            <a:picLocks noChangeAspect="1"/>
          </p:cNvPicPr>
          <p:nvPr/>
        </p:nvPicPr>
        <p:blipFill>
          <a:blip r:embed="rId5"/>
          <a:srcRect t="35002" b="32606"/>
          <a:stretch>
            <a:fillRect/>
          </a:stretch>
        </p:blipFill>
        <p:spPr>
          <a:xfrm>
            <a:off x="9059779" y="3586705"/>
            <a:ext cx="3008994" cy="1191837"/>
          </a:xfrm>
          <a:prstGeom prst="rect">
            <a:avLst/>
          </a:prstGeom>
        </p:spPr>
      </p:pic>
      <p:pic>
        <p:nvPicPr>
          <p:cNvPr id="11" name="Picture 10">
            <a:extLst>
              <a:ext uri="{FF2B5EF4-FFF2-40B4-BE49-F238E27FC236}">
                <a16:creationId xmlns:a16="http://schemas.microsoft.com/office/drawing/2014/main" id="{1E2ADF26-259C-6026-C3B4-80E518CF94C5}"/>
              </a:ext>
            </a:extLst>
          </p:cNvPr>
          <p:cNvPicPr>
            <a:picLocks noChangeAspect="1"/>
          </p:cNvPicPr>
          <p:nvPr/>
        </p:nvPicPr>
        <p:blipFill>
          <a:blip r:embed="rId6"/>
          <a:stretch>
            <a:fillRect/>
          </a:stretch>
        </p:blipFill>
        <p:spPr>
          <a:xfrm>
            <a:off x="9059779" y="2162987"/>
            <a:ext cx="3008994" cy="1325013"/>
          </a:xfrm>
          <a:prstGeom prst="rect">
            <a:avLst/>
          </a:prstGeom>
        </p:spPr>
      </p:pic>
    </p:spTree>
    <p:extLst>
      <p:ext uri="{BB962C8B-B14F-4D97-AF65-F5344CB8AC3E}">
        <p14:creationId xmlns:p14="http://schemas.microsoft.com/office/powerpoint/2010/main" val="387276960"/>
      </p:ext>
    </p:extLst>
  </p:cSld>
  <p:clrMapOvr>
    <a:masterClrMapping/>
  </p:clrMapOvr>
  <p:extLst>
    <p:ext uri="{6950BFC3-D8DA-4A85-94F7-54DA5524770B}">
      <p188:commentRel xmlns:p188="http://schemas.microsoft.com/office/powerpoint/2018/8/main" r:id="rId3"/>
    </p:ext>
  </p:extLs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2BFCD-3CB3-A6A8-41D3-690E876A3B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E0B6E1-F0E5-2B63-44B4-1E06F8239CE6}"/>
              </a:ext>
            </a:extLst>
          </p:cNvPr>
          <p:cNvSpPr>
            <a:spLocks noGrp="1"/>
          </p:cNvSpPr>
          <p:nvPr>
            <p:ph type="title"/>
          </p:nvPr>
        </p:nvSpPr>
        <p:spPr>
          <a:xfrm>
            <a:off x="598503" y="193906"/>
            <a:ext cx="10515600" cy="487131"/>
          </a:xfrm>
        </p:spPr>
        <p:txBody>
          <a:bodyPr>
            <a:normAutofit/>
          </a:bodyPr>
          <a:lstStyle/>
          <a:p>
            <a:r>
              <a:rPr lang="en-US" sz="2800" dirty="0"/>
              <a:t>Wireframe Notes – 7.5.6 – Partners</a:t>
            </a:r>
          </a:p>
        </p:txBody>
      </p:sp>
      <p:sp>
        <p:nvSpPr>
          <p:cNvPr id="4" name="Date Placeholder 3">
            <a:extLst>
              <a:ext uri="{FF2B5EF4-FFF2-40B4-BE49-F238E27FC236}">
                <a16:creationId xmlns:a16="http://schemas.microsoft.com/office/drawing/2014/main" id="{680DB28F-8E9A-2C3F-204D-3C9437DA718A}"/>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ABAB12A8-7491-75C1-ED9E-F1CC9CBFA983}"/>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83</a:t>
            </a:fld>
            <a:endParaRPr lang="en-US"/>
          </a:p>
        </p:txBody>
      </p:sp>
      <p:pic>
        <p:nvPicPr>
          <p:cNvPr id="10" name="Picture 9">
            <a:extLst>
              <a:ext uri="{FF2B5EF4-FFF2-40B4-BE49-F238E27FC236}">
                <a16:creationId xmlns:a16="http://schemas.microsoft.com/office/drawing/2014/main" id="{D8284887-A441-C928-E6C8-02B76018AACD}"/>
              </a:ext>
            </a:extLst>
          </p:cNvPr>
          <p:cNvPicPr>
            <a:picLocks noChangeAspect="1"/>
          </p:cNvPicPr>
          <p:nvPr/>
        </p:nvPicPr>
        <p:blipFill>
          <a:blip r:embed="rId3"/>
          <a:srcRect b="17246"/>
          <a:stretch>
            <a:fillRect/>
          </a:stretch>
        </p:blipFill>
        <p:spPr>
          <a:xfrm>
            <a:off x="598503" y="857248"/>
            <a:ext cx="11157510" cy="5675313"/>
          </a:xfrm>
          <a:prstGeom prst="rect">
            <a:avLst/>
          </a:prstGeom>
        </p:spPr>
      </p:pic>
      <p:sp>
        <p:nvSpPr>
          <p:cNvPr id="14" name="TextBox 13">
            <a:extLst>
              <a:ext uri="{FF2B5EF4-FFF2-40B4-BE49-F238E27FC236}">
                <a16:creationId xmlns:a16="http://schemas.microsoft.com/office/drawing/2014/main" id="{4892F9A7-A97B-393E-E35B-B586F4FA981A}"/>
              </a:ext>
            </a:extLst>
          </p:cNvPr>
          <p:cNvSpPr txBox="1"/>
          <p:nvPr/>
        </p:nvSpPr>
        <p:spPr>
          <a:xfrm>
            <a:off x="10381695" y="3467477"/>
            <a:ext cx="1464816" cy="2031325"/>
          </a:xfrm>
          <a:prstGeom prst="rect">
            <a:avLst/>
          </a:prstGeom>
          <a:noFill/>
        </p:spPr>
        <p:txBody>
          <a:bodyPr wrap="square">
            <a:spAutoFit/>
          </a:bodyPr>
          <a:lstStyle/>
          <a:p>
            <a:r>
              <a:rPr lang="en-US" sz="1400" dirty="0">
                <a:solidFill>
                  <a:srgbClr val="FF0000"/>
                </a:solidFill>
              </a:rPr>
              <a:t>Alignment issues with Nav, breadcrumbs and search and table in the view. Left alignment. This will be resolved in the final design. </a:t>
            </a:r>
          </a:p>
        </p:txBody>
      </p:sp>
    </p:spTree>
    <p:extLst>
      <p:ext uri="{BB962C8B-B14F-4D97-AF65-F5344CB8AC3E}">
        <p14:creationId xmlns:p14="http://schemas.microsoft.com/office/powerpoint/2010/main" val="393741371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64322-A073-1F84-8A39-5FC22C832A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A1C019-BA77-73F3-23F7-5EDB4E528678}"/>
              </a:ext>
            </a:extLst>
          </p:cNvPr>
          <p:cNvSpPr>
            <a:spLocks noGrp="1"/>
          </p:cNvSpPr>
          <p:nvPr>
            <p:ph type="title"/>
          </p:nvPr>
        </p:nvSpPr>
        <p:spPr>
          <a:xfrm>
            <a:off x="598503" y="193906"/>
            <a:ext cx="10515600" cy="487131"/>
          </a:xfrm>
        </p:spPr>
        <p:txBody>
          <a:bodyPr>
            <a:normAutofit/>
          </a:bodyPr>
          <a:lstStyle/>
          <a:p>
            <a:r>
              <a:rPr lang="en-US" sz="2800" dirty="0"/>
              <a:t>Wireframe Notes – 7.5.6 – Partners</a:t>
            </a:r>
          </a:p>
        </p:txBody>
      </p:sp>
      <p:sp>
        <p:nvSpPr>
          <p:cNvPr id="4" name="Date Placeholder 3">
            <a:extLst>
              <a:ext uri="{FF2B5EF4-FFF2-40B4-BE49-F238E27FC236}">
                <a16:creationId xmlns:a16="http://schemas.microsoft.com/office/drawing/2014/main" id="{15264BB6-123D-BF5C-0BA3-AD288AB7720D}"/>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4D041669-6B88-F12B-7788-D8A1959BA9E6}"/>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84</a:t>
            </a:fld>
            <a:endParaRPr lang="en-US"/>
          </a:p>
        </p:txBody>
      </p:sp>
      <p:sp>
        <p:nvSpPr>
          <p:cNvPr id="3" name="Content Placeholder 2">
            <a:extLst>
              <a:ext uri="{FF2B5EF4-FFF2-40B4-BE49-F238E27FC236}">
                <a16:creationId xmlns:a16="http://schemas.microsoft.com/office/drawing/2014/main" id="{8165F177-8A0B-8E22-5147-32BDE1A9A2C6}"/>
              </a:ext>
            </a:extLst>
          </p:cNvPr>
          <p:cNvSpPr>
            <a:spLocks noGrp="1"/>
          </p:cNvSpPr>
          <p:nvPr>
            <p:ph idx="1"/>
          </p:nvPr>
        </p:nvSpPr>
        <p:spPr>
          <a:xfrm>
            <a:off x="6564573" y="1124486"/>
            <a:ext cx="4789227" cy="2437579"/>
          </a:xfrm>
        </p:spPr>
        <p:txBody>
          <a:bodyPr>
            <a:normAutofit/>
          </a:bodyPr>
          <a:lstStyle/>
          <a:p>
            <a:pPr marR="2000">
              <a:buSzPts val="1200"/>
            </a:pPr>
            <a:r>
              <a:rPr lang="en-US" sz="1600" b="0" i="0" u="none" strike="noStrike" baseline="0" dirty="0">
                <a:solidFill>
                  <a:srgbClr val="606771"/>
                </a:solidFill>
              </a:rPr>
              <a:t>This is the Partners Admin View.</a:t>
            </a:r>
          </a:p>
          <a:p>
            <a:pPr marR="2000"/>
            <a:r>
              <a:rPr lang="en-US" sz="1600" b="0" i="0" u="none" strike="noStrike" baseline="0" dirty="0">
                <a:solidFill>
                  <a:srgbClr val="606771"/>
                </a:solidFill>
              </a:rPr>
              <a:t>Ability to Add </a:t>
            </a:r>
            <a:r>
              <a:rPr lang="en-US" sz="1600" dirty="0">
                <a:solidFill>
                  <a:srgbClr val="606771"/>
                </a:solidFill>
              </a:rPr>
              <a:t>new Partners</a:t>
            </a:r>
            <a:r>
              <a:rPr lang="en-US" sz="1600" b="0" i="0" u="none" strike="noStrike" baseline="0" dirty="0">
                <a:solidFill>
                  <a:srgbClr val="606771"/>
                </a:solidFill>
              </a:rPr>
              <a:t>.</a:t>
            </a:r>
          </a:p>
          <a:p>
            <a:pPr marR="2000"/>
            <a:r>
              <a:rPr lang="en-US" sz="1600" b="0" i="0" u="none" strike="noStrike" baseline="0" dirty="0">
                <a:solidFill>
                  <a:srgbClr val="606771"/>
                </a:solidFill>
              </a:rPr>
              <a:t>Ability to Edit/Delete Selected </a:t>
            </a:r>
            <a:r>
              <a:rPr lang="en-US" sz="1600" dirty="0">
                <a:solidFill>
                  <a:srgbClr val="606771"/>
                </a:solidFill>
              </a:rPr>
              <a:t>Partners</a:t>
            </a:r>
            <a:r>
              <a:rPr lang="en-US" sz="1600" b="0" i="0" u="none" strike="noStrike" baseline="0" dirty="0">
                <a:solidFill>
                  <a:srgbClr val="606771"/>
                </a:solidFill>
              </a:rPr>
              <a:t>.</a:t>
            </a:r>
          </a:p>
          <a:p>
            <a:pPr marR="2000"/>
            <a:r>
              <a:rPr lang="en-US" sz="1600" dirty="0">
                <a:solidFill>
                  <a:srgbClr val="606771"/>
                </a:solidFill>
              </a:rPr>
              <a:t>Ability to sort alphabetical order, export tags.</a:t>
            </a:r>
            <a:br>
              <a:rPr lang="en-US" sz="1200" b="0" i="0" u="none" strike="noStrike" baseline="0" dirty="0">
                <a:solidFill>
                  <a:srgbClr val="606771"/>
                </a:solidFill>
              </a:rPr>
            </a:br>
            <a:endParaRPr lang="en-US" sz="1200" dirty="0"/>
          </a:p>
        </p:txBody>
      </p:sp>
      <p:pic>
        <p:nvPicPr>
          <p:cNvPr id="8" name="Picture 7">
            <a:extLst>
              <a:ext uri="{FF2B5EF4-FFF2-40B4-BE49-F238E27FC236}">
                <a16:creationId xmlns:a16="http://schemas.microsoft.com/office/drawing/2014/main" id="{85C19456-4611-D473-D15F-01BB95DED76D}"/>
              </a:ext>
            </a:extLst>
          </p:cNvPr>
          <p:cNvPicPr>
            <a:picLocks noChangeAspect="1"/>
          </p:cNvPicPr>
          <p:nvPr/>
        </p:nvPicPr>
        <p:blipFill>
          <a:blip r:embed="rId3"/>
          <a:srcRect t="35002" b="32606"/>
          <a:stretch>
            <a:fillRect/>
          </a:stretch>
        </p:blipFill>
        <p:spPr>
          <a:xfrm>
            <a:off x="762000" y="2947736"/>
            <a:ext cx="4592697" cy="1819129"/>
          </a:xfrm>
          <a:prstGeom prst="rect">
            <a:avLst/>
          </a:prstGeom>
        </p:spPr>
      </p:pic>
      <p:pic>
        <p:nvPicPr>
          <p:cNvPr id="9" name="Picture 8">
            <a:extLst>
              <a:ext uri="{FF2B5EF4-FFF2-40B4-BE49-F238E27FC236}">
                <a16:creationId xmlns:a16="http://schemas.microsoft.com/office/drawing/2014/main" id="{304EDFA2-128C-19D2-FD18-4CB0464A4214}"/>
              </a:ext>
            </a:extLst>
          </p:cNvPr>
          <p:cNvPicPr>
            <a:picLocks noChangeAspect="1"/>
          </p:cNvPicPr>
          <p:nvPr/>
        </p:nvPicPr>
        <p:blipFill>
          <a:blip r:embed="rId4"/>
          <a:stretch>
            <a:fillRect/>
          </a:stretch>
        </p:blipFill>
        <p:spPr>
          <a:xfrm>
            <a:off x="762000" y="803187"/>
            <a:ext cx="4592697" cy="2022398"/>
          </a:xfrm>
          <a:prstGeom prst="rect">
            <a:avLst/>
          </a:prstGeom>
        </p:spPr>
      </p:pic>
    </p:spTree>
    <p:extLst>
      <p:ext uri="{BB962C8B-B14F-4D97-AF65-F5344CB8AC3E}">
        <p14:creationId xmlns:p14="http://schemas.microsoft.com/office/powerpoint/2010/main" val="200755415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BDA7D-0BDF-1D18-2415-1A08C76AA8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FE4E3C-E981-6AD4-3423-DD4CA460353A}"/>
              </a:ext>
            </a:extLst>
          </p:cNvPr>
          <p:cNvSpPr>
            <a:spLocks noGrp="1"/>
          </p:cNvSpPr>
          <p:nvPr>
            <p:ph type="ctrTitle"/>
          </p:nvPr>
        </p:nvSpPr>
        <p:spPr>
          <a:xfrm>
            <a:off x="1523999" y="3307311"/>
            <a:ext cx="9144000" cy="2387600"/>
          </a:xfrm>
        </p:spPr>
        <p:txBody>
          <a:bodyPr anchor="ctr"/>
          <a:lstStyle/>
          <a:p>
            <a:r>
              <a:rPr lang="en-US" dirty="0"/>
              <a:t>Data Migration Strategy</a:t>
            </a:r>
          </a:p>
        </p:txBody>
      </p:sp>
      <p:sp>
        <p:nvSpPr>
          <p:cNvPr id="8" name="Date Placeholder 7">
            <a:extLst>
              <a:ext uri="{FF2B5EF4-FFF2-40B4-BE49-F238E27FC236}">
                <a16:creationId xmlns:a16="http://schemas.microsoft.com/office/drawing/2014/main" id="{CD71AAB6-BE7A-D60C-898A-448FB52F7A2C}"/>
              </a:ext>
            </a:extLst>
          </p:cNvPr>
          <p:cNvSpPr>
            <a:spLocks noGrp="1"/>
          </p:cNvSpPr>
          <p:nvPr>
            <p:ph type="dt" sz="half" idx="10"/>
          </p:nvPr>
        </p:nvSpPr>
        <p:spPr/>
        <p:txBody>
          <a:bodyPr/>
          <a:lstStyle/>
          <a:p>
            <a:fld id="{5948895C-732D-4B88-B65C-5D83E3577007}" type="datetime1">
              <a:rPr lang="en-US" smtClean="0"/>
              <a:t>9/18/2025</a:t>
            </a:fld>
            <a:endParaRPr lang="en-US"/>
          </a:p>
        </p:txBody>
      </p:sp>
      <p:sp>
        <p:nvSpPr>
          <p:cNvPr id="9" name="Slide Number Placeholder 8">
            <a:extLst>
              <a:ext uri="{FF2B5EF4-FFF2-40B4-BE49-F238E27FC236}">
                <a16:creationId xmlns:a16="http://schemas.microsoft.com/office/drawing/2014/main" id="{3D6982BA-5255-0C06-040B-10892E426F9E}"/>
              </a:ext>
            </a:extLst>
          </p:cNvPr>
          <p:cNvSpPr>
            <a:spLocks noGrp="1"/>
          </p:cNvSpPr>
          <p:nvPr>
            <p:ph type="sldNum" sz="quarter" idx="12"/>
          </p:nvPr>
        </p:nvSpPr>
        <p:spPr/>
        <p:txBody>
          <a:bodyPr/>
          <a:lstStyle/>
          <a:p>
            <a:fld id="{330EA680-D336-4FF7-8B7A-9848BB0A1C32}" type="slidenum">
              <a:rPr lang="en-US" smtClean="0"/>
              <a:t>85</a:t>
            </a:fld>
            <a:endParaRPr lang="en-US"/>
          </a:p>
        </p:txBody>
      </p:sp>
      <p:pic>
        <p:nvPicPr>
          <p:cNvPr id="10" name="Picture 9" descr="GreenCircle Certified">
            <a:extLst>
              <a:ext uri="{FF2B5EF4-FFF2-40B4-BE49-F238E27FC236}">
                <a16:creationId xmlns:a16="http://schemas.microsoft.com/office/drawing/2014/main" id="{D06A4C2F-97DF-0C66-078E-41F5E568EDBC}"/>
              </a:ext>
            </a:extLst>
          </p:cNvPr>
          <p:cNvPicPr>
            <a:picLocks noChangeAspect="1"/>
          </p:cNvPicPr>
          <p:nvPr/>
        </p:nvPicPr>
        <p:blipFill>
          <a:blip r:embed="rId2"/>
          <a:stretch>
            <a:fillRect/>
          </a:stretch>
        </p:blipFill>
        <p:spPr>
          <a:xfrm>
            <a:off x="4844495" y="1258786"/>
            <a:ext cx="2503009" cy="2400644"/>
          </a:xfrm>
          <a:prstGeom prst="rect">
            <a:avLst/>
          </a:prstGeom>
        </p:spPr>
      </p:pic>
    </p:spTree>
    <p:extLst>
      <p:ext uri="{BB962C8B-B14F-4D97-AF65-F5344CB8AC3E}">
        <p14:creationId xmlns:p14="http://schemas.microsoft.com/office/powerpoint/2010/main" val="197535354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C2BCC-F21D-782C-F1EF-CED7E101EB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0C7DB6-415D-A706-8C38-5093F52D55A6}"/>
              </a:ext>
            </a:extLst>
          </p:cNvPr>
          <p:cNvSpPr>
            <a:spLocks noGrp="1"/>
          </p:cNvSpPr>
          <p:nvPr>
            <p:ph type="title"/>
          </p:nvPr>
        </p:nvSpPr>
        <p:spPr>
          <a:xfrm>
            <a:off x="598503" y="193906"/>
            <a:ext cx="10515600" cy="487131"/>
          </a:xfrm>
        </p:spPr>
        <p:txBody>
          <a:bodyPr>
            <a:normAutofit/>
          </a:bodyPr>
          <a:lstStyle/>
          <a:p>
            <a:r>
              <a:rPr lang="en-US" sz="2800" dirty="0"/>
              <a:t>DM: </a:t>
            </a:r>
          </a:p>
        </p:txBody>
      </p:sp>
      <p:sp>
        <p:nvSpPr>
          <p:cNvPr id="4" name="Date Placeholder 3">
            <a:extLst>
              <a:ext uri="{FF2B5EF4-FFF2-40B4-BE49-F238E27FC236}">
                <a16:creationId xmlns:a16="http://schemas.microsoft.com/office/drawing/2014/main" id="{773D9E77-6CA5-8223-792E-46249F441FA7}"/>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BD4E9537-7AFF-DFD1-6A42-6F54C2868895}"/>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86</a:t>
            </a:fld>
            <a:endParaRPr lang="en-US"/>
          </a:p>
        </p:txBody>
      </p:sp>
      <p:sp>
        <p:nvSpPr>
          <p:cNvPr id="3" name="Content Placeholder 2">
            <a:extLst>
              <a:ext uri="{FF2B5EF4-FFF2-40B4-BE49-F238E27FC236}">
                <a16:creationId xmlns:a16="http://schemas.microsoft.com/office/drawing/2014/main" id="{AD295B4D-B600-0158-4140-BD12E907E2DE}"/>
              </a:ext>
            </a:extLst>
          </p:cNvPr>
          <p:cNvSpPr>
            <a:spLocks noGrp="1"/>
          </p:cNvSpPr>
          <p:nvPr>
            <p:ph idx="1"/>
          </p:nvPr>
        </p:nvSpPr>
        <p:spPr>
          <a:xfrm>
            <a:off x="598503" y="749101"/>
            <a:ext cx="10755297" cy="2437579"/>
          </a:xfrm>
        </p:spPr>
        <p:txBody>
          <a:bodyPr>
            <a:normAutofit/>
          </a:bodyPr>
          <a:lstStyle/>
          <a:p>
            <a:pPr marR="2000">
              <a:buSzPts val="1200"/>
            </a:pPr>
            <a:r>
              <a:rPr lang="en-US" sz="1600" b="0" i="0" u="none" strike="noStrike" baseline="0" dirty="0">
                <a:solidFill>
                  <a:srgbClr val="606771"/>
                </a:solidFill>
              </a:rPr>
              <a:t>This is the Partners Admin View.</a:t>
            </a:r>
          </a:p>
          <a:p>
            <a:pPr marR="2000"/>
            <a:r>
              <a:rPr lang="en-US" sz="1600" b="0" i="0" u="none" strike="noStrike" baseline="0" dirty="0">
                <a:solidFill>
                  <a:srgbClr val="606771"/>
                </a:solidFill>
              </a:rPr>
              <a:t>Ability to Add </a:t>
            </a:r>
            <a:r>
              <a:rPr lang="en-US" sz="1600" dirty="0">
                <a:solidFill>
                  <a:srgbClr val="606771"/>
                </a:solidFill>
              </a:rPr>
              <a:t>new Partners</a:t>
            </a:r>
            <a:r>
              <a:rPr lang="en-US" sz="1600" b="0" i="0" u="none" strike="noStrike" baseline="0" dirty="0">
                <a:solidFill>
                  <a:srgbClr val="606771"/>
                </a:solidFill>
              </a:rPr>
              <a:t>.</a:t>
            </a:r>
          </a:p>
          <a:p>
            <a:pPr marR="2000"/>
            <a:r>
              <a:rPr lang="en-US" sz="1600" b="0" i="0" u="none" strike="noStrike" baseline="0" dirty="0">
                <a:solidFill>
                  <a:srgbClr val="606771"/>
                </a:solidFill>
              </a:rPr>
              <a:t>Ability to Edit/Delete Selected </a:t>
            </a:r>
            <a:r>
              <a:rPr lang="en-US" sz="1600" dirty="0">
                <a:solidFill>
                  <a:srgbClr val="606771"/>
                </a:solidFill>
              </a:rPr>
              <a:t>Partners</a:t>
            </a:r>
            <a:r>
              <a:rPr lang="en-US" sz="1600" b="0" i="0" u="none" strike="noStrike" baseline="0" dirty="0">
                <a:solidFill>
                  <a:srgbClr val="606771"/>
                </a:solidFill>
              </a:rPr>
              <a:t>.</a:t>
            </a:r>
          </a:p>
          <a:p>
            <a:pPr marR="2000"/>
            <a:r>
              <a:rPr lang="en-US" sz="1600" dirty="0">
                <a:solidFill>
                  <a:srgbClr val="606771"/>
                </a:solidFill>
              </a:rPr>
              <a:t>Ability to sort alphabetical order, export tags.</a:t>
            </a:r>
            <a:br>
              <a:rPr lang="en-US" sz="1200" b="0" i="0" u="none" strike="noStrike" baseline="0" dirty="0">
                <a:solidFill>
                  <a:srgbClr val="606771"/>
                </a:solidFill>
              </a:rPr>
            </a:br>
            <a:endParaRPr lang="en-US" sz="1200" dirty="0"/>
          </a:p>
        </p:txBody>
      </p:sp>
    </p:spTree>
    <p:extLst>
      <p:ext uri="{BB962C8B-B14F-4D97-AF65-F5344CB8AC3E}">
        <p14:creationId xmlns:p14="http://schemas.microsoft.com/office/powerpoint/2010/main" val="363459858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74A29-FB2C-735D-15C2-E95909A9DF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4D2DA7-9A90-0C8E-7883-1FDDC16E5325}"/>
              </a:ext>
            </a:extLst>
          </p:cNvPr>
          <p:cNvSpPr>
            <a:spLocks noGrp="1"/>
          </p:cNvSpPr>
          <p:nvPr>
            <p:ph type="title"/>
          </p:nvPr>
        </p:nvSpPr>
        <p:spPr>
          <a:xfrm>
            <a:off x="598503" y="193906"/>
            <a:ext cx="10515600" cy="487131"/>
          </a:xfrm>
        </p:spPr>
        <p:txBody>
          <a:bodyPr>
            <a:normAutofit/>
          </a:bodyPr>
          <a:lstStyle/>
          <a:p>
            <a:r>
              <a:rPr lang="en-US" sz="2800" dirty="0"/>
              <a:t>DM: </a:t>
            </a:r>
          </a:p>
        </p:txBody>
      </p:sp>
      <p:sp>
        <p:nvSpPr>
          <p:cNvPr id="4" name="Date Placeholder 3">
            <a:extLst>
              <a:ext uri="{FF2B5EF4-FFF2-40B4-BE49-F238E27FC236}">
                <a16:creationId xmlns:a16="http://schemas.microsoft.com/office/drawing/2014/main" id="{253DA6C0-EFC6-0DEE-F73C-08CF73F36CE4}"/>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8603ADD2-2005-9B66-B51D-C49D7C9A8E51}"/>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87</a:t>
            </a:fld>
            <a:endParaRPr lang="en-US"/>
          </a:p>
        </p:txBody>
      </p:sp>
      <p:sp>
        <p:nvSpPr>
          <p:cNvPr id="3" name="Content Placeholder 2">
            <a:extLst>
              <a:ext uri="{FF2B5EF4-FFF2-40B4-BE49-F238E27FC236}">
                <a16:creationId xmlns:a16="http://schemas.microsoft.com/office/drawing/2014/main" id="{3EE65D0A-A8B5-1B60-5D3E-8BDFE8F7F230}"/>
              </a:ext>
            </a:extLst>
          </p:cNvPr>
          <p:cNvSpPr>
            <a:spLocks noGrp="1"/>
          </p:cNvSpPr>
          <p:nvPr>
            <p:ph idx="1"/>
          </p:nvPr>
        </p:nvSpPr>
        <p:spPr>
          <a:xfrm>
            <a:off x="598503" y="749101"/>
            <a:ext cx="10755297" cy="2437579"/>
          </a:xfrm>
        </p:spPr>
        <p:txBody>
          <a:bodyPr>
            <a:normAutofit/>
          </a:bodyPr>
          <a:lstStyle/>
          <a:p>
            <a:pPr marR="2000">
              <a:buSzPts val="1200"/>
            </a:pPr>
            <a:r>
              <a:rPr lang="en-US" sz="1600" b="0" i="0" u="none" strike="noStrike" baseline="0" dirty="0">
                <a:solidFill>
                  <a:srgbClr val="606771"/>
                </a:solidFill>
              </a:rPr>
              <a:t>This is the Partners Admin View.</a:t>
            </a:r>
          </a:p>
          <a:p>
            <a:pPr marR="2000"/>
            <a:r>
              <a:rPr lang="en-US" sz="1600" b="0" i="0" u="none" strike="noStrike" baseline="0" dirty="0">
                <a:solidFill>
                  <a:srgbClr val="606771"/>
                </a:solidFill>
              </a:rPr>
              <a:t>Ability to Add </a:t>
            </a:r>
            <a:r>
              <a:rPr lang="en-US" sz="1600" dirty="0">
                <a:solidFill>
                  <a:srgbClr val="606771"/>
                </a:solidFill>
              </a:rPr>
              <a:t>new Partners</a:t>
            </a:r>
            <a:r>
              <a:rPr lang="en-US" sz="1600" b="0" i="0" u="none" strike="noStrike" baseline="0" dirty="0">
                <a:solidFill>
                  <a:srgbClr val="606771"/>
                </a:solidFill>
              </a:rPr>
              <a:t>.</a:t>
            </a:r>
          </a:p>
          <a:p>
            <a:pPr marR="2000"/>
            <a:r>
              <a:rPr lang="en-US" sz="1600" b="0" i="0" u="none" strike="noStrike" baseline="0" dirty="0">
                <a:solidFill>
                  <a:srgbClr val="606771"/>
                </a:solidFill>
              </a:rPr>
              <a:t>Ability to Edit/Delete Selected </a:t>
            </a:r>
            <a:r>
              <a:rPr lang="en-US" sz="1600" dirty="0">
                <a:solidFill>
                  <a:srgbClr val="606771"/>
                </a:solidFill>
              </a:rPr>
              <a:t>Partners</a:t>
            </a:r>
            <a:r>
              <a:rPr lang="en-US" sz="1600" b="0" i="0" u="none" strike="noStrike" baseline="0" dirty="0">
                <a:solidFill>
                  <a:srgbClr val="606771"/>
                </a:solidFill>
              </a:rPr>
              <a:t>.</a:t>
            </a:r>
          </a:p>
          <a:p>
            <a:pPr marR="2000"/>
            <a:r>
              <a:rPr lang="en-US" sz="1600" dirty="0">
                <a:solidFill>
                  <a:srgbClr val="606771"/>
                </a:solidFill>
              </a:rPr>
              <a:t>Ability to sort alphabetical order, export tags.</a:t>
            </a:r>
            <a:br>
              <a:rPr lang="en-US" sz="1200" b="0" i="0" u="none" strike="noStrike" baseline="0" dirty="0">
                <a:solidFill>
                  <a:srgbClr val="606771"/>
                </a:solidFill>
              </a:rPr>
            </a:br>
            <a:endParaRPr lang="en-US" sz="1200" dirty="0"/>
          </a:p>
        </p:txBody>
      </p:sp>
    </p:spTree>
    <p:extLst>
      <p:ext uri="{BB962C8B-B14F-4D97-AF65-F5344CB8AC3E}">
        <p14:creationId xmlns:p14="http://schemas.microsoft.com/office/powerpoint/2010/main" val="25792067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D82BF-8120-3550-C8A1-ABF01F0604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244E0D-7886-C641-9345-9A78D792A00C}"/>
              </a:ext>
            </a:extLst>
          </p:cNvPr>
          <p:cNvSpPr>
            <a:spLocks noGrp="1"/>
          </p:cNvSpPr>
          <p:nvPr>
            <p:ph type="ctrTitle"/>
          </p:nvPr>
        </p:nvSpPr>
        <p:spPr>
          <a:xfrm>
            <a:off x="1523999" y="3307311"/>
            <a:ext cx="9144000" cy="2387600"/>
          </a:xfrm>
        </p:spPr>
        <p:txBody>
          <a:bodyPr anchor="ctr"/>
          <a:lstStyle/>
          <a:p>
            <a:r>
              <a:rPr lang="en-US" dirty="0"/>
              <a:t>2FA</a:t>
            </a:r>
          </a:p>
        </p:txBody>
      </p:sp>
      <p:sp>
        <p:nvSpPr>
          <p:cNvPr id="8" name="Date Placeholder 7">
            <a:extLst>
              <a:ext uri="{FF2B5EF4-FFF2-40B4-BE49-F238E27FC236}">
                <a16:creationId xmlns:a16="http://schemas.microsoft.com/office/drawing/2014/main" id="{5BC82124-A5AF-8D04-DB42-D868B74215E3}"/>
              </a:ext>
            </a:extLst>
          </p:cNvPr>
          <p:cNvSpPr>
            <a:spLocks noGrp="1"/>
          </p:cNvSpPr>
          <p:nvPr>
            <p:ph type="dt" sz="half" idx="10"/>
          </p:nvPr>
        </p:nvSpPr>
        <p:spPr/>
        <p:txBody>
          <a:bodyPr/>
          <a:lstStyle/>
          <a:p>
            <a:fld id="{5948895C-732D-4B88-B65C-5D83E3577007}" type="datetime1">
              <a:rPr lang="en-US" smtClean="0"/>
              <a:t>9/18/2025</a:t>
            </a:fld>
            <a:endParaRPr lang="en-US"/>
          </a:p>
        </p:txBody>
      </p:sp>
      <p:sp>
        <p:nvSpPr>
          <p:cNvPr id="9" name="Slide Number Placeholder 8">
            <a:extLst>
              <a:ext uri="{FF2B5EF4-FFF2-40B4-BE49-F238E27FC236}">
                <a16:creationId xmlns:a16="http://schemas.microsoft.com/office/drawing/2014/main" id="{B29C80B0-6B94-5882-A039-90D805FD1DED}"/>
              </a:ext>
            </a:extLst>
          </p:cNvPr>
          <p:cNvSpPr>
            <a:spLocks noGrp="1"/>
          </p:cNvSpPr>
          <p:nvPr>
            <p:ph type="sldNum" sz="quarter" idx="12"/>
          </p:nvPr>
        </p:nvSpPr>
        <p:spPr/>
        <p:txBody>
          <a:bodyPr/>
          <a:lstStyle/>
          <a:p>
            <a:fld id="{330EA680-D336-4FF7-8B7A-9848BB0A1C32}" type="slidenum">
              <a:rPr lang="en-US" smtClean="0"/>
              <a:t>88</a:t>
            </a:fld>
            <a:endParaRPr lang="en-US"/>
          </a:p>
        </p:txBody>
      </p:sp>
      <p:pic>
        <p:nvPicPr>
          <p:cNvPr id="10" name="Picture 9" descr="GreenCircle Certified">
            <a:extLst>
              <a:ext uri="{FF2B5EF4-FFF2-40B4-BE49-F238E27FC236}">
                <a16:creationId xmlns:a16="http://schemas.microsoft.com/office/drawing/2014/main" id="{EC519EE7-0501-CF67-3BDD-AF5C6FC1A496}"/>
              </a:ext>
            </a:extLst>
          </p:cNvPr>
          <p:cNvPicPr>
            <a:picLocks noChangeAspect="1"/>
          </p:cNvPicPr>
          <p:nvPr/>
        </p:nvPicPr>
        <p:blipFill>
          <a:blip r:embed="rId2"/>
          <a:stretch>
            <a:fillRect/>
          </a:stretch>
        </p:blipFill>
        <p:spPr>
          <a:xfrm>
            <a:off x="4844495" y="1258786"/>
            <a:ext cx="2503009" cy="2400644"/>
          </a:xfrm>
          <a:prstGeom prst="rect">
            <a:avLst/>
          </a:prstGeom>
        </p:spPr>
      </p:pic>
    </p:spTree>
    <p:extLst>
      <p:ext uri="{BB962C8B-B14F-4D97-AF65-F5344CB8AC3E}">
        <p14:creationId xmlns:p14="http://schemas.microsoft.com/office/powerpoint/2010/main" val="146724366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FEE79-51BD-3563-03A2-E4DFB13773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9CE76A-7A44-5F17-A15E-29DDCBB0470C}"/>
              </a:ext>
            </a:extLst>
          </p:cNvPr>
          <p:cNvSpPr>
            <a:spLocks noGrp="1"/>
          </p:cNvSpPr>
          <p:nvPr>
            <p:ph type="title"/>
          </p:nvPr>
        </p:nvSpPr>
        <p:spPr>
          <a:xfrm>
            <a:off x="598503" y="193906"/>
            <a:ext cx="10515600" cy="487131"/>
          </a:xfrm>
        </p:spPr>
        <p:txBody>
          <a:bodyPr>
            <a:normAutofit/>
          </a:bodyPr>
          <a:lstStyle/>
          <a:p>
            <a:r>
              <a:rPr lang="en-US" sz="2800" dirty="0"/>
              <a:t>2FA: </a:t>
            </a:r>
            <a:r>
              <a:rPr lang="en-US" sz="2800"/>
              <a:t>remaining items</a:t>
            </a:r>
            <a:endParaRPr lang="en-US" sz="2800" dirty="0"/>
          </a:p>
        </p:txBody>
      </p:sp>
      <p:sp>
        <p:nvSpPr>
          <p:cNvPr id="4" name="Date Placeholder 3">
            <a:extLst>
              <a:ext uri="{FF2B5EF4-FFF2-40B4-BE49-F238E27FC236}">
                <a16:creationId xmlns:a16="http://schemas.microsoft.com/office/drawing/2014/main" id="{0680A1BB-78FE-A6F7-C533-13D1556B7813}"/>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9/18/2025</a:t>
            </a:fld>
            <a:endParaRPr lang="en-US"/>
          </a:p>
        </p:txBody>
      </p:sp>
      <p:sp>
        <p:nvSpPr>
          <p:cNvPr id="5" name="Slide Number Placeholder 4">
            <a:extLst>
              <a:ext uri="{FF2B5EF4-FFF2-40B4-BE49-F238E27FC236}">
                <a16:creationId xmlns:a16="http://schemas.microsoft.com/office/drawing/2014/main" id="{25C36BE0-B34B-8619-D4F2-416519B525C0}"/>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89</a:t>
            </a:fld>
            <a:endParaRPr lang="en-US"/>
          </a:p>
        </p:txBody>
      </p:sp>
      <p:sp>
        <p:nvSpPr>
          <p:cNvPr id="3" name="Content Placeholder 2">
            <a:extLst>
              <a:ext uri="{FF2B5EF4-FFF2-40B4-BE49-F238E27FC236}">
                <a16:creationId xmlns:a16="http://schemas.microsoft.com/office/drawing/2014/main" id="{E0EAADF2-136F-09FC-D50A-E8B954D0DBCC}"/>
              </a:ext>
            </a:extLst>
          </p:cNvPr>
          <p:cNvSpPr>
            <a:spLocks noGrp="1"/>
          </p:cNvSpPr>
          <p:nvPr>
            <p:ph idx="1"/>
          </p:nvPr>
        </p:nvSpPr>
        <p:spPr>
          <a:xfrm>
            <a:off x="598503" y="749101"/>
            <a:ext cx="10755297" cy="2437579"/>
          </a:xfrm>
        </p:spPr>
        <p:txBody>
          <a:bodyPr>
            <a:normAutofit/>
          </a:bodyPr>
          <a:lstStyle/>
          <a:p>
            <a:pPr marR="2000">
              <a:buSzPts val="1200"/>
            </a:pPr>
            <a:r>
              <a:rPr lang="en-US" sz="1600" b="0" i="0" u="none" strike="noStrike" baseline="0" dirty="0">
                <a:solidFill>
                  <a:srgbClr val="606771"/>
                </a:solidFill>
              </a:rPr>
              <a:t>This is the Partners Admin View.</a:t>
            </a:r>
          </a:p>
          <a:p>
            <a:pPr marR="2000"/>
            <a:r>
              <a:rPr lang="en-US" sz="1600" b="0" i="0" u="none" strike="noStrike" baseline="0" dirty="0">
                <a:solidFill>
                  <a:srgbClr val="606771"/>
                </a:solidFill>
              </a:rPr>
              <a:t>Ability to Add </a:t>
            </a:r>
            <a:r>
              <a:rPr lang="en-US" sz="1600" dirty="0">
                <a:solidFill>
                  <a:srgbClr val="606771"/>
                </a:solidFill>
              </a:rPr>
              <a:t>new Partners</a:t>
            </a:r>
            <a:r>
              <a:rPr lang="en-US" sz="1600" b="0" i="0" u="none" strike="noStrike" baseline="0" dirty="0">
                <a:solidFill>
                  <a:srgbClr val="606771"/>
                </a:solidFill>
              </a:rPr>
              <a:t>.</a:t>
            </a:r>
          </a:p>
          <a:p>
            <a:pPr marR="2000"/>
            <a:r>
              <a:rPr lang="en-US" sz="1600" b="0" i="0" u="none" strike="noStrike" baseline="0" dirty="0">
                <a:solidFill>
                  <a:srgbClr val="606771"/>
                </a:solidFill>
              </a:rPr>
              <a:t>Ability to Edit/Delete Selected </a:t>
            </a:r>
            <a:r>
              <a:rPr lang="en-US" sz="1600" dirty="0">
                <a:solidFill>
                  <a:srgbClr val="606771"/>
                </a:solidFill>
              </a:rPr>
              <a:t>Partners</a:t>
            </a:r>
            <a:r>
              <a:rPr lang="en-US" sz="1600" b="0" i="0" u="none" strike="noStrike" baseline="0" dirty="0">
                <a:solidFill>
                  <a:srgbClr val="606771"/>
                </a:solidFill>
              </a:rPr>
              <a:t>.</a:t>
            </a:r>
          </a:p>
          <a:p>
            <a:pPr marR="2000"/>
            <a:r>
              <a:rPr lang="en-US" sz="1600" dirty="0">
                <a:solidFill>
                  <a:srgbClr val="606771"/>
                </a:solidFill>
              </a:rPr>
              <a:t>Ability to sort alphabetical order, export tags.</a:t>
            </a:r>
            <a:br>
              <a:rPr lang="en-US" sz="1200" b="0" i="0" u="none" strike="noStrike" baseline="0" dirty="0">
                <a:solidFill>
                  <a:srgbClr val="606771"/>
                </a:solidFill>
              </a:rPr>
            </a:br>
            <a:endParaRPr lang="en-US" sz="1200" dirty="0"/>
          </a:p>
        </p:txBody>
      </p:sp>
    </p:spTree>
    <p:extLst>
      <p:ext uri="{BB962C8B-B14F-4D97-AF65-F5344CB8AC3E}">
        <p14:creationId xmlns:p14="http://schemas.microsoft.com/office/powerpoint/2010/main" val="62680104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B4180F-C861-74BE-DF2B-075398D0FB6A}"/>
              </a:ext>
            </a:extLst>
          </p:cNvPr>
          <p:cNvSpPr>
            <a:spLocks noGrp="1"/>
          </p:cNvSpPr>
          <p:nvPr>
            <p:ph type="dt" sz="half" idx="10"/>
          </p:nvPr>
        </p:nvSpPr>
        <p:spPr/>
        <p:txBody>
          <a:bodyPr/>
          <a:lstStyle/>
          <a:p>
            <a:fld id="{AFDEACDC-4FA8-4934-9E2F-B8BAA099B586}" type="datetime1">
              <a:rPr lang="en-US" smtClean="0"/>
              <a:t>9/18/2025</a:t>
            </a:fld>
            <a:endParaRPr lang="en-US"/>
          </a:p>
        </p:txBody>
      </p:sp>
      <p:sp>
        <p:nvSpPr>
          <p:cNvPr id="3" name="Slide Number Placeholder 2">
            <a:extLst>
              <a:ext uri="{FF2B5EF4-FFF2-40B4-BE49-F238E27FC236}">
                <a16:creationId xmlns:a16="http://schemas.microsoft.com/office/drawing/2014/main" id="{07A1A5EC-01B6-0461-68E2-5845F63A3D8B}"/>
              </a:ext>
            </a:extLst>
          </p:cNvPr>
          <p:cNvSpPr>
            <a:spLocks noGrp="1"/>
          </p:cNvSpPr>
          <p:nvPr>
            <p:ph type="sldNum" sz="quarter" idx="12"/>
          </p:nvPr>
        </p:nvSpPr>
        <p:spPr/>
        <p:txBody>
          <a:bodyPr/>
          <a:lstStyle/>
          <a:p>
            <a:fld id="{330EA680-D336-4FF7-8B7A-9848BB0A1C32}" type="slidenum">
              <a:rPr lang="en-US" smtClean="0"/>
              <a:t>90</a:t>
            </a:fld>
            <a:endParaRPr lang="en-US"/>
          </a:p>
        </p:txBody>
      </p:sp>
      <p:pic>
        <p:nvPicPr>
          <p:cNvPr id="5" name="Picture 4">
            <a:extLst>
              <a:ext uri="{FF2B5EF4-FFF2-40B4-BE49-F238E27FC236}">
                <a16:creationId xmlns:a16="http://schemas.microsoft.com/office/drawing/2014/main" id="{698ACFF9-0C11-0F83-0C62-D6B983BAE867}"/>
              </a:ext>
            </a:extLst>
          </p:cNvPr>
          <p:cNvPicPr>
            <a:picLocks noChangeAspect="1"/>
          </p:cNvPicPr>
          <p:nvPr/>
        </p:nvPicPr>
        <p:blipFill>
          <a:blip r:embed="rId2"/>
          <a:stretch>
            <a:fillRect/>
          </a:stretch>
        </p:blipFill>
        <p:spPr>
          <a:xfrm>
            <a:off x="532432" y="0"/>
            <a:ext cx="11127136" cy="6858000"/>
          </a:xfrm>
          <a:prstGeom prst="rect">
            <a:avLst/>
          </a:prstGeom>
        </p:spPr>
      </p:pic>
    </p:spTree>
    <p:extLst>
      <p:ext uri="{BB962C8B-B14F-4D97-AF65-F5344CB8AC3E}">
        <p14:creationId xmlns:p14="http://schemas.microsoft.com/office/powerpoint/2010/main" val="271398642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F92E55-A8FD-91E4-2106-1A83F377D588}"/>
              </a:ext>
            </a:extLst>
          </p:cNvPr>
          <p:cNvSpPr>
            <a:spLocks noGrp="1"/>
          </p:cNvSpPr>
          <p:nvPr>
            <p:ph type="dt" sz="half" idx="10"/>
          </p:nvPr>
        </p:nvSpPr>
        <p:spPr/>
        <p:txBody>
          <a:bodyPr/>
          <a:lstStyle/>
          <a:p>
            <a:fld id="{AFDEACDC-4FA8-4934-9E2F-B8BAA099B586}" type="datetime1">
              <a:rPr lang="en-US" smtClean="0"/>
              <a:t>9/18/2025</a:t>
            </a:fld>
            <a:endParaRPr lang="en-US"/>
          </a:p>
        </p:txBody>
      </p:sp>
      <p:sp>
        <p:nvSpPr>
          <p:cNvPr id="3" name="Slide Number Placeholder 2">
            <a:extLst>
              <a:ext uri="{FF2B5EF4-FFF2-40B4-BE49-F238E27FC236}">
                <a16:creationId xmlns:a16="http://schemas.microsoft.com/office/drawing/2014/main" id="{69C2DD6F-DD79-3F7A-AAC4-446B61F98614}"/>
              </a:ext>
            </a:extLst>
          </p:cNvPr>
          <p:cNvSpPr>
            <a:spLocks noGrp="1"/>
          </p:cNvSpPr>
          <p:nvPr>
            <p:ph type="sldNum" sz="quarter" idx="12"/>
          </p:nvPr>
        </p:nvSpPr>
        <p:spPr/>
        <p:txBody>
          <a:bodyPr/>
          <a:lstStyle/>
          <a:p>
            <a:fld id="{330EA680-D336-4FF7-8B7A-9848BB0A1C32}" type="slidenum">
              <a:rPr lang="en-US" smtClean="0"/>
              <a:t>91</a:t>
            </a:fld>
            <a:endParaRPr lang="en-US"/>
          </a:p>
        </p:txBody>
      </p:sp>
    </p:spTree>
    <p:extLst>
      <p:ext uri="{BB962C8B-B14F-4D97-AF65-F5344CB8AC3E}">
        <p14:creationId xmlns:p14="http://schemas.microsoft.com/office/powerpoint/2010/main" val="384274560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B89A82-07E0-14B6-FE28-AE5DCA93C819}"/>
              </a:ext>
            </a:extLst>
          </p:cNvPr>
          <p:cNvSpPr>
            <a:spLocks noGrp="1"/>
          </p:cNvSpPr>
          <p:nvPr>
            <p:ph type="dt" sz="half" idx="10"/>
          </p:nvPr>
        </p:nvSpPr>
        <p:spPr/>
        <p:txBody>
          <a:bodyPr/>
          <a:lstStyle/>
          <a:p>
            <a:fld id="{AFDEACDC-4FA8-4934-9E2F-B8BAA099B586}" type="datetime1">
              <a:rPr lang="en-US" smtClean="0"/>
              <a:t>9/18/2025</a:t>
            </a:fld>
            <a:endParaRPr lang="en-US"/>
          </a:p>
        </p:txBody>
      </p:sp>
      <p:sp>
        <p:nvSpPr>
          <p:cNvPr id="3" name="Slide Number Placeholder 2">
            <a:extLst>
              <a:ext uri="{FF2B5EF4-FFF2-40B4-BE49-F238E27FC236}">
                <a16:creationId xmlns:a16="http://schemas.microsoft.com/office/drawing/2014/main" id="{ADC5A770-193E-EE4B-73D0-802EC6933617}"/>
              </a:ext>
            </a:extLst>
          </p:cNvPr>
          <p:cNvSpPr>
            <a:spLocks noGrp="1"/>
          </p:cNvSpPr>
          <p:nvPr>
            <p:ph type="sldNum" sz="quarter" idx="12"/>
          </p:nvPr>
        </p:nvSpPr>
        <p:spPr/>
        <p:txBody>
          <a:bodyPr/>
          <a:lstStyle/>
          <a:p>
            <a:fld id="{330EA680-D336-4FF7-8B7A-9848BB0A1C32}" type="slidenum">
              <a:rPr lang="en-US" smtClean="0"/>
              <a:t>92</a:t>
            </a:fld>
            <a:endParaRPr lang="en-US"/>
          </a:p>
        </p:txBody>
      </p:sp>
      <p:pic>
        <p:nvPicPr>
          <p:cNvPr id="5" name="Picture 4">
            <a:extLst>
              <a:ext uri="{FF2B5EF4-FFF2-40B4-BE49-F238E27FC236}">
                <a16:creationId xmlns:a16="http://schemas.microsoft.com/office/drawing/2014/main" id="{44C2512B-0AF8-F3C9-A350-18F984606601}"/>
              </a:ext>
            </a:extLst>
          </p:cNvPr>
          <p:cNvPicPr>
            <a:picLocks noChangeAspect="1"/>
          </p:cNvPicPr>
          <p:nvPr/>
        </p:nvPicPr>
        <p:blipFill>
          <a:blip r:embed="rId2"/>
          <a:stretch>
            <a:fillRect/>
          </a:stretch>
        </p:blipFill>
        <p:spPr>
          <a:xfrm>
            <a:off x="3757286" y="2871709"/>
            <a:ext cx="4677428" cy="1114581"/>
          </a:xfrm>
          <a:prstGeom prst="rect">
            <a:avLst/>
          </a:prstGeom>
        </p:spPr>
      </p:pic>
    </p:spTree>
    <p:extLst>
      <p:ext uri="{BB962C8B-B14F-4D97-AF65-F5344CB8AC3E}">
        <p14:creationId xmlns:p14="http://schemas.microsoft.com/office/powerpoint/2010/main" val="139087841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6C6C88-86A7-8ADC-BD9B-A73BC03F03A9}"/>
              </a:ext>
            </a:extLst>
          </p:cNvPr>
          <p:cNvSpPr>
            <a:spLocks noGrp="1"/>
          </p:cNvSpPr>
          <p:nvPr>
            <p:ph type="dt" sz="half" idx="10"/>
          </p:nvPr>
        </p:nvSpPr>
        <p:spPr/>
        <p:txBody>
          <a:bodyPr/>
          <a:lstStyle/>
          <a:p>
            <a:fld id="{AFDEACDC-4FA8-4934-9E2F-B8BAA099B586}" type="datetime1">
              <a:rPr lang="en-US" smtClean="0"/>
              <a:t>9/18/2025</a:t>
            </a:fld>
            <a:endParaRPr lang="en-US"/>
          </a:p>
        </p:txBody>
      </p:sp>
      <p:sp>
        <p:nvSpPr>
          <p:cNvPr id="3" name="Slide Number Placeholder 2">
            <a:extLst>
              <a:ext uri="{FF2B5EF4-FFF2-40B4-BE49-F238E27FC236}">
                <a16:creationId xmlns:a16="http://schemas.microsoft.com/office/drawing/2014/main" id="{7578CBF8-F6F3-AF45-74CA-52C8B8B8EB42}"/>
              </a:ext>
            </a:extLst>
          </p:cNvPr>
          <p:cNvSpPr>
            <a:spLocks noGrp="1"/>
          </p:cNvSpPr>
          <p:nvPr>
            <p:ph type="sldNum" sz="quarter" idx="12"/>
          </p:nvPr>
        </p:nvSpPr>
        <p:spPr/>
        <p:txBody>
          <a:bodyPr/>
          <a:lstStyle/>
          <a:p>
            <a:fld id="{330EA680-D336-4FF7-8B7A-9848BB0A1C32}" type="slidenum">
              <a:rPr lang="en-US" smtClean="0"/>
              <a:t>93</a:t>
            </a:fld>
            <a:endParaRPr lang="en-US"/>
          </a:p>
        </p:txBody>
      </p:sp>
    </p:spTree>
    <p:extLst>
      <p:ext uri="{BB962C8B-B14F-4D97-AF65-F5344CB8AC3E}">
        <p14:creationId xmlns:p14="http://schemas.microsoft.com/office/powerpoint/2010/main" val="186633042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1DC4CD-4B3F-7C03-3A9D-0FF6E786E857}"/>
              </a:ext>
            </a:extLst>
          </p:cNvPr>
          <p:cNvSpPr>
            <a:spLocks noGrp="1"/>
          </p:cNvSpPr>
          <p:nvPr>
            <p:ph type="dt" sz="half" idx="10"/>
          </p:nvPr>
        </p:nvSpPr>
        <p:spPr/>
        <p:txBody>
          <a:bodyPr/>
          <a:lstStyle/>
          <a:p>
            <a:fld id="{AFDEACDC-4FA8-4934-9E2F-B8BAA099B586}" type="datetime1">
              <a:rPr lang="en-US" smtClean="0"/>
              <a:t>9/18/2025</a:t>
            </a:fld>
            <a:endParaRPr lang="en-US"/>
          </a:p>
        </p:txBody>
      </p:sp>
      <p:sp>
        <p:nvSpPr>
          <p:cNvPr id="3" name="Slide Number Placeholder 2">
            <a:extLst>
              <a:ext uri="{FF2B5EF4-FFF2-40B4-BE49-F238E27FC236}">
                <a16:creationId xmlns:a16="http://schemas.microsoft.com/office/drawing/2014/main" id="{DB689840-A635-7CC8-BDF5-341DAFF13DF7}"/>
              </a:ext>
            </a:extLst>
          </p:cNvPr>
          <p:cNvSpPr>
            <a:spLocks noGrp="1"/>
          </p:cNvSpPr>
          <p:nvPr>
            <p:ph type="sldNum" sz="quarter" idx="12"/>
          </p:nvPr>
        </p:nvSpPr>
        <p:spPr/>
        <p:txBody>
          <a:bodyPr/>
          <a:lstStyle/>
          <a:p>
            <a:fld id="{330EA680-D336-4FF7-8B7A-9848BB0A1C32}" type="slidenum">
              <a:rPr lang="en-US" smtClean="0"/>
              <a:t>94</a:t>
            </a:fld>
            <a:endParaRPr lang="en-US"/>
          </a:p>
        </p:txBody>
      </p:sp>
    </p:spTree>
    <p:extLst>
      <p:ext uri="{BB962C8B-B14F-4D97-AF65-F5344CB8AC3E}">
        <p14:creationId xmlns:p14="http://schemas.microsoft.com/office/powerpoint/2010/main" val="251178798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CD2879-6193-460D-44DD-8A0A1B85CAB8}"/>
              </a:ext>
            </a:extLst>
          </p:cNvPr>
          <p:cNvSpPr>
            <a:spLocks noGrp="1"/>
          </p:cNvSpPr>
          <p:nvPr>
            <p:ph type="dt" sz="half" idx="10"/>
          </p:nvPr>
        </p:nvSpPr>
        <p:spPr/>
        <p:txBody>
          <a:bodyPr/>
          <a:lstStyle/>
          <a:p>
            <a:fld id="{AFDEACDC-4FA8-4934-9E2F-B8BAA099B586}" type="datetime1">
              <a:rPr lang="en-US" smtClean="0"/>
              <a:t>9/18/2025</a:t>
            </a:fld>
            <a:endParaRPr lang="en-US"/>
          </a:p>
        </p:txBody>
      </p:sp>
      <p:sp>
        <p:nvSpPr>
          <p:cNvPr id="3" name="Slide Number Placeholder 2">
            <a:extLst>
              <a:ext uri="{FF2B5EF4-FFF2-40B4-BE49-F238E27FC236}">
                <a16:creationId xmlns:a16="http://schemas.microsoft.com/office/drawing/2014/main" id="{3DBB659B-2AB1-9DBA-8910-FF6E03BC7FE2}"/>
              </a:ext>
            </a:extLst>
          </p:cNvPr>
          <p:cNvSpPr>
            <a:spLocks noGrp="1"/>
          </p:cNvSpPr>
          <p:nvPr>
            <p:ph type="sldNum" sz="quarter" idx="12"/>
          </p:nvPr>
        </p:nvSpPr>
        <p:spPr/>
        <p:txBody>
          <a:bodyPr/>
          <a:lstStyle/>
          <a:p>
            <a:fld id="{330EA680-D336-4FF7-8B7A-9848BB0A1C32}" type="slidenum">
              <a:rPr lang="en-US" smtClean="0"/>
              <a:t>95</a:t>
            </a:fld>
            <a:endParaRPr lang="en-US"/>
          </a:p>
        </p:txBody>
      </p:sp>
    </p:spTree>
    <p:extLst>
      <p:ext uri="{BB962C8B-B14F-4D97-AF65-F5344CB8AC3E}">
        <p14:creationId xmlns:p14="http://schemas.microsoft.com/office/powerpoint/2010/main" val="18561651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826CAB-BC32-A34C-432B-8A8ADE74824D}"/>
              </a:ext>
            </a:extLst>
          </p:cNvPr>
          <p:cNvSpPr>
            <a:spLocks noGrp="1"/>
          </p:cNvSpPr>
          <p:nvPr>
            <p:ph type="dt" sz="half" idx="10"/>
          </p:nvPr>
        </p:nvSpPr>
        <p:spPr/>
        <p:txBody>
          <a:bodyPr/>
          <a:lstStyle/>
          <a:p>
            <a:fld id="{AFDEACDC-4FA8-4934-9E2F-B8BAA099B586}" type="datetime1">
              <a:rPr lang="en-US" smtClean="0"/>
              <a:t>9/18/2025</a:t>
            </a:fld>
            <a:endParaRPr lang="en-US"/>
          </a:p>
        </p:txBody>
      </p:sp>
      <p:sp>
        <p:nvSpPr>
          <p:cNvPr id="3" name="Slide Number Placeholder 2">
            <a:extLst>
              <a:ext uri="{FF2B5EF4-FFF2-40B4-BE49-F238E27FC236}">
                <a16:creationId xmlns:a16="http://schemas.microsoft.com/office/drawing/2014/main" id="{1122B61B-7457-1CA0-4D4A-C28175176FB0}"/>
              </a:ext>
            </a:extLst>
          </p:cNvPr>
          <p:cNvSpPr>
            <a:spLocks noGrp="1"/>
          </p:cNvSpPr>
          <p:nvPr>
            <p:ph type="sldNum" sz="quarter" idx="12"/>
          </p:nvPr>
        </p:nvSpPr>
        <p:spPr/>
        <p:txBody>
          <a:bodyPr/>
          <a:lstStyle/>
          <a:p>
            <a:fld id="{330EA680-D336-4FF7-8B7A-9848BB0A1C32}" type="slidenum">
              <a:rPr lang="en-US" smtClean="0"/>
              <a:t>96</a:t>
            </a:fld>
            <a:endParaRPr lang="en-US"/>
          </a:p>
        </p:txBody>
      </p:sp>
    </p:spTree>
    <p:extLst>
      <p:ext uri="{BB962C8B-B14F-4D97-AF65-F5344CB8AC3E}">
        <p14:creationId xmlns:p14="http://schemas.microsoft.com/office/powerpoint/2010/main" val="19717180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D6F265-5CA0-447F-1805-8EDC497FE870}"/>
              </a:ext>
            </a:extLst>
          </p:cNvPr>
          <p:cNvSpPr>
            <a:spLocks noGrp="1"/>
          </p:cNvSpPr>
          <p:nvPr>
            <p:ph type="dt" sz="half" idx="10"/>
          </p:nvPr>
        </p:nvSpPr>
        <p:spPr/>
        <p:txBody>
          <a:bodyPr/>
          <a:lstStyle/>
          <a:p>
            <a:fld id="{AFDEACDC-4FA8-4934-9E2F-B8BAA099B586}" type="datetime1">
              <a:rPr lang="en-US" smtClean="0"/>
              <a:t>9/18/2025</a:t>
            </a:fld>
            <a:endParaRPr lang="en-US"/>
          </a:p>
        </p:txBody>
      </p:sp>
      <p:sp>
        <p:nvSpPr>
          <p:cNvPr id="3" name="Slide Number Placeholder 2">
            <a:extLst>
              <a:ext uri="{FF2B5EF4-FFF2-40B4-BE49-F238E27FC236}">
                <a16:creationId xmlns:a16="http://schemas.microsoft.com/office/drawing/2014/main" id="{3F7DD707-A9B4-5D85-4C25-659EE613D80C}"/>
              </a:ext>
            </a:extLst>
          </p:cNvPr>
          <p:cNvSpPr>
            <a:spLocks noGrp="1"/>
          </p:cNvSpPr>
          <p:nvPr>
            <p:ph type="sldNum" sz="quarter" idx="12"/>
          </p:nvPr>
        </p:nvSpPr>
        <p:spPr/>
        <p:txBody>
          <a:bodyPr/>
          <a:lstStyle/>
          <a:p>
            <a:fld id="{330EA680-D336-4FF7-8B7A-9848BB0A1C32}" type="slidenum">
              <a:rPr lang="en-US" smtClean="0"/>
              <a:t>97</a:t>
            </a:fld>
            <a:endParaRPr lang="en-US"/>
          </a:p>
        </p:txBody>
      </p:sp>
    </p:spTree>
    <p:extLst>
      <p:ext uri="{BB962C8B-B14F-4D97-AF65-F5344CB8AC3E}">
        <p14:creationId xmlns:p14="http://schemas.microsoft.com/office/powerpoint/2010/main" val="402770649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5F9D0B-A6EE-9EE1-B1DE-B3131544718F}"/>
              </a:ext>
            </a:extLst>
          </p:cNvPr>
          <p:cNvSpPr>
            <a:spLocks noGrp="1"/>
          </p:cNvSpPr>
          <p:nvPr>
            <p:ph type="dt" sz="half" idx="10"/>
          </p:nvPr>
        </p:nvSpPr>
        <p:spPr/>
        <p:txBody>
          <a:bodyPr/>
          <a:lstStyle/>
          <a:p>
            <a:fld id="{AFDEACDC-4FA8-4934-9E2F-B8BAA099B586}" type="datetime1">
              <a:rPr lang="en-US" smtClean="0"/>
              <a:t>9/18/2025</a:t>
            </a:fld>
            <a:endParaRPr lang="en-US"/>
          </a:p>
        </p:txBody>
      </p:sp>
      <p:sp>
        <p:nvSpPr>
          <p:cNvPr id="3" name="Slide Number Placeholder 2">
            <a:extLst>
              <a:ext uri="{FF2B5EF4-FFF2-40B4-BE49-F238E27FC236}">
                <a16:creationId xmlns:a16="http://schemas.microsoft.com/office/drawing/2014/main" id="{AFD1FD11-29C5-7AF1-B3A1-B684D0CA0375}"/>
              </a:ext>
            </a:extLst>
          </p:cNvPr>
          <p:cNvSpPr>
            <a:spLocks noGrp="1"/>
          </p:cNvSpPr>
          <p:nvPr>
            <p:ph type="sldNum" sz="quarter" idx="12"/>
          </p:nvPr>
        </p:nvSpPr>
        <p:spPr/>
        <p:txBody>
          <a:bodyPr/>
          <a:lstStyle/>
          <a:p>
            <a:fld id="{330EA680-D336-4FF7-8B7A-9848BB0A1C32}" type="slidenum">
              <a:rPr lang="en-US" smtClean="0"/>
              <a:t>98</a:t>
            </a:fld>
            <a:endParaRPr lang="en-US"/>
          </a:p>
        </p:txBody>
      </p:sp>
    </p:spTree>
    <p:extLst>
      <p:ext uri="{BB962C8B-B14F-4D97-AF65-F5344CB8AC3E}">
        <p14:creationId xmlns:p14="http://schemas.microsoft.com/office/powerpoint/2010/main" val="272868842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B2819C-041D-6391-78DB-D17F27A8A1D9}"/>
              </a:ext>
            </a:extLst>
          </p:cNvPr>
          <p:cNvSpPr>
            <a:spLocks noGrp="1"/>
          </p:cNvSpPr>
          <p:nvPr>
            <p:ph type="dt" sz="half" idx="10"/>
          </p:nvPr>
        </p:nvSpPr>
        <p:spPr/>
        <p:txBody>
          <a:bodyPr/>
          <a:lstStyle/>
          <a:p>
            <a:fld id="{AFDEACDC-4FA8-4934-9E2F-B8BAA099B586}" type="datetime1">
              <a:rPr lang="en-US" smtClean="0"/>
              <a:t>9/18/2025</a:t>
            </a:fld>
            <a:endParaRPr lang="en-US"/>
          </a:p>
        </p:txBody>
      </p:sp>
      <p:sp>
        <p:nvSpPr>
          <p:cNvPr id="3" name="Slide Number Placeholder 2">
            <a:extLst>
              <a:ext uri="{FF2B5EF4-FFF2-40B4-BE49-F238E27FC236}">
                <a16:creationId xmlns:a16="http://schemas.microsoft.com/office/drawing/2014/main" id="{717129AB-30F9-2728-AC68-AE0AB60E72D2}"/>
              </a:ext>
            </a:extLst>
          </p:cNvPr>
          <p:cNvSpPr>
            <a:spLocks noGrp="1"/>
          </p:cNvSpPr>
          <p:nvPr>
            <p:ph type="sldNum" sz="quarter" idx="12"/>
          </p:nvPr>
        </p:nvSpPr>
        <p:spPr/>
        <p:txBody>
          <a:bodyPr/>
          <a:lstStyle/>
          <a:p>
            <a:fld id="{330EA680-D336-4FF7-8B7A-9848BB0A1C32}" type="slidenum">
              <a:rPr lang="en-US" smtClean="0"/>
              <a:t>99</a:t>
            </a:fld>
            <a:endParaRPr lang="en-US"/>
          </a:p>
        </p:txBody>
      </p:sp>
    </p:spTree>
    <p:extLst>
      <p:ext uri="{BB962C8B-B14F-4D97-AF65-F5344CB8AC3E}">
        <p14:creationId xmlns:p14="http://schemas.microsoft.com/office/powerpoint/2010/main" val="1409370847"/>
      </p:ext>
    </p:extLst>
  </p:cSld>
  <p:clrMapOvr>
    <a:masterClrMapping/>
  </p:clrMapOvr>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107096</TotalTime>
  <Words>12305</Words>
  <Application>Microsoft Office PowerPoint</Application>
  <PresentationFormat>Widescreen</PresentationFormat>
  <Paragraphs>1417</Paragraphs>
  <Slides>99</Slides>
  <Notes>81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99</vt:i4>
      </vt:variant>
    </vt:vector>
  </HeadingPairs>
  <TitlesOfParts>
    <vt:vector size="107" baseType="lpstr">
      <vt:lpstr>Aptos</vt:lpstr>
      <vt:lpstr>Arial</vt:lpstr>
      <vt:lpstr>Calibri</vt:lpstr>
      <vt:lpstr>Century Gothic</vt:lpstr>
      <vt:lpstr>Segoe UI</vt:lpstr>
      <vt:lpstr>Symbol</vt:lpstr>
      <vt:lpstr>Wingdings</vt:lpstr>
      <vt:lpstr>office theme</vt:lpstr>
      <vt:lpstr>GreenCircle Certified  Database Project</vt:lpstr>
      <vt:lpstr>GreenCircle Certified Database Site Map</vt:lpstr>
      <vt:lpstr>User Stories</vt:lpstr>
      <vt:lpstr>GCC: User Roles</vt:lpstr>
      <vt:lpstr>User Stories – Public User</vt:lpstr>
      <vt:lpstr>User Stories – Public User</vt:lpstr>
      <vt:lpstr>User Stories – External User (Client)</vt:lpstr>
      <vt:lpstr>User Stories – External User (Client)</vt:lpstr>
      <vt:lpstr>User Stories – External User (Partner)</vt:lpstr>
      <vt:lpstr>User Stories – External User (Partner)</vt:lpstr>
      <vt:lpstr>User Stories – GCC Analyst</vt:lpstr>
      <vt:lpstr>User Stories – GCC Analyst</vt:lpstr>
      <vt:lpstr>User Stories - Admin</vt:lpstr>
      <vt:lpstr>User Stories - Admin</vt:lpstr>
      <vt:lpstr>Login &amp; Notification Screens</vt:lpstr>
      <vt:lpstr>Notifications &amp; Alerts</vt:lpstr>
      <vt:lpstr>Notifications &amp; Alerts</vt:lpstr>
      <vt:lpstr>Wireframe Notes – 6.1 – Login</vt:lpstr>
      <vt:lpstr>Wireframe Notes – 6.2 – Forgot Password</vt:lpstr>
      <vt:lpstr>Wireframe Notes – 6.3 – Password Reset Confirmation</vt:lpstr>
      <vt:lpstr>Wireframe Notes – 6.4 – Reset Password</vt:lpstr>
      <vt:lpstr>Wireframe Notes – 6.5 – Password Reset Successful</vt:lpstr>
      <vt:lpstr>Wireframe Notes – 6.6 – 2FA Authenticate OTP</vt:lpstr>
      <vt:lpstr>Wireframe Notes – 6.7 – Sign-up Registration (out of Scope)</vt:lpstr>
      <vt:lpstr>Wireframes</vt:lpstr>
      <vt:lpstr>Wireframe Notes – 1.0 - Certificates</vt:lpstr>
      <vt:lpstr>Wireframe Notes – 1.0 - Certificates</vt:lpstr>
      <vt:lpstr>Wireframe Notes – 1.0 – Certificates – Mobile/Tablet Views</vt:lpstr>
      <vt:lpstr>Wireframe Notes – 1.0 - Certificates</vt:lpstr>
      <vt:lpstr>Wireframe Notes – 1.0 - Certificate List (Public Page)</vt:lpstr>
      <vt:lpstr>Wireframe Notes – 1.1 – Single Certificate View </vt:lpstr>
      <vt:lpstr>Wireframe Notes – 1.1 – Single Certificate View (Mobile/Tablet Views) </vt:lpstr>
      <vt:lpstr>Wireframe Notes – 2.0 – Home (Dashboard)</vt:lpstr>
      <vt:lpstr>Wireframe Notes – 2.0 – Home (Dashboard)</vt:lpstr>
      <vt:lpstr>Wireframe Notes – 2.0 – Home (Dashboard)</vt:lpstr>
      <vt:lpstr>Wireframe Notes – 2.0 – Dashboard (Mobile/Tablet)</vt:lpstr>
      <vt:lpstr>Wireframe Notes – 3.0 – Certificate List (External)</vt:lpstr>
      <vt:lpstr>Wireframe Notes – 3.0 – Certificate List (External)</vt:lpstr>
      <vt:lpstr>Wireframe Notes – 3.0 – Certificate List (External)</vt:lpstr>
      <vt:lpstr>Wireframe Notes – 3.0 – Certificates List (External)(Samples)</vt:lpstr>
      <vt:lpstr>Wireframe Notes – 3.1 – External Single Certificate View</vt:lpstr>
      <vt:lpstr>Wireframe Notes – 3.1 – External Single Certificate View</vt:lpstr>
      <vt:lpstr>Wireframe Notes – 3.1 – External Single Certificate View</vt:lpstr>
      <vt:lpstr>Wireframe Notes – 3.2 – Certificate List (GCC Only)</vt:lpstr>
      <vt:lpstr>Wireframe Notes – 3.2 – Certificate List (GCC Only)</vt:lpstr>
      <vt:lpstr>Wireframe Notes – 3.2 – Certificate List (GCC Only)</vt:lpstr>
      <vt:lpstr>Wireframe Notes – 3.2 – Certificate List (GCC Only)</vt:lpstr>
      <vt:lpstr>Wireframe Notes – 3.3 – Add Certificate (GCC Only)</vt:lpstr>
      <vt:lpstr>Wireframe Notes – 3.3 – Add Certificate (GCC Only)</vt:lpstr>
      <vt:lpstr>Wireframe Notes – 3.3 – Add Certificate (GCC Only)</vt:lpstr>
      <vt:lpstr>Wireframe Notes – 3.4 – Edit/Delete Certificate (GCC Only)</vt:lpstr>
      <vt:lpstr>Wireframe Notes – 5.0 – Companies &amp; Products</vt:lpstr>
      <vt:lpstr>Wireframe Notes – 5.1 – Companies</vt:lpstr>
      <vt:lpstr>Wireframe Notes – 5.1 – Companies</vt:lpstr>
      <vt:lpstr>Wireframe Notes – 5.2 – Products </vt:lpstr>
      <vt:lpstr>Wireframe Notes – 5.2 – Products (Add) </vt:lpstr>
      <vt:lpstr>Wireframe Notes – 5.2 – Products (Edit) </vt:lpstr>
      <vt:lpstr>Wireframe Notes – 7.0 – Administration</vt:lpstr>
      <vt:lpstr>Wireframe Notes – 7.1 – Role Management</vt:lpstr>
      <vt:lpstr>Wireframe Notes – 7.1.1 – CRUD Role</vt:lpstr>
      <vt:lpstr>Wireframe Notes – 7.2 – User Management</vt:lpstr>
      <vt:lpstr>Wireframe Notes – 7.2.1 – CRUD User (Add/Edit)</vt:lpstr>
      <vt:lpstr>PowerPoint Presentation</vt:lpstr>
      <vt:lpstr>PowerPoint Presentation</vt:lpstr>
      <vt:lpstr>Wireframe Notes – 7.3 – Configuration Settings</vt:lpstr>
      <vt:lpstr>Wireframe Notes – 7.3.1 – Google Analytics</vt:lpstr>
      <vt:lpstr>Wireframe Notes – 7.4 – API Management</vt:lpstr>
      <vt:lpstr>Wireframe Notes – 7.4.1 – Amazon API  Integration</vt:lpstr>
      <vt:lpstr>Wireframe Notes – 7.5 – Data Management</vt:lpstr>
      <vt:lpstr>Wireframe Notes – 7.5.1 – Certificate Types</vt:lpstr>
      <vt:lpstr>Wireframe Notes – 7.5.1 – Certificate Types (Add)</vt:lpstr>
      <vt:lpstr>Wireframe Notes – 7.5.1 – Certificate Types (Edit)</vt:lpstr>
      <vt:lpstr>Wireframe Notes – 7.5.2 – Product Types (Tree View)</vt:lpstr>
      <vt:lpstr>Wireframe Notes – 7.5.2 – Product Types (Tree View)</vt:lpstr>
      <vt:lpstr>Wireframe Notes – 7.5.2 – Product Types (Tree View – Edit)</vt:lpstr>
      <vt:lpstr>Wireframe Notes – 7.5.2 – Product Types (Table View)</vt:lpstr>
      <vt:lpstr>Wireframe Notes – 7.5.3 – Certification Field Management</vt:lpstr>
      <vt:lpstr>Wireframe Notes – 7.5.3 – Certification Field Management (Add)</vt:lpstr>
      <vt:lpstr>Wireframe Notes – 7.5.3 – Certification Field Management</vt:lpstr>
      <vt:lpstr>Wireframe Notes – 7.5.3 – Certification Field Management</vt:lpstr>
      <vt:lpstr>Wireframe Notes – 7.5.4 – CSF Attributes</vt:lpstr>
      <vt:lpstr>Wireframe Notes – 7.5.5 – Tags</vt:lpstr>
      <vt:lpstr>Wireframe Notes – 7.5.6 – Partners</vt:lpstr>
      <vt:lpstr>Wireframe Notes – 7.5.6 – Partners</vt:lpstr>
      <vt:lpstr>Data Migration Strategy</vt:lpstr>
      <vt:lpstr>DM: </vt:lpstr>
      <vt:lpstr>DM: </vt:lpstr>
      <vt:lpstr>2FA</vt:lpstr>
      <vt:lpstr>2FA: remaining items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Shawn West</dc:creator>
  <cp:lastModifiedBy>Shawn West</cp:lastModifiedBy>
  <cp:revision>16</cp:revision>
  <cp:lastPrinted>2025-07-16T12:02:45Z</cp:lastPrinted>
  <dcterms:created xsi:type="dcterms:W3CDTF">2025-01-22T16:07:21Z</dcterms:created>
  <dcterms:modified xsi:type="dcterms:W3CDTF">2025-09-18T13:38:05Z</dcterms:modified>
</cp:coreProperties>
</file>