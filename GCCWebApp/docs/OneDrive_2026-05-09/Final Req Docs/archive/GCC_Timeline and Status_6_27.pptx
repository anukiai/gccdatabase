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F4_2A936F31.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353" r:id="rId2"/>
    <p:sldId id="500" r:id="rId3"/>
    <p:sldId id="506" r:id="rId4"/>
    <p:sldId id="354" r:id="rId5"/>
    <p:sldId id="505" r:id="rId6"/>
    <p:sldId id="376" r:id="rId7"/>
    <p:sldId id="503" r:id="rId8"/>
    <p:sldId id="502" r:id="rId9"/>
    <p:sldId id="504" r:id="rId10"/>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E2EBA9-E2D7-432C-9B28-B1BFC88819B1}">
          <p14:sldIdLst>
            <p14:sldId id="353"/>
            <p14:sldId id="500"/>
            <p14:sldId id="506"/>
            <p14:sldId id="354"/>
            <p14:sldId id="505"/>
            <p14:sldId id="376"/>
            <p14:sldId id="503"/>
            <p14:sldId id="502"/>
            <p14:sldId id="5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92B05B-E117-52AD-3F68-AE601404E83B}" name="Shawn West" initials="SW" userId="S::Swest@anukiconsulting.com::bcaf3c6b-bfc1-40d2-81dc-c3fa941236d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4E5F7"/>
    <a:srgbClr val="9AB9DE"/>
    <a:srgbClr val="92C83E"/>
    <a:srgbClr val="FF6600"/>
    <a:srgbClr val="FCFDEB"/>
    <a:srgbClr val="FFEDB3"/>
    <a:srgbClr val="DEECEF"/>
    <a:srgbClr val="FCE6E4"/>
    <a:srgbClr val="FDECEA"/>
    <a:srgbClr val="FFF8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ECFEB9-EC19-438B-9EA5-2B4BDE951311}" v="1" dt="2025-06-27T12:21:31.4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76" autoAdjust="0"/>
    <p:restoredTop sz="96247" autoAdjust="0"/>
  </p:normalViewPr>
  <p:slideViewPr>
    <p:cSldViewPr snapToGrid="0">
      <p:cViewPr varScale="1">
        <p:scale>
          <a:sx n="95" d="100"/>
          <a:sy n="95" d="100"/>
        </p:scale>
        <p:origin x="1338" y="30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wn West" userId="bcaf3c6b-bfc1-40d2-81dc-c3fa941236d7" providerId="ADAL" clId="{EAECFEB9-EC19-438B-9EA5-2B4BDE951311}"/>
    <pc:docChg chg="custSel addSld delSld modSld sldOrd modSection">
      <pc:chgData name="Shawn West" userId="bcaf3c6b-bfc1-40d2-81dc-c3fa941236d7" providerId="ADAL" clId="{EAECFEB9-EC19-438B-9EA5-2B4BDE951311}" dt="2025-06-27T12:21:31.399" v="73"/>
      <pc:docMkLst>
        <pc:docMk/>
      </pc:docMkLst>
      <pc:sldChg chg="add del">
        <pc:chgData name="Shawn West" userId="bcaf3c6b-bfc1-40d2-81dc-c3fa941236d7" providerId="ADAL" clId="{EAECFEB9-EC19-438B-9EA5-2B4BDE951311}" dt="2025-06-27T12:21:31.399" v="73"/>
        <pc:sldMkLst>
          <pc:docMk/>
          <pc:sldMk cId="1482514581" sldId="354"/>
        </pc:sldMkLst>
      </pc:sldChg>
      <pc:sldChg chg="modSp mod">
        <pc:chgData name="Shawn West" userId="bcaf3c6b-bfc1-40d2-81dc-c3fa941236d7" providerId="ADAL" clId="{EAECFEB9-EC19-438B-9EA5-2B4BDE951311}" dt="2025-06-27T12:13:18.852" v="13" actId="5793"/>
        <pc:sldMkLst>
          <pc:docMk/>
          <pc:sldMk cId="3708942547" sldId="376"/>
        </pc:sldMkLst>
        <pc:spChg chg="mod">
          <ac:chgData name="Shawn West" userId="bcaf3c6b-bfc1-40d2-81dc-c3fa941236d7" providerId="ADAL" clId="{EAECFEB9-EC19-438B-9EA5-2B4BDE951311}" dt="2025-06-27T12:13:18.852" v="13" actId="5793"/>
          <ac:spMkLst>
            <pc:docMk/>
            <pc:sldMk cId="3708942547" sldId="376"/>
            <ac:spMk id="2" creationId="{2F0CFBCA-F0E2-720C-F72D-B4018C6AD50E}"/>
          </ac:spMkLst>
        </pc:spChg>
      </pc:sldChg>
      <pc:sldChg chg="modSp mod">
        <pc:chgData name="Shawn West" userId="bcaf3c6b-bfc1-40d2-81dc-c3fa941236d7" providerId="ADAL" clId="{EAECFEB9-EC19-438B-9EA5-2B4BDE951311}" dt="2025-06-27T12:14:11.332" v="14" actId="6549"/>
        <pc:sldMkLst>
          <pc:docMk/>
          <pc:sldMk cId="1589950104" sldId="502"/>
        </pc:sldMkLst>
        <pc:spChg chg="mod">
          <ac:chgData name="Shawn West" userId="bcaf3c6b-bfc1-40d2-81dc-c3fa941236d7" providerId="ADAL" clId="{EAECFEB9-EC19-438B-9EA5-2B4BDE951311}" dt="2025-06-27T12:14:11.332" v="14" actId="6549"/>
          <ac:spMkLst>
            <pc:docMk/>
            <pc:sldMk cId="1589950104" sldId="502"/>
            <ac:spMk id="2" creationId="{237D141D-E8C8-B982-4B9C-47CB2461E021}"/>
          </ac:spMkLst>
        </pc:spChg>
      </pc:sldChg>
      <pc:sldChg chg="modSp mod">
        <pc:chgData name="Shawn West" userId="bcaf3c6b-bfc1-40d2-81dc-c3fa941236d7" providerId="ADAL" clId="{EAECFEB9-EC19-438B-9EA5-2B4BDE951311}" dt="2025-06-27T11:42:27.346" v="2" actId="6549"/>
        <pc:sldMkLst>
          <pc:docMk/>
          <pc:sldMk cId="65312852" sldId="504"/>
        </pc:sldMkLst>
        <pc:spChg chg="mod">
          <ac:chgData name="Shawn West" userId="bcaf3c6b-bfc1-40d2-81dc-c3fa941236d7" providerId="ADAL" clId="{EAECFEB9-EC19-438B-9EA5-2B4BDE951311}" dt="2025-06-27T11:42:27.346" v="2" actId="6549"/>
          <ac:spMkLst>
            <pc:docMk/>
            <pc:sldMk cId="65312852" sldId="504"/>
            <ac:spMk id="2" creationId="{28427566-481B-68DE-187B-42D39D8A88F9}"/>
          </ac:spMkLst>
        </pc:spChg>
      </pc:sldChg>
      <pc:sldChg chg="modSp mod ord">
        <pc:chgData name="Shawn West" userId="bcaf3c6b-bfc1-40d2-81dc-c3fa941236d7" providerId="ADAL" clId="{EAECFEB9-EC19-438B-9EA5-2B4BDE951311}" dt="2025-06-27T12:17:00.485" v="72" actId="20577"/>
        <pc:sldMkLst>
          <pc:docMk/>
          <pc:sldMk cId="3629285805" sldId="506"/>
        </pc:sldMkLst>
        <pc:spChg chg="mod">
          <ac:chgData name="Shawn West" userId="bcaf3c6b-bfc1-40d2-81dc-c3fa941236d7" providerId="ADAL" clId="{EAECFEB9-EC19-438B-9EA5-2B4BDE951311}" dt="2025-06-27T12:17:00.485" v="72" actId="20577"/>
          <ac:spMkLst>
            <pc:docMk/>
            <pc:sldMk cId="3629285805" sldId="506"/>
            <ac:spMk id="2" creationId="{F3EECCF6-883C-2AF3-FAE4-D56BAB379C97}"/>
          </ac:spMkLst>
        </pc:spChg>
        <pc:graphicFrameChg chg="modGraphic">
          <ac:chgData name="Shawn West" userId="bcaf3c6b-bfc1-40d2-81dc-c3fa941236d7" providerId="ADAL" clId="{EAECFEB9-EC19-438B-9EA5-2B4BDE951311}" dt="2025-06-27T12:15:17.627" v="17" actId="2165"/>
          <ac:graphicFrameMkLst>
            <pc:docMk/>
            <pc:sldMk cId="3629285805" sldId="506"/>
            <ac:graphicFrameMk id="7" creationId="{6380B856-82F8-A147-CAC7-988F74BAEFF7}"/>
          </ac:graphicFrameMkLst>
        </pc:graphicFrameChg>
      </pc:sldChg>
    </pc:docChg>
  </pc:docChgLst>
</pc:chgInfo>
</file>

<file path=ppt/comments/modernComment_1F4_2A936F31.xml><?xml version="1.0" encoding="utf-8"?>
<p188:cmLst xmlns:a="http://schemas.openxmlformats.org/drawingml/2006/main" xmlns:r="http://schemas.openxmlformats.org/officeDocument/2006/relationships" xmlns:p188="http://schemas.microsoft.com/office/powerpoint/2018/8/main">
  <p188:cm id="{17E1FE74-62C9-450B-956E-47611C966045}" authorId="{8892B05B-E117-52AD-3F68-AE601404E83B}" created="2025-03-19T17:54:29.311">
    <ac:deMkLst xmlns:ac="http://schemas.microsoft.com/office/drawing/2013/main/command">
      <pc:docMk xmlns:pc="http://schemas.microsoft.com/office/powerpoint/2013/main/command"/>
      <pc:sldMk xmlns:pc="http://schemas.microsoft.com/office/powerpoint/2013/main/command" cId="714305329" sldId="500"/>
      <ac:spMk id="2" creationId="{FE41FA45-FE5E-E5CF-6A39-94D74F0CABB1}"/>
    </ac:deMkLst>
    <p188:replyLst>
      <p188:reply id="{D0B3C560-6F10-4D9A-824E-9178A45213AD}" authorId="{8892B05B-E117-52AD-3F68-AE601404E83B}" created="2025-03-19T17:54:50.859">
        <p188:txBody>
          <a:bodyPr/>
          <a:lstStyle/>
          <a:p>
            <a:r>
              <a:rPr lang="en-US"/>
              <a:t>need these pages to edit/delete Product Name or Company Name records</a:t>
            </a:r>
          </a:p>
        </p188:txBody>
      </p188:reply>
      <p188:reply id="{26D4B4E8-D638-4B7F-98B5-ADAB9C1E3AD1}" authorId="{8892B05B-E117-52AD-3F68-AE601404E83B}" created="2025-03-19T17:55:36.329">
        <p188:txBody>
          <a:bodyPr/>
          <a:lstStyle/>
          <a:p>
            <a:r>
              <a:rPr lang="en-US"/>
              <a:t>Ability to add new field</a:t>
            </a:r>
          </a:p>
        </p188:txBody>
      </p188:reply>
    </p188:replyLst>
    <p188:txBody>
      <a:bodyPr/>
      <a:lstStyle/>
      <a:p>
        <a:r>
          <a:rPr lang="en-US"/>
          <a:t>Replace with larger model.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53" tIns="48327" rIns="96653" bIns="48327" rtlCol="0"/>
          <a:lstStyle>
            <a:lvl1pPr algn="r">
              <a:defRPr sz="1200"/>
            </a:lvl1pPr>
          </a:lstStyle>
          <a:p>
            <a:fld id="{1904ED56-815F-4152-9F12-EA9FD3F07DC0}" type="datetimeFigureOut">
              <a:t>6/27/2025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53" tIns="48327" rIns="96653" bIns="4832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3" tIns="48327" rIns="96653" bIns="48327" rtlCol="0" anchor="b"/>
          <a:lstStyle>
            <a:lvl1pPr algn="r">
              <a:defRPr sz="1200"/>
            </a:lvl1pPr>
          </a:lstStyle>
          <a:p>
            <a:fld id="{AFF60533-1213-4FCB-A4AA-C44494E2E2E7}" type="slidenum">
              <a:t>‹#›</a:t>
            </a:fld>
            <a:endParaRPr lang="en-US"/>
          </a:p>
        </p:txBody>
      </p:sp>
    </p:spTree>
    <p:extLst>
      <p:ext uri="{BB962C8B-B14F-4D97-AF65-F5344CB8AC3E}">
        <p14:creationId xmlns:p14="http://schemas.microsoft.com/office/powerpoint/2010/main" val="3155014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AD00-E69E-A16B-149B-AD7F70F774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B806B4-E429-4590-113E-1C02736FD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ACD48-E55A-106B-9489-91CFA7F54D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96F964-E166-88FC-B8EF-B948D5C8B6A7}"/>
              </a:ext>
            </a:extLst>
          </p:cNvPr>
          <p:cNvSpPr>
            <a:spLocks noGrp="1"/>
          </p:cNvSpPr>
          <p:nvPr>
            <p:ph type="sldNum" sz="quarter" idx="5"/>
          </p:nvPr>
        </p:nvSpPr>
        <p:spPr/>
        <p:txBody>
          <a:bodyPr/>
          <a:lstStyle/>
          <a:p>
            <a:fld id="{AFF60533-1213-4FCB-A4AA-C44494E2E2E7}" type="slidenum">
              <a:rPr lang="en-US" smtClean="0"/>
              <a:t>2</a:t>
            </a:fld>
            <a:endParaRPr lang="en-US"/>
          </a:p>
        </p:txBody>
      </p:sp>
    </p:spTree>
    <p:extLst>
      <p:ext uri="{BB962C8B-B14F-4D97-AF65-F5344CB8AC3E}">
        <p14:creationId xmlns:p14="http://schemas.microsoft.com/office/powerpoint/2010/main" val="3345345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94EE-5A03-BBC5-6B2C-0B73D5772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F2C6A-9018-613B-20F8-35847D00AE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47E22E-11CA-7549-FA6E-3F13503AAC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3D6B06-A622-C757-7734-17361352B1B9}"/>
              </a:ext>
            </a:extLst>
          </p:cNvPr>
          <p:cNvSpPr>
            <a:spLocks noGrp="1"/>
          </p:cNvSpPr>
          <p:nvPr>
            <p:ph type="sldNum" sz="quarter" idx="5"/>
          </p:nvPr>
        </p:nvSpPr>
        <p:spPr/>
        <p:txBody>
          <a:bodyPr/>
          <a:lstStyle/>
          <a:p>
            <a:fld id="{AFF60533-1213-4FCB-A4AA-C44494E2E2E7}" type="slidenum">
              <a:rPr lang="en-US" smtClean="0"/>
              <a:t>3</a:t>
            </a:fld>
            <a:endParaRPr lang="en-US"/>
          </a:p>
        </p:txBody>
      </p:sp>
    </p:spTree>
    <p:extLst>
      <p:ext uri="{BB962C8B-B14F-4D97-AF65-F5344CB8AC3E}">
        <p14:creationId xmlns:p14="http://schemas.microsoft.com/office/powerpoint/2010/main" val="1224172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trike="sngStrike" dirty="0"/>
              <a:t>Comments:</a:t>
            </a:r>
          </a:p>
          <a:p>
            <a:pPr marL="362448" indent="-362448">
              <a:buFont typeface="Symbol" panose="05050102010706020507" pitchFamily="18" charset="2"/>
              <a:buChar char=""/>
            </a:pPr>
            <a:r>
              <a:rPr lang="en-US" strike="sngStrike" kern="100" dirty="0">
                <a:latin typeface="Aptos" panose="020B0004020202020204" pitchFamily="34" charset="0"/>
                <a:ea typeface="Aptos" panose="020B0004020202020204" pitchFamily="34" charset="0"/>
                <a:cs typeface="Times New Roman" panose="02020603050405020304" pitchFamily="18" charset="0"/>
              </a:rPr>
              <a:t>S2: </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See comment on page 46 may need these pages to edit/delete Product Name or Company Name records unless you can find another way</a:t>
            </a:r>
          </a:p>
          <a:p>
            <a:pPr marL="785305" lvl="1" indent="-302040">
              <a:buFont typeface="Courier New" panose="02070309020205020404" pitchFamily="49" charset="0"/>
              <a:buChar char="o"/>
            </a:pPr>
            <a:r>
              <a:rPr lang="en-US" b="1" strike="sngStrike" kern="100" dirty="0">
                <a:latin typeface="Aptos" panose="020B0004020202020204" pitchFamily="34" charset="0"/>
                <a:ea typeface="Aptos" panose="020B0004020202020204" pitchFamily="34" charset="0"/>
                <a:cs typeface="Times New Roman" panose="02020603050405020304" pitchFamily="18" charset="0"/>
              </a:rPr>
              <a:t>How do you add a new field. Not represented anywhere. </a:t>
            </a:r>
            <a:endParaRPr lang="en-US" strike="sngStrike" kern="100" dirty="0">
              <a:latin typeface="Aptos" panose="020B0004020202020204" pitchFamily="34" charset="0"/>
              <a:ea typeface="Aptos" panose="020B0004020202020204" pitchFamily="34" charset="0"/>
              <a:cs typeface="Times New Roman" panose="02020603050405020304" pitchFamily="18" charset="0"/>
            </a:endParaRP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Remove (Roles) from site map. </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Is there an API page – or is that all backend?</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7.1.3 – see comments in section</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Are you accounting for non-phase 1 on purpose? No this was missed when updating the documents. </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Grayed Items: Some were intentionally removing. </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3.3 – This would be clients and partners</a:t>
            </a:r>
          </a:p>
          <a:p>
            <a:pPr marL="785305" lvl="1" indent="-302040">
              <a:buFont typeface="Courier New" panose="02070309020205020404" pitchFamily="49" charset="0"/>
              <a:buChar char="o"/>
            </a:pPr>
            <a:r>
              <a:rPr lang="en-US" strike="sngStrike" kern="100" dirty="0">
                <a:latin typeface="Aptos" panose="020B0004020202020204" pitchFamily="34" charset="0"/>
                <a:ea typeface="Aptos" panose="020B0004020202020204" pitchFamily="34" charset="0"/>
                <a:cs typeface="Times New Roman" panose="02020603050405020304" pitchFamily="18" charset="0"/>
              </a:rPr>
              <a:t>There needs to be interface for the Analyst to be able to add and edit new Product (and associate product category/type to it) and Company. Current DB has this happening in the Cert upload interface and separate pages. </a:t>
            </a: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a:t>
            </a:fld>
            <a:endParaRPr lang="en-US"/>
          </a:p>
        </p:txBody>
      </p:sp>
    </p:spTree>
    <p:extLst>
      <p:ext uri="{BB962C8B-B14F-4D97-AF65-F5344CB8AC3E}">
        <p14:creationId xmlns:p14="http://schemas.microsoft.com/office/powerpoint/2010/main" val="2222437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17CA7-B25F-275B-8418-6968CF465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2E8EB-2D5D-5EEB-0A57-A1FBBB3BFA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994CE5-10A7-BEC3-3985-8B16ED66C9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39FA86-769E-0C0F-E061-65BAD4B10CD8}"/>
              </a:ext>
            </a:extLst>
          </p:cNvPr>
          <p:cNvSpPr>
            <a:spLocks noGrp="1"/>
          </p:cNvSpPr>
          <p:nvPr>
            <p:ph type="sldNum" sz="quarter" idx="5"/>
          </p:nvPr>
        </p:nvSpPr>
        <p:spPr/>
        <p:txBody>
          <a:bodyPr/>
          <a:lstStyle/>
          <a:p>
            <a:fld id="{AFF60533-1213-4FCB-A4AA-C44494E2E2E7}" type="slidenum">
              <a:rPr lang="en-US" smtClean="0"/>
              <a:t>5</a:t>
            </a:fld>
            <a:endParaRPr lang="en-US"/>
          </a:p>
        </p:txBody>
      </p:sp>
    </p:spTree>
    <p:extLst>
      <p:ext uri="{BB962C8B-B14F-4D97-AF65-F5344CB8AC3E}">
        <p14:creationId xmlns:p14="http://schemas.microsoft.com/office/powerpoint/2010/main" val="414462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6</a:t>
            </a:fld>
            <a:endParaRPr lang="en-US"/>
          </a:p>
        </p:txBody>
      </p:sp>
    </p:spTree>
    <p:extLst>
      <p:ext uri="{BB962C8B-B14F-4D97-AF65-F5344CB8AC3E}">
        <p14:creationId xmlns:p14="http://schemas.microsoft.com/office/powerpoint/2010/main" val="1184885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09E64-0FB7-09FF-733D-DAA92BB864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5244D-7CF5-BAB9-0EFE-20A28A1D94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4CCDF-F4D2-A7EE-072A-7C73352772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93E6C9-706E-394A-B895-FA0D66DF0883}"/>
              </a:ext>
            </a:extLst>
          </p:cNvPr>
          <p:cNvSpPr>
            <a:spLocks noGrp="1"/>
          </p:cNvSpPr>
          <p:nvPr>
            <p:ph type="sldNum" sz="quarter" idx="5"/>
          </p:nvPr>
        </p:nvSpPr>
        <p:spPr/>
        <p:txBody>
          <a:bodyPr/>
          <a:lstStyle/>
          <a:p>
            <a:fld id="{AFF60533-1213-4FCB-A4AA-C44494E2E2E7}" type="slidenum">
              <a:rPr lang="en-US" smtClean="0"/>
              <a:t>7</a:t>
            </a:fld>
            <a:endParaRPr lang="en-US"/>
          </a:p>
        </p:txBody>
      </p:sp>
    </p:spTree>
    <p:extLst>
      <p:ext uri="{BB962C8B-B14F-4D97-AF65-F5344CB8AC3E}">
        <p14:creationId xmlns:p14="http://schemas.microsoft.com/office/powerpoint/2010/main" val="1310342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609AF-59B4-9FEF-FE96-7D59590EF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BAD96-4AE8-7A37-91F0-0A1615D3DF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8C25CE-265B-A8BC-66BB-43516F600B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952EF8-37CC-B655-505F-5B408F14EDBD}"/>
              </a:ext>
            </a:extLst>
          </p:cNvPr>
          <p:cNvSpPr>
            <a:spLocks noGrp="1"/>
          </p:cNvSpPr>
          <p:nvPr>
            <p:ph type="sldNum" sz="quarter" idx="5"/>
          </p:nvPr>
        </p:nvSpPr>
        <p:spPr/>
        <p:txBody>
          <a:bodyPr/>
          <a:lstStyle/>
          <a:p>
            <a:fld id="{AFF60533-1213-4FCB-A4AA-C44494E2E2E7}" type="slidenum">
              <a:rPr lang="en-US" smtClean="0"/>
              <a:t>8</a:t>
            </a:fld>
            <a:endParaRPr lang="en-US"/>
          </a:p>
        </p:txBody>
      </p:sp>
    </p:spTree>
    <p:extLst>
      <p:ext uri="{BB962C8B-B14F-4D97-AF65-F5344CB8AC3E}">
        <p14:creationId xmlns:p14="http://schemas.microsoft.com/office/powerpoint/2010/main" val="1450409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8D31A-2159-88D2-590D-9960898484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C5539C-2F78-ABE3-A27B-55A27FF9A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145DB-73E2-4ABD-66FD-1CDAEF0756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9889E1-7EC5-01D7-E4C8-17530ADB0234}"/>
              </a:ext>
            </a:extLst>
          </p:cNvPr>
          <p:cNvSpPr>
            <a:spLocks noGrp="1"/>
          </p:cNvSpPr>
          <p:nvPr>
            <p:ph type="sldNum" sz="quarter" idx="5"/>
          </p:nvPr>
        </p:nvSpPr>
        <p:spPr/>
        <p:txBody>
          <a:bodyPr/>
          <a:lstStyle/>
          <a:p>
            <a:fld id="{AFF60533-1213-4FCB-A4AA-C44494E2E2E7}" type="slidenum">
              <a:rPr lang="en-US" smtClean="0"/>
              <a:t>9</a:t>
            </a:fld>
            <a:endParaRPr lang="en-US"/>
          </a:p>
        </p:txBody>
      </p:sp>
    </p:spTree>
    <p:extLst>
      <p:ext uri="{BB962C8B-B14F-4D97-AF65-F5344CB8AC3E}">
        <p14:creationId xmlns:p14="http://schemas.microsoft.com/office/powerpoint/2010/main" val="1475426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defRPr>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98503" y="868054"/>
            <a:ext cx="10755297" cy="5139345"/>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FAAB834C-2F9F-4134-A8A6-8D28F07BEAB5}" type="datetime1">
              <a:rPr lang="en-US" smtClean="0"/>
              <a:t>6/27/2025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14EC8B48-3E80-40FE-82B7-08F610C8B0AF}" type="datetime1">
              <a:rPr lang="en-US" smtClean="0"/>
              <a:t>6/27/2025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06810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98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32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0056A89-B657-4E56-81EA-47AEC42B3D30}" type="datetime1">
              <a:rPr lang="en-US" smtClean="0"/>
              <a:t>6/27/2025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8" name="Title 1">
            <a:extLst>
              <a:ext uri="{FF2B5EF4-FFF2-40B4-BE49-F238E27FC236}">
                <a16:creationId xmlns:a16="http://schemas.microsoft.com/office/drawing/2014/main" id="{8A7280F5-7666-28EA-35DD-86411B8924B7}"/>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120309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solidFill>
                  <a:schemeClr val="tx1"/>
                </a:solidFill>
                <a:latin typeface="Century Gothic" panose="020B0502020202020204" pitchFamily="34"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CFD0E2-6DB6-48B0-A00E-AF2C677C1319}" type="datetime1">
              <a:rPr lang="en-US" smtClean="0"/>
              <a:t>6/27/2025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atin typeface="Century Gothic" panose="020B0502020202020204"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latin typeface="Century Gothic" panose="020B0502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3C5E615-12C4-4709-B50C-4AFC9D577141}" type="datetime1">
              <a:rPr lang="en-US" smtClean="0"/>
              <a:t>6/27/2025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98504" y="898733"/>
            <a:ext cx="5399072"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8504" y="1800520"/>
            <a:ext cx="5399072"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29727" y="898733"/>
            <a:ext cx="5425661"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29727" y="1800520"/>
            <a:ext cx="5425661"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F516FE9-DAFF-4019-B1DF-FCD5398715BB}" type="datetime1">
              <a:rPr lang="en-US" smtClean="0"/>
              <a:t>6/27/2025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10" name="Title 1">
            <a:extLst>
              <a:ext uri="{FF2B5EF4-FFF2-40B4-BE49-F238E27FC236}">
                <a16:creationId xmlns:a16="http://schemas.microsoft.com/office/drawing/2014/main" id="{6957E462-421E-68A0-EA15-ACBC76D2262F}"/>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FDEACDC-4FA8-4934-9E2F-B8BAA099B586}" type="datetime1">
              <a:rPr lang="en-US" smtClean="0"/>
              <a:t>6/27/2025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atin typeface="Century Gothic" panose="020B0502020202020204" pitchFamily="34" charset="0"/>
              </a:defRPr>
            </a:lvl1pPr>
            <a:lvl2pPr>
              <a:defRPr sz="2800">
                <a:latin typeface="Century Gothic" panose="020B0502020202020204" pitchFamily="34" charset="0"/>
              </a:defRPr>
            </a:lvl2pPr>
            <a:lvl3pPr>
              <a:defRPr sz="2400">
                <a:latin typeface="Century Gothic" panose="020B0502020202020204" pitchFamily="34" charset="0"/>
              </a:defRPr>
            </a:lvl3pPr>
            <a:lvl4pPr>
              <a:defRPr sz="2000">
                <a:latin typeface="Century Gothic" panose="020B0502020202020204" pitchFamily="34" charset="0"/>
              </a:defRPr>
            </a:lvl4pPr>
            <a:lvl5pPr>
              <a:defRPr sz="2000">
                <a:latin typeface="Century Gothic" panose="020B0502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atin typeface="Century Gothic" panose="020B0502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18E9538-4AA9-4306-AAAC-5D9AE10FAA03}" type="datetime1">
              <a:rPr lang="en-US" smtClean="0"/>
              <a:t>6/27/2025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822262E-171E-47EC-8BDD-63B9658BD71F}" type="datetime1">
              <a:rPr lang="en-US" smtClean="0"/>
              <a:t>6/27/2025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6172" y="932485"/>
            <a:ext cx="10717627" cy="51106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1DDE8F-1896-42B2-B75E-118659C1A926}" type="datetime1">
              <a:rPr lang="en-US" smtClean="0"/>
              <a:t>6/27/2025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181178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pic>
        <p:nvPicPr>
          <p:cNvPr id="13" name="Picture 12" descr="A blue and white logo&#10;&#10;AI-generated content may be incorrect.">
            <a:extLst>
              <a:ext uri="{FF2B5EF4-FFF2-40B4-BE49-F238E27FC236}">
                <a16:creationId xmlns:a16="http://schemas.microsoft.com/office/drawing/2014/main" id="{16857A67-82BF-0CC1-2736-42AF2618A6C5}"/>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493093" y="6270021"/>
            <a:ext cx="1564607" cy="433698"/>
          </a:xfrm>
          <a:prstGeom prst="rect">
            <a:avLst/>
          </a:prstGeom>
        </p:spPr>
      </p:pic>
      <p:sp>
        <p:nvSpPr>
          <p:cNvPr id="15" name="Title 1">
            <a:extLst>
              <a:ext uri="{FF2B5EF4-FFF2-40B4-BE49-F238E27FC236}">
                <a16:creationId xmlns:a16="http://schemas.microsoft.com/office/drawing/2014/main" id="{2E79D129-442B-01DD-C2C5-E6EF3B967137}"/>
              </a:ext>
            </a:extLst>
          </p:cNvPr>
          <p:cNvSpPr txBox="1">
            <a:spLocks/>
          </p:cNvSpPr>
          <p:nvPr userDrawn="1"/>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endParaRPr lang="en-US"/>
          </a:p>
        </p:txBody>
      </p:sp>
      <p:sp>
        <p:nvSpPr>
          <p:cNvPr id="17" name="Title 1">
            <a:extLst>
              <a:ext uri="{FF2B5EF4-FFF2-40B4-BE49-F238E27FC236}">
                <a16:creationId xmlns:a16="http://schemas.microsoft.com/office/drawing/2014/main" id="{7DD846F1-3040-CF69-75AE-EA6E3AE7A307}"/>
              </a:ext>
            </a:extLst>
          </p:cNvPr>
          <p:cNvSpPr txBox="1">
            <a:spLocks/>
          </p:cNvSpPr>
          <p:nvPr userDrawn="1"/>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a:t> </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64" r:id="rId3"/>
    <p:sldLayoutId id="2147483661" r:id="rId4"/>
    <p:sldLayoutId id="2147483663" r:id="rId5"/>
    <p:sldLayoutId id="2147483665" r:id="rId6"/>
    <p:sldLayoutId id="2147483667" r:id="rId7"/>
    <p:sldLayoutId id="2147483668" r:id="rId8"/>
    <p:sldLayoutId id="2147483669" r:id="rId9"/>
  </p:sldLayoutIdLst>
  <p:hf hdr="0" ftr="0"/>
  <p:txStyles>
    <p:title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F4_2A936F3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plant">
            <a:extLst>
              <a:ext uri="{FF2B5EF4-FFF2-40B4-BE49-F238E27FC236}">
                <a16:creationId xmlns:a16="http://schemas.microsoft.com/office/drawing/2014/main" id="{C9BB5349-530B-507F-95E8-CB0925B28769}"/>
              </a:ext>
            </a:extLst>
          </p:cNvPr>
          <p:cNvPicPr>
            <a:picLocks noChangeAspect="1"/>
          </p:cNvPicPr>
          <p:nvPr/>
        </p:nvPicPr>
        <p:blipFill>
          <a:blip r:embed="rId2"/>
          <a:srcRect t="16250" b="10035"/>
          <a:stretch>
            <a:fillRect/>
          </a:stretch>
        </p:blipFill>
        <p:spPr>
          <a:xfrm>
            <a:off x="-1" y="1114424"/>
            <a:ext cx="12192001" cy="5055369"/>
          </a:xfrm>
          <a:prstGeom prst="rect">
            <a:avLst/>
          </a:prstGeom>
        </p:spPr>
      </p:pic>
      <p:sp>
        <p:nvSpPr>
          <p:cNvPr id="2" name="Title 1">
            <a:extLst>
              <a:ext uri="{FF2B5EF4-FFF2-40B4-BE49-F238E27FC236}">
                <a16:creationId xmlns:a16="http://schemas.microsoft.com/office/drawing/2014/main" id="{DB2D8BCD-86CA-7D6C-C1E4-D5F9AA3D53C1}"/>
              </a:ext>
            </a:extLst>
          </p:cNvPr>
          <p:cNvSpPr>
            <a:spLocks noGrp="1"/>
          </p:cNvSpPr>
          <p:nvPr>
            <p:ph type="title"/>
          </p:nvPr>
        </p:nvSpPr>
        <p:spPr>
          <a:xfrm>
            <a:off x="-1" y="0"/>
            <a:ext cx="10676603" cy="1114425"/>
          </a:xfrm>
        </p:spPr>
        <p:txBody>
          <a:bodyPr>
            <a:normAutofit/>
          </a:bodyPr>
          <a:lstStyle/>
          <a:p>
            <a:r>
              <a:rPr lang="en-US" sz="4000" dirty="0">
                <a:latin typeface="Century Gothic" panose="020B0502020202020204" pitchFamily="34" charset="0"/>
              </a:rPr>
              <a:t>GreenCircle Certified Database Project</a:t>
            </a:r>
          </a:p>
        </p:txBody>
      </p:sp>
      <p:pic>
        <p:nvPicPr>
          <p:cNvPr id="1030" name="Picture 6" descr="Green Circle Certified">
            <a:extLst>
              <a:ext uri="{FF2B5EF4-FFF2-40B4-BE49-F238E27FC236}">
                <a16:creationId xmlns:a16="http://schemas.microsoft.com/office/drawing/2014/main" id="{ACDED094-9C2C-2C27-915F-2E49AB794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01731" y="217346"/>
            <a:ext cx="1143000" cy="1114425"/>
          </a:xfrm>
          <a:prstGeom prst="rect">
            <a:avLst/>
          </a:prstGeom>
          <a:noFill/>
          <a:extLst>
            <a:ext uri="{909E8E84-426E-40DD-AFC4-6F175D3DCCD1}">
              <a14:hiddenFill xmlns:a14="http://schemas.microsoft.com/office/drawing/2010/main">
                <a:solidFill>
                  <a:srgbClr val="FFFFFF"/>
                </a:solidFill>
              </a14:hiddenFill>
            </a:ext>
          </a:extLst>
        </p:spPr>
      </p:pic>
      <p:sp>
        <p:nvSpPr>
          <p:cNvPr id="14" name="Date Placeholder 13">
            <a:extLst>
              <a:ext uri="{FF2B5EF4-FFF2-40B4-BE49-F238E27FC236}">
                <a16:creationId xmlns:a16="http://schemas.microsoft.com/office/drawing/2014/main" id="{AC500507-CB45-8600-884F-3826F0951947}"/>
              </a:ext>
            </a:extLst>
          </p:cNvPr>
          <p:cNvSpPr>
            <a:spLocks noGrp="1"/>
          </p:cNvSpPr>
          <p:nvPr>
            <p:ph type="dt" sz="half" idx="10"/>
          </p:nvPr>
        </p:nvSpPr>
        <p:spPr/>
        <p:txBody>
          <a:bodyPr/>
          <a:lstStyle/>
          <a:p>
            <a:fld id="{0ECCE86E-37E5-4543-A6EB-A0C93BD06DFB}" type="datetime1">
              <a:rPr lang="en-US" smtClean="0"/>
              <a:t>6/27/2025</a:t>
            </a:fld>
            <a:endParaRPr lang="en-US"/>
          </a:p>
        </p:txBody>
      </p:sp>
      <p:sp>
        <p:nvSpPr>
          <p:cNvPr id="15" name="Slide Number Placeholder 14">
            <a:extLst>
              <a:ext uri="{FF2B5EF4-FFF2-40B4-BE49-F238E27FC236}">
                <a16:creationId xmlns:a16="http://schemas.microsoft.com/office/drawing/2014/main" id="{8A481C8B-53E8-D429-7340-0A13268C55E9}"/>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16" name="Rectangle 15">
            <a:extLst>
              <a:ext uri="{FF2B5EF4-FFF2-40B4-BE49-F238E27FC236}">
                <a16:creationId xmlns:a16="http://schemas.microsoft.com/office/drawing/2014/main" id="{ABB2265E-E3BD-C8E7-5B8E-FAF4E3557BF7}"/>
              </a:ext>
            </a:extLst>
          </p:cNvPr>
          <p:cNvSpPr/>
          <p:nvPr/>
        </p:nvSpPr>
        <p:spPr>
          <a:xfrm>
            <a:off x="-836446" y="1887782"/>
            <a:ext cx="8661786" cy="1754326"/>
          </a:xfrm>
          <a:prstGeom prst="rect">
            <a:avLst/>
          </a:prstGeom>
          <a:noFill/>
        </p:spPr>
        <p:txBody>
          <a:bodyPr wrap="square" lIns="91440" tIns="45720" rIns="91440" bIns="45720">
            <a:spAutoFit/>
          </a:bodyPr>
          <a:lstStyle/>
          <a:p>
            <a:pPr algn="ctr"/>
            <a:r>
              <a:rPr lang="en-US" sz="5400" b="1" cap="none" spc="0" dirty="0">
                <a:ln w="0"/>
                <a:solidFill>
                  <a:schemeClr val="accent3">
                    <a:lumMod val="20000"/>
                    <a:lumOff val="80000"/>
                  </a:schemeClr>
                </a:solidFill>
                <a:effectLst>
                  <a:outerShdw blurRad="38100" dist="19050" dir="2700000" algn="tl" rotWithShape="0">
                    <a:schemeClr val="dk1">
                      <a:alpha val="40000"/>
                    </a:schemeClr>
                  </a:outerShdw>
                </a:effectLst>
                <a:latin typeface="Century Gothic" panose="020B0502020202020204" pitchFamily="34" charset="0"/>
              </a:rPr>
              <a:t>Project Status and Timeline Updates</a:t>
            </a:r>
            <a:endParaRPr lang="en-US" sz="5400" b="1" cap="none" spc="0" dirty="0">
              <a:ln w="0"/>
              <a:solidFill>
                <a:schemeClr val="accent3">
                  <a:lumMod val="20000"/>
                  <a:lumOff val="80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52079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B5FD6-4D70-7CD0-45BA-91C1D4C4E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1FA45-FE5E-E5CF-6A39-94D74F0CABB1}"/>
              </a:ext>
            </a:extLst>
          </p:cNvPr>
          <p:cNvSpPr>
            <a:spLocks noGrp="1"/>
          </p:cNvSpPr>
          <p:nvPr>
            <p:ph type="title"/>
          </p:nvPr>
        </p:nvSpPr>
        <p:spPr>
          <a:xfrm>
            <a:off x="598503" y="193906"/>
            <a:ext cx="10515600" cy="487131"/>
          </a:xfrm>
        </p:spPr>
        <p:txBody>
          <a:bodyPr>
            <a:normAutofit/>
          </a:bodyPr>
          <a:lstStyle/>
          <a:p>
            <a:r>
              <a:rPr lang="en-US" sz="2800" dirty="0"/>
              <a:t>Project Timeline Updates</a:t>
            </a:r>
          </a:p>
        </p:txBody>
      </p:sp>
      <p:sp>
        <p:nvSpPr>
          <p:cNvPr id="7" name="Date Placeholder 6">
            <a:extLst>
              <a:ext uri="{FF2B5EF4-FFF2-40B4-BE49-F238E27FC236}">
                <a16:creationId xmlns:a16="http://schemas.microsoft.com/office/drawing/2014/main" id="{11FDE2AE-240C-7653-4884-72C26BEC558B}"/>
              </a:ext>
            </a:extLst>
          </p:cNvPr>
          <p:cNvSpPr>
            <a:spLocks noGrp="1"/>
          </p:cNvSpPr>
          <p:nvPr>
            <p:ph type="dt" sz="half" idx="10"/>
          </p:nvPr>
        </p:nvSpPr>
        <p:spPr>
          <a:xfrm>
            <a:off x="838200" y="6356350"/>
            <a:ext cx="2743200" cy="365125"/>
          </a:xfrm>
        </p:spPr>
        <p:txBody>
          <a:bodyPr anchor="ctr">
            <a:normAutofit/>
          </a:bodyPr>
          <a:lstStyle/>
          <a:p>
            <a:pPr>
              <a:spcAft>
                <a:spcPts val="600"/>
              </a:spcAft>
            </a:pPr>
            <a:fld id="{1F040F15-3124-4DA1-BD1D-A4F020C7C5A7}" type="datetime1">
              <a:rPr lang="en-US" smtClean="0"/>
              <a:pPr>
                <a:spcAft>
                  <a:spcPts val="600"/>
                </a:spcAft>
              </a:pPr>
              <a:t>6/27/2025</a:t>
            </a:fld>
            <a:endParaRPr lang="en-US" dirty="0"/>
          </a:p>
        </p:txBody>
      </p:sp>
      <p:sp>
        <p:nvSpPr>
          <p:cNvPr id="8" name="Slide Number Placeholder 7">
            <a:extLst>
              <a:ext uri="{FF2B5EF4-FFF2-40B4-BE49-F238E27FC236}">
                <a16:creationId xmlns:a16="http://schemas.microsoft.com/office/drawing/2014/main" id="{1F826AEB-D6E3-A182-02FF-41BD7474244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a:t>
            </a:fld>
            <a:endParaRPr lang="en-US"/>
          </a:p>
        </p:txBody>
      </p:sp>
      <p:graphicFrame>
        <p:nvGraphicFramePr>
          <p:cNvPr id="3" name="Table 2">
            <a:extLst>
              <a:ext uri="{FF2B5EF4-FFF2-40B4-BE49-F238E27FC236}">
                <a16:creationId xmlns:a16="http://schemas.microsoft.com/office/drawing/2014/main" id="{940E857F-9653-E211-EA12-1A6DCFFFDEE0}"/>
              </a:ext>
            </a:extLst>
          </p:cNvPr>
          <p:cNvGraphicFramePr>
            <a:graphicFrameLocks noGrp="1"/>
          </p:cNvGraphicFramePr>
          <p:nvPr>
            <p:extLst>
              <p:ext uri="{D42A27DB-BD31-4B8C-83A1-F6EECF244321}">
                <p14:modId xmlns:p14="http://schemas.microsoft.com/office/powerpoint/2010/main" val="4083024963"/>
              </p:ext>
            </p:extLst>
          </p:nvPr>
        </p:nvGraphicFramePr>
        <p:xfrm>
          <a:off x="474604" y="637308"/>
          <a:ext cx="11242488" cy="391232"/>
        </p:xfrm>
        <a:graphic>
          <a:graphicData uri="http://schemas.openxmlformats.org/drawingml/2006/table">
            <a:tbl>
              <a:tblPr firstRow="1" bandRow="1">
                <a:effectLst>
                  <a:outerShdw blurRad="114300" dist="38100" dir="2700000" algn="tl" rotWithShape="0">
                    <a:prstClr val="black">
                      <a:alpha val="20000"/>
                    </a:prstClr>
                  </a:outerShdw>
                </a:effectLst>
                <a:tableStyleId>{5C22544A-7EE6-4342-B048-85BDC9FD1C3A}</a:tableStyleId>
              </a:tblPr>
              <a:tblGrid>
                <a:gridCol w="2335973">
                  <a:extLst>
                    <a:ext uri="{9D8B030D-6E8A-4147-A177-3AD203B41FA5}">
                      <a16:colId xmlns:a16="http://schemas.microsoft.com/office/drawing/2014/main" val="20000"/>
                    </a:ext>
                  </a:extLst>
                </a:gridCol>
                <a:gridCol w="8906515">
                  <a:extLst>
                    <a:ext uri="{9D8B030D-6E8A-4147-A177-3AD203B41FA5}">
                      <a16:colId xmlns:a16="http://schemas.microsoft.com/office/drawing/2014/main" val="20001"/>
                    </a:ext>
                  </a:extLst>
                </a:gridCol>
              </a:tblGrid>
              <a:tr h="390869">
                <a:tc>
                  <a:txBody>
                    <a:bodyPr/>
                    <a:lstStyle/>
                    <a:p>
                      <a:pPr algn="ctr"/>
                      <a:r>
                        <a:rPr lang="en-US" sz="1900" b="0" dirty="0">
                          <a:effectLst>
                            <a:outerShdw blurRad="38100" dist="38100" dir="2700000" algn="tl">
                              <a:srgbClr val="000000">
                                <a:alpha val="43137"/>
                              </a:srgbClr>
                            </a:outerShdw>
                          </a:effectLst>
                          <a:latin typeface="Century Gothic" panose="020B0502020202020204" pitchFamily="34" charset="0"/>
                        </a:rPr>
                        <a:t>Tasks</a:t>
                      </a:r>
                    </a:p>
                  </a:txBody>
                  <a:tcPr marL="101672" marR="101672" marT="50836" marB="50836">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50000"/>
                      </a:schemeClr>
                    </a:solidFill>
                  </a:tcPr>
                </a:tc>
                <a:tc>
                  <a:txBody>
                    <a:bodyPr/>
                    <a:lstStyle/>
                    <a:p>
                      <a:pPr algn="ctr"/>
                      <a:r>
                        <a:rPr lang="en-US" sz="1900" b="0" dirty="0">
                          <a:effectLst>
                            <a:outerShdw blurRad="38100" dist="38100" dir="2700000" algn="tl">
                              <a:srgbClr val="000000">
                                <a:alpha val="43137"/>
                              </a:srgbClr>
                            </a:outerShdw>
                          </a:effectLst>
                          <a:latin typeface="Century Gothic" panose="020B0502020202020204" pitchFamily="34" charset="0"/>
                        </a:rPr>
                        <a:t>Timeline</a:t>
                      </a: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bl>
          </a:graphicData>
        </a:graphic>
      </p:graphicFrame>
      <p:graphicFrame>
        <p:nvGraphicFramePr>
          <p:cNvPr id="4" name="Table 3">
            <a:extLst>
              <a:ext uri="{FF2B5EF4-FFF2-40B4-BE49-F238E27FC236}">
                <a16:creationId xmlns:a16="http://schemas.microsoft.com/office/drawing/2014/main" id="{46654F91-E40B-CF1B-875A-F148E80E42F7}"/>
              </a:ext>
            </a:extLst>
          </p:cNvPr>
          <p:cNvGraphicFramePr>
            <a:graphicFrameLocks noGrp="1"/>
          </p:cNvGraphicFramePr>
          <p:nvPr>
            <p:extLst>
              <p:ext uri="{D42A27DB-BD31-4B8C-83A1-F6EECF244321}">
                <p14:modId xmlns:p14="http://schemas.microsoft.com/office/powerpoint/2010/main" val="1965242873"/>
              </p:ext>
            </p:extLst>
          </p:nvPr>
        </p:nvGraphicFramePr>
        <p:xfrm>
          <a:off x="474604" y="1021313"/>
          <a:ext cx="11242488" cy="4252553"/>
        </p:xfrm>
        <a:graphic>
          <a:graphicData uri="http://schemas.openxmlformats.org/drawingml/2006/table">
            <a:tbl>
              <a:tblPr firstRow="1" bandRow="1">
                <a:effectLst>
                  <a:outerShdw blurRad="114300" dist="38100" dir="2700000" algn="tl" rotWithShape="0">
                    <a:prstClr val="black">
                      <a:alpha val="20000"/>
                    </a:prstClr>
                  </a:outerShdw>
                </a:effectLst>
                <a:tableStyleId>{5C22544A-7EE6-4342-B048-85BDC9FD1C3A}</a:tableStyleId>
              </a:tblPr>
              <a:tblGrid>
                <a:gridCol w="2349502">
                  <a:extLst>
                    <a:ext uri="{9D8B030D-6E8A-4147-A177-3AD203B41FA5}">
                      <a16:colId xmlns:a16="http://schemas.microsoft.com/office/drawing/2014/main" val="20000"/>
                    </a:ext>
                  </a:extLst>
                </a:gridCol>
                <a:gridCol w="625979">
                  <a:extLst>
                    <a:ext uri="{9D8B030D-6E8A-4147-A177-3AD203B41FA5}">
                      <a16:colId xmlns:a16="http://schemas.microsoft.com/office/drawing/2014/main" val="20001"/>
                    </a:ext>
                  </a:extLst>
                </a:gridCol>
                <a:gridCol w="625979">
                  <a:extLst>
                    <a:ext uri="{9D8B030D-6E8A-4147-A177-3AD203B41FA5}">
                      <a16:colId xmlns:a16="http://schemas.microsoft.com/office/drawing/2014/main" val="20002"/>
                    </a:ext>
                  </a:extLst>
                </a:gridCol>
                <a:gridCol w="587771">
                  <a:extLst>
                    <a:ext uri="{9D8B030D-6E8A-4147-A177-3AD203B41FA5}">
                      <a16:colId xmlns:a16="http://schemas.microsoft.com/office/drawing/2014/main" val="20003"/>
                    </a:ext>
                  </a:extLst>
                </a:gridCol>
                <a:gridCol w="587771">
                  <a:extLst>
                    <a:ext uri="{9D8B030D-6E8A-4147-A177-3AD203B41FA5}">
                      <a16:colId xmlns:a16="http://schemas.microsoft.com/office/drawing/2014/main" val="20004"/>
                    </a:ext>
                  </a:extLst>
                </a:gridCol>
                <a:gridCol w="587771">
                  <a:extLst>
                    <a:ext uri="{9D8B030D-6E8A-4147-A177-3AD203B41FA5}">
                      <a16:colId xmlns:a16="http://schemas.microsoft.com/office/drawing/2014/main" val="20005"/>
                    </a:ext>
                  </a:extLst>
                </a:gridCol>
                <a:gridCol w="587771">
                  <a:extLst>
                    <a:ext uri="{9D8B030D-6E8A-4147-A177-3AD203B41FA5}">
                      <a16:colId xmlns:a16="http://schemas.microsoft.com/office/drawing/2014/main" val="20006"/>
                    </a:ext>
                  </a:extLst>
                </a:gridCol>
                <a:gridCol w="587771">
                  <a:extLst>
                    <a:ext uri="{9D8B030D-6E8A-4147-A177-3AD203B41FA5}">
                      <a16:colId xmlns:a16="http://schemas.microsoft.com/office/drawing/2014/main" val="20007"/>
                    </a:ext>
                  </a:extLst>
                </a:gridCol>
                <a:gridCol w="587771">
                  <a:extLst>
                    <a:ext uri="{9D8B030D-6E8A-4147-A177-3AD203B41FA5}">
                      <a16:colId xmlns:a16="http://schemas.microsoft.com/office/drawing/2014/main" val="20008"/>
                    </a:ext>
                  </a:extLst>
                </a:gridCol>
                <a:gridCol w="587771">
                  <a:extLst>
                    <a:ext uri="{9D8B030D-6E8A-4147-A177-3AD203B41FA5}">
                      <a16:colId xmlns:a16="http://schemas.microsoft.com/office/drawing/2014/main" val="20009"/>
                    </a:ext>
                  </a:extLst>
                </a:gridCol>
                <a:gridCol w="587771">
                  <a:extLst>
                    <a:ext uri="{9D8B030D-6E8A-4147-A177-3AD203B41FA5}">
                      <a16:colId xmlns:a16="http://schemas.microsoft.com/office/drawing/2014/main" val="20010"/>
                    </a:ext>
                  </a:extLst>
                </a:gridCol>
                <a:gridCol w="587771">
                  <a:extLst>
                    <a:ext uri="{9D8B030D-6E8A-4147-A177-3AD203B41FA5}">
                      <a16:colId xmlns:a16="http://schemas.microsoft.com/office/drawing/2014/main" val="20011"/>
                    </a:ext>
                  </a:extLst>
                </a:gridCol>
                <a:gridCol w="587771">
                  <a:extLst>
                    <a:ext uri="{9D8B030D-6E8A-4147-A177-3AD203B41FA5}">
                      <a16:colId xmlns:a16="http://schemas.microsoft.com/office/drawing/2014/main" val="20012"/>
                    </a:ext>
                  </a:extLst>
                </a:gridCol>
                <a:gridCol w="585299">
                  <a:extLst>
                    <a:ext uri="{9D8B030D-6E8A-4147-A177-3AD203B41FA5}">
                      <a16:colId xmlns:a16="http://schemas.microsoft.com/office/drawing/2014/main" val="20013"/>
                    </a:ext>
                  </a:extLst>
                </a:gridCol>
                <a:gridCol w="585299">
                  <a:extLst>
                    <a:ext uri="{9D8B030D-6E8A-4147-A177-3AD203B41FA5}">
                      <a16:colId xmlns:a16="http://schemas.microsoft.com/office/drawing/2014/main" val="20014"/>
                    </a:ext>
                  </a:extLst>
                </a:gridCol>
                <a:gridCol w="592720">
                  <a:extLst>
                    <a:ext uri="{9D8B030D-6E8A-4147-A177-3AD203B41FA5}">
                      <a16:colId xmlns:a16="http://schemas.microsoft.com/office/drawing/2014/main" val="20015"/>
                    </a:ext>
                  </a:extLst>
                </a:gridCol>
              </a:tblGrid>
              <a:tr h="267556">
                <a:tc>
                  <a:txBody>
                    <a:bodyPr/>
                    <a:lstStyle/>
                    <a:p>
                      <a:pPr marL="0" algn="l" defTabSz="914400" rtl="0" eaLnBrk="1" latinLnBrk="0" hangingPunct="1"/>
                      <a:r>
                        <a:rPr lang="en-US" sz="1100" b="0" kern="1200" dirty="0">
                          <a:solidFill>
                            <a:schemeClr val="tx1"/>
                          </a:solidFill>
                          <a:latin typeface="Century Gothic" panose="020B0502020202020204" pitchFamily="34" charset="0"/>
                          <a:ea typeface="+mn-ea"/>
                          <a:cs typeface="+mn-cs"/>
                        </a:rPr>
                        <a:t>Week Start Date</a:t>
                      </a:r>
                    </a:p>
                  </a:txBody>
                  <a:tcPr marL="0" marR="0" marT="0" marB="0">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dirty="0">
                          <a:solidFill>
                            <a:srgbClr val="000000"/>
                          </a:solidFill>
                          <a:effectLst/>
                          <a:latin typeface="Century Gothic" panose="020B0502020202020204" pitchFamily="34" charset="0"/>
                          <a:ea typeface="+mn-ea"/>
                          <a:cs typeface="+mn-cs"/>
                        </a:rPr>
                        <a:t>6/23</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dirty="0">
                          <a:solidFill>
                            <a:srgbClr val="000000"/>
                          </a:solidFill>
                          <a:effectLst/>
                          <a:latin typeface="Century Gothic" panose="020B0502020202020204" pitchFamily="34" charset="0"/>
                          <a:ea typeface="+mn-ea"/>
                          <a:cs typeface="+mn-cs"/>
                        </a:rPr>
                        <a:t>6/30</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7/7</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7/14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7/21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7/28</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8/4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8/11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8/18</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8/25</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dirty="0">
                          <a:solidFill>
                            <a:srgbClr val="000000"/>
                          </a:solidFill>
                          <a:effectLst/>
                          <a:latin typeface="Century Gothic" panose="020B0502020202020204" pitchFamily="34" charset="0"/>
                          <a:ea typeface="+mn-ea"/>
                          <a:cs typeface="+mn-cs"/>
                        </a:rPr>
                        <a:t>9/1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9/8</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9/15</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9/22</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9/29</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extLst>
                  <a:ext uri="{0D108BD9-81ED-4DB2-BD59-A6C34878D82A}">
                    <a16:rowId xmlns:a16="http://schemas.microsoft.com/office/drawing/2014/main" val="1442000953"/>
                  </a:ext>
                </a:extLst>
              </a:tr>
              <a:tr h="269965">
                <a:tc>
                  <a:txBody>
                    <a:bodyPr/>
                    <a:lstStyle/>
                    <a:p>
                      <a:pPr marL="0" algn="l" defTabSz="914400" rtl="0" eaLnBrk="1" latinLnBrk="0" hangingPunct="1"/>
                      <a:r>
                        <a:rPr lang="en-US" sz="1100" b="0" kern="1200" dirty="0">
                          <a:solidFill>
                            <a:schemeClr val="tx1"/>
                          </a:solidFill>
                          <a:latin typeface="Century Gothic" panose="020B0502020202020204" pitchFamily="34" charset="0"/>
                          <a:ea typeface="+mn-ea"/>
                          <a:cs typeface="+mn-cs"/>
                        </a:rPr>
                        <a:t>Week End Date</a:t>
                      </a:r>
                    </a:p>
                  </a:txBody>
                  <a:tcPr marL="0" marR="0" marT="0" marB="0">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6/27</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dirty="0">
                          <a:solidFill>
                            <a:srgbClr val="000000"/>
                          </a:solidFill>
                          <a:effectLst/>
                          <a:latin typeface="Century Gothic" panose="020B0502020202020204" pitchFamily="34" charset="0"/>
                          <a:ea typeface="+mn-ea"/>
                          <a:cs typeface="+mn-cs"/>
                        </a:rPr>
                        <a:t>7/4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7/11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7/18</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7/25</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8/1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8/8</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8/15</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8/22</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8/29</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dirty="0">
                          <a:solidFill>
                            <a:srgbClr val="000000"/>
                          </a:solidFill>
                          <a:effectLst/>
                          <a:latin typeface="Century Gothic" panose="020B0502020202020204" pitchFamily="34" charset="0"/>
                          <a:ea typeface="+mn-ea"/>
                          <a:cs typeface="+mn-cs"/>
                        </a:rPr>
                        <a:t>9/5</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9/12</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9/19</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a:solidFill>
                            <a:srgbClr val="000000"/>
                          </a:solidFill>
                          <a:effectLst/>
                          <a:latin typeface="Century Gothic" panose="020B0502020202020204" pitchFamily="34" charset="0"/>
                          <a:ea typeface="+mn-ea"/>
                          <a:cs typeface="+mn-cs"/>
                        </a:rPr>
                        <a:t>9/26</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rtl="0" fontAlgn="t"/>
                      <a:r>
                        <a:rPr lang="en-US" sz="1100" b="0" i="0" u="none" strike="noStrike" kern="1200" dirty="0">
                          <a:solidFill>
                            <a:srgbClr val="000000"/>
                          </a:solidFill>
                          <a:effectLst/>
                          <a:latin typeface="Century Gothic" panose="020B0502020202020204" pitchFamily="34" charset="0"/>
                          <a:ea typeface="+mn-ea"/>
                          <a:cs typeface="+mn-cs"/>
                        </a:rPr>
                        <a:t>10/3</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extLst>
                  <a:ext uri="{0D108BD9-81ED-4DB2-BD59-A6C34878D82A}">
                    <a16:rowId xmlns:a16="http://schemas.microsoft.com/office/drawing/2014/main" val="10001"/>
                  </a:ext>
                </a:extLst>
              </a:tr>
              <a:tr h="408944">
                <a:tc>
                  <a:txBody>
                    <a:bodyPr/>
                    <a:lstStyle/>
                    <a:p>
                      <a:pPr algn="l" rtl="0" fontAlgn="ctr"/>
                      <a:r>
                        <a:rPr lang="en-US" sz="1200" b="0" i="0" u="none" strike="noStrike">
                          <a:solidFill>
                            <a:srgbClr val="000000"/>
                          </a:solidFill>
                          <a:effectLst/>
                          <a:latin typeface="Century Gothic" panose="020B0502020202020204" pitchFamily="34" charset="0"/>
                        </a:rPr>
                        <a:t>Requirements &amp; Wireframes</a:t>
                      </a:r>
                    </a:p>
                  </a:txBody>
                  <a:tcPr marL="85725" marR="9525" marT="9525" marB="0" anchor="ctr">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extLst>
                  <a:ext uri="{0D108BD9-81ED-4DB2-BD59-A6C34878D82A}">
                    <a16:rowId xmlns:a16="http://schemas.microsoft.com/office/drawing/2014/main" val="10002"/>
                  </a:ext>
                </a:extLst>
              </a:tr>
              <a:tr h="408944">
                <a:tc>
                  <a:txBody>
                    <a:bodyPr/>
                    <a:lstStyle/>
                    <a:p>
                      <a:pPr algn="l" rtl="0" fontAlgn="ctr"/>
                      <a:r>
                        <a:rPr lang="en-US" sz="1200" b="0" i="0" u="none" strike="noStrike">
                          <a:solidFill>
                            <a:srgbClr val="000000"/>
                          </a:solidFill>
                          <a:effectLst/>
                          <a:latin typeface="Century Gothic" panose="020B0502020202020204" pitchFamily="34" charset="0"/>
                        </a:rPr>
                        <a:t>Front-end Design</a:t>
                      </a:r>
                    </a:p>
                  </a:txBody>
                  <a:tcPr marL="85725" marR="9525" marT="9525" marB="0" anchor="ctr">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extLst>
                  <a:ext uri="{0D108BD9-81ED-4DB2-BD59-A6C34878D82A}">
                    <a16:rowId xmlns:a16="http://schemas.microsoft.com/office/drawing/2014/main" val="10003"/>
                  </a:ext>
                </a:extLst>
              </a:tr>
              <a:tr h="443480">
                <a:tc>
                  <a:txBody>
                    <a:bodyPr/>
                    <a:lstStyle/>
                    <a:p>
                      <a:pPr algn="l" rtl="0" fontAlgn="ctr"/>
                      <a:r>
                        <a:rPr lang="en-US" sz="1200" b="0" i="0" u="none" strike="noStrike">
                          <a:solidFill>
                            <a:srgbClr val="000000"/>
                          </a:solidFill>
                          <a:effectLst/>
                          <a:latin typeface="Century Gothic" panose="020B0502020202020204" pitchFamily="34" charset="0"/>
                        </a:rPr>
                        <a:t>Architecture / Environment Setup</a:t>
                      </a:r>
                    </a:p>
                  </a:txBody>
                  <a:tcPr marL="857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extLst>
                  <a:ext uri="{0D108BD9-81ED-4DB2-BD59-A6C34878D82A}">
                    <a16:rowId xmlns:a16="http://schemas.microsoft.com/office/drawing/2014/main" val="10004"/>
                  </a:ext>
                </a:extLst>
              </a:tr>
              <a:tr h="408944">
                <a:tc>
                  <a:txBody>
                    <a:bodyPr/>
                    <a:lstStyle/>
                    <a:p>
                      <a:pPr algn="l" rtl="0" fontAlgn="ctr"/>
                      <a:r>
                        <a:rPr lang="en-US" sz="1200" b="0" i="0" u="none" strike="noStrike">
                          <a:solidFill>
                            <a:srgbClr val="000000"/>
                          </a:solidFill>
                          <a:effectLst/>
                          <a:latin typeface="Century Gothic" panose="020B0502020202020204" pitchFamily="34" charset="0"/>
                        </a:rPr>
                        <a:t>Database Expansion</a:t>
                      </a:r>
                    </a:p>
                  </a:txBody>
                  <a:tcPr marL="857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extLst>
                  <a:ext uri="{0D108BD9-81ED-4DB2-BD59-A6C34878D82A}">
                    <a16:rowId xmlns:a16="http://schemas.microsoft.com/office/drawing/2014/main" val="10005"/>
                  </a:ext>
                </a:extLst>
              </a:tr>
              <a:tr h="408944">
                <a:tc>
                  <a:txBody>
                    <a:bodyPr/>
                    <a:lstStyle/>
                    <a:p>
                      <a:pPr algn="l" rtl="0" fontAlgn="ctr"/>
                      <a:r>
                        <a:rPr lang="en-US" sz="1200" b="0" i="0" u="none" strike="noStrike">
                          <a:solidFill>
                            <a:srgbClr val="000000"/>
                          </a:solidFill>
                          <a:effectLst/>
                          <a:latin typeface="Century Gothic" panose="020B0502020202020204" pitchFamily="34" charset="0"/>
                        </a:rPr>
                        <a:t>API Development</a:t>
                      </a:r>
                    </a:p>
                  </a:txBody>
                  <a:tcPr marL="857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extLst>
                  <a:ext uri="{0D108BD9-81ED-4DB2-BD59-A6C34878D82A}">
                    <a16:rowId xmlns:a16="http://schemas.microsoft.com/office/drawing/2014/main" val="2865209357"/>
                  </a:ext>
                </a:extLst>
              </a:tr>
              <a:tr h="408944">
                <a:tc>
                  <a:txBody>
                    <a:bodyPr/>
                    <a:lstStyle/>
                    <a:p>
                      <a:pPr algn="l" rtl="0" fontAlgn="ctr"/>
                      <a:r>
                        <a:rPr lang="en-US" sz="1200" b="0" i="0" u="none" strike="noStrike">
                          <a:solidFill>
                            <a:srgbClr val="000000"/>
                          </a:solidFill>
                          <a:effectLst/>
                          <a:latin typeface="Century Gothic" panose="020B0502020202020204" pitchFamily="34" charset="0"/>
                        </a:rPr>
                        <a:t>Front-end Development</a:t>
                      </a:r>
                    </a:p>
                  </a:txBody>
                  <a:tcPr marL="857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extLst>
                  <a:ext uri="{0D108BD9-81ED-4DB2-BD59-A6C34878D82A}">
                    <a16:rowId xmlns:a16="http://schemas.microsoft.com/office/drawing/2014/main" val="10006"/>
                  </a:ext>
                </a:extLst>
              </a:tr>
              <a:tr h="408944">
                <a:tc>
                  <a:txBody>
                    <a:bodyPr/>
                    <a:lstStyle/>
                    <a:p>
                      <a:pPr algn="l" rtl="0" fontAlgn="ctr"/>
                      <a:r>
                        <a:rPr lang="en-US" sz="1200" b="0" i="0" u="none" strike="noStrike">
                          <a:solidFill>
                            <a:srgbClr val="000000"/>
                          </a:solidFill>
                          <a:effectLst/>
                          <a:latin typeface="Century Gothic" panose="020B0502020202020204" pitchFamily="34" charset="0"/>
                        </a:rPr>
                        <a:t>Business Acceptance Testing</a:t>
                      </a:r>
                    </a:p>
                  </a:txBody>
                  <a:tcPr marL="857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extLst>
                  <a:ext uri="{0D108BD9-81ED-4DB2-BD59-A6C34878D82A}">
                    <a16:rowId xmlns:a16="http://schemas.microsoft.com/office/drawing/2014/main" val="10007"/>
                  </a:ext>
                </a:extLst>
              </a:tr>
              <a:tr h="408944">
                <a:tc>
                  <a:txBody>
                    <a:bodyPr/>
                    <a:lstStyle/>
                    <a:p>
                      <a:pPr algn="l" rtl="0" fontAlgn="ctr"/>
                      <a:r>
                        <a:rPr lang="en-US" sz="1200" b="0" i="0" u="none" strike="noStrike">
                          <a:solidFill>
                            <a:srgbClr val="000000"/>
                          </a:solidFill>
                          <a:effectLst/>
                          <a:latin typeface="Century Gothic" panose="020B0502020202020204" pitchFamily="34" charset="0"/>
                        </a:rPr>
                        <a:t>Deployment &amp; Configuration</a:t>
                      </a:r>
                    </a:p>
                  </a:txBody>
                  <a:tcPr marL="857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extLst>
                  <a:ext uri="{0D108BD9-81ED-4DB2-BD59-A6C34878D82A}">
                    <a16:rowId xmlns:a16="http://schemas.microsoft.com/office/drawing/2014/main" val="10008"/>
                  </a:ext>
                </a:extLst>
              </a:tr>
              <a:tr h="408944">
                <a:tc>
                  <a:txBody>
                    <a:bodyPr/>
                    <a:lstStyle/>
                    <a:p>
                      <a:pPr algn="l" rtl="0" fontAlgn="ctr"/>
                      <a:r>
                        <a:rPr lang="en-US" sz="1200" b="0" i="0" u="none" strike="noStrike" dirty="0">
                          <a:solidFill>
                            <a:srgbClr val="000000"/>
                          </a:solidFill>
                          <a:effectLst/>
                          <a:latin typeface="Century Gothic" panose="020B0502020202020204" pitchFamily="34" charset="0"/>
                        </a:rPr>
                        <a:t>Documentation</a:t>
                      </a:r>
                    </a:p>
                  </a:txBody>
                  <a:tcPr marL="857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4E5F7"/>
                    </a:solidFill>
                  </a:tcPr>
                </a:tc>
                <a:extLst>
                  <a:ext uri="{0D108BD9-81ED-4DB2-BD59-A6C34878D82A}">
                    <a16:rowId xmlns:a16="http://schemas.microsoft.com/office/drawing/2014/main" val="10009"/>
                  </a:ext>
                </a:extLst>
              </a:tr>
            </a:tbl>
          </a:graphicData>
        </a:graphic>
      </p:graphicFrame>
      <p:grpSp>
        <p:nvGrpSpPr>
          <p:cNvPr id="10" name="Group 15">
            <a:extLst>
              <a:ext uri="{FF2B5EF4-FFF2-40B4-BE49-F238E27FC236}">
                <a16:creationId xmlns:a16="http://schemas.microsoft.com/office/drawing/2014/main" id="{BD4B1877-839B-0518-87F7-D7A0D40F3446}"/>
              </a:ext>
              <a:ext uri="{C183D7F6-B498-43B3-948B-1728B52AA6E4}">
                <adec:decorative xmlns:adec="http://schemas.microsoft.com/office/drawing/2017/decorative" val="1"/>
              </a:ext>
            </a:extLst>
          </p:cNvPr>
          <p:cNvGrpSpPr/>
          <p:nvPr/>
        </p:nvGrpSpPr>
        <p:grpSpPr>
          <a:xfrm>
            <a:off x="4742723" y="2505194"/>
            <a:ext cx="1042062" cy="164592"/>
            <a:chOff x="2157548" y="2233748"/>
            <a:chExt cx="3709852" cy="204652"/>
          </a:xfrm>
        </p:grpSpPr>
        <p:sp>
          <p:nvSpPr>
            <p:cNvPr id="11" name="Rounded Rectangle 42">
              <a:extLst>
                <a:ext uri="{FF2B5EF4-FFF2-40B4-BE49-F238E27FC236}">
                  <a16:creationId xmlns:a16="http://schemas.microsoft.com/office/drawing/2014/main" id="{6E0C988A-C0FB-983F-8726-EE1717789288}"/>
                </a:ext>
              </a:extLst>
            </p:cNvPr>
            <p:cNvSpPr/>
            <p:nvPr/>
          </p:nvSpPr>
          <p:spPr>
            <a:xfrm>
              <a:off x="2157548" y="2233748"/>
              <a:ext cx="3709852" cy="204652"/>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12" name="Rounded Rectangle 43">
              <a:extLst>
                <a:ext uri="{FF2B5EF4-FFF2-40B4-BE49-F238E27FC236}">
                  <a16:creationId xmlns:a16="http://schemas.microsoft.com/office/drawing/2014/main" id="{9EFB64B8-9E4D-3227-5822-D7D3DCD2AD81}"/>
                </a:ext>
              </a:extLst>
            </p:cNvPr>
            <p:cNvSpPr/>
            <p:nvPr/>
          </p:nvSpPr>
          <p:spPr>
            <a:xfrm>
              <a:off x="2207622" y="2259874"/>
              <a:ext cx="3630168"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grpSp>
        <p:nvGrpSpPr>
          <p:cNvPr id="13" name="Group 27">
            <a:extLst>
              <a:ext uri="{FF2B5EF4-FFF2-40B4-BE49-F238E27FC236}">
                <a16:creationId xmlns:a16="http://schemas.microsoft.com/office/drawing/2014/main" id="{8F2973AD-16FC-C789-B8D0-8D352D9C889D}"/>
              </a:ext>
              <a:ext uri="{C183D7F6-B498-43B3-948B-1728B52AA6E4}">
                <adec:decorative xmlns:adec="http://schemas.microsoft.com/office/drawing/2017/decorative" val="1"/>
              </a:ext>
            </a:extLst>
          </p:cNvPr>
          <p:cNvGrpSpPr/>
          <p:nvPr/>
        </p:nvGrpSpPr>
        <p:grpSpPr>
          <a:xfrm>
            <a:off x="7714967" y="3348832"/>
            <a:ext cx="1562127" cy="164592"/>
            <a:chOff x="1371600" y="1905000"/>
            <a:chExt cx="1828800" cy="228600"/>
          </a:xfrm>
        </p:grpSpPr>
        <p:sp>
          <p:nvSpPr>
            <p:cNvPr id="14" name="Rounded Rectangle 54">
              <a:extLst>
                <a:ext uri="{FF2B5EF4-FFF2-40B4-BE49-F238E27FC236}">
                  <a16:creationId xmlns:a16="http://schemas.microsoft.com/office/drawing/2014/main" id="{26D34367-3DA8-59BF-EE95-8F53482C11DD}"/>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15" name="Rounded Rectangle 55">
              <a:extLst>
                <a:ext uri="{FF2B5EF4-FFF2-40B4-BE49-F238E27FC236}">
                  <a16:creationId xmlns:a16="http://schemas.microsoft.com/office/drawing/2014/main" id="{1487C89C-B9EB-ED1A-BD51-0DD654909223}"/>
                </a:ext>
              </a:extLst>
            </p:cNvPr>
            <p:cNvSpPr/>
            <p:nvPr/>
          </p:nvSpPr>
          <p:spPr>
            <a:xfrm>
              <a:off x="1421674" y="1931126"/>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grpSp>
        <p:nvGrpSpPr>
          <p:cNvPr id="19" name="Group 33">
            <a:extLst>
              <a:ext uri="{FF2B5EF4-FFF2-40B4-BE49-F238E27FC236}">
                <a16:creationId xmlns:a16="http://schemas.microsoft.com/office/drawing/2014/main" id="{B36C4D27-9E53-24F3-48F1-8D2C61825994}"/>
              </a:ext>
              <a:ext uri="{C183D7F6-B498-43B3-948B-1728B52AA6E4}">
                <adec:decorative xmlns:adec="http://schemas.microsoft.com/office/drawing/2017/decorative" val="1"/>
              </a:ext>
            </a:extLst>
          </p:cNvPr>
          <p:cNvGrpSpPr/>
          <p:nvPr/>
        </p:nvGrpSpPr>
        <p:grpSpPr>
          <a:xfrm>
            <a:off x="10884201" y="4954625"/>
            <a:ext cx="710058" cy="164592"/>
            <a:chOff x="1371600" y="1905000"/>
            <a:chExt cx="1828800" cy="228600"/>
          </a:xfrm>
        </p:grpSpPr>
        <p:sp>
          <p:nvSpPr>
            <p:cNvPr id="20" name="Rounded Rectangle 60">
              <a:extLst>
                <a:ext uri="{FF2B5EF4-FFF2-40B4-BE49-F238E27FC236}">
                  <a16:creationId xmlns:a16="http://schemas.microsoft.com/office/drawing/2014/main" id="{A2D2E656-0AEC-A3D3-237E-0098AECA2C68}"/>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21" name="Rounded Rectangle 61">
              <a:extLst>
                <a:ext uri="{FF2B5EF4-FFF2-40B4-BE49-F238E27FC236}">
                  <a16:creationId xmlns:a16="http://schemas.microsoft.com/office/drawing/2014/main" id="{D5F5FEAC-6042-F927-12D9-0D73C7567DD6}"/>
                </a:ext>
              </a:extLst>
            </p:cNvPr>
            <p:cNvSpPr/>
            <p:nvPr/>
          </p:nvSpPr>
          <p:spPr>
            <a:xfrm>
              <a:off x="1421674" y="1931126"/>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grpSp>
        <p:nvGrpSpPr>
          <p:cNvPr id="26" name="Group 27">
            <a:extLst>
              <a:ext uri="{FF2B5EF4-FFF2-40B4-BE49-F238E27FC236}">
                <a16:creationId xmlns:a16="http://schemas.microsoft.com/office/drawing/2014/main" id="{8B93F6B8-DF26-309B-0558-0C45BE65E1D7}"/>
              </a:ext>
              <a:ext uri="{C183D7F6-B498-43B3-948B-1728B52AA6E4}">
                <adec:decorative xmlns:adec="http://schemas.microsoft.com/office/drawing/2017/decorative" val="1"/>
              </a:ext>
            </a:extLst>
          </p:cNvPr>
          <p:cNvGrpSpPr/>
          <p:nvPr/>
        </p:nvGrpSpPr>
        <p:grpSpPr>
          <a:xfrm>
            <a:off x="5883943" y="2973249"/>
            <a:ext cx="2201277" cy="172751"/>
            <a:chOff x="1359045" y="1905000"/>
            <a:chExt cx="1841355" cy="228600"/>
          </a:xfrm>
        </p:grpSpPr>
        <p:sp>
          <p:nvSpPr>
            <p:cNvPr id="27" name="Rounded Rectangle 54">
              <a:extLst>
                <a:ext uri="{FF2B5EF4-FFF2-40B4-BE49-F238E27FC236}">
                  <a16:creationId xmlns:a16="http://schemas.microsoft.com/office/drawing/2014/main" id="{3736BF5A-1C32-77AD-B524-64F0C14C50D3}"/>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28" name="Rounded Rectangle 55">
              <a:extLst>
                <a:ext uri="{FF2B5EF4-FFF2-40B4-BE49-F238E27FC236}">
                  <a16:creationId xmlns:a16="http://schemas.microsoft.com/office/drawing/2014/main" id="{48D40ABA-0271-8F4A-CF83-F3AA4AB64BEE}"/>
                </a:ext>
              </a:extLst>
            </p:cNvPr>
            <p:cNvSpPr/>
            <p:nvPr/>
          </p:nvSpPr>
          <p:spPr>
            <a:xfrm>
              <a:off x="1359045" y="1931126"/>
              <a:ext cx="1737361"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grpSp>
        <p:nvGrpSpPr>
          <p:cNvPr id="42" name="Group 41">
            <a:extLst>
              <a:ext uri="{FF2B5EF4-FFF2-40B4-BE49-F238E27FC236}">
                <a16:creationId xmlns:a16="http://schemas.microsoft.com/office/drawing/2014/main" id="{05631216-13DA-5093-E5D1-0CD509AE038C}"/>
              </a:ext>
            </a:extLst>
          </p:cNvPr>
          <p:cNvGrpSpPr/>
          <p:nvPr/>
        </p:nvGrpSpPr>
        <p:grpSpPr>
          <a:xfrm>
            <a:off x="10599616" y="4525678"/>
            <a:ext cx="1028803" cy="274299"/>
            <a:chOff x="10304661" y="4557434"/>
            <a:chExt cx="988648" cy="274299"/>
          </a:xfrm>
        </p:grpSpPr>
        <p:grpSp>
          <p:nvGrpSpPr>
            <p:cNvPr id="23" name="Group 33">
              <a:extLst>
                <a:ext uri="{FF2B5EF4-FFF2-40B4-BE49-F238E27FC236}">
                  <a16:creationId xmlns:a16="http://schemas.microsoft.com/office/drawing/2014/main" id="{5183D198-74E1-FB24-F1A8-D7D9800D13DC}"/>
                </a:ext>
                <a:ext uri="{C183D7F6-B498-43B3-948B-1728B52AA6E4}">
                  <adec:decorative xmlns:adec="http://schemas.microsoft.com/office/drawing/2017/decorative" val="1"/>
                </a:ext>
              </a:extLst>
            </p:cNvPr>
            <p:cNvGrpSpPr/>
            <p:nvPr/>
          </p:nvGrpSpPr>
          <p:grpSpPr>
            <a:xfrm>
              <a:off x="10304661" y="4612947"/>
              <a:ext cx="859170" cy="164592"/>
              <a:chOff x="1371600" y="1905000"/>
              <a:chExt cx="1828800" cy="228600"/>
            </a:xfrm>
          </p:grpSpPr>
          <p:sp>
            <p:nvSpPr>
              <p:cNvPr id="24" name="Rounded Rectangle 60">
                <a:extLst>
                  <a:ext uri="{FF2B5EF4-FFF2-40B4-BE49-F238E27FC236}">
                    <a16:creationId xmlns:a16="http://schemas.microsoft.com/office/drawing/2014/main" id="{E07D2CF2-7EE2-95E4-CB8A-670126C0403C}"/>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25" name="Rounded Rectangle 61">
                <a:extLst>
                  <a:ext uri="{FF2B5EF4-FFF2-40B4-BE49-F238E27FC236}">
                    <a16:creationId xmlns:a16="http://schemas.microsoft.com/office/drawing/2014/main" id="{EEECB5E2-96BF-87B8-23CE-528EE6F62D75}"/>
                  </a:ext>
                </a:extLst>
              </p:cNvPr>
              <p:cNvSpPr/>
              <p:nvPr/>
            </p:nvSpPr>
            <p:spPr>
              <a:xfrm>
                <a:off x="1421674" y="1931126"/>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sp>
          <p:nvSpPr>
            <p:cNvPr id="29" name="Flowchart: Decision 36">
              <a:extLst>
                <a:ext uri="{FF2B5EF4-FFF2-40B4-BE49-F238E27FC236}">
                  <a16:creationId xmlns:a16="http://schemas.microsoft.com/office/drawing/2014/main" id="{A022F740-49F7-76F1-148C-3E0DD8805E17}"/>
                </a:ext>
                <a:ext uri="{C183D7F6-B498-43B3-948B-1728B52AA6E4}">
                  <adec:decorative xmlns:adec="http://schemas.microsoft.com/office/drawing/2017/decorative" val="1"/>
                </a:ext>
              </a:extLst>
            </p:cNvPr>
            <p:cNvSpPr/>
            <p:nvPr/>
          </p:nvSpPr>
          <p:spPr>
            <a:xfrm>
              <a:off x="11033410" y="4557434"/>
              <a:ext cx="259899" cy="274299"/>
            </a:xfrm>
            <a:prstGeom prst="flowChartDecisi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none" anchor="ctr"/>
            <a:lstStyle/>
            <a:p>
              <a:pPr>
                <a:defRPr/>
              </a:pPr>
              <a:endParaRPr lang="en-US" dirty="0">
                <a:latin typeface="Century Gothic" panose="020B0502020202020204" pitchFamily="34" charset="0"/>
              </a:endParaRPr>
            </a:p>
          </p:txBody>
        </p:sp>
      </p:grpSp>
      <p:grpSp>
        <p:nvGrpSpPr>
          <p:cNvPr id="41" name="Group 40">
            <a:extLst>
              <a:ext uri="{FF2B5EF4-FFF2-40B4-BE49-F238E27FC236}">
                <a16:creationId xmlns:a16="http://schemas.microsoft.com/office/drawing/2014/main" id="{AD42663F-6CF3-7566-08E0-90824A0ECA2B}"/>
              </a:ext>
            </a:extLst>
          </p:cNvPr>
          <p:cNvGrpSpPr/>
          <p:nvPr/>
        </p:nvGrpSpPr>
        <p:grpSpPr>
          <a:xfrm>
            <a:off x="9394257" y="4086498"/>
            <a:ext cx="1058775" cy="274299"/>
            <a:chOff x="9815102" y="4089378"/>
            <a:chExt cx="801273" cy="274299"/>
          </a:xfrm>
        </p:grpSpPr>
        <p:grpSp>
          <p:nvGrpSpPr>
            <p:cNvPr id="16" name="Group 30">
              <a:extLst>
                <a:ext uri="{FF2B5EF4-FFF2-40B4-BE49-F238E27FC236}">
                  <a16:creationId xmlns:a16="http://schemas.microsoft.com/office/drawing/2014/main" id="{DC1410A2-1258-EFB0-C066-0080A20F4D4E}"/>
                </a:ext>
                <a:ext uri="{C183D7F6-B498-43B3-948B-1728B52AA6E4}">
                  <adec:decorative xmlns:adec="http://schemas.microsoft.com/office/drawing/2017/decorative" val="1"/>
                </a:ext>
              </a:extLst>
            </p:cNvPr>
            <p:cNvGrpSpPr/>
            <p:nvPr/>
          </p:nvGrpSpPr>
          <p:grpSpPr>
            <a:xfrm>
              <a:off x="9815102" y="4151369"/>
              <a:ext cx="698378" cy="164592"/>
              <a:chOff x="1371600" y="1905000"/>
              <a:chExt cx="1828800" cy="228600"/>
            </a:xfrm>
          </p:grpSpPr>
          <p:sp>
            <p:nvSpPr>
              <p:cNvPr id="17" name="Rounded Rectangle 57">
                <a:extLst>
                  <a:ext uri="{FF2B5EF4-FFF2-40B4-BE49-F238E27FC236}">
                    <a16:creationId xmlns:a16="http://schemas.microsoft.com/office/drawing/2014/main" id="{14CA68B9-88CC-D2B6-812C-49496C773F59}"/>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18" name="Rounded Rectangle 58">
                <a:extLst>
                  <a:ext uri="{FF2B5EF4-FFF2-40B4-BE49-F238E27FC236}">
                    <a16:creationId xmlns:a16="http://schemas.microsoft.com/office/drawing/2014/main" id="{2B78640F-BE72-E289-A7E8-A26C506ED987}"/>
                  </a:ext>
                </a:extLst>
              </p:cNvPr>
              <p:cNvSpPr/>
              <p:nvPr/>
            </p:nvSpPr>
            <p:spPr>
              <a:xfrm>
                <a:off x="1421674" y="1931126"/>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sp>
          <p:nvSpPr>
            <p:cNvPr id="30" name="Flowchart: Decision 36">
              <a:extLst>
                <a:ext uri="{FF2B5EF4-FFF2-40B4-BE49-F238E27FC236}">
                  <a16:creationId xmlns:a16="http://schemas.microsoft.com/office/drawing/2014/main" id="{4D09D823-131B-45C0-3CFD-5E1A1D6E37C9}"/>
                </a:ext>
                <a:ext uri="{C183D7F6-B498-43B3-948B-1728B52AA6E4}">
                  <adec:decorative xmlns:adec="http://schemas.microsoft.com/office/drawing/2017/decorative" val="1"/>
                </a:ext>
              </a:extLst>
            </p:cNvPr>
            <p:cNvSpPr/>
            <p:nvPr/>
          </p:nvSpPr>
          <p:spPr>
            <a:xfrm>
              <a:off x="10419701" y="4089378"/>
              <a:ext cx="196674" cy="274299"/>
            </a:xfrm>
            <a:prstGeom prst="flowChartDecisi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none" anchor="ctr"/>
            <a:lstStyle/>
            <a:p>
              <a:pPr>
                <a:defRPr/>
              </a:pPr>
              <a:endParaRPr lang="en-US" dirty="0">
                <a:latin typeface="Century Gothic" panose="020B0502020202020204" pitchFamily="34" charset="0"/>
              </a:endParaRPr>
            </a:p>
          </p:txBody>
        </p:sp>
      </p:grpSp>
      <p:grpSp>
        <p:nvGrpSpPr>
          <p:cNvPr id="5" name="Group 11">
            <a:extLst>
              <a:ext uri="{FF2B5EF4-FFF2-40B4-BE49-F238E27FC236}">
                <a16:creationId xmlns:a16="http://schemas.microsoft.com/office/drawing/2014/main" id="{4EE3EBBC-1176-3FAF-6244-16B3777A5BD4}"/>
              </a:ext>
              <a:ext uri="{C183D7F6-B498-43B3-948B-1728B52AA6E4}">
                <adec:decorative xmlns:adec="http://schemas.microsoft.com/office/drawing/2017/decorative" val="1"/>
              </a:ext>
            </a:extLst>
          </p:cNvPr>
          <p:cNvGrpSpPr/>
          <p:nvPr/>
        </p:nvGrpSpPr>
        <p:grpSpPr>
          <a:xfrm>
            <a:off x="2829829" y="1691597"/>
            <a:ext cx="514337" cy="173698"/>
            <a:chOff x="1371600" y="1905000"/>
            <a:chExt cx="2667000" cy="228600"/>
          </a:xfrm>
        </p:grpSpPr>
        <p:sp>
          <p:nvSpPr>
            <p:cNvPr id="6" name="Rounded Rectangle 38">
              <a:extLst>
                <a:ext uri="{FF2B5EF4-FFF2-40B4-BE49-F238E27FC236}">
                  <a16:creationId xmlns:a16="http://schemas.microsoft.com/office/drawing/2014/main" id="{767019E9-E709-DEFB-B2FE-AD8403AD4B8B}"/>
                </a:ext>
              </a:extLst>
            </p:cNvPr>
            <p:cNvSpPr/>
            <p:nvPr/>
          </p:nvSpPr>
          <p:spPr>
            <a:xfrm>
              <a:off x="1371600" y="1905000"/>
              <a:ext cx="26670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9" name="Rounded Rectangle 40">
              <a:extLst>
                <a:ext uri="{FF2B5EF4-FFF2-40B4-BE49-F238E27FC236}">
                  <a16:creationId xmlns:a16="http://schemas.microsoft.com/office/drawing/2014/main" id="{58548815-D276-20DC-A8EF-2A1D5B11911B}"/>
                </a:ext>
              </a:extLst>
            </p:cNvPr>
            <p:cNvSpPr/>
            <p:nvPr/>
          </p:nvSpPr>
          <p:spPr>
            <a:xfrm>
              <a:off x="1421674" y="1931126"/>
              <a:ext cx="259080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sp>
        <p:nvSpPr>
          <p:cNvPr id="37" name="TextBox 36">
            <a:extLst>
              <a:ext uri="{FF2B5EF4-FFF2-40B4-BE49-F238E27FC236}">
                <a16:creationId xmlns:a16="http://schemas.microsoft.com/office/drawing/2014/main" id="{DE6FFEB4-FD6D-899B-DD29-36DE75905B23}"/>
              </a:ext>
            </a:extLst>
          </p:cNvPr>
          <p:cNvSpPr txBox="1"/>
          <p:nvPr/>
        </p:nvSpPr>
        <p:spPr>
          <a:xfrm>
            <a:off x="474604" y="5365745"/>
            <a:ext cx="4457706" cy="1015663"/>
          </a:xfrm>
          <a:prstGeom prst="rect">
            <a:avLst/>
          </a:prstGeom>
          <a:solidFill>
            <a:schemeClr val="bg1"/>
          </a:solidFill>
        </p:spPr>
        <p:txBody>
          <a:bodyPr wrap="square">
            <a:spAutoFit/>
          </a:bodyPr>
          <a:lstStyle/>
          <a:p>
            <a:r>
              <a:rPr lang="en-US" sz="1200" b="1" dirty="0">
                <a:latin typeface="Century Gothic" panose="020B0502020202020204" pitchFamily="34" charset="0"/>
              </a:rPr>
              <a:t>Milestones:</a:t>
            </a:r>
          </a:p>
          <a:p>
            <a:r>
              <a:rPr lang="en-US" sz="1200" dirty="0">
                <a:latin typeface="Century Gothic" panose="020B0502020202020204" pitchFamily="34" charset="0"/>
              </a:rPr>
              <a:t>6/27 – Wireframes &amp; Requirement complete</a:t>
            </a:r>
          </a:p>
          <a:p>
            <a:r>
              <a:rPr lang="en-US" sz="1200" dirty="0">
                <a:latin typeface="Century Gothic" panose="020B0502020202020204" pitchFamily="34" charset="0"/>
              </a:rPr>
              <a:t>9/5 – Development Complete</a:t>
            </a:r>
          </a:p>
          <a:p>
            <a:r>
              <a:rPr lang="en-US" sz="1200" dirty="0">
                <a:latin typeface="Century Gothic" panose="020B0502020202020204" pitchFamily="34" charset="0"/>
              </a:rPr>
              <a:t>9/19 – Testing Complete</a:t>
            </a:r>
          </a:p>
          <a:p>
            <a:r>
              <a:rPr lang="en-US" sz="1200" dirty="0">
                <a:latin typeface="Century Gothic" panose="020B0502020202020204" pitchFamily="34" charset="0"/>
              </a:rPr>
              <a:t>10/3 – Go live</a:t>
            </a:r>
          </a:p>
        </p:txBody>
      </p:sp>
      <p:grpSp>
        <p:nvGrpSpPr>
          <p:cNvPr id="40" name="Group 39">
            <a:extLst>
              <a:ext uri="{FF2B5EF4-FFF2-40B4-BE49-F238E27FC236}">
                <a16:creationId xmlns:a16="http://schemas.microsoft.com/office/drawing/2014/main" id="{4EB9B165-2009-F0A9-12DA-3AB32AEFC198}"/>
              </a:ext>
            </a:extLst>
          </p:cNvPr>
          <p:cNvGrpSpPr/>
          <p:nvPr/>
        </p:nvGrpSpPr>
        <p:grpSpPr>
          <a:xfrm>
            <a:off x="5320171" y="3722474"/>
            <a:ext cx="2194176" cy="274299"/>
            <a:chOff x="7276264" y="3589902"/>
            <a:chExt cx="2622177" cy="274299"/>
          </a:xfrm>
        </p:grpSpPr>
        <p:grpSp>
          <p:nvGrpSpPr>
            <p:cNvPr id="31" name="Group 27">
              <a:extLst>
                <a:ext uri="{FF2B5EF4-FFF2-40B4-BE49-F238E27FC236}">
                  <a16:creationId xmlns:a16="http://schemas.microsoft.com/office/drawing/2014/main" id="{F4A7378C-235C-0365-3B5F-0AB9C38A5780}"/>
                </a:ext>
                <a:ext uri="{C183D7F6-B498-43B3-948B-1728B52AA6E4}">
                  <adec:decorative xmlns:adec="http://schemas.microsoft.com/office/drawing/2017/decorative" val="1"/>
                </a:ext>
              </a:extLst>
            </p:cNvPr>
            <p:cNvGrpSpPr/>
            <p:nvPr/>
          </p:nvGrpSpPr>
          <p:grpSpPr>
            <a:xfrm>
              <a:off x="7276264" y="3644756"/>
              <a:ext cx="2515822" cy="164592"/>
              <a:chOff x="1371597" y="1905000"/>
              <a:chExt cx="1828800" cy="228600"/>
            </a:xfrm>
          </p:grpSpPr>
          <p:sp>
            <p:nvSpPr>
              <p:cNvPr id="32" name="Rounded Rectangle 54">
                <a:extLst>
                  <a:ext uri="{FF2B5EF4-FFF2-40B4-BE49-F238E27FC236}">
                    <a16:creationId xmlns:a16="http://schemas.microsoft.com/office/drawing/2014/main" id="{3782AB8C-E741-D739-4718-15FB1759317A}"/>
                  </a:ext>
                </a:extLst>
              </p:cNvPr>
              <p:cNvSpPr/>
              <p:nvPr/>
            </p:nvSpPr>
            <p:spPr>
              <a:xfrm>
                <a:off x="1371597"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33" name="Rounded Rectangle 55">
                <a:extLst>
                  <a:ext uri="{FF2B5EF4-FFF2-40B4-BE49-F238E27FC236}">
                    <a16:creationId xmlns:a16="http://schemas.microsoft.com/office/drawing/2014/main" id="{6ED5BBC1-80FB-723C-33B6-E5A1036EEA18}"/>
                  </a:ext>
                </a:extLst>
              </p:cNvPr>
              <p:cNvSpPr/>
              <p:nvPr/>
            </p:nvSpPr>
            <p:spPr>
              <a:xfrm>
                <a:off x="1421674" y="1931125"/>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sp>
          <p:nvSpPr>
            <p:cNvPr id="35" name="Flowchart: Decision 36">
              <a:extLst>
                <a:ext uri="{FF2B5EF4-FFF2-40B4-BE49-F238E27FC236}">
                  <a16:creationId xmlns:a16="http://schemas.microsoft.com/office/drawing/2014/main" id="{6E3EA9A9-B0EC-F07C-1FD7-0C4E742E3718}"/>
                </a:ext>
                <a:ext uri="{C183D7F6-B498-43B3-948B-1728B52AA6E4}">
                  <adec:decorative xmlns:adec="http://schemas.microsoft.com/office/drawing/2017/decorative" val="1"/>
                </a:ext>
              </a:extLst>
            </p:cNvPr>
            <p:cNvSpPr/>
            <p:nvPr/>
          </p:nvSpPr>
          <p:spPr>
            <a:xfrm>
              <a:off x="9615690" y="3589902"/>
              <a:ext cx="282751" cy="274299"/>
            </a:xfrm>
            <a:prstGeom prst="flowChartDecisi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none" anchor="ctr"/>
            <a:lstStyle/>
            <a:p>
              <a:pPr>
                <a:defRPr/>
              </a:pPr>
              <a:endParaRPr lang="en-US" dirty="0">
                <a:latin typeface="Century Gothic" panose="020B0502020202020204" pitchFamily="34" charset="0"/>
              </a:endParaRPr>
            </a:p>
          </p:txBody>
        </p:sp>
      </p:grpSp>
      <p:cxnSp>
        <p:nvCxnSpPr>
          <p:cNvPr id="22" name="Straight Arrow Connector 21">
            <a:extLst>
              <a:ext uri="{FF2B5EF4-FFF2-40B4-BE49-F238E27FC236}">
                <a16:creationId xmlns:a16="http://schemas.microsoft.com/office/drawing/2014/main" id="{FD629DCA-28D3-DCD0-A069-1624A39FB7F8}"/>
              </a:ext>
            </a:extLst>
          </p:cNvPr>
          <p:cNvCxnSpPr>
            <a:cxnSpLocks/>
          </p:cNvCxnSpPr>
          <p:nvPr/>
        </p:nvCxnSpPr>
        <p:spPr>
          <a:xfrm>
            <a:off x="3113492" y="1028540"/>
            <a:ext cx="11834" cy="4245326"/>
          </a:xfrm>
          <a:prstGeom prst="straightConnector1">
            <a:avLst/>
          </a:prstGeom>
          <a:ln>
            <a:solidFill>
              <a:srgbClr val="C00000"/>
            </a:solidFill>
            <a:headEnd type="none" w="med" len="med"/>
            <a:tailEnd type="arrow" w="med" len="med"/>
          </a:ln>
        </p:spPr>
        <p:style>
          <a:lnRef idx="3">
            <a:schemeClr val="accent3"/>
          </a:lnRef>
          <a:fillRef idx="0">
            <a:schemeClr val="accent3"/>
          </a:fillRef>
          <a:effectRef idx="2">
            <a:schemeClr val="accent3"/>
          </a:effectRef>
          <a:fontRef idx="minor">
            <a:schemeClr val="tx1"/>
          </a:fontRef>
        </p:style>
      </p:cxnSp>
      <p:sp>
        <p:nvSpPr>
          <p:cNvPr id="43" name="TextBox 42">
            <a:extLst>
              <a:ext uri="{FF2B5EF4-FFF2-40B4-BE49-F238E27FC236}">
                <a16:creationId xmlns:a16="http://schemas.microsoft.com/office/drawing/2014/main" id="{5D8A5413-10E2-D9E1-6151-7BA66CD6AD07}"/>
              </a:ext>
            </a:extLst>
          </p:cNvPr>
          <p:cNvSpPr txBox="1"/>
          <p:nvPr/>
        </p:nvSpPr>
        <p:spPr>
          <a:xfrm>
            <a:off x="5729391" y="5365745"/>
            <a:ext cx="5649957" cy="1015663"/>
          </a:xfrm>
          <a:prstGeom prst="rect">
            <a:avLst/>
          </a:prstGeom>
          <a:noFill/>
        </p:spPr>
        <p:txBody>
          <a:bodyPr wrap="square">
            <a:spAutoFit/>
          </a:bodyPr>
          <a:lstStyle/>
          <a:p>
            <a:r>
              <a:rPr lang="en-US" sz="1200" b="1" dirty="0">
                <a:latin typeface="Century Gothic" panose="020B0502020202020204" pitchFamily="34" charset="0"/>
              </a:rPr>
              <a:t>Coordination:</a:t>
            </a:r>
          </a:p>
          <a:p>
            <a:r>
              <a:rPr lang="en-US" sz="1200" dirty="0">
                <a:latin typeface="Century Gothic" panose="020B0502020202020204" pitchFamily="34" charset="0"/>
              </a:rPr>
              <a:t>9/8 – 9/19 : Business Acceptance Testing, Defect Resolution</a:t>
            </a:r>
          </a:p>
          <a:p>
            <a:r>
              <a:rPr lang="en-US" sz="1200" dirty="0">
                <a:latin typeface="Century Gothic" panose="020B0502020202020204" pitchFamily="34" charset="0"/>
              </a:rPr>
              <a:t>9/8 – 9/19 : API Testing with Amazon</a:t>
            </a:r>
          </a:p>
          <a:p>
            <a:r>
              <a:rPr lang="en-US" sz="1200" dirty="0">
                <a:latin typeface="Century Gothic" panose="020B0502020202020204" pitchFamily="34" charset="0"/>
              </a:rPr>
              <a:t>9/22 – 10/3 : Deployment Activities</a:t>
            </a:r>
          </a:p>
          <a:p>
            <a:endParaRPr lang="en-US" sz="1200" dirty="0">
              <a:latin typeface="Century Gothic" panose="020B0502020202020204" pitchFamily="34" charset="0"/>
            </a:endParaRPr>
          </a:p>
        </p:txBody>
      </p:sp>
      <p:grpSp>
        <p:nvGrpSpPr>
          <p:cNvPr id="77" name="Group 33">
            <a:extLst>
              <a:ext uri="{FF2B5EF4-FFF2-40B4-BE49-F238E27FC236}">
                <a16:creationId xmlns:a16="http://schemas.microsoft.com/office/drawing/2014/main" id="{F556D103-676D-B108-17F5-4BB9A33F4A4B}"/>
              </a:ext>
              <a:ext uri="{C183D7F6-B498-43B3-948B-1728B52AA6E4}">
                <adec:decorative xmlns:adec="http://schemas.microsoft.com/office/drawing/2017/decorative" val="1"/>
              </a:ext>
            </a:extLst>
          </p:cNvPr>
          <p:cNvGrpSpPr/>
          <p:nvPr/>
        </p:nvGrpSpPr>
        <p:grpSpPr>
          <a:xfrm>
            <a:off x="2839486" y="2116356"/>
            <a:ext cx="508447" cy="178870"/>
            <a:chOff x="1371600" y="1905000"/>
            <a:chExt cx="1828800" cy="228600"/>
          </a:xfrm>
          <a:solidFill>
            <a:srgbClr val="4A66AC"/>
          </a:solidFill>
        </p:grpSpPr>
        <p:sp>
          <p:nvSpPr>
            <p:cNvPr id="78" name="Rounded Rectangle 60">
              <a:extLst>
                <a:ext uri="{FF2B5EF4-FFF2-40B4-BE49-F238E27FC236}">
                  <a16:creationId xmlns:a16="http://schemas.microsoft.com/office/drawing/2014/main" id="{032A9AA3-4C44-E94E-99BD-CCBBE2569CBF}"/>
                </a:ext>
              </a:extLst>
            </p:cNvPr>
            <p:cNvSpPr/>
            <p:nvPr/>
          </p:nvSpPr>
          <p:spPr>
            <a:xfrm>
              <a:off x="1371600" y="1905000"/>
              <a:ext cx="1828800" cy="228600"/>
            </a:xfrm>
            <a:prstGeom prst="roundRect">
              <a:avLst>
                <a:gd name="adj" fmla="val 48717"/>
              </a:avLst>
            </a:prstGeom>
            <a:grp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79" name="Rounded Rectangle 61">
              <a:extLst>
                <a:ext uri="{FF2B5EF4-FFF2-40B4-BE49-F238E27FC236}">
                  <a16:creationId xmlns:a16="http://schemas.microsoft.com/office/drawing/2014/main" id="{C24B58AC-32A2-1CB5-874E-F596C98892B4}"/>
                </a:ext>
              </a:extLst>
            </p:cNvPr>
            <p:cNvSpPr/>
            <p:nvPr/>
          </p:nvSpPr>
          <p:spPr>
            <a:xfrm>
              <a:off x="1421674" y="1931126"/>
              <a:ext cx="1737360" cy="152400"/>
            </a:xfrm>
            <a:prstGeom prst="roundRect">
              <a:avLst>
                <a:gd name="adj" fmla="val 48717"/>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grpSp>
        <p:nvGrpSpPr>
          <p:cNvPr id="81" name="Group 80">
            <a:extLst>
              <a:ext uri="{FF2B5EF4-FFF2-40B4-BE49-F238E27FC236}">
                <a16:creationId xmlns:a16="http://schemas.microsoft.com/office/drawing/2014/main" id="{0FF1D650-AC56-3262-CEEC-2089B3160614}"/>
              </a:ext>
            </a:extLst>
          </p:cNvPr>
          <p:cNvGrpSpPr/>
          <p:nvPr/>
        </p:nvGrpSpPr>
        <p:grpSpPr>
          <a:xfrm>
            <a:off x="4172733" y="2051536"/>
            <a:ext cx="1028803" cy="274299"/>
            <a:chOff x="10304661" y="4557434"/>
            <a:chExt cx="988648" cy="274299"/>
          </a:xfrm>
        </p:grpSpPr>
        <p:grpSp>
          <p:nvGrpSpPr>
            <p:cNvPr id="82" name="Group 33">
              <a:extLst>
                <a:ext uri="{FF2B5EF4-FFF2-40B4-BE49-F238E27FC236}">
                  <a16:creationId xmlns:a16="http://schemas.microsoft.com/office/drawing/2014/main" id="{07D13732-603B-38D2-C6F0-100275FCDD91}"/>
                </a:ext>
                <a:ext uri="{C183D7F6-B498-43B3-948B-1728B52AA6E4}">
                  <adec:decorative xmlns:adec="http://schemas.microsoft.com/office/drawing/2017/decorative" val="1"/>
                </a:ext>
              </a:extLst>
            </p:cNvPr>
            <p:cNvGrpSpPr/>
            <p:nvPr/>
          </p:nvGrpSpPr>
          <p:grpSpPr>
            <a:xfrm>
              <a:off x="10304661" y="4612947"/>
              <a:ext cx="859170" cy="164592"/>
              <a:chOff x="1371600" y="1905000"/>
              <a:chExt cx="1828800" cy="228600"/>
            </a:xfrm>
          </p:grpSpPr>
          <p:sp>
            <p:nvSpPr>
              <p:cNvPr id="84" name="Rounded Rectangle 60">
                <a:extLst>
                  <a:ext uri="{FF2B5EF4-FFF2-40B4-BE49-F238E27FC236}">
                    <a16:creationId xmlns:a16="http://schemas.microsoft.com/office/drawing/2014/main" id="{15DF55CD-017F-4648-F47B-0955A2DF1B8A}"/>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85" name="Rounded Rectangle 61">
                <a:extLst>
                  <a:ext uri="{FF2B5EF4-FFF2-40B4-BE49-F238E27FC236}">
                    <a16:creationId xmlns:a16="http://schemas.microsoft.com/office/drawing/2014/main" id="{5D256B30-C36F-8FF7-EF48-2A360A77782B}"/>
                  </a:ext>
                </a:extLst>
              </p:cNvPr>
              <p:cNvSpPr/>
              <p:nvPr/>
            </p:nvSpPr>
            <p:spPr>
              <a:xfrm>
                <a:off x="1421674" y="1931126"/>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sp>
          <p:nvSpPr>
            <p:cNvPr id="83" name="Flowchart: Decision 36">
              <a:extLst>
                <a:ext uri="{FF2B5EF4-FFF2-40B4-BE49-F238E27FC236}">
                  <a16:creationId xmlns:a16="http://schemas.microsoft.com/office/drawing/2014/main" id="{EF502890-A4AE-37D3-28B4-75BE078B8595}"/>
                </a:ext>
                <a:ext uri="{C183D7F6-B498-43B3-948B-1728B52AA6E4}">
                  <adec:decorative xmlns:adec="http://schemas.microsoft.com/office/drawing/2017/decorative" val="1"/>
                </a:ext>
              </a:extLst>
            </p:cNvPr>
            <p:cNvSpPr/>
            <p:nvPr/>
          </p:nvSpPr>
          <p:spPr>
            <a:xfrm>
              <a:off x="11033410" y="4557434"/>
              <a:ext cx="259899" cy="274299"/>
            </a:xfrm>
            <a:prstGeom prst="flowChartDecisi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none" anchor="ctr"/>
            <a:lstStyle/>
            <a:p>
              <a:pPr>
                <a:defRPr/>
              </a:pPr>
              <a:endParaRPr lang="en-US" dirty="0">
                <a:latin typeface="Century Gothic" panose="020B0502020202020204" pitchFamily="34" charset="0"/>
              </a:endParaRPr>
            </a:p>
          </p:txBody>
        </p:sp>
      </p:grpSp>
      <p:grpSp>
        <p:nvGrpSpPr>
          <p:cNvPr id="36" name="Group 11">
            <a:extLst>
              <a:ext uri="{FF2B5EF4-FFF2-40B4-BE49-F238E27FC236}">
                <a16:creationId xmlns:a16="http://schemas.microsoft.com/office/drawing/2014/main" id="{9856B4A4-E003-CCD4-9E58-349FB9EFF56D}"/>
              </a:ext>
              <a:ext uri="{C183D7F6-B498-43B3-948B-1728B52AA6E4}">
                <adec:decorative xmlns:adec="http://schemas.microsoft.com/office/drawing/2017/decorative" val="1"/>
              </a:ext>
            </a:extLst>
          </p:cNvPr>
          <p:cNvGrpSpPr/>
          <p:nvPr/>
        </p:nvGrpSpPr>
        <p:grpSpPr>
          <a:xfrm>
            <a:off x="4100005" y="1693156"/>
            <a:ext cx="263936" cy="173698"/>
            <a:chOff x="1371600" y="1905000"/>
            <a:chExt cx="2667000" cy="228600"/>
          </a:xfrm>
        </p:grpSpPr>
        <p:sp>
          <p:nvSpPr>
            <p:cNvPr id="38" name="Rounded Rectangle 38">
              <a:extLst>
                <a:ext uri="{FF2B5EF4-FFF2-40B4-BE49-F238E27FC236}">
                  <a16:creationId xmlns:a16="http://schemas.microsoft.com/office/drawing/2014/main" id="{8B702A34-06DF-356B-53DE-D0142ECB4A31}"/>
                </a:ext>
              </a:extLst>
            </p:cNvPr>
            <p:cNvSpPr/>
            <p:nvPr/>
          </p:nvSpPr>
          <p:spPr>
            <a:xfrm>
              <a:off x="1371600" y="1905000"/>
              <a:ext cx="26670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39" name="Rounded Rectangle 40">
              <a:extLst>
                <a:ext uri="{FF2B5EF4-FFF2-40B4-BE49-F238E27FC236}">
                  <a16:creationId xmlns:a16="http://schemas.microsoft.com/office/drawing/2014/main" id="{900FDDD8-94F5-D7F7-3E7E-D4E01224594D}"/>
                </a:ext>
              </a:extLst>
            </p:cNvPr>
            <p:cNvSpPr/>
            <p:nvPr/>
          </p:nvSpPr>
          <p:spPr>
            <a:xfrm>
              <a:off x="1421674" y="1931126"/>
              <a:ext cx="259080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sp>
        <p:nvSpPr>
          <p:cNvPr id="44" name="Flowchart: Decision 36">
            <a:extLst>
              <a:ext uri="{FF2B5EF4-FFF2-40B4-BE49-F238E27FC236}">
                <a16:creationId xmlns:a16="http://schemas.microsoft.com/office/drawing/2014/main" id="{A89F0AC9-7D1A-3854-7B70-0CE168446A43}"/>
              </a:ext>
              <a:ext uri="{C183D7F6-B498-43B3-948B-1728B52AA6E4}">
                <adec:decorative xmlns:adec="http://schemas.microsoft.com/office/drawing/2017/decorative" val="1"/>
              </a:ext>
            </a:extLst>
          </p:cNvPr>
          <p:cNvSpPr/>
          <p:nvPr/>
        </p:nvSpPr>
        <p:spPr>
          <a:xfrm>
            <a:off x="4220500" y="1630901"/>
            <a:ext cx="259899" cy="274299"/>
          </a:xfrm>
          <a:prstGeom prst="flowChartDecisi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none" anchor="ctr"/>
          <a:lstStyle/>
          <a:p>
            <a:pPr>
              <a:defRPr/>
            </a:pPr>
            <a:endParaRPr lang="en-US" dirty="0">
              <a:latin typeface="Century Gothic" panose="020B0502020202020204" pitchFamily="34" charset="0"/>
            </a:endParaRPr>
          </a:p>
        </p:txBody>
      </p:sp>
    </p:spTree>
    <p:extLst>
      <p:ext uri="{BB962C8B-B14F-4D97-AF65-F5344CB8AC3E}">
        <p14:creationId xmlns:p14="http://schemas.microsoft.com/office/powerpoint/2010/main" val="714305329"/>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AAEFF-D8BC-D0B9-CCEF-00A858BC47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EECCF6-883C-2AF3-FAE4-D56BAB379C97}"/>
              </a:ext>
            </a:extLst>
          </p:cNvPr>
          <p:cNvSpPr>
            <a:spLocks noGrp="1"/>
          </p:cNvSpPr>
          <p:nvPr>
            <p:ph sz="half" idx="1"/>
          </p:nvPr>
        </p:nvSpPr>
        <p:spPr>
          <a:xfrm>
            <a:off x="2793443" y="5494861"/>
            <a:ext cx="6963506" cy="1226614"/>
          </a:xfrm>
        </p:spPr>
        <p:txBody>
          <a:bodyPr>
            <a:normAutofit fontScale="92500"/>
          </a:bodyPr>
          <a:lstStyle/>
          <a:p>
            <a:r>
              <a:rPr lang="en-US" sz="1600" dirty="0"/>
              <a:t>In addition, I had a family emergency that reduced my commitment to the project for a few weeks. Even though we have tried to make up time. The increased scope from the initial proposal with all of the additional enhancements. The timeline reflects an accurate schedule to ensure quality and fits to the business needs of the system. </a:t>
            </a:r>
          </a:p>
        </p:txBody>
      </p:sp>
      <p:sp>
        <p:nvSpPr>
          <p:cNvPr id="4" name="Date Placeholder 3">
            <a:extLst>
              <a:ext uri="{FF2B5EF4-FFF2-40B4-BE49-F238E27FC236}">
                <a16:creationId xmlns:a16="http://schemas.microsoft.com/office/drawing/2014/main" id="{2D7A32AF-3CB9-3C70-1394-C750B1F53743}"/>
              </a:ext>
            </a:extLst>
          </p:cNvPr>
          <p:cNvSpPr>
            <a:spLocks noGrp="1"/>
          </p:cNvSpPr>
          <p:nvPr>
            <p:ph type="dt" sz="half" idx="10"/>
          </p:nvPr>
        </p:nvSpPr>
        <p:spPr/>
        <p:txBody>
          <a:bodyPr/>
          <a:lstStyle/>
          <a:p>
            <a:fld id="{F0056A89-B657-4E56-81EA-47AEC42B3D30}" type="datetime1">
              <a:rPr lang="en-US" smtClean="0"/>
              <a:t>6/27/2025</a:t>
            </a:fld>
            <a:endParaRPr lang="en-US"/>
          </a:p>
        </p:txBody>
      </p:sp>
      <p:sp>
        <p:nvSpPr>
          <p:cNvPr id="5" name="Slide Number Placeholder 4">
            <a:extLst>
              <a:ext uri="{FF2B5EF4-FFF2-40B4-BE49-F238E27FC236}">
                <a16:creationId xmlns:a16="http://schemas.microsoft.com/office/drawing/2014/main" id="{DFA18A8C-6CD1-B4ED-28F0-E10901E85C5A}"/>
              </a:ext>
            </a:extLst>
          </p:cNvPr>
          <p:cNvSpPr>
            <a:spLocks noGrp="1"/>
          </p:cNvSpPr>
          <p:nvPr>
            <p:ph type="sldNum" sz="quarter" idx="12"/>
          </p:nvPr>
        </p:nvSpPr>
        <p:spPr/>
        <p:txBody>
          <a:bodyPr/>
          <a:lstStyle/>
          <a:p>
            <a:fld id="{330EA680-D336-4FF7-8B7A-9848BB0A1C32}" type="slidenum">
              <a:rPr lang="en-US" smtClean="0"/>
              <a:t>3</a:t>
            </a:fld>
            <a:endParaRPr lang="en-US" dirty="0"/>
          </a:p>
        </p:txBody>
      </p:sp>
      <p:sp>
        <p:nvSpPr>
          <p:cNvPr id="6" name="Title 5">
            <a:extLst>
              <a:ext uri="{FF2B5EF4-FFF2-40B4-BE49-F238E27FC236}">
                <a16:creationId xmlns:a16="http://schemas.microsoft.com/office/drawing/2014/main" id="{01FE94F4-3387-670D-60B6-F46E141A61D2}"/>
              </a:ext>
            </a:extLst>
          </p:cNvPr>
          <p:cNvSpPr>
            <a:spLocks noGrp="1"/>
          </p:cNvSpPr>
          <p:nvPr>
            <p:ph type="title"/>
          </p:nvPr>
        </p:nvSpPr>
        <p:spPr/>
        <p:txBody>
          <a:bodyPr/>
          <a:lstStyle/>
          <a:p>
            <a:r>
              <a:rPr lang="en-US" sz="2800" dirty="0"/>
              <a:t>Scope Creep Analysis &amp; Timeline Impact</a:t>
            </a:r>
          </a:p>
        </p:txBody>
      </p:sp>
      <p:graphicFrame>
        <p:nvGraphicFramePr>
          <p:cNvPr id="7" name="Table 6">
            <a:extLst>
              <a:ext uri="{FF2B5EF4-FFF2-40B4-BE49-F238E27FC236}">
                <a16:creationId xmlns:a16="http://schemas.microsoft.com/office/drawing/2014/main" id="{6380B856-82F8-A147-CAC7-988F74BAEFF7}"/>
              </a:ext>
            </a:extLst>
          </p:cNvPr>
          <p:cNvGraphicFramePr>
            <a:graphicFrameLocks noGrp="1"/>
          </p:cNvGraphicFramePr>
          <p:nvPr>
            <p:extLst>
              <p:ext uri="{D42A27DB-BD31-4B8C-83A1-F6EECF244321}">
                <p14:modId xmlns:p14="http://schemas.microsoft.com/office/powerpoint/2010/main" val="4284071397"/>
              </p:ext>
            </p:extLst>
          </p:nvPr>
        </p:nvGraphicFramePr>
        <p:xfrm>
          <a:off x="838200" y="1241513"/>
          <a:ext cx="5334000" cy="3619500"/>
        </p:xfrm>
        <a:graphic>
          <a:graphicData uri="http://schemas.openxmlformats.org/drawingml/2006/table">
            <a:tbl>
              <a:tblPr/>
              <a:tblGrid>
                <a:gridCol w="1778000">
                  <a:extLst>
                    <a:ext uri="{9D8B030D-6E8A-4147-A177-3AD203B41FA5}">
                      <a16:colId xmlns:a16="http://schemas.microsoft.com/office/drawing/2014/main" val="1221168063"/>
                    </a:ext>
                  </a:extLst>
                </a:gridCol>
                <a:gridCol w="1778000">
                  <a:extLst>
                    <a:ext uri="{9D8B030D-6E8A-4147-A177-3AD203B41FA5}">
                      <a16:colId xmlns:a16="http://schemas.microsoft.com/office/drawing/2014/main" val="3133374844"/>
                    </a:ext>
                  </a:extLst>
                </a:gridCol>
                <a:gridCol w="1778000">
                  <a:extLst>
                    <a:ext uri="{9D8B030D-6E8A-4147-A177-3AD203B41FA5}">
                      <a16:colId xmlns:a16="http://schemas.microsoft.com/office/drawing/2014/main" val="3898460322"/>
                    </a:ext>
                  </a:extLst>
                </a:gridCol>
              </a:tblGrid>
              <a:tr h="190500">
                <a:tc>
                  <a:txBody>
                    <a:bodyPr/>
                    <a:lstStyle/>
                    <a:p>
                      <a:pPr algn="ctr" fontAlgn="ctr"/>
                      <a:r>
                        <a:rPr lang="en-US" sz="1100" b="1" i="0" u="none" strike="noStrike">
                          <a:solidFill>
                            <a:srgbClr val="FFFFFF"/>
                          </a:solidFill>
                          <a:effectLst/>
                          <a:latin typeface="Aptos Narrow" panose="020B0004020202020204" pitchFamily="34" charset="0"/>
                        </a:rPr>
                        <a:t>Area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ctr" fontAlgn="ctr"/>
                      <a:r>
                        <a:rPr lang="en-US" sz="1100" b="1" i="0" u="none" strike="noStrike">
                          <a:solidFill>
                            <a:srgbClr val="FFFFFF"/>
                          </a:solidFill>
                          <a:effectLst/>
                          <a:latin typeface="Aptos Narrow" panose="020B000402020202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ctr" fontAlgn="ctr"/>
                      <a:r>
                        <a:rPr lang="en-US" sz="1100" b="1" i="0" u="none" strike="noStrike">
                          <a:solidFill>
                            <a:srgbClr val="FFFFFF"/>
                          </a:solidFill>
                          <a:effectLst/>
                          <a:latin typeface="Aptos Narrow" panose="020B0004020202020204" pitchFamily="34" charset="0"/>
                        </a:rPr>
                        <a:t>Timeline Impact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extLst>
                  <a:ext uri="{0D108BD9-81ED-4DB2-BD59-A6C34878D82A}">
                    <a16:rowId xmlns:a16="http://schemas.microsoft.com/office/drawing/2014/main" val="240740996"/>
                  </a:ext>
                </a:extLst>
              </a:tr>
              <a:tr h="762000">
                <a:tc>
                  <a:txBody>
                    <a:bodyPr/>
                    <a:lstStyle/>
                    <a:p>
                      <a:pPr algn="l" fontAlgn="ctr"/>
                      <a:r>
                        <a:rPr lang="en-US" sz="1100" b="0" i="0" u="none" strike="noStrike">
                          <a:solidFill>
                            <a:srgbClr val="000000"/>
                          </a:solidFill>
                          <a:effectLst/>
                          <a:latin typeface="Aptos Narrow" panose="020B0004020202020204" pitchFamily="34" charset="0"/>
                        </a:rPr>
                        <a:t>Client Requirements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ctr"/>
                      <a:r>
                        <a:rPr lang="en-US" sz="1100" b="0" i="0" u="none" strike="noStrike" dirty="0">
                          <a:solidFill>
                            <a:srgbClr val="000000"/>
                          </a:solidFill>
                          <a:effectLst/>
                          <a:latin typeface="Aptos Narrow" panose="020B0004020202020204" pitchFamily="34" charset="0"/>
                        </a:rPr>
                        <a:t>User stories and requirements evolved during design.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ctr"/>
                      <a:r>
                        <a:rPr lang="en-US" sz="1100" b="0" i="0" u="none" strike="noStrike">
                          <a:solidFill>
                            <a:srgbClr val="000000"/>
                          </a:solidFill>
                          <a:effectLst/>
                          <a:latin typeface="Aptos Narrow" panose="020B0004020202020204" pitchFamily="34" charset="0"/>
                        </a:rPr>
                        <a:t>+8 weeks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4073655197"/>
                  </a:ext>
                </a:extLst>
              </a:tr>
              <a:tr h="571500">
                <a:tc>
                  <a:txBody>
                    <a:bodyPr/>
                    <a:lstStyle/>
                    <a:p>
                      <a:pPr algn="l" fontAlgn="ctr"/>
                      <a:r>
                        <a:rPr lang="en-US" sz="1100" b="0" i="0" u="none" strike="noStrike">
                          <a:solidFill>
                            <a:srgbClr val="000000"/>
                          </a:solidFill>
                          <a:effectLst/>
                          <a:latin typeface="Aptos Narrow" panose="020B0004020202020204" pitchFamily="34" charset="0"/>
                        </a:rPr>
                        <a:t>Front-End Redesign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Aptos Narrow" panose="020B0004020202020204" pitchFamily="34" charset="0"/>
                        </a:rPr>
                        <a:t>Expanded from basic UI to extensive front-end design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Aptos Narrow" panose="020B0004020202020204" pitchFamily="34" charset="0"/>
                        </a:rPr>
                        <a:t>+5–6 weeks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6789361"/>
                  </a:ext>
                </a:extLst>
              </a:tr>
              <a:tr h="571500">
                <a:tc>
                  <a:txBody>
                    <a:bodyPr/>
                    <a:lstStyle/>
                    <a:p>
                      <a:pPr algn="l" fontAlgn="ctr"/>
                      <a:r>
                        <a:rPr lang="en-US" sz="1100" b="0" i="0" u="none" strike="noStrike">
                          <a:solidFill>
                            <a:srgbClr val="000000"/>
                          </a:solidFill>
                          <a:effectLst/>
                          <a:latin typeface="Aptos Narrow" panose="020B0004020202020204" pitchFamily="34" charset="0"/>
                        </a:rPr>
                        <a:t>Product &amp; Bulk Upload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Aptos Narrow" panose="020B0004020202020204" pitchFamily="34" charset="0"/>
                        </a:rPr>
                        <a:t>Introduced multi-ID types (ASIN, UPC, GTIN, EAN) and import features.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Aptos Narrow" panose="020B0004020202020204" pitchFamily="34" charset="0"/>
                        </a:rPr>
                        <a:t>+2–3 weeks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6221424"/>
                  </a:ext>
                </a:extLst>
              </a:tr>
              <a:tr h="381000">
                <a:tc>
                  <a:txBody>
                    <a:bodyPr/>
                    <a:lstStyle/>
                    <a:p>
                      <a:pPr algn="l" fontAlgn="ctr"/>
                      <a:r>
                        <a:rPr lang="en-US" sz="1100" b="0" i="0" u="none" strike="noStrike">
                          <a:solidFill>
                            <a:srgbClr val="000000"/>
                          </a:solidFill>
                          <a:effectLst/>
                          <a:latin typeface="Aptos Narrow" panose="020B0004020202020204" pitchFamily="34" charset="0"/>
                        </a:rPr>
                        <a:t>Field Management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ctr"/>
                      <a:r>
                        <a:rPr lang="en-US" sz="1100" b="0" i="0" u="none" strike="noStrike">
                          <a:solidFill>
                            <a:srgbClr val="000000"/>
                          </a:solidFill>
                          <a:effectLst/>
                          <a:latin typeface="Aptos Narrow" panose="020B0004020202020204" pitchFamily="34" charset="0"/>
                        </a:rPr>
                        <a:t>Included inline editing and dynamic field creation.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ctr"/>
                      <a:r>
                        <a:rPr lang="en-US" sz="1100" b="0" i="0" u="none" strike="noStrike">
                          <a:solidFill>
                            <a:srgbClr val="000000"/>
                          </a:solidFill>
                          <a:effectLst/>
                          <a:latin typeface="Aptos Narrow" panose="020B0004020202020204" pitchFamily="34" charset="0"/>
                        </a:rPr>
                        <a:t>+2 weeks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182192681"/>
                  </a:ext>
                </a:extLst>
              </a:tr>
              <a:tr h="381000">
                <a:tc>
                  <a:txBody>
                    <a:bodyPr/>
                    <a:lstStyle/>
                    <a:p>
                      <a:pPr algn="l" fontAlgn="ctr"/>
                      <a:r>
                        <a:rPr lang="en-US" sz="1100" b="0" i="0" u="none" strike="noStrike">
                          <a:solidFill>
                            <a:srgbClr val="000000"/>
                          </a:solidFill>
                          <a:effectLst/>
                          <a:latin typeface="Aptos Narrow" panose="020B0004020202020204" pitchFamily="34" charset="0"/>
                        </a:rPr>
                        <a:t>Role Management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Aptos Narrow" panose="020B0004020202020204" pitchFamily="34" charset="0"/>
                        </a:rPr>
                        <a:t>Introduced 4 user roles with granular permissions.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Aptos Narrow" panose="020B0004020202020204" pitchFamily="34" charset="0"/>
                        </a:rPr>
                        <a:t>+1–2 weeks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034311"/>
                  </a:ext>
                </a:extLst>
              </a:tr>
              <a:tr h="381000">
                <a:tc>
                  <a:txBody>
                    <a:bodyPr/>
                    <a:lstStyle/>
                    <a:p>
                      <a:pPr algn="l" fontAlgn="ctr"/>
                      <a:r>
                        <a:rPr lang="en-US" sz="1100" b="0" i="0" u="none" strike="noStrike">
                          <a:solidFill>
                            <a:srgbClr val="000000"/>
                          </a:solidFill>
                          <a:effectLst/>
                          <a:latin typeface="Aptos Narrow" panose="020B0004020202020204" pitchFamily="34" charset="0"/>
                        </a:rPr>
                        <a:t>Dashboards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ctr"/>
                      <a:r>
                        <a:rPr lang="en-US" sz="1100" b="0" i="0" u="none" strike="noStrike">
                          <a:solidFill>
                            <a:srgbClr val="000000"/>
                          </a:solidFill>
                          <a:effectLst/>
                          <a:latin typeface="Aptos Narrow" panose="020B0004020202020204" pitchFamily="34" charset="0"/>
                        </a:rPr>
                        <a:t>Added 10+ metrics, tracking, and role-based views.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ctr"/>
                      <a:r>
                        <a:rPr lang="en-US" sz="1100" b="0" i="0" u="none" strike="noStrike">
                          <a:solidFill>
                            <a:srgbClr val="000000"/>
                          </a:solidFill>
                          <a:effectLst/>
                          <a:latin typeface="Aptos Narrow" panose="020B0004020202020204" pitchFamily="34" charset="0"/>
                        </a:rPr>
                        <a:t>+1–2 weeks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951816021"/>
                  </a:ext>
                </a:extLst>
              </a:tr>
              <a:tr h="381000">
                <a:tc>
                  <a:txBody>
                    <a:bodyPr/>
                    <a:lstStyle/>
                    <a:p>
                      <a:pPr algn="l" fontAlgn="ctr"/>
                      <a:r>
                        <a:rPr lang="en-US" sz="1100" b="0" i="0" u="none" strike="noStrike">
                          <a:solidFill>
                            <a:srgbClr val="000000"/>
                          </a:solidFill>
                          <a:effectLst/>
                          <a:latin typeface="Aptos Narrow" panose="020B0004020202020204" pitchFamily="34" charset="0"/>
                        </a:rPr>
                        <a:t>Stakeholder Feedback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Aptos Narrow" panose="020B0004020202020204" pitchFamily="34" charset="0"/>
                        </a:rPr>
                        <a:t>Multiple rounds of design revisions required.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Aptos Narrow" panose="020B0004020202020204" pitchFamily="34" charset="0"/>
                        </a:rPr>
                        <a:t>+3–4 weeks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770309"/>
                  </a:ext>
                </a:extLst>
              </a:tr>
            </a:tbl>
          </a:graphicData>
        </a:graphic>
      </p:graphicFrame>
      <p:graphicFrame>
        <p:nvGraphicFramePr>
          <p:cNvPr id="9" name="Table 8">
            <a:extLst>
              <a:ext uri="{FF2B5EF4-FFF2-40B4-BE49-F238E27FC236}">
                <a16:creationId xmlns:a16="http://schemas.microsoft.com/office/drawing/2014/main" id="{30475F9B-BEE8-8AEC-7A79-29396E9B0C1B}"/>
              </a:ext>
            </a:extLst>
          </p:cNvPr>
          <p:cNvGraphicFramePr>
            <a:graphicFrameLocks noGrp="1"/>
          </p:cNvGraphicFramePr>
          <p:nvPr>
            <p:extLst>
              <p:ext uri="{D42A27DB-BD31-4B8C-83A1-F6EECF244321}">
                <p14:modId xmlns:p14="http://schemas.microsoft.com/office/powerpoint/2010/main" val="1134861046"/>
              </p:ext>
            </p:extLst>
          </p:nvPr>
        </p:nvGraphicFramePr>
        <p:xfrm>
          <a:off x="6486905" y="1241513"/>
          <a:ext cx="4866895" cy="571500"/>
        </p:xfrm>
        <a:graphic>
          <a:graphicData uri="http://schemas.openxmlformats.org/drawingml/2006/table">
            <a:tbl>
              <a:tblPr/>
              <a:tblGrid>
                <a:gridCol w="1428743">
                  <a:extLst>
                    <a:ext uri="{9D8B030D-6E8A-4147-A177-3AD203B41FA5}">
                      <a16:colId xmlns:a16="http://schemas.microsoft.com/office/drawing/2014/main" val="2729284690"/>
                    </a:ext>
                  </a:extLst>
                </a:gridCol>
                <a:gridCol w="1428743">
                  <a:extLst>
                    <a:ext uri="{9D8B030D-6E8A-4147-A177-3AD203B41FA5}">
                      <a16:colId xmlns:a16="http://schemas.microsoft.com/office/drawing/2014/main" val="941067081"/>
                    </a:ext>
                  </a:extLst>
                </a:gridCol>
                <a:gridCol w="1428743">
                  <a:extLst>
                    <a:ext uri="{9D8B030D-6E8A-4147-A177-3AD203B41FA5}">
                      <a16:colId xmlns:a16="http://schemas.microsoft.com/office/drawing/2014/main" val="1293092941"/>
                    </a:ext>
                  </a:extLst>
                </a:gridCol>
                <a:gridCol w="580666">
                  <a:extLst>
                    <a:ext uri="{9D8B030D-6E8A-4147-A177-3AD203B41FA5}">
                      <a16:colId xmlns:a16="http://schemas.microsoft.com/office/drawing/2014/main" val="1509340941"/>
                    </a:ext>
                  </a:extLst>
                </a:gridCol>
              </a:tblGrid>
              <a:tr h="190500">
                <a:tc>
                  <a:txBody>
                    <a:bodyPr/>
                    <a:lstStyle/>
                    <a:p>
                      <a:pPr algn="ctr" fontAlgn="ctr"/>
                      <a:r>
                        <a:rPr lang="en-US" sz="1100" b="1" i="0" u="none" strike="noStrike">
                          <a:solidFill>
                            <a:srgbClr val="FFFFFF"/>
                          </a:solidFill>
                          <a:effectLst/>
                          <a:latin typeface="Aptos Narrow" panose="020B0004020202020204" pitchFamily="34" charset="0"/>
                        </a:rPr>
                        <a:t>Metric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ctr" fontAlgn="ctr"/>
                      <a:r>
                        <a:rPr lang="en-US" sz="1100" b="1" i="0" u="none" strike="noStrike">
                          <a:solidFill>
                            <a:srgbClr val="FFFFFF"/>
                          </a:solidFill>
                          <a:effectLst/>
                          <a:latin typeface="Aptos Narrow" panose="020B0004020202020204" pitchFamily="34" charset="0"/>
                        </a:rPr>
                        <a:t>Original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ctr" fontAlgn="ctr"/>
                      <a:r>
                        <a:rPr lang="en-US" sz="1100" b="1" i="0" u="none" strike="noStrike" dirty="0">
                          <a:solidFill>
                            <a:srgbClr val="FFFFFF"/>
                          </a:solidFill>
                          <a:effectLst/>
                          <a:latin typeface="Aptos Narrow" panose="020B0004020202020204" pitchFamily="34" charset="0"/>
                        </a:rPr>
                        <a:t>Revised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ctr" fontAlgn="ctr"/>
                      <a:r>
                        <a:rPr lang="en-US" sz="1100" b="1" i="0" u="none" strike="noStrike">
                          <a:solidFill>
                            <a:srgbClr val="FFFFFF"/>
                          </a:solidFill>
                          <a:effectLst/>
                          <a:latin typeface="Aptos Narrow" panose="020B0004020202020204" pitchFamily="34" charset="0"/>
                        </a:rPr>
                        <a:t>Increase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extLst>
                  <a:ext uri="{0D108BD9-81ED-4DB2-BD59-A6C34878D82A}">
                    <a16:rowId xmlns:a16="http://schemas.microsoft.com/office/drawing/2014/main" val="3482269381"/>
                  </a:ext>
                </a:extLst>
              </a:tr>
              <a:tr h="381000">
                <a:tc>
                  <a:txBody>
                    <a:bodyPr/>
                    <a:lstStyle/>
                    <a:p>
                      <a:pPr algn="l" fontAlgn="ctr"/>
                      <a:r>
                        <a:rPr lang="en-US" sz="1100" b="1" i="0" u="none" strike="noStrike">
                          <a:solidFill>
                            <a:srgbClr val="000000"/>
                          </a:solidFill>
                          <a:effectLst/>
                          <a:latin typeface="Aptos Narrow" panose="020B0004020202020204" pitchFamily="34" charset="0"/>
                        </a:rPr>
                        <a:t>Timeline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ctr"/>
                      <a:r>
                        <a:rPr lang="en-US" sz="1100" b="0" i="0" u="none" strike="noStrike" dirty="0">
                          <a:solidFill>
                            <a:srgbClr val="000000"/>
                          </a:solidFill>
                          <a:effectLst/>
                          <a:latin typeface="Aptos Narrow" panose="020B0004020202020204" pitchFamily="34" charset="0"/>
                        </a:rPr>
                        <a:t>14–18 weeks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ctr"/>
                      <a:r>
                        <a:rPr lang="en-US" sz="1100" b="0" i="0" u="none" strike="noStrike">
                          <a:solidFill>
                            <a:srgbClr val="000000"/>
                          </a:solidFill>
                          <a:effectLst/>
                          <a:latin typeface="Aptos Narrow" panose="020B0004020202020204" pitchFamily="34" charset="0"/>
                        </a:rPr>
                        <a:t>34–40 weeks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ctr"/>
                      <a:r>
                        <a:rPr lang="en-US" sz="1100" b="0" i="0" u="none" strike="noStrike" dirty="0">
                          <a:solidFill>
                            <a:srgbClr val="000000"/>
                          </a:solidFill>
                          <a:effectLst/>
                          <a:latin typeface="Aptos Narrow" panose="020B0004020202020204" pitchFamily="34" charset="0"/>
                        </a:rPr>
                        <a:t>+20–22 weeks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083490188"/>
                  </a:ext>
                </a:extLst>
              </a:tr>
            </a:tbl>
          </a:graphicData>
        </a:graphic>
      </p:graphicFrame>
    </p:spTree>
    <p:extLst>
      <p:ext uri="{BB962C8B-B14F-4D97-AF65-F5344CB8AC3E}">
        <p14:creationId xmlns:p14="http://schemas.microsoft.com/office/powerpoint/2010/main" val="3629285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1125350-4A05-E2A5-07B6-8813C2772068}"/>
              </a:ext>
            </a:extLst>
          </p:cNvPr>
          <p:cNvPicPr>
            <a:picLocks noChangeAspect="1"/>
          </p:cNvPicPr>
          <p:nvPr/>
        </p:nvPicPr>
        <p:blipFill>
          <a:blip r:embed="rId3"/>
          <a:srcRect t="4086"/>
          <a:stretch>
            <a:fillRect/>
          </a:stretch>
        </p:blipFill>
        <p:spPr>
          <a:xfrm>
            <a:off x="311695" y="1105133"/>
            <a:ext cx="11787963" cy="4890294"/>
          </a:xfrm>
          <a:prstGeom prst="rect">
            <a:avLst/>
          </a:prstGeom>
        </p:spPr>
      </p:pic>
      <p:pic>
        <p:nvPicPr>
          <p:cNvPr id="4" name="Picture 3">
            <a:extLst>
              <a:ext uri="{FF2B5EF4-FFF2-40B4-BE49-F238E27FC236}">
                <a16:creationId xmlns:a16="http://schemas.microsoft.com/office/drawing/2014/main" id="{9ADBB939-F120-A1CA-2A1D-92C29E991373}"/>
              </a:ext>
            </a:extLst>
          </p:cNvPr>
          <p:cNvPicPr>
            <a:picLocks noChangeAspect="1"/>
          </p:cNvPicPr>
          <p:nvPr/>
        </p:nvPicPr>
        <p:blipFill>
          <a:blip r:embed="rId4"/>
          <a:srcRect l="76383" t="7576" b="78093"/>
          <a:stretch/>
        </p:blipFill>
        <p:spPr>
          <a:xfrm>
            <a:off x="9516492" y="121371"/>
            <a:ext cx="2583166" cy="949617"/>
          </a:xfrm>
          <a:prstGeom prst="rect">
            <a:avLst/>
          </a:prstGeom>
        </p:spPr>
      </p:pic>
      <p:sp>
        <p:nvSpPr>
          <p:cNvPr id="2" name="Title 1">
            <a:extLst>
              <a:ext uri="{FF2B5EF4-FFF2-40B4-BE49-F238E27FC236}">
                <a16:creationId xmlns:a16="http://schemas.microsoft.com/office/drawing/2014/main" id="{30761E5B-27FF-33A6-80EC-FC0741303A51}"/>
              </a:ext>
            </a:extLst>
          </p:cNvPr>
          <p:cNvSpPr>
            <a:spLocks noGrp="1"/>
          </p:cNvSpPr>
          <p:nvPr>
            <p:ph type="title"/>
          </p:nvPr>
        </p:nvSpPr>
        <p:spPr>
          <a:xfrm>
            <a:off x="598503" y="193906"/>
            <a:ext cx="10515600" cy="487131"/>
          </a:xfrm>
        </p:spPr>
        <p:txBody>
          <a:bodyPr>
            <a:normAutofit/>
          </a:bodyPr>
          <a:lstStyle/>
          <a:p>
            <a:r>
              <a:rPr lang="en-US" sz="2800" dirty="0"/>
              <a:t>GreenCircle Certified Database Site Map</a:t>
            </a:r>
          </a:p>
        </p:txBody>
      </p:sp>
      <p:sp>
        <p:nvSpPr>
          <p:cNvPr id="7" name="Date Placeholder 6">
            <a:extLst>
              <a:ext uri="{FF2B5EF4-FFF2-40B4-BE49-F238E27FC236}">
                <a16:creationId xmlns:a16="http://schemas.microsoft.com/office/drawing/2014/main" id="{FA09F5C0-52DA-DF94-2FBE-5D1E855C488E}"/>
              </a:ext>
            </a:extLst>
          </p:cNvPr>
          <p:cNvSpPr>
            <a:spLocks noGrp="1"/>
          </p:cNvSpPr>
          <p:nvPr>
            <p:ph type="dt" sz="half" idx="10"/>
          </p:nvPr>
        </p:nvSpPr>
        <p:spPr>
          <a:xfrm>
            <a:off x="838200" y="6356350"/>
            <a:ext cx="2743200" cy="365125"/>
          </a:xfrm>
        </p:spPr>
        <p:txBody>
          <a:bodyPr anchor="ctr">
            <a:normAutofit/>
          </a:bodyPr>
          <a:lstStyle/>
          <a:p>
            <a:pPr>
              <a:spcAft>
                <a:spcPts val="600"/>
              </a:spcAft>
            </a:pPr>
            <a:fld id="{1F040F15-3124-4DA1-BD1D-A4F020C7C5A7}" type="datetime1">
              <a:rPr lang="en-US" smtClean="0"/>
              <a:pPr>
                <a:spcAft>
                  <a:spcPts val="600"/>
                </a:spcAft>
              </a:pPr>
              <a:t>6/27/2025</a:t>
            </a:fld>
            <a:endParaRPr lang="en-US"/>
          </a:p>
        </p:txBody>
      </p:sp>
      <p:sp>
        <p:nvSpPr>
          <p:cNvPr id="8" name="Slide Number Placeholder 7">
            <a:extLst>
              <a:ext uri="{FF2B5EF4-FFF2-40B4-BE49-F238E27FC236}">
                <a16:creationId xmlns:a16="http://schemas.microsoft.com/office/drawing/2014/main" id="{5C24D69F-4E32-59D8-62AB-5F97C38E1DB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a:t>
            </a:fld>
            <a:endParaRPr lang="en-US"/>
          </a:p>
        </p:txBody>
      </p:sp>
      <p:sp>
        <p:nvSpPr>
          <p:cNvPr id="22" name="TextBox 21">
            <a:extLst>
              <a:ext uri="{FF2B5EF4-FFF2-40B4-BE49-F238E27FC236}">
                <a16:creationId xmlns:a16="http://schemas.microsoft.com/office/drawing/2014/main" id="{A12E4D06-E6D9-C763-0B86-D938D124541E}"/>
              </a:ext>
            </a:extLst>
          </p:cNvPr>
          <p:cNvSpPr txBox="1"/>
          <p:nvPr/>
        </p:nvSpPr>
        <p:spPr>
          <a:xfrm>
            <a:off x="302439" y="5603816"/>
            <a:ext cx="4848448" cy="938719"/>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Assumptions:</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Certificate List 1.0 is a different page than Certificates 3.0.</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Admin will have the ability to Add, Edit or Delete a Certificate, Company, Products,  Users, Certificate Type, Product Types and Tags. </a:t>
            </a:r>
          </a:p>
        </p:txBody>
      </p:sp>
      <p:sp>
        <p:nvSpPr>
          <p:cNvPr id="24" name="TextBox 23">
            <a:extLst>
              <a:ext uri="{FF2B5EF4-FFF2-40B4-BE49-F238E27FC236}">
                <a16:creationId xmlns:a16="http://schemas.microsoft.com/office/drawing/2014/main" id="{8AD6F484-B1DD-E163-3259-5895CE3F6EAE}"/>
              </a:ext>
            </a:extLst>
          </p:cNvPr>
          <p:cNvSpPr txBox="1"/>
          <p:nvPr/>
        </p:nvSpPr>
        <p:spPr>
          <a:xfrm>
            <a:off x="5252485" y="4569142"/>
            <a:ext cx="3427058" cy="1969770"/>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Notes: </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CRUD: [Create, Read, Update, Delete] – Wireframes include the details of the screens.</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Notifications &amp; Alerts: Color-coded: Green for success, Red for errors, Yellow for warnings, Blue/gray for info)</a:t>
            </a:r>
          </a:p>
          <a:p>
            <a:pPr marL="285750" marR="0" indent="-285750" algn="l" rtl="0">
              <a:buFont typeface="Arial" panose="020B0604020202020204" pitchFamily="34" charset="0"/>
              <a:buChar char="•"/>
            </a:pPr>
            <a:r>
              <a:rPr lang="en-US" sz="1100" dirty="0">
                <a:latin typeface="Century Gothic" panose="020B0502020202020204" pitchFamily="34" charset="0"/>
              </a:rPr>
              <a:t>Sign-up Registration will be included but hidden and disabled for all users except the admin.</a:t>
            </a:r>
            <a:endParaRPr lang="en-US" sz="1100" b="0" i="0" u="none" strike="noStrike" baseline="0" dirty="0">
              <a:latin typeface="Century Gothic" panose="020B0502020202020204" pitchFamily="34" charset="0"/>
            </a:endParaRPr>
          </a:p>
          <a:p>
            <a:pPr marL="285750" marR="0" indent="-285750" algn="l" rtl="0">
              <a:buFont typeface="Arial" panose="020B0604020202020204" pitchFamily="34" charset="0"/>
              <a:buChar char="•"/>
            </a:pPr>
            <a:endParaRPr lang="en-US" sz="1200" dirty="0">
              <a:latin typeface="Century Gothic" panose="020B0502020202020204" pitchFamily="34" charset="0"/>
            </a:endParaRPr>
          </a:p>
        </p:txBody>
      </p:sp>
    </p:spTree>
    <p:extLst>
      <p:ext uri="{BB962C8B-B14F-4D97-AF65-F5344CB8AC3E}">
        <p14:creationId xmlns:p14="http://schemas.microsoft.com/office/powerpoint/2010/main" val="1482514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92A39-4808-D1C5-1C2D-4C77A0CBAE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E0CA37-DE69-39D8-9201-259F23020AD7}"/>
              </a:ext>
            </a:extLst>
          </p:cNvPr>
          <p:cNvSpPr>
            <a:spLocks noGrp="1"/>
          </p:cNvSpPr>
          <p:nvPr>
            <p:ph sz="half" idx="1"/>
          </p:nvPr>
        </p:nvSpPr>
        <p:spPr>
          <a:xfrm>
            <a:off x="598503" y="782425"/>
            <a:ext cx="11017391" cy="5394538"/>
          </a:xfrm>
        </p:spPr>
        <p:txBody>
          <a:bodyPr>
            <a:normAutofit/>
          </a:bodyPr>
          <a:lstStyle/>
          <a:p>
            <a:r>
              <a:rPr lang="en-US" sz="1600" dirty="0"/>
              <a:t>The adjusted timeline provides:</a:t>
            </a:r>
          </a:p>
          <a:p>
            <a:pPr lvl="1"/>
            <a:r>
              <a:rPr lang="en-US" sz="1600" dirty="0"/>
              <a:t>Adequate time for comprehensive development of expanded features</a:t>
            </a:r>
          </a:p>
          <a:p>
            <a:pPr lvl="1"/>
            <a:r>
              <a:rPr lang="en-US" sz="1600" dirty="0"/>
              <a:t>Proper testing cycles for the enhanced functionality</a:t>
            </a:r>
          </a:p>
          <a:p>
            <a:pPr lvl="1"/>
            <a:r>
              <a:rPr lang="en-US" sz="1600" dirty="0"/>
              <a:t>Quality assurance for the more complex integrations</a:t>
            </a:r>
          </a:p>
          <a:p>
            <a:pPr lvl="1"/>
            <a:r>
              <a:rPr lang="en-US" sz="1600" dirty="0"/>
              <a:t>Stakeholder alignment on enhanced deliverables</a:t>
            </a:r>
            <a:br>
              <a:rPr lang="en-US" sz="1600" dirty="0"/>
            </a:br>
            <a:endParaRPr lang="en-US" sz="1600" dirty="0"/>
          </a:p>
          <a:p>
            <a:r>
              <a:rPr lang="en-US" sz="1600" dirty="0"/>
              <a:t>Scope Evolution Highlights:</a:t>
            </a:r>
          </a:p>
          <a:p>
            <a:pPr lvl="1"/>
            <a:r>
              <a:rPr lang="en-US" sz="1600" dirty="0"/>
              <a:t>Enhanced Security Features - MFA, audit logging, role-based permissions</a:t>
            </a:r>
          </a:p>
          <a:p>
            <a:pPr lvl="1"/>
            <a:r>
              <a:rPr lang="en-US" sz="1600" dirty="0"/>
              <a:t>Advanced User Experience - Infinite scrolling, improved filtering, mobile considerations</a:t>
            </a:r>
          </a:p>
          <a:p>
            <a:pPr lvl="1"/>
            <a:r>
              <a:rPr lang="en-US" sz="1600" dirty="0"/>
              <a:t>Complex Data Management - Sophisticated product ID handling, multi-partner associations</a:t>
            </a:r>
          </a:p>
          <a:p>
            <a:pPr lvl="1"/>
            <a:r>
              <a:rPr lang="en-US" sz="1600" dirty="0"/>
              <a:t>Extended User Types - External partners, varied client access models</a:t>
            </a:r>
          </a:p>
          <a:p>
            <a:pPr marL="0" indent="0">
              <a:buNone/>
            </a:pPr>
            <a:endParaRPr lang="en-US" sz="1600" dirty="0"/>
          </a:p>
        </p:txBody>
      </p:sp>
      <p:sp>
        <p:nvSpPr>
          <p:cNvPr id="4" name="Date Placeholder 3">
            <a:extLst>
              <a:ext uri="{FF2B5EF4-FFF2-40B4-BE49-F238E27FC236}">
                <a16:creationId xmlns:a16="http://schemas.microsoft.com/office/drawing/2014/main" id="{24BF6EDC-B6C6-A099-DEC4-82C079A82EB1}"/>
              </a:ext>
            </a:extLst>
          </p:cNvPr>
          <p:cNvSpPr>
            <a:spLocks noGrp="1"/>
          </p:cNvSpPr>
          <p:nvPr>
            <p:ph type="dt" sz="half" idx="10"/>
          </p:nvPr>
        </p:nvSpPr>
        <p:spPr/>
        <p:txBody>
          <a:bodyPr/>
          <a:lstStyle/>
          <a:p>
            <a:fld id="{F0056A89-B657-4E56-81EA-47AEC42B3D30}" type="datetime1">
              <a:rPr lang="en-US" smtClean="0"/>
              <a:t>6/27/2025</a:t>
            </a:fld>
            <a:endParaRPr lang="en-US"/>
          </a:p>
        </p:txBody>
      </p:sp>
      <p:sp>
        <p:nvSpPr>
          <p:cNvPr id="5" name="Slide Number Placeholder 4">
            <a:extLst>
              <a:ext uri="{FF2B5EF4-FFF2-40B4-BE49-F238E27FC236}">
                <a16:creationId xmlns:a16="http://schemas.microsoft.com/office/drawing/2014/main" id="{FAC73A54-41C8-CA0E-841B-8085AE9581BC}"/>
              </a:ext>
            </a:extLst>
          </p:cNvPr>
          <p:cNvSpPr>
            <a:spLocks noGrp="1"/>
          </p:cNvSpPr>
          <p:nvPr>
            <p:ph type="sldNum" sz="quarter" idx="12"/>
          </p:nvPr>
        </p:nvSpPr>
        <p:spPr/>
        <p:txBody>
          <a:bodyPr/>
          <a:lstStyle/>
          <a:p>
            <a:fld id="{330EA680-D336-4FF7-8B7A-9848BB0A1C32}" type="slidenum">
              <a:rPr lang="en-US" smtClean="0"/>
              <a:t>5</a:t>
            </a:fld>
            <a:endParaRPr lang="en-US"/>
          </a:p>
        </p:txBody>
      </p:sp>
      <p:sp>
        <p:nvSpPr>
          <p:cNvPr id="6" name="Title 5">
            <a:extLst>
              <a:ext uri="{FF2B5EF4-FFF2-40B4-BE49-F238E27FC236}">
                <a16:creationId xmlns:a16="http://schemas.microsoft.com/office/drawing/2014/main" id="{848E7924-905A-2614-D7A5-32A814ADF2C9}"/>
              </a:ext>
            </a:extLst>
          </p:cNvPr>
          <p:cNvSpPr>
            <a:spLocks noGrp="1"/>
          </p:cNvSpPr>
          <p:nvPr>
            <p:ph type="title"/>
          </p:nvPr>
        </p:nvSpPr>
        <p:spPr/>
        <p:txBody>
          <a:bodyPr/>
          <a:lstStyle/>
          <a:p>
            <a:r>
              <a:rPr lang="en-US" sz="2800" dirty="0"/>
              <a:t>October 3</a:t>
            </a:r>
            <a:r>
              <a:rPr lang="en-US" sz="2800" baseline="30000" dirty="0"/>
              <a:t>rd</a:t>
            </a:r>
            <a:r>
              <a:rPr lang="en-US" sz="2800" dirty="0"/>
              <a:t> Go-live</a:t>
            </a:r>
          </a:p>
        </p:txBody>
      </p:sp>
    </p:spTree>
    <p:extLst>
      <p:ext uri="{BB962C8B-B14F-4D97-AF65-F5344CB8AC3E}">
        <p14:creationId xmlns:p14="http://schemas.microsoft.com/office/powerpoint/2010/main" val="3707748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DF033-B05F-CD69-1F4A-A77171C7943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0CFBCA-F0E2-720C-F72D-B4018C6AD50E}"/>
              </a:ext>
            </a:extLst>
          </p:cNvPr>
          <p:cNvSpPr>
            <a:spLocks noGrp="1"/>
          </p:cNvSpPr>
          <p:nvPr>
            <p:ph sz="half" idx="1"/>
          </p:nvPr>
        </p:nvSpPr>
        <p:spPr>
          <a:xfrm>
            <a:off x="598503" y="782425"/>
            <a:ext cx="11017391" cy="5394538"/>
          </a:xfrm>
        </p:spPr>
        <p:txBody>
          <a:bodyPr>
            <a:normAutofit/>
          </a:bodyPr>
          <a:lstStyle/>
          <a:p>
            <a:r>
              <a:rPr lang="en-US" sz="1600" dirty="0"/>
              <a:t>Multiple UI design paths were explored throughout the project</a:t>
            </a:r>
          </a:p>
          <a:p>
            <a:r>
              <a:rPr lang="en-US" sz="1600" dirty="0"/>
              <a:t>Functionality appeared inconsistently across versions (e.g., filters/buttons in some screens but missing in others)</a:t>
            </a:r>
          </a:p>
          <a:p>
            <a:r>
              <a:rPr lang="en-US" sz="1600" dirty="0"/>
              <a:t>Comments and revisions introduced fragmentation and slowed alignment</a:t>
            </a:r>
          </a:p>
          <a:p>
            <a:r>
              <a:rPr lang="en-US" sz="1600" dirty="0"/>
              <a:t>Final design direction is now established, but required more time than originally scoped</a:t>
            </a:r>
          </a:p>
          <a:p>
            <a:r>
              <a:rPr lang="en-US" sz="1600" dirty="0"/>
              <a:t>Incremental requirements were introduced with additional scope delivered in fragments.</a:t>
            </a:r>
          </a:p>
          <a:p>
            <a:r>
              <a:rPr lang="en-US" sz="1600" dirty="0"/>
              <a:t>As new features were added mid-cycle, screens often showed inconsistent functionality.</a:t>
            </a:r>
          </a:p>
          <a:p>
            <a:r>
              <a:rPr lang="en-US" sz="1600" dirty="0"/>
              <a:t>Each revision improved the system but fragmented design artifacts and slowed decisions.</a:t>
            </a:r>
          </a:p>
          <a:p>
            <a:r>
              <a:rPr lang="en-US" sz="1600" dirty="0"/>
              <a:t>We are now consolidating all approved elements into a single UI reference to avoid rework.</a:t>
            </a:r>
          </a:p>
          <a:p>
            <a:r>
              <a:rPr lang="en-US" sz="1600" dirty="0"/>
              <a:t>This will improve quality, reduce QA cycles, and streamline final delivery.</a:t>
            </a:r>
          </a:p>
          <a:p>
            <a:pPr marL="0" indent="0">
              <a:buNone/>
            </a:pPr>
            <a:endParaRPr lang="en-US" sz="1600" dirty="0"/>
          </a:p>
        </p:txBody>
      </p:sp>
      <p:sp>
        <p:nvSpPr>
          <p:cNvPr id="4" name="Date Placeholder 3">
            <a:extLst>
              <a:ext uri="{FF2B5EF4-FFF2-40B4-BE49-F238E27FC236}">
                <a16:creationId xmlns:a16="http://schemas.microsoft.com/office/drawing/2014/main" id="{AF8C84C5-D12D-B6C4-B206-420E550AAA6F}"/>
              </a:ext>
            </a:extLst>
          </p:cNvPr>
          <p:cNvSpPr>
            <a:spLocks noGrp="1"/>
          </p:cNvSpPr>
          <p:nvPr>
            <p:ph type="dt" sz="half" idx="10"/>
          </p:nvPr>
        </p:nvSpPr>
        <p:spPr/>
        <p:txBody>
          <a:bodyPr/>
          <a:lstStyle/>
          <a:p>
            <a:fld id="{F0056A89-B657-4E56-81EA-47AEC42B3D30}" type="datetime1">
              <a:rPr lang="en-US" smtClean="0"/>
              <a:t>6/27/2025</a:t>
            </a:fld>
            <a:endParaRPr lang="en-US"/>
          </a:p>
        </p:txBody>
      </p:sp>
      <p:sp>
        <p:nvSpPr>
          <p:cNvPr id="5" name="Slide Number Placeholder 4">
            <a:extLst>
              <a:ext uri="{FF2B5EF4-FFF2-40B4-BE49-F238E27FC236}">
                <a16:creationId xmlns:a16="http://schemas.microsoft.com/office/drawing/2014/main" id="{526E6D04-E1FB-3B2E-8583-DDE9B7C01CB3}"/>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6" name="Title 5">
            <a:extLst>
              <a:ext uri="{FF2B5EF4-FFF2-40B4-BE49-F238E27FC236}">
                <a16:creationId xmlns:a16="http://schemas.microsoft.com/office/drawing/2014/main" id="{018492AF-5746-CA9B-9F58-091C688146FB}"/>
              </a:ext>
            </a:extLst>
          </p:cNvPr>
          <p:cNvSpPr>
            <a:spLocks noGrp="1"/>
          </p:cNvSpPr>
          <p:nvPr>
            <p:ph type="title"/>
          </p:nvPr>
        </p:nvSpPr>
        <p:spPr/>
        <p:txBody>
          <a:bodyPr/>
          <a:lstStyle/>
          <a:p>
            <a:r>
              <a:rPr lang="en-US" sz="2800" dirty="0"/>
              <a:t>Design Revision Impact on Delivery</a:t>
            </a:r>
          </a:p>
        </p:txBody>
      </p:sp>
    </p:spTree>
    <p:extLst>
      <p:ext uri="{BB962C8B-B14F-4D97-AF65-F5344CB8AC3E}">
        <p14:creationId xmlns:p14="http://schemas.microsoft.com/office/powerpoint/2010/main" val="3708942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7DF16-47D7-5346-4A60-5961D09742D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723A87-13F6-4C8F-F493-C2C538890FB3}"/>
              </a:ext>
            </a:extLst>
          </p:cNvPr>
          <p:cNvSpPr>
            <a:spLocks noGrp="1"/>
          </p:cNvSpPr>
          <p:nvPr>
            <p:ph sz="half" idx="1"/>
          </p:nvPr>
        </p:nvSpPr>
        <p:spPr>
          <a:xfrm>
            <a:off x="598503" y="782425"/>
            <a:ext cx="11017391" cy="5394538"/>
          </a:xfrm>
        </p:spPr>
        <p:txBody>
          <a:bodyPr>
            <a:normAutofit/>
          </a:bodyPr>
          <a:lstStyle/>
          <a:p>
            <a:r>
              <a:rPr lang="en-US" sz="1600" dirty="0"/>
              <a:t>Scope Freeze: No new functionality will be added. Existing design elements are being unified into one master reference.</a:t>
            </a:r>
          </a:p>
          <a:p>
            <a:r>
              <a:rPr lang="en-US" sz="1600" dirty="0"/>
              <a:t>Fragmented Pages: Screens created during iterative revisions are being merged to ensure every approved feature appears consistently.</a:t>
            </a:r>
          </a:p>
          <a:p>
            <a:r>
              <a:rPr lang="en-US" sz="1600" dirty="0"/>
              <a:t>Quality Focus: Consolidation eliminates hidden gaps, reduces rework, and accelerates the build and QA phases.</a:t>
            </a:r>
          </a:p>
          <a:p>
            <a:r>
              <a:rPr lang="en-US" sz="1600" dirty="0"/>
              <a:t>Post-Launch Enhancements: Any new ideas identified after consolidation will be scheduled for a future release cycle.</a:t>
            </a:r>
          </a:p>
        </p:txBody>
      </p:sp>
      <p:sp>
        <p:nvSpPr>
          <p:cNvPr id="4" name="Date Placeholder 3">
            <a:extLst>
              <a:ext uri="{FF2B5EF4-FFF2-40B4-BE49-F238E27FC236}">
                <a16:creationId xmlns:a16="http://schemas.microsoft.com/office/drawing/2014/main" id="{3D2A1CAA-4EA8-3AA2-524F-0A15E65E5CAC}"/>
              </a:ext>
            </a:extLst>
          </p:cNvPr>
          <p:cNvSpPr>
            <a:spLocks noGrp="1"/>
          </p:cNvSpPr>
          <p:nvPr>
            <p:ph type="dt" sz="half" idx="10"/>
          </p:nvPr>
        </p:nvSpPr>
        <p:spPr/>
        <p:txBody>
          <a:bodyPr/>
          <a:lstStyle/>
          <a:p>
            <a:fld id="{F0056A89-B657-4E56-81EA-47AEC42B3D30}" type="datetime1">
              <a:rPr lang="en-US" smtClean="0"/>
              <a:t>6/27/2025</a:t>
            </a:fld>
            <a:endParaRPr lang="en-US"/>
          </a:p>
        </p:txBody>
      </p:sp>
      <p:sp>
        <p:nvSpPr>
          <p:cNvPr id="5" name="Slide Number Placeholder 4">
            <a:extLst>
              <a:ext uri="{FF2B5EF4-FFF2-40B4-BE49-F238E27FC236}">
                <a16:creationId xmlns:a16="http://schemas.microsoft.com/office/drawing/2014/main" id="{944D01AF-30AD-66BA-874F-51BD0286D6E4}"/>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6" name="Title 5">
            <a:extLst>
              <a:ext uri="{FF2B5EF4-FFF2-40B4-BE49-F238E27FC236}">
                <a16:creationId xmlns:a16="http://schemas.microsoft.com/office/drawing/2014/main" id="{918F632A-84C8-386A-41A6-4C208A184A5B}"/>
              </a:ext>
            </a:extLst>
          </p:cNvPr>
          <p:cNvSpPr>
            <a:spLocks noGrp="1"/>
          </p:cNvSpPr>
          <p:nvPr>
            <p:ph type="title"/>
          </p:nvPr>
        </p:nvSpPr>
        <p:spPr/>
        <p:txBody>
          <a:bodyPr/>
          <a:lstStyle/>
          <a:p>
            <a:r>
              <a:rPr lang="en-US" sz="2800" dirty="0"/>
              <a:t>Final Design Consolidation - Scope Locked</a:t>
            </a:r>
          </a:p>
        </p:txBody>
      </p:sp>
    </p:spTree>
    <p:extLst>
      <p:ext uri="{BB962C8B-B14F-4D97-AF65-F5344CB8AC3E}">
        <p14:creationId xmlns:p14="http://schemas.microsoft.com/office/powerpoint/2010/main" val="1511918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B8ACC-59AE-B99F-EC32-946E2068F4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7D141D-E8C8-B982-4B9C-47CB2461E021}"/>
              </a:ext>
            </a:extLst>
          </p:cNvPr>
          <p:cNvSpPr>
            <a:spLocks noGrp="1"/>
          </p:cNvSpPr>
          <p:nvPr>
            <p:ph sz="half" idx="1"/>
          </p:nvPr>
        </p:nvSpPr>
        <p:spPr>
          <a:xfrm>
            <a:off x="598503" y="782425"/>
            <a:ext cx="11017391" cy="5394538"/>
          </a:xfrm>
        </p:spPr>
        <p:txBody>
          <a:bodyPr>
            <a:normAutofit/>
          </a:bodyPr>
          <a:lstStyle/>
          <a:p>
            <a:r>
              <a:rPr lang="en-US" sz="1600" dirty="0"/>
              <a:t>Purpose: Structure future requests to maintain control over budget and timelines.</a:t>
            </a:r>
          </a:p>
          <a:p>
            <a:r>
              <a:rPr lang="en-US" sz="1600" dirty="0"/>
              <a:t>Baseline Locked: the consolidated design is the development baseline.</a:t>
            </a:r>
          </a:p>
          <a:p>
            <a:r>
              <a:rPr lang="en-US" sz="1600" dirty="0"/>
              <a:t>Transparency: All new requests will be assessed and estimated before inclusion.</a:t>
            </a:r>
          </a:p>
          <a:p>
            <a:r>
              <a:rPr lang="en-US" sz="1600" dirty="0"/>
              <a:t>No Hidden Drift: Unapproved additions will be deferred to a future release phase.</a:t>
            </a:r>
          </a:p>
          <a:p>
            <a:r>
              <a:rPr lang="en-US" sz="1600" dirty="0"/>
              <a:t>Process includes request intake, impact review, client approval, and timeline update.</a:t>
            </a:r>
          </a:p>
          <a:p>
            <a:endParaRPr lang="en-US" sz="1600" dirty="0"/>
          </a:p>
          <a:p>
            <a:pPr marL="0" indent="0">
              <a:buNone/>
            </a:pPr>
            <a:r>
              <a:rPr lang="en-US" sz="1600" dirty="0"/>
              <a:t>Future changes will follow a simple estimate-and-approve process.</a:t>
            </a:r>
          </a:p>
          <a:p>
            <a:r>
              <a:rPr lang="en-US" sz="1600" dirty="0"/>
              <a:t>Any additions post-June 30 will be reviewed for:</a:t>
            </a:r>
          </a:p>
          <a:p>
            <a:pPr lvl="1"/>
            <a:r>
              <a:rPr lang="en-US" sz="1600" dirty="0"/>
              <a:t>Timeline impact</a:t>
            </a:r>
          </a:p>
          <a:p>
            <a:pPr lvl="1"/>
            <a:r>
              <a:rPr lang="en-US" sz="1600" dirty="0"/>
              <a:t>Cost implication</a:t>
            </a:r>
          </a:p>
          <a:p>
            <a:pPr lvl="1"/>
            <a:r>
              <a:rPr lang="en-US" sz="1600" dirty="0"/>
              <a:t>System stability</a:t>
            </a:r>
          </a:p>
          <a:p>
            <a:r>
              <a:rPr lang="en-US" sz="1600" dirty="0"/>
              <a:t>This ensures transparency and avoids unintentional delays during final phases.</a:t>
            </a:r>
          </a:p>
          <a:p>
            <a:endParaRPr lang="en-US" sz="1600" dirty="0"/>
          </a:p>
          <a:p>
            <a:endParaRPr lang="en-US" sz="1600" dirty="0"/>
          </a:p>
        </p:txBody>
      </p:sp>
      <p:sp>
        <p:nvSpPr>
          <p:cNvPr id="4" name="Date Placeholder 3">
            <a:extLst>
              <a:ext uri="{FF2B5EF4-FFF2-40B4-BE49-F238E27FC236}">
                <a16:creationId xmlns:a16="http://schemas.microsoft.com/office/drawing/2014/main" id="{4BAD828E-64F4-CD3A-A47A-8D0E66D2584D}"/>
              </a:ext>
            </a:extLst>
          </p:cNvPr>
          <p:cNvSpPr>
            <a:spLocks noGrp="1"/>
          </p:cNvSpPr>
          <p:nvPr>
            <p:ph type="dt" sz="half" idx="10"/>
          </p:nvPr>
        </p:nvSpPr>
        <p:spPr/>
        <p:txBody>
          <a:bodyPr/>
          <a:lstStyle/>
          <a:p>
            <a:fld id="{F0056A89-B657-4E56-81EA-47AEC42B3D30}" type="datetime1">
              <a:rPr lang="en-US" smtClean="0"/>
              <a:t>6/27/2025</a:t>
            </a:fld>
            <a:endParaRPr lang="en-US"/>
          </a:p>
        </p:txBody>
      </p:sp>
      <p:sp>
        <p:nvSpPr>
          <p:cNvPr id="5" name="Slide Number Placeholder 4">
            <a:extLst>
              <a:ext uri="{FF2B5EF4-FFF2-40B4-BE49-F238E27FC236}">
                <a16:creationId xmlns:a16="http://schemas.microsoft.com/office/drawing/2014/main" id="{94011710-A7B1-CDD9-46F0-17B640DCD0E7}"/>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6" name="Title 5">
            <a:extLst>
              <a:ext uri="{FF2B5EF4-FFF2-40B4-BE49-F238E27FC236}">
                <a16:creationId xmlns:a16="http://schemas.microsoft.com/office/drawing/2014/main" id="{47ECB31F-45EA-B1C4-E98B-012AB65441EA}"/>
              </a:ext>
            </a:extLst>
          </p:cNvPr>
          <p:cNvSpPr>
            <a:spLocks noGrp="1"/>
          </p:cNvSpPr>
          <p:nvPr>
            <p:ph type="title"/>
          </p:nvPr>
        </p:nvSpPr>
        <p:spPr/>
        <p:txBody>
          <a:bodyPr/>
          <a:lstStyle/>
          <a:p>
            <a:r>
              <a:rPr lang="en-US" sz="2800" dirty="0"/>
              <a:t>Managing Scope and Change Control Plan</a:t>
            </a:r>
          </a:p>
        </p:txBody>
      </p:sp>
    </p:spTree>
    <p:extLst>
      <p:ext uri="{BB962C8B-B14F-4D97-AF65-F5344CB8AC3E}">
        <p14:creationId xmlns:p14="http://schemas.microsoft.com/office/powerpoint/2010/main" val="1589950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DF82F-0331-BB8E-5272-33C43F9F72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427566-481B-68DE-187B-42D39D8A88F9}"/>
              </a:ext>
            </a:extLst>
          </p:cNvPr>
          <p:cNvSpPr>
            <a:spLocks noGrp="1"/>
          </p:cNvSpPr>
          <p:nvPr>
            <p:ph sz="half" idx="1"/>
          </p:nvPr>
        </p:nvSpPr>
        <p:spPr>
          <a:xfrm>
            <a:off x="598503" y="782425"/>
            <a:ext cx="11017391" cy="5394538"/>
          </a:xfrm>
        </p:spPr>
        <p:txBody>
          <a:bodyPr>
            <a:normAutofit/>
          </a:bodyPr>
          <a:lstStyle/>
          <a:p>
            <a:r>
              <a:rPr lang="en-US" sz="1600" dirty="0"/>
              <a:t>The following items are not included in the current scope and will be considered for future phases:</a:t>
            </a:r>
          </a:p>
          <a:p>
            <a:pPr lvl="1"/>
            <a:r>
              <a:rPr lang="en-US" sz="1600" dirty="0"/>
              <a:t>New Feature Requests Post-Freeze : Any new functionality or UX suggestions will be reviewed separately post-launch</a:t>
            </a:r>
          </a:p>
          <a:p>
            <a:pPr lvl="1"/>
            <a:r>
              <a:rPr lang="en-US" sz="1600" dirty="0"/>
              <a:t>Non-Core Page Redesigns: Pages not directly tied to core certificate workflows (e.g., user management, admin dashboards) are not part of the initial design scope.</a:t>
            </a:r>
          </a:p>
          <a:p>
            <a:pPr lvl="1"/>
            <a:r>
              <a:rPr lang="en-US" sz="1600" dirty="0"/>
              <a:t>Advanced Reporting &amp; Analytics Modules: Custom reporting or dashboards requiring dynamic visualizations will be addressed in a future release.</a:t>
            </a:r>
          </a:p>
          <a:p>
            <a:pPr lvl="1"/>
            <a:r>
              <a:rPr lang="en-US" sz="1600" dirty="0"/>
              <a:t>Undocumented Features – Anything not captured in this document or related requirement files is excluded.</a:t>
            </a:r>
          </a:p>
          <a:p>
            <a:pPr lvl="1"/>
            <a:r>
              <a:rPr lang="en-US" sz="1600" dirty="0"/>
              <a:t>Integration Beyond Amazon Export: Any third-party system integration beyond current export scope will be handled as a separate project.</a:t>
            </a:r>
          </a:p>
          <a:p>
            <a:pPr lvl="1"/>
            <a:r>
              <a:rPr lang="en-US" sz="1600" dirty="0"/>
              <a:t>Clone Functionality – Selective field cloning for certificate records is not included.</a:t>
            </a:r>
          </a:p>
          <a:p>
            <a:pPr lvl="1"/>
            <a:r>
              <a:rPr lang="en-US" sz="1600" dirty="0"/>
              <a:t>Notifications &amp; Alerts – Real-time user notifications are not part of this phase.</a:t>
            </a:r>
          </a:p>
          <a:p>
            <a:pPr lvl="1"/>
            <a:r>
              <a:rPr lang="en-US" sz="1600" dirty="0"/>
              <a:t>Undocumented Features – Anything not captured in this document or related requirement files is excluded</a:t>
            </a:r>
            <a:br>
              <a:rPr lang="en-US" sz="1600" dirty="0"/>
            </a:br>
            <a:br>
              <a:rPr lang="en-US" sz="1200" dirty="0"/>
            </a:br>
            <a:endParaRPr lang="en-US" sz="1200" dirty="0"/>
          </a:p>
          <a:p>
            <a:endParaRPr lang="en-US" sz="1600" dirty="0"/>
          </a:p>
          <a:p>
            <a:endParaRPr lang="en-US" sz="1600" dirty="0"/>
          </a:p>
        </p:txBody>
      </p:sp>
      <p:sp>
        <p:nvSpPr>
          <p:cNvPr id="4" name="Date Placeholder 3">
            <a:extLst>
              <a:ext uri="{FF2B5EF4-FFF2-40B4-BE49-F238E27FC236}">
                <a16:creationId xmlns:a16="http://schemas.microsoft.com/office/drawing/2014/main" id="{5E62D557-4EF9-DC97-622E-6FB4101F80C3}"/>
              </a:ext>
            </a:extLst>
          </p:cNvPr>
          <p:cNvSpPr>
            <a:spLocks noGrp="1"/>
          </p:cNvSpPr>
          <p:nvPr>
            <p:ph type="dt" sz="half" idx="10"/>
          </p:nvPr>
        </p:nvSpPr>
        <p:spPr/>
        <p:txBody>
          <a:bodyPr/>
          <a:lstStyle/>
          <a:p>
            <a:fld id="{F0056A89-B657-4E56-81EA-47AEC42B3D30}" type="datetime1">
              <a:rPr lang="en-US" smtClean="0"/>
              <a:t>6/27/2025</a:t>
            </a:fld>
            <a:endParaRPr lang="en-US" dirty="0"/>
          </a:p>
        </p:txBody>
      </p:sp>
      <p:sp>
        <p:nvSpPr>
          <p:cNvPr id="5" name="Slide Number Placeholder 4">
            <a:extLst>
              <a:ext uri="{FF2B5EF4-FFF2-40B4-BE49-F238E27FC236}">
                <a16:creationId xmlns:a16="http://schemas.microsoft.com/office/drawing/2014/main" id="{86F55A36-F8E6-D8DA-126D-787894AC3328}"/>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6" name="Title 5">
            <a:extLst>
              <a:ext uri="{FF2B5EF4-FFF2-40B4-BE49-F238E27FC236}">
                <a16:creationId xmlns:a16="http://schemas.microsoft.com/office/drawing/2014/main" id="{B11300A7-12E4-FCDE-78BC-D80527D2419E}"/>
              </a:ext>
            </a:extLst>
          </p:cNvPr>
          <p:cNvSpPr>
            <a:spLocks noGrp="1"/>
          </p:cNvSpPr>
          <p:nvPr>
            <p:ph type="title"/>
          </p:nvPr>
        </p:nvSpPr>
        <p:spPr/>
        <p:txBody>
          <a:bodyPr/>
          <a:lstStyle/>
          <a:p>
            <a:r>
              <a:rPr lang="en-US" sz="2800" dirty="0"/>
              <a:t>Out of Scope Items – Initial Design Phase</a:t>
            </a:r>
          </a:p>
        </p:txBody>
      </p:sp>
      <p:sp>
        <p:nvSpPr>
          <p:cNvPr id="7" name="TextBox 6">
            <a:extLst>
              <a:ext uri="{FF2B5EF4-FFF2-40B4-BE49-F238E27FC236}">
                <a16:creationId xmlns:a16="http://schemas.microsoft.com/office/drawing/2014/main" id="{F165AD78-6108-BB9D-5401-A78AFFD63A66}"/>
              </a:ext>
            </a:extLst>
          </p:cNvPr>
          <p:cNvSpPr txBox="1"/>
          <p:nvPr/>
        </p:nvSpPr>
        <p:spPr>
          <a:xfrm>
            <a:off x="838199" y="5343327"/>
            <a:ext cx="10755297" cy="584775"/>
          </a:xfrm>
          <a:prstGeom prst="rect">
            <a:avLst/>
          </a:prstGeom>
          <a:noFill/>
        </p:spPr>
        <p:txBody>
          <a:bodyPr wrap="square">
            <a:spAutoFit/>
          </a:bodyPr>
          <a:lstStyle/>
          <a:p>
            <a:r>
              <a:rPr lang="en-US" sz="1600" dirty="0">
                <a:solidFill>
                  <a:srgbClr val="C00000"/>
                </a:solidFill>
                <a:latin typeface="Century Gothic" panose="020B0502020202020204" pitchFamily="34" charset="0"/>
              </a:rPr>
              <a:t>Note: Any additional functionality or enhancements outside this scope will follow the formal change request process and may be included in a post-launch roadmap.</a:t>
            </a:r>
          </a:p>
        </p:txBody>
      </p:sp>
    </p:spTree>
    <p:extLst>
      <p:ext uri="{BB962C8B-B14F-4D97-AF65-F5344CB8AC3E}">
        <p14:creationId xmlns:p14="http://schemas.microsoft.com/office/powerpoint/2010/main" val="65312852"/>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83995</TotalTime>
  <Words>1186</Words>
  <Application>Microsoft Office PowerPoint</Application>
  <PresentationFormat>Widescreen</PresentationFormat>
  <Paragraphs>184</Paragraphs>
  <Slides>9</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Aptos</vt:lpstr>
      <vt:lpstr>Aptos Narrow</vt:lpstr>
      <vt:lpstr>Arial</vt:lpstr>
      <vt:lpstr>Arial Narrow</vt:lpstr>
      <vt:lpstr>Calibri</vt:lpstr>
      <vt:lpstr>Century Gothic</vt:lpstr>
      <vt:lpstr>Courier New</vt:lpstr>
      <vt:lpstr>Symbol</vt:lpstr>
      <vt:lpstr>office theme</vt:lpstr>
      <vt:lpstr>GreenCircle Certified Database Project</vt:lpstr>
      <vt:lpstr>Project Timeline Updates</vt:lpstr>
      <vt:lpstr>Scope Creep Analysis &amp; Timeline Impact</vt:lpstr>
      <vt:lpstr>GreenCircle Certified Database Site Map</vt:lpstr>
      <vt:lpstr>October 3rd Go-live</vt:lpstr>
      <vt:lpstr>Design Revision Impact on Delivery</vt:lpstr>
      <vt:lpstr>Final Design Consolidation - Scope Locked</vt:lpstr>
      <vt:lpstr>Managing Scope and Change Control Plan</vt:lpstr>
      <vt:lpstr>Out of Scope Items – Initial Design Phase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Shawn West</dc:creator>
  <cp:lastModifiedBy>Shawn West</cp:lastModifiedBy>
  <cp:revision>17</cp:revision>
  <cp:lastPrinted>2025-06-16T04:02:37Z</cp:lastPrinted>
  <dcterms:created xsi:type="dcterms:W3CDTF">2025-01-22T16:07:21Z</dcterms:created>
  <dcterms:modified xsi:type="dcterms:W3CDTF">2025-06-27T12:21:42Z</dcterms:modified>
</cp:coreProperties>
</file>