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353" r:id="rId2"/>
    <p:sldId id="500" r:id="rId3"/>
    <p:sldId id="517" r:id="rId4"/>
    <p:sldId id="518" r:id="rId5"/>
    <p:sldId id="519" r:id="rId6"/>
    <p:sldId id="506" r:id="rId7"/>
    <p:sldId id="354" r:id="rId8"/>
    <p:sldId id="504" r:id="rId9"/>
    <p:sldId id="505" r:id="rId10"/>
    <p:sldId id="376" r:id="rId11"/>
    <p:sldId id="503" r:id="rId12"/>
    <p:sldId id="502" r:id="rId13"/>
    <p:sldId id="508" r:id="rId14"/>
    <p:sldId id="509" r:id="rId15"/>
    <p:sldId id="507" r:id="rId16"/>
    <p:sldId id="510" r:id="rId17"/>
    <p:sldId id="511" r:id="rId18"/>
    <p:sldId id="512" r:id="rId19"/>
    <p:sldId id="513" r:id="rId20"/>
    <p:sldId id="514" r:id="rId21"/>
    <p:sldId id="515" r:id="rId22"/>
    <p:sldId id="516" r:id="rId23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E2EBA9-E2D7-432C-9B28-B1BFC88819B1}">
          <p14:sldIdLst>
            <p14:sldId id="353"/>
            <p14:sldId id="500"/>
            <p14:sldId id="517"/>
            <p14:sldId id="518"/>
            <p14:sldId id="519"/>
            <p14:sldId id="506"/>
            <p14:sldId id="354"/>
            <p14:sldId id="504"/>
            <p14:sldId id="505"/>
            <p14:sldId id="376"/>
            <p14:sldId id="503"/>
            <p14:sldId id="502"/>
          </p14:sldIdLst>
        </p14:section>
        <p14:section name="Development" id="{AC8555E4-13ED-47DF-94E6-33F1BA667623}">
          <p14:sldIdLst>
            <p14:sldId id="508"/>
            <p14:sldId id="509"/>
            <p14:sldId id="507"/>
            <p14:sldId id="510"/>
            <p14:sldId id="511"/>
            <p14:sldId id="512"/>
            <p14:sldId id="513"/>
            <p14:sldId id="514"/>
            <p14:sldId id="515"/>
            <p14:sldId id="51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92B05B-E117-52AD-3F68-AE601404E83B}" name="Shawn West" initials="SW" userId="S::Swest@anukiconsulting.com::bcaf3c6b-bfc1-40d2-81dc-c3fa941236d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E5F7"/>
    <a:srgbClr val="9AB9DE"/>
    <a:srgbClr val="92C83E"/>
    <a:srgbClr val="FF6600"/>
    <a:srgbClr val="FCFDEB"/>
    <a:srgbClr val="FFEDB3"/>
    <a:srgbClr val="DEECEF"/>
    <a:srgbClr val="FCE6E4"/>
    <a:srgbClr val="FDECEA"/>
    <a:srgbClr val="FFF8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2E98C1-975B-4C67-B5ED-3E9D2CA9E44A}" v="16" dt="2025-08-22T05:22:41.4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6247" autoAdjust="0"/>
  </p:normalViewPr>
  <p:slideViewPr>
    <p:cSldViewPr snapToGrid="0">
      <p:cViewPr>
        <p:scale>
          <a:sx n="110" d="100"/>
          <a:sy n="110" d="100"/>
        </p:scale>
        <p:origin x="774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wn West" userId="bcaf3c6b-bfc1-40d2-81dc-c3fa941236d7" providerId="ADAL" clId="{502E98C1-975B-4C67-B5ED-3E9D2CA9E44A}"/>
    <pc:docChg chg="undo custSel addSld modSld sldOrd addSection modSection">
      <pc:chgData name="Shawn West" userId="bcaf3c6b-bfc1-40d2-81dc-c3fa941236d7" providerId="ADAL" clId="{502E98C1-975B-4C67-B5ED-3E9D2CA9E44A}" dt="2025-08-22T14:02:39.586" v="1489" actId="1076"/>
      <pc:docMkLst>
        <pc:docMk/>
      </pc:docMkLst>
      <pc:sldChg chg="delSp modSp mod">
        <pc:chgData name="Shawn West" userId="bcaf3c6b-bfc1-40d2-81dc-c3fa941236d7" providerId="ADAL" clId="{502E98C1-975B-4C67-B5ED-3E9D2CA9E44A}" dt="2025-08-22T14:02:39.586" v="1489" actId="1076"/>
        <pc:sldMkLst>
          <pc:docMk/>
          <pc:sldMk cId="714305329" sldId="500"/>
        </pc:sldMkLst>
        <pc:spChg chg="mod topLvl">
          <ac:chgData name="Shawn West" userId="bcaf3c6b-bfc1-40d2-81dc-c3fa941236d7" providerId="ADAL" clId="{502E98C1-975B-4C67-B5ED-3E9D2CA9E44A}" dt="2025-08-22T03:28:36.300" v="392" actId="1038"/>
          <ac:spMkLst>
            <pc:docMk/>
            <pc:sldMk cId="714305329" sldId="500"/>
            <ac:spMk id="17" creationId="{14CA68B9-88CC-D2B6-812C-49496C773F59}"/>
          </ac:spMkLst>
        </pc:spChg>
        <pc:spChg chg="del mod topLvl">
          <ac:chgData name="Shawn West" userId="bcaf3c6b-bfc1-40d2-81dc-c3fa941236d7" providerId="ADAL" clId="{502E98C1-975B-4C67-B5ED-3E9D2CA9E44A}" dt="2025-08-22T03:26:44.754" v="295" actId="478"/>
          <ac:spMkLst>
            <pc:docMk/>
            <pc:sldMk cId="714305329" sldId="500"/>
            <ac:spMk id="18" creationId="{2B78640F-BE72-E289-A7E8-A26C506ED987}"/>
          </ac:spMkLst>
        </pc:spChg>
        <pc:spChg chg="mod topLvl">
          <ac:chgData name="Shawn West" userId="bcaf3c6b-bfc1-40d2-81dc-c3fa941236d7" providerId="ADAL" clId="{502E98C1-975B-4C67-B5ED-3E9D2CA9E44A}" dt="2025-08-22T03:26:51.724" v="323" actId="1038"/>
          <ac:spMkLst>
            <pc:docMk/>
            <pc:sldMk cId="714305329" sldId="500"/>
            <ac:spMk id="30" creationId="{4D09D823-131B-45C0-3CFD-5E1A1D6E37C9}"/>
          </ac:spMkLst>
        </pc:spChg>
        <pc:spChg chg="mod">
          <ac:chgData name="Shawn West" userId="bcaf3c6b-bfc1-40d2-81dc-c3fa941236d7" providerId="ADAL" clId="{502E98C1-975B-4C67-B5ED-3E9D2CA9E44A}" dt="2025-08-22T03:24:43.479" v="118" actId="14100"/>
          <ac:spMkLst>
            <pc:docMk/>
            <pc:sldMk cId="714305329" sldId="500"/>
            <ac:spMk id="35" creationId="{6E3EA9A9-B0EC-F07C-1FD7-0C4E742E3718}"/>
          </ac:spMkLst>
        </pc:spChg>
        <pc:spChg chg="mod">
          <ac:chgData name="Shawn West" userId="bcaf3c6b-bfc1-40d2-81dc-c3fa941236d7" providerId="ADAL" clId="{502E98C1-975B-4C67-B5ED-3E9D2CA9E44A}" dt="2025-08-22T03:35:35.295" v="488" actId="14100"/>
          <ac:spMkLst>
            <pc:docMk/>
            <pc:sldMk cId="714305329" sldId="500"/>
            <ac:spMk id="37" creationId="{DE6FFEB4-FD6D-899B-DD29-36DE75905B23}"/>
          </ac:spMkLst>
        </pc:spChg>
        <pc:spChg chg="mod">
          <ac:chgData name="Shawn West" userId="bcaf3c6b-bfc1-40d2-81dc-c3fa941236d7" providerId="ADAL" clId="{502E98C1-975B-4C67-B5ED-3E9D2CA9E44A}" dt="2025-08-22T03:37:02.642" v="536" actId="20577"/>
          <ac:spMkLst>
            <pc:docMk/>
            <pc:sldMk cId="714305329" sldId="500"/>
            <ac:spMk id="43" creationId="{5D8A5413-10E2-D9E1-6151-7BA66CD6AD07}"/>
          </ac:spMkLst>
        </pc:spChg>
        <pc:spChg chg="mod">
          <ac:chgData name="Shawn West" userId="bcaf3c6b-bfc1-40d2-81dc-c3fa941236d7" providerId="ADAL" clId="{502E98C1-975B-4C67-B5ED-3E9D2CA9E44A}" dt="2025-08-22T03:24:33.108" v="117" actId="1037"/>
          <ac:spMkLst>
            <pc:docMk/>
            <pc:sldMk cId="714305329" sldId="500"/>
            <ac:spMk id="44" creationId="{A89F0AC9-7D1A-3854-7B70-0CE168446A43}"/>
          </ac:spMkLst>
        </pc:spChg>
        <pc:grpChg chg="del">
          <ac:chgData name="Shawn West" userId="bcaf3c6b-bfc1-40d2-81dc-c3fa941236d7" providerId="ADAL" clId="{502E98C1-975B-4C67-B5ED-3E9D2CA9E44A}" dt="2025-08-22T03:23:13.011" v="4" actId="478"/>
          <ac:grpSpMkLst>
            <pc:docMk/>
            <pc:sldMk cId="714305329" sldId="500"/>
            <ac:grpSpMk id="5" creationId="{4EE3EBBC-1176-3FAF-6244-16B3777A5BD4}"/>
          </ac:grpSpMkLst>
        </pc:grpChg>
        <pc:grpChg chg="mod">
          <ac:chgData name="Shawn West" userId="bcaf3c6b-bfc1-40d2-81dc-c3fa941236d7" providerId="ADAL" clId="{502E98C1-975B-4C67-B5ED-3E9D2CA9E44A}" dt="2025-08-22T03:24:15.304" v="77" actId="1038"/>
          <ac:grpSpMkLst>
            <pc:docMk/>
            <pc:sldMk cId="714305329" sldId="500"/>
            <ac:grpSpMk id="10" creationId="{BD4B1877-839B-0518-87F7-D7A0D40F3446}"/>
          </ac:grpSpMkLst>
        </pc:grpChg>
        <pc:grpChg chg="mod">
          <ac:chgData name="Shawn West" userId="bcaf3c6b-bfc1-40d2-81dc-c3fa941236d7" providerId="ADAL" clId="{502E98C1-975B-4C67-B5ED-3E9D2CA9E44A}" dt="2025-08-22T03:27:26.333" v="369" actId="1038"/>
          <ac:grpSpMkLst>
            <pc:docMk/>
            <pc:sldMk cId="714305329" sldId="500"/>
            <ac:grpSpMk id="13" creationId="{8F2973AD-16FC-C789-B8D0-8D352D9C889D}"/>
          </ac:grpSpMkLst>
        </pc:grpChg>
        <pc:grpChg chg="del mod topLvl">
          <ac:chgData name="Shawn West" userId="bcaf3c6b-bfc1-40d2-81dc-c3fa941236d7" providerId="ADAL" clId="{502E98C1-975B-4C67-B5ED-3E9D2CA9E44A}" dt="2025-08-22T03:26:44.754" v="295" actId="478"/>
          <ac:grpSpMkLst>
            <pc:docMk/>
            <pc:sldMk cId="714305329" sldId="500"/>
            <ac:grpSpMk id="16" creationId="{DC1410A2-1258-EFB0-C066-0080A20F4D4E}"/>
          </ac:grpSpMkLst>
        </pc:grpChg>
        <pc:grpChg chg="mod">
          <ac:chgData name="Shawn West" userId="bcaf3c6b-bfc1-40d2-81dc-c3fa941236d7" providerId="ADAL" clId="{502E98C1-975B-4C67-B5ED-3E9D2CA9E44A}" dt="2025-08-22T03:24:15.304" v="77" actId="1038"/>
          <ac:grpSpMkLst>
            <pc:docMk/>
            <pc:sldMk cId="714305329" sldId="500"/>
            <ac:grpSpMk id="26" creationId="{8B93F6B8-DF26-309B-0558-0C45BE65E1D7}"/>
          </ac:grpSpMkLst>
        </pc:grpChg>
        <pc:grpChg chg="mod">
          <ac:chgData name="Shawn West" userId="bcaf3c6b-bfc1-40d2-81dc-c3fa941236d7" providerId="ADAL" clId="{502E98C1-975B-4C67-B5ED-3E9D2CA9E44A}" dt="2025-08-22T03:24:15.304" v="77" actId="1038"/>
          <ac:grpSpMkLst>
            <pc:docMk/>
            <pc:sldMk cId="714305329" sldId="500"/>
            <ac:grpSpMk id="36" creationId="{9856B4A4-E003-CCD4-9E58-349FB9EFF56D}"/>
          </ac:grpSpMkLst>
        </pc:grpChg>
        <pc:grpChg chg="mod">
          <ac:chgData name="Shawn West" userId="bcaf3c6b-bfc1-40d2-81dc-c3fa941236d7" providerId="ADAL" clId="{502E98C1-975B-4C67-B5ED-3E9D2CA9E44A}" dt="2025-08-22T03:24:15.304" v="77" actId="1038"/>
          <ac:grpSpMkLst>
            <pc:docMk/>
            <pc:sldMk cId="714305329" sldId="500"/>
            <ac:grpSpMk id="40" creationId="{4EB9B165-2009-F0A9-12DA-3AB32AEFC198}"/>
          </ac:grpSpMkLst>
        </pc:grpChg>
        <pc:grpChg chg="del mod">
          <ac:chgData name="Shawn West" userId="bcaf3c6b-bfc1-40d2-81dc-c3fa941236d7" providerId="ADAL" clId="{502E98C1-975B-4C67-B5ED-3E9D2CA9E44A}" dt="2025-08-22T03:25:25.635" v="146" actId="165"/>
          <ac:grpSpMkLst>
            <pc:docMk/>
            <pc:sldMk cId="714305329" sldId="500"/>
            <ac:grpSpMk id="41" creationId="{AD42663F-6CF3-7566-08E0-90824A0ECA2B}"/>
          </ac:grpSpMkLst>
        </pc:grpChg>
        <pc:grpChg chg="del">
          <ac:chgData name="Shawn West" userId="bcaf3c6b-bfc1-40d2-81dc-c3fa941236d7" providerId="ADAL" clId="{502E98C1-975B-4C67-B5ED-3E9D2CA9E44A}" dt="2025-08-22T03:23:14.654" v="5" actId="478"/>
          <ac:grpSpMkLst>
            <pc:docMk/>
            <pc:sldMk cId="714305329" sldId="500"/>
            <ac:grpSpMk id="77" creationId="{F556D103-676D-B108-17F5-4BB9A33F4A4B}"/>
          </ac:grpSpMkLst>
        </pc:grpChg>
        <pc:grpChg chg="mod">
          <ac:chgData name="Shawn West" userId="bcaf3c6b-bfc1-40d2-81dc-c3fa941236d7" providerId="ADAL" clId="{502E98C1-975B-4C67-B5ED-3E9D2CA9E44A}" dt="2025-08-22T03:24:15.304" v="77" actId="1038"/>
          <ac:grpSpMkLst>
            <pc:docMk/>
            <pc:sldMk cId="714305329" sldId="500"/>
            <ac:grpSpMk id="81" creationId="{0FF1D650-AC56-3262-CEEC-2089B3160614}"/>
          </ac:grpSpMkLst>
        </pc:grpChg>
        <pc:graphicFrameChg chg="mod modGraphic">
          <ac:chgData name="Shawn West" userId="bcaf3c6b-bfc1-40d2-81dc-c3fa941236d7" providerId="ADAL" clId="{502E98C1-975B-4C67-B5ED-3E9D2CA9E44A}" dt="2025-08-22T03:32:29.397" v="431" actId="20577"/>
          <ac:graphicFrameMkLst>
            <pc:docMk/>
            <pc:sldMk cId="714305329" sldId="500"/>
            <ac:graphicFrameMk id="4" creationId="{46654F91-E40B-CF1B-875A-F148E80E42F7}"/>
          </ac:graphicFrameMkLst>
        </pc:graphicFrameChg>
        <pc:cxnChg chg="mod">
          <ac:chgData name="Shawn West" userId="bcaf3c6b-bfc1-40d2-81dc-c3fa941236d7" providerId="ADAL" clId="{502E98C1-975B-4C67-B5ED-3E9D2CA9E44A}" dt="2025-08-22T14:02:39.586" v="1489" actId="1076"/>
          <ac:cxnSpMkLst>
            <pc:docMk/>
            <pc:sldMk cId="714305329" sldId="500"/>
            <ac:cxnSpMk id="22" creationId="{FD629DCA-28D3-DCD0-A069-1624A39FB7F8}"/>
          </ac:cxnSpMkLst>
        </pc:cxnChg>
      </pc:sldChg>
      <pc:sldChg chg="modSp mod">
        <pc:chgData name="Shawn West" userId="bcaf3c6b-bfc1-40d2-81dc-c3fa941236d7" providerId="ADAL" clId="{502E98C1-975B-4C67-B5ED-3E9D2CA9E44A}" dt="2025-08-22T03:40:23.144" v="544" actId="20577"/>
        <pc:sldMkLst>
          <pc:docMk/>
          <pc:sldMk cId="3707748751" sldId="505"/>
        </pc:sldMkLst>
        <pc:spChg chg="mod">
          <ac:chgData name="Shawn West" userId="bcaf3c6b-bfc1-40d2-81dc-c3fa941236d7" providerId="ADAL" clId="{502E98C1-975B-4C67-B5ED-3E9D2CA9E44A}" dt="2025-08-22T03:40:23.144" v="544" actId="20577"/>
          <ac:spMkLst>
            <pc:docMk/>
            <pc:sldMk cId="3707748751" sldId="505"/>
            <ac:spMk id="6" creationId="{848E7924-905A-2614-D7A5-32A814ADF2C9}"/>
          </ac:spMkLst>
        </pc:spChg>
      </pc:sldChg>
      <pc:sldChg chg="modSp add mod">
        <pc:chgData name="Shawn West" userId="bcaf3c6b-bfc1-40d2-81dc-c3fa941236d7" providerId="ADAL" clId="{502E98C1-975B-4C67-B5ED-3E9D2CA9E44A}" dt="2025-08-22T04:18:00.384" v="636" actId="20577"/>
        <pc:sldMkLst>
          <pc:docMk/>
          <pc:sldMk cId="1380787817" sldId="507"/>
        </pc:sldMkLst>
        <pc:spChg chg="mod">
          <ac:chgData name="Shawn West" userId="bcaf3c6b-bfc1-40d2-81dc-c3fa941236d7" providerId="ADAL" clId="{502E98C1-975B-4C67-B5ED-3E9D2CA9E44A}" dt="2025-08-22T04:08:02.843" v="549" actId="20577"/>
          <ac:spMkLst>
            <pc:docMk/>
            <pc:sldMk cId="1380787817" sldId="507"/>
            <ac:spMk id="2" creationId="{DC5DA823-6675-E1B9-3DCE-0EB28EBA018E}"/>
          </ac:spMkLst>
        </pc:spChg>
        <pc:spChg chg="mod">
          <ac:chgData name="Shawn West" userId="bcaf3c6b-bfc1-40d2-81dc-c3fa941236d7" providerId="ADAL" clId="{502E98C1-975B-4C67-B5ED-3E9D2CA9E44A}" dt="2025-08-22T04:18:00.384" v="636" actId="20577"/>
          <ac:spMkLst>
            <pc:docMk/>
            <pc:sldMk cId="1380787817" sldId="507"/>
            <ac:spMk id="6" creationId="{1DC4E7F0-2C91-FA79-384B-6C4DA1E2B401}"/>
          </ac:spMkLst>
        </pc:spChg>
      </pc:sldChg>
      <pc:sldChg chg="modSp new mod">
        <pc:chgData name="Shawn West" userId="bcaf3c6b-bfc1-40d2-81dc-c3fa941236d7" providerId="ADAL" clId="{502E98C1-975B-4C67-B5ED-3E9D2CA9E44A}" dt="2025-08-22T04:09:06.072" v="617" actId="20577"/>
        <pc:sldMkLst>
          <pc:docMk/>
          <pc:sldMk cId="1445920946" sldId="508"/>
        </pc:sldMkLst>
        <pc:spChg chg="mod">
          <ac:chgData name="Shawn West" userId="bcaf3c6b-bfc1-40d2-81dc-c3fa941236d7" providerId="ADAL" clId="{502E98C1-975B-4C67-B5ED-3E9D2CA9E44A}" dt="2025-08-22T04:08:26.761" v="558" actId="20577"/>
          <ac:spMkLst>
            <pc:docMk/>
            <pc:sldMk cId="1445920946" sldId="508"/>
            <ac:spMk id="2" creationId="{50C18F73-0F16-5A35-7F2F-6EA632BBE99B}"/>
          </ac:spMkLst>
        </pc:spChg>
        <pc:spChg chg="mod">
          <ac:chgData name="Shawn West" userId="bcaf3c6b-bfc1-40d2-81dc-c3fa941236d7" providerId="ADAL" clId="{502E98C1-975B-4C67-B5ED-3E9D2CA9E44A}" dt="2025-08-22T04:09:06.072" v="617" actId="20577"/>
          <ac:spMkLst>
            <pc:docMk/>
            <pc:sldMk cId="1445920946" sldId="508"/>
            <ac:spMk id="3" creationId="{57F892AD-D341-A98C-0FCB-A1E4FF57C32F}"/>
          </ac:spMkLst>
        </pc:spChg>
      </pc:sldChg>
      <pc:sldChg chg="modSp add mod ord">
        <pc:chgData name="Shawn West" userId="bcaf3c6b-bfc1-40d2-81dc-c3fa941236d7" providerId="ADAL" clId="{502E98C1-975B-4C67-B5ED-3E9D2CA9E44A}" dt="2025-08-22T05:22:41.504" v="1347" actId="27636"/>
        <pc:sldMkLst>
          <pc:docMk/>
          <pc:sldMk cId="838657042" sldId="509"/>
        </pc:sldMkLst>
        <pc:spChg chg="mod">
          <ac:chgData name="Shawn West" userId="bcaf3c6b-bfc1-40d2-81dc-c3fa941236d7" providerId="ADAL" clId="{502E98C1-975B-4C67-B5ED-3E9D2CA9E44A}" dt="2025-08-22T05:22:41.504" v="1347" actId="27636"/>
          <ac:spMkLst>
            <pc:docMk/>
            <pc:sldMk cId="838657042" sldId="509"/>
            <ac:spMk id="2" creationId="{13705C81-41B4-1109-8719-83F6B73BD5F8}"/>
          </ac:spMkLst>
        </pc:spChg>
        <pc:spChg chg="mod">
          <ac:chgData name="Shawn West" userId="bcaf3c6b-bfc1-40d2-81dc-c3fa941236d7" providerId="ADAL" clId="{502E98C1-975B-4C67-B5ED-3E9D2CA9E44A}" dt="2025-08-22T05:22:19.216" v="1345" actId="20577"/>
          <ac:spMkLst>
            <pc:docMk/>
            <pc:sldMk cId="838657042" sldId="509"/>
            <ac:spMk id="6" creationId="{74727EC9-3AFC-F5B2-DBCD-3EF0A8515925}"/>
          </ac:spMkLst>
        </pc:spChg>
      </pc:sldChg>
      <pc:sldChg chg="add">
        <pc:chgData name="Shawn West" userId="bcaf3c6b-bfc1-40d2-81dc-c3fa941236d7" providerId="ADAL" clId="{502E98C1-975B-4C67-B5ED-3E9D2CA9E44A}" dt="2025-08-22T04:17:49.448" v="619"/>
        <pc:sldMkLst>
          <pc:docMk/>
          <pc:sldMk cId="3079370166" sldId="510"/>
        </pc:sldMkLst>
      </pc:sldChg>
      <pc:sldChg chg="add">
        <pc:chgData name="Shawn West" userId="bcaf3c6b-bfc1-40d2-81dc-c3fa941236d7" providerId="ADAL" clId="{502E98C1-975B-4C67-B5ED-3E9D2CA9E44A}" dt="2025-08-22T04:17:49.686" v="620"/>
        <pc:sldMkLst>
          <pc:docMk/>
          <pc:sldMk cId="1695953991" sldId="511"/>
        </pc:sldMkLst>
      </pc:sldChg>
      <pc:sldChg chg="add">
        <pc:chgData name="Shawn West" userId="bcaf3c6b-bfc1-40d2-81dc-c3fa941236d7" providerId="ADAL" clId="{502E98C1-975B-4C67-B5ED-3E9D2CA9E44A}" dt="2025-08-22T04:17:49.914" v="621"/>
        <pc:sldMkLst>
          <pc:docMk/>
          <pc:sldMk cId="1679103308" sldId="512"/>
        </pc:sldMkLst>
      </pc:sldChg>
      <pc:sldChg chg="add">
        <pc:chgData name="Shawn West" userId="bcaf3c6b-bfc1-40d2-81dc-c3fa941236d7" providerId="ADAL" clId="{502E98C1-975B-4C67-B5ED-3E9D2CA9E44A}" dt="2025-08-22T04:17:50.099" v="622"/>
        <pc:sldMkLst>
          <pc:docMk/>
          <pc:sldMk cId="2477377988" sldId="513"/>
        </pc:sldMkLst>
      </pc:sldChg>
      <pc:sldChg chg="add">
        <pc:chgData name="Shawn West" userId="bcaf3c6b-bfc1-40d2-81dc-c3fa941236d7" providerId="ADAL" clId="{502E98C1-975B-4C67-B5ED-3E9D2CA9E44A}" dt="2025-08-22T04:17:50.315" v="623"/>
        <pc:sldMkLst>
          <pc:docMk/>
          <pc:sldMk cId="359329192" sldId="514"/>
        </pc:sldMkLst>
      </pc:sldChg>
      <pc:sldChg chg="add">
        <pc:chgData name="Shawn West" userId="bcaf3c6b-bfc1-40d2-81dc-c3fa941236d7" providerId="ADAL" clId="{502E98C1-975B-4C67-B5ED-3E9D2CA9E44A}" dt="2025-08-22T04:17:50.766" v="624"/>
        <pc:sldMkLst>
          <pc:docMk/>
          <pc:sldMk cId="688665116" sldId="515"/>
        </pc:sldMkLst>
      </pc:sldChg>
      <pc:sldChg chg="add">
        <pc:chgData name="Shawn West" userId="bcaf3c6b-bfc1-40d2-81dc-c3fa941236d7" providerId="ADAL" clId="{502E98C1-975B-4C67-B5ED-3E9D2CA9E44A}" dt="2025-08-22T04:17:50.985" v="625"/>
        <pc:sldMkLst>
          <pc:docMk/>
          <pc:sldMk cId="3643079977" sldId="516"/>
        </pc:sldMkLst>
      </pc:sldChg>
      <pc:sldChg chg="modSp add mod">
        <pc:chgData name="Shawn West" userId="bcaf3c6b-bfc1-40d2-81dc-c3fa941236d7" providerId="ADAL" clId="{502E98C1-975B-4C67-B5ED-3E9D2CA9E44A}" dt="2025-08-22T04:48:01.809" v="1118" actId="20577"/>
        <pc:sldMkLst>
          <pc:docMk/>
          <pc:sldMk cId="3996569533" sldId="517"/>
        </pc:sldMkLst>
        <pc:spChg chg="mod">
          <ac:chgData name="Shawn West" userId="bcaf3c6b-bfc1-40d2-81dc-c3fa941236d7" providerId="ADAL" clId="{502E98C1-975B-4C67-B5ED-3E9D2CA9E44A}" dt="2025-08-22T04:48:01.809" v="1118" actId="20577"/>
          <ac:spMkLst>
            <pc:docMk/>
            <pc:sldMk cId="3996569533" sldId="517"/>
            <ac:spMk id="2" creationId="{EA88609D-0FDD-5901-7B4C-41EBFD04888F}"/>
          </ac:spMkLst>
        </pc:spChg>
        <pc:spChg chg="mod">
          <ac:chgData name="Shawn West" userId="bcaf3c6b-bfc1-40d2-81dc-c3fa941236d7" providerId="ADAL" clId="{502E98C1-975B-4C67-B5ED-3E9D2CA9E44A}" dt="2025-08-22T04:26:47.948" v="655" actId="20577"/>
          <ac:spMkLst>
            <pc:docMk/>
            <pc:sldMk cId="3996569533" sldId="517"/>
            <ac:spMk id="6" creationId="{1667FDF0-E64B-62CF-3815-3B6142F8D7EB}"/>
          </ac:spMkLst>
        </pc:spChg>
      </pc:sldChg>
      <pc:sldChg chg="modSp add mod">
        <pc:chgData name="Shawn West" userId="bcaf3c6b-bfc1-40d2-81dc-c3fa941236d7" providerId="ADAL" clId="{502E98C1-975B-4C67-B5ED-3E9D2CA9E44A}" dt="2025-08-22T06:44:18.165" v="1488" actId="20577"/>
        <pc:sldMkLst>
          <pc:docMk/>
          <pc:sldMk cId="3735198599" sldId="518"/>
        </pc:sldMkLst>
        <pc:spChg chg="mod">
          <ac:chgData name="Shawn West" userId="bcaf3c6b-bfc1-40d2-81dc-c3fa941236d7" providerId="ADAL" clId="{502E98C1-975B-4C67-B5ED-3E9D2CA9E44A}" dt="2025-08-22T06:44:18.165" v="1488" actId="20577"/>
          <ac:spMkLst>
            <pc:docMk/>
            <pc:sldMk cId="3735198599" sldId="518"/>
            <ac:spMk id="2" creationId="{554C6B74-1C65-FFA8-999F-F4BFEB75A80A}"/>
          </ac:spMkLst>
        </pc:spChg>
        <pc:spChg chg="mod">
          <ac:chgData name="Shawn West" userId="bcaf3c6b-bfc1-40d2-81dc-c3fa941236d7" providerId="ADAL" clId="{502E98C1-975B-4C67-B5ED-3E9D2CA9E44A}" dt="2025-08-22T04:39:55.246" v="746" actId="20577"/>
          <ac:spMkLst>
            <pc:docMk/>
            <pc:sldMk cId="3735198599" sldId="518"/>
            <ac:spMk id="6" creationId="{5FA8BF3A-6A4D-772F-8F44-A041873BCF26}"/>
          </ac:spMkLst>
        </pc:spChg>
      </pc:sldChg>
      <pc:sldChg chg="modSp add mod">
        <pc:chgData name="Shawn West" userId="bcaf3c6b-bfc1-40d2-81dc-c3fa941236d7" providerId="ADAL" clId="{502E98C1-975B-4C67-B5ED-3E9D2CA9E44A}" dt="2025-08-22T04:45:21.544" v="1090" actId="21"/>
        <pc:sldMkLst>
          <pc:docMk/>
          <pc:sldMk cId="3611448926" sldId="519"/>
        </pc:sldMkLst>
        <pc:spChg chg="mod">
          <ac:chgData name="Shawn West" userId="bcaf3c6b-bfc1-40d2-81dc-c3fa941236d7" providerId="ADAL" clId="{502E98C1-975B-4C67-B5ED-3E9D2CA9E44A}" dt="2025-08-22T04:45:21.544" v="1090" actId="21"/>
          <ac:spMkLst>
            <pc:docMk/>
            <pc:sldMk cId="3611448926" sldId="519"/>
            <ac:spMk id="2" creationId="{0634BE89-0C8D-B66D-3567-D4D203213F6D}"/>
          </ac:spMkLst>
        </pc:spChg>
        <pc:spChg chg="mod">
          <ac:chgData name="Shawn West" userId="bcaf3c6b-bfc1-40d2-81dc-c3fa941236d7" providerId="ADAL" clId="{502E98C1-975B-4C67-B5ED-3E9D2CA9E44A}" dt="2025-08-22T04:40:28.872" v="758" actId="20577"/>
          <ac:spMkLst>
            <pc:docMk/>
            <pc:sldMk cId="3611448926" sldId="519"/>
            <ac:spMk id="6" creationId="{4B26125E-97D5-C407-D9B2-706930646CA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1904ED56-815F-4152-9F12-EA9FD3F07DC0}" type="datetimeFigureOut">
              <a:t>8/21/2025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7" rIns="96653" bIns="4832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53" tIns="48327" rIns="96653" bIns="4832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AFF60533-1213-4FCB-A4AA-C44494E2E2E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14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BAD00-E69E-A16B-149B-AD7F70F77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806B4-E429-4590-113E-1C02736FD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5ACD48-E55A-106B-9489-91CFA7F54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6F964-E166-88FC-B8EF-B948D5C8B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45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79325-EE45-B791-F78F-79348B795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4284A-203A-F704-02AA-97A2C622F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F5671-ADD8-B659-548A-BF95F0286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FD2B3-6B21-F456-1820-DFC5B1C8B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35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5D1F8-7A2A-4753-F99A-91DE35F42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04B0B1-9350-CC63-1CF2-A40F11E8F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CB82AE-5A7D-130E-A1D7-394B4AC58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2B997-0EDB-1DC4-B94F-D35F6A57D0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571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EA154-FCAB-7EF4-284D-57539BCB7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0DF848-E931-5B3F-D5AC-3B9F3A89E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B5FB6-DE26-3999-A2CA-E05647F2A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99C6D-A3E9-25D7-F6C4-D1E0186B2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06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E94EE-5A03-BBC5-6B2C-0B73D5772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8F2C6A-9018-613B-20F8-35847D00A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47E22E-11CA-7549-FA6E-3F13503AA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D6B06-A622-C757-7734-17361352B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172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trike="sngStrike" dirty="0"/>
              <a:t>Comments:</a:t>
            </a:r>
          </a:p>
          <a:p>
            <a:pPr marL="362448" indent="-362448">
              <a:buFont typeface="Symbol" panose="05050102010706020507" pitchFamily="18" charset="2"/>
              <a:buChar char="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S2: 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See comment on page 46 may need these pages to edit/delete Product Name or Company Name records unless you can find another way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b="1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do you add a new field. Not represented anywhere. </a:t>
            </a:r>
            <a:endParaRPr lang="en-US" strike="sngStrike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Remove (Roles) from site map. 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 there an API page – or is that all backend?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7.1.3 – see comments in section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Are you accounting for non-phase 1 on purpose? No this was missed when updating the documents. 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Grayed Items: Some were intentionally removing. 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3.3 – This would be clients and partners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There needs to be interface for the Analyst to be able to add and edit new Product (and associate product category/type to it) and Company. Current DB has this happening in the Cert upload interface and separate pages.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437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8D31A-2159-88D2-590D-996089848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5539C-2F78-ABE3-A27B-55A27FF9A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A145DB-73E2-4ABD-66FD-1CDAEF075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889E1-7EC5-01D7-E4C8-17530ADB0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26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17CA7-B25F-275B-8418-6968CF465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92E8EB-2D5D-5EEB-0A57-A1FBBB3BF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94CE5-10A7-BEC3-3985-8B16ED66C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9FA86-769E-0C0F-E061-65BAD4B10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2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8852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09E64-0FB7-09FF-733D-DAA92BB86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35244D-7CF5-BAB9-0EFE-20A28A1D9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4CCDF-F4D2-A7EE-072A-7C7335277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3E6C9-706E-394A-B895-FA0D66DF0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342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609AF-59B4-9FEF-FE96-7D59590EF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5BAD96-4AE8-7A37-91F0-0A1615D3D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8C25CE-265B-A8BC-66BB-43516F600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52EF8-37CC-B655-505F-5B408F14E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4097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E480A-8CF9-6DF4-E9C1-FE30255E8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72369-4AC5-77C9-188F-5E1E4E2B3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E55C34-2539-DC3B-BF10-24AA7DCA7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7DF2B-A708-F1FA-4E17-297C3453E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730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8439B-8532-EFD8-F8B2-F0C757053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67136-737D-136B-33EE-635939477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4150CD-3707-44A4-7152-FD0941B9C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C2650-BE16-2C4B-F089-5C7A5BD55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816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0C5D-F524-24BB-46AE-284143BE5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37C82-B7F4-A75E-75FB-24F93D6FB7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6FD26-F44C-538B-4E15-5307AEECE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9D7F3-11E6-9757-EEC7-AD38FAC1E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5879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97A12-C291-EBD7-CE0F-25576718C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BB3D37-A83D-847F-032E-BCA275F81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A37B45-7C1D-43F9-5B5E-B87DB6350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D68F2-D1E2-22EA-CC2B-2BF8694FA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0049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F6CF-9608-8D28-68E6-CC9AD16A7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BE004-E9F3-D98A-4D87-C09BC6A5C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703989-C53F-F3C2-4E90-9A5759CD2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85D65-49AC-9B26-4298-71A2C890BE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007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CAAF8-5C6A-92CB-AC2B-D658457DF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E7BFBB-9329-AA77-4DCC-CD6358500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982166-34DD-A45C-A85A-586E229FE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A09C2-0CAF-579A-05FC-2081FF2BAE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870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01D8E-1383-F2DB-4EE8-773230AEB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5BCE3F-D425-3FDD-5861-9409CF715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2568D-9CFA-EBD1-BE32-2BD5C1642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BF6B2-57F0-6449-5067-64EEF1940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43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66892-2A76-8537-0106-2F975C6EA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9CDBCA-A17A-FCC7-8507-24C91181F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DBD402-2B4A-8125-4940-BE948C42A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2A79A-5791-6F7F-DE59-C74392881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6004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8A12A-57E2-218F-FA92-A3C755ED1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3B15A-F11A-0EEA-5A9F-CDD50EA5B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0A513A-1C89-EEC9-A493-00423AC67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42BB8-27A9-33A3-2950-E16C2174D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45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  <a:prstGeom prst="rect">
            <a:avLst/>
          </a:prstGeom>
          <a:ln cmpd="dbl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15600"/>
                      <a:gd name="connsiteY0" fmla="*/ 0 h 487131"/>
                      <a:gd name="connsiteX1" fmla="*/ 10515600 w 10515600"/>
                      <a:gd name="connsiteY1" fmla="*/ 0 h 487131"/>
                      <a:gd name="connsiteX2" fmla="*/ 10515600 w 10515600"/>
                      <a:gd name="connsiteY2" fmla="*/ 487131 h 487131"/>
                      <a:gd name="connsiteX3" fmla="*/ 0 w 10515600"/>
                      <a:gd name="connsiteY3" fmla="*/ 487131 h 487131"/>
                      <a:gd name="connsiteX4" fmla="*/ 0 w 10515600"/>
                      <a:gd name="connsiteY4" fmla="*/ 0 h 4871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15600" h="487131" fill="none" extrusionOk="0">
                        <a:moveTo>
                          <a:pt x="0" y="0"/>
                        </a:moveTo>
                        <a:cubicBezTo>
                          <a:pt x="1336723" y="-49533"/>
                          <a:pt x="5786221" y="-14809"/>
                          <a:pt x="10515600" y="0"/>
                        </a:cubicBezTo>
                        <a:cubicBezTo>
                          <a:pt x="10494285" y="123102"/>
                          <a:pt x="10533522" y="381239"/>
                          <a:pt x="10515600" y="487131"/>
                        </a:cubicBezTo>
                        <a:cubicBezTo>
                          <a:pt x="5888664" y="438900"/>
                          <a:pt x="3324145" y="571586"/>
                          <a:pt x="0" y="487131"/>
                        </a:cubicBezTo>
                        <a:cubicBezTo>
                          <a:pt x="-33088" y="375820"/>
                          <a:pt x="-40187" y="169403"/>
                          <a:pt x="0" y="0"/>
                        </a:cubicBezTo>
                        <a:close/>
                      </a:path>
                      <a:path w="10515600" h="487131" stroke="0" extrusionOk="0">
                        <a:moveTo>
                          <a:pt x="0" y="0"/>
                        </a:moveTo>
                        <a:cubicBezTo>
                          <a:pt x="2385074" y="118645"/>
                          <a:pt x="7736396" y="116012"/>
                          <a:pt x="10515600" y="0"/>
                        </a:cubicBezTo>
                        <a:cubicBezTo>
                          <a:pt x="10490307" y="158588"/>
                          <a:pt x="10503601" y="250307"/>
                          <a:pt x="10515600" y="487131"/>
                        </a:cubicBezTo>
                        <a:cubicBezTo>
                          <a:pt x="8570514" y="621731"/>
                          <a:pt x="4733866" y="329935"/>
                          <a:pt x="0" y="487131"/>
                        </a:cubicBezTo>
                        <a:cubicBezTo>
                          <a:pt x="36258" y="435268"/>
                          <a:pt x="-4662" y="1661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503" y="868054"/>
            <a:ext cx="10755297" cy="5139345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D8C9B69-EF90-C9A3-DF62-ADCD60F09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834C-2F9F-4134-A8A6-8D28F07BEAB5}" type="datetime1">
              <a:rPr lang="en-US" smtClean="0"/>
              <a:t>8/21/2025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54CB3D-B6B5-8480-EF97-1EEE3888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4487A5A-23CF-8E29-1BC5-29697E74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D8C9B69-EF90-C9A3-DF62-ADCD60F09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C8B48-3E80-40FE-82B7-08F610C8B0AF}" type="datetime1">
              <a:rPr lang="en-US" smtClean="0"/>
              <a:t>8/21/2025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54CB3D-B6B5-8480-EF97-1EEE3888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4487A5A-23CF-8E29-1BC5-29697E74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10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5421297" cy="5394538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32503" y="782425"/>
            <a:ext cx="5421297" cy="5394538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056A89-B657-4E56-81EA-47AEC42B3D30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A7280F5-7666-28EA-35DD-86411B892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5CFD0E2-6DB6-48B0-A00E-AF2C677C1319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C5E615-12C4-4709-B50C-4AFC9D577141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504" y="898733"/>
            <a:ext cx="53990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Century Gothic" panose="020B0502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504" y="1800520"/>
            <a:ext cx="5399072" cy="4389143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29727" y="898733"/>
            <a:ext cx="542566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Century Gothic" panose="020B0502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29727" y="1800520"/>
            <a:ext cx="5425661" cy="4389143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516FE9-DAFF-4019-B1DF-FCD5398715BB}" type="datetime1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957E462-421E-68A0-EA15-ACBC76D22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DEACDC-4FA8-4934-9E2F-B8BAA099B586}" type="datetime1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Century Gothic" panose="020B0502020202020204" pitchFamily="34" charset="0"/>
              </a:defRPr>
            </a:lvl1pPr>
            <a:lvl2pPr>
              <a:defRPr sz="2800">
                <a:latin typeface="Century Gothic" panose="020B0502020202020204" pitchFamily="34" charset="0"/>
              </a:defRPr>
            </a:lvl2pPr>
            <a:lvl3pPr>
              <a:defRPr sz="2400">
                <a:latin typeface="Century Gothic" panose="020B0502020202020204" pitchFamily="34" charset="0"/>
              </a:defRPr>
            </a:lvl3pPr>
            <a:lvl4pPr>
              <a:defRPr sz="2000">
                <a:latin typeface="Century Gothic" panose="020B0502020202020204" pitchFamily="34" charset="0"/>
              </a:defRPr>
            </a:lvl4pPr>
            <a:lvl5pPr>
              <a:defRPr sz="2000">
                <a:latin typeface="Century Gothic" panose="020B0502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Century Gothic" panose="020B0502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E9538-4AA9-4306-AAAC-5D9AE10FAA03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22262E-171E-47EC-8BDD-63B9658BD71F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6172" y="932485"/>
            <a:ext cx="10717627" cy="51106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1DDE8F-1896-42B2-B75E-118659C1A926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18117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 descr="A blue and white logo&#10;&#10;AI-generated content may be incorrect.">
            <a:extLst>
              <a:ext uri="{FF2B5EF4-FFF2-40B4-BE49-F238E27FC236}">
                <a16:creationId xmlns:a16="http://schemas.microsoft.com/office/drawing/2014/main" id="{16857A67-82BF-0CC1-2736-42AF2618A6C5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093" y="6270021"/>
            <a:ext cx="1564607" cy="433698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2E79D129-442B-01DD-C2C5-E6EF3B967137}"/>
              </a:ext>
            </a:extLst>
          </p:cNvPr>
          <p:cNvSpPr txBox="1">
            <a:spLocks/>
          </p:cNvSpPr>
          <p:nvPr userDrawn="1"/>
        </p:nvSpPr>
        <p:spPr>
          <a:xfrm>
            <a:off x="598503" y="193906"/>
            <a:ext cx="10515600" cy="487131"/>
          </a:xfrm>
          <a:prstGeom prst="rect">
            <a:avLst/>
          </a:prstGeom>
          <a:ln cmpd="dbl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15600"/>
                      <a:gd name="connsiteY0" fmla="*/ 0 h 487131"/>
                      <a:gd name="connsiteX1" fmla="*/ 10515600 w 10515600"/>
                      <a:gd name="connsiteY1" fmla="*/ 0 h 487131"/>
                      <a:gd name="connsiteX2" fmla="*/ 10515600 w 10515600"/>
                      <a:gd name="connsiteY2" fmla="*/ 487131 h 487131"/>
                      <a:gd name="connsiteX3" fmla="*/ 0 w 10515600"/>
                      <a:gd name="connsiteY3" fmla="*/ 487131 h 487131"/>
                      <a:gd name="connsiteX4" fmla="*/ 0 w 10515600"/>
                      <a:gd name="connsiteY4" fmla="*/ 0 h 4871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15600" h="487131" fill="none" extrusionOk="0">
                        <a:moveTo>
                          <a:pt x="0" y="0"/>
                        </a:moveTo>
                        <a:cubicBezTo>
                          <a:pt x="1336723" y="-49533"/>
                          <a:pt x="5786221" y="-14809"/>
                          <a:pt x="10515600" y="0"/>
                        </a:cubicBezTo>
                        <a:cubicBezTo>
                          <a:pt x="10494285" y="123102"/>
                          <a:pt x="10533522" y="381239"/>
                          <a:pt x="10515600" y="487131"/>
                        </a:cubicBezTo>
                        <a:cubicBezTo>
                          <a:pt x="5888664" y="438900"/>
                          <a:pt x="3324145" y="571586"/>
                          <a:pt x="0" y="487131"/>
                        </a:cubicBezTo>
                        <a:cubicBezTo>
                          <a:pt x="-33088" y="375820"/>
                          <a:pt x="-40187" y="169403"/>
                          <a:pt x="0" y="0"/>
                        </a:cubicBezTo>
                        <a:close/>
                      </a:path>
                      <a:path w="10515600" h="487131" stroke="0" extrusionOk="0">
                        <a:moveTo>
                          <a:pt x="0" y="0"/>
                        </a:moveTo>
                        <a:cubicBezTo>
                          <a:pt x="2385074" y="118645"/>
                          <a:pt x="7736396" y="116012"/>
                          <a:pt x="10515600" y="0"/>
                        </a:cubicBezTo>
                        <a:cubicBezTo>
                          <a:pt x="10490307" y="158588"/>
                          <a:pt x="10503601" y="250307"/>
                          <a:pt x="10515600" y="487131"/>
                        </a:cubicBezTo>
                        <a:cubicBezTo>
                          <a:pt x="8570514" y="621731"/>
                          <a:pt x="4733866" y="329935"/>
                          <a:pt x="0" y="487131"/>
                        </a:cubicBezTo>
                        <a:cubicBezTo>
                          <a:pt x="36258" y="435268"/>
                          <a:pt x="-4662" y="1661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DD846F1-3040-CF69-75AE-EA6E3AE7A307}"/>
              </a:ext>
            </a:extLst>
          </p:cNvPr>
          <p:cNvSpPr txBox="1">
            <a:spLocks/>
          </p:cNvSpPr>
          <p:nvPr userDrawn="1"/>
        </p:nvSpPr>
        <p:spPr>
          <a:xfrm>
            <a:off x="750903" y="346306"/>
            <a:ext cx="10515600" cy="487131"/>
          </a:xfrm>
          <a:prstGeom prst="rect">
            <a:avLst/>
          </a:prstGeom>
          <a:ln cmpd="dbl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15600"/>
                      <a:gd name="connsiteY0" fmla="*/ 0 h 487131"/>
                      <a:gd name="connsiteX1" fmla="*/ 10515600 w 10515600"/>
                      <a:gd name="connsiteY1" fmla="*/ 0 h 487131"/>
                      <a:gd name="connsiteX2" fmla="*/ 10515600 w 10515600"/>
                      <a:gd name="connsiteY2" fmla="*/ 487131 h 487131"/>
                      <a:gd name="connsiteX3" fmla="*/ 0 w 10515600"/>
                      <a:gd name="connsiteY3" fmla="*/ 487131 h 487131"/>
                      <a:gd name="connsiteX4" fmla="*/ 0 w 10515600"/>
                      <a:gd name="connsiteY4" fmla="*/ 0 h 4871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15600" h="487131" fill="none" extrusionOk="0">
                        <a:moveTo>
                          <a:pt x="0" y="0"/>
                        </a:moveTo>
                        <a:cubicBezTo>
                          <a:pt x="1336723" y="-49533"/>
                          <a:pt x="5786221" y="-14809"/>
                          <a:pt x="10515600" y="0"/>
                        </a:cubicBezTo>
                        <a:cubicBezTo>
                          <a:pt x="10494285" y="123102"/>
                          <a:pt x="10533522" y="381239"/>
                          <a:pt x="10515600" y="487131"/>
                        </a:cubicBezTo>
                        <a:cubicBezTo>
                          <a:pt x="5888664" y="438900"/>
                          <a:pt x="3324145" y="571586"/>
                          <a:pt x="0" y="487131"/>
                        </a:cubicBezTo>
                        <a:cubicBezTo>
                          <a:pt x="-33088" y="375820"/>
                          <a:pt x="-40187" y="169403"/>
                          <a:pt x="0" y="0"/>
                        </a:cubicBezTo>
                        <a:close/>
                      </a:path>
                      <a:path w="10515600" h="487131" stroke="0" extrusionOk="0">
                        <a:moveTo>
                          <a:pt x="0" y="0"/>
                        </a:moveTo>
                        <a:cubicBezTo>
                          <a:pt x="2385074" y="118645"/>
                          <a:pt x="7736396" y="116012"/>
                          <a:pt x="10515600" y="0"/>
                        </a:cubicBezTo>
                        <a:cubicBezTo>
                          <a:pt x="10490307" y="158588"/>
                          <a:pt x="10503601" y="250307"/>
                          <a:pt x="10515600" y="487131"/>
                        </a:cubicBezTo>
                        <a:cubicBezTo>
                          <a:pt x="8570514" y="621731"/>
                          <a:pt x="4733866" y="329935"/>
                          <a:pt x="0" y="487131"/>
                        </a:cubicBezTo>
                        <a:cubicBezTo>
                          <a:pt x="36258" y="435268"/>
                          <a:pt x="-4662" y="1661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2" r:id="rId2"/>
    <p:sldLayoutId id="2147483664" r:id="rId3"/>
    <p:sldLayoutId id="2147483661" r:id="rId4"/>
    <p:sldLayoutId id="2147483663" r:id="rId5"/>
    <p:sldLayoutId id="2147483665" r:id="rId6"/>
    <p:sldLayoutId id="2147483667" r:id="rId7"/>
    <p:sldLayoutId id="2147483668" r:id="rId8"/>
    <p:sldLayoutId id="2147483669" r:id="rId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plant">
            <a:extLst>
              <a:ext uri="{FF2B5EF4-FFF2-40B4-BE49-F238E27FC236}">
                <a16:creationId xmlns:a16="http://schemas.microsoft.com/office/drawing/2014/main" id="{C9BB5349-530B-507F-95E8-CB0925B287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250" b="10035"/>
          <a:stretch>
            <a:fillRect/>
          </a:stretch>
        </p:blipFill>
        <p:spPr>
          <a:xfrm>
            <a:off x="-1" y="1114424"/>
            <a:ext cx="12192001" cy="50553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2D8BCD-86CA-7D6C-C1E4-D5F9AA3D5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676603" cy="111442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entury Gothic" panose="020B0502020202020204" pitchFamily="34" charset="0"/>
              </a:rPr>
              <a:t>GreenCircle Certified Database Project</a:t>
            </a:r>
          </a:p>
        </p:txBody>
      </p:sp>
      <p:pic>
        <p:nvPicPr>
          <p:cNvPr id="1030" name="Picture 6" descr="Green Circle Certified">
            <a:extLst>
              <a:ext uri="{FF2B5EF4-FFF2-40B4-BE49-F238E27FC236}">
                <a16:creationId xmlns:a16="http://schemas.microsoft.com/office/drawing/2014/main" id="{ACDED094-9C2C-2C27-915F-2E49AB794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1731" y="217346"/>
            <a:ext cx="1143000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C500507-CB45-8600-884F-3826F0951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E86E-37E5-4543-A6EB-A0C93BD06DFB}" type="datetime1">
              <a:rPr lang="en-US" smtClean="0"/>
              <a:t>8/21/2025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A481C8B-53E8-D429-7340-0A13268C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B2265E-E3BD-C8E7-5B8E-FAF4E3557BF7}"/>
              </a:ext>
            </a:extLst>
          </p:cNvPr>
          <p:cNvSpPr/>
          <p:nvPr/>
        </p:nvSpPr>
        <p:spPr>
          <a:xfrm>
            <a:off x="-836446" y="1887782"/>
            <a:ext cx="8661786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Project Status and Timeline Updates</a:t>
            </a:r>
            <a:endParaRPr lang="en-US" sz="5400" b="1" cap="none" spc="0" dirty="0">
              <a:ln w="0"/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52079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B5FD6-4D70-7CD0-45BA-91C1D4C4E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FA45-FE5E-E5CF-6A39-94D74F0CA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</p:spPr>
        <p:txBody>
          <a:bodyPr>
            <a:normAutofit/>
          </a:bodyPr>
          <a:lstStyle/>
          <a:p>
            <a:r>
              <a:rPr lang="en-US" sz="2800" dirty="0"/>
              <a:t>Project Timeline Updates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FDE2AE-240C-7653-4884-72C26BEC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040F15-3124-4DA1-BD1D-A4F020C7C5A7}" type="datetime1">
              <a:rPr lang="en-US" smtClean="0"/>
              <a:pPr>
                <a:spcAft>
                  <a:spcPts val="600"/>
                </a:spcAft>
              </a:pPr>
              <a:t>8/21/2025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826AEB-D6E3-A182-02FF-41BD74742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178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0E857F-9653-E211-EA12-1A6DCFFFD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024963"/>
              </p:ext>
            </p:extLst>
          </p:nvPr>
        </p:nvGraphicFramePr>
        <p:xfrm>
          <a:off x="474604" y="637308"/>
          <a:ext cx="11242488" cy="391232"/>
        </p:xfrm>
        <a:graphic>
          <a:graphicData uri="http://schemas.openxmlformats.org/drawingml/2006/table">
            <a:tbl>
              <a:tblPr firstRow="1" bandRow="1">
                <a:effectLst>
                  <a:outerShdw blurRad="114300" dist="38100" dir="2700000" algn="tl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335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6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869"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Tasks</a:t>
                      </a:r>
                    </a:p>
                  </a:txBody>
                  <a:tcPr marL="101672" marR="101672" marT="50836" marB="50836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Timeline</a:t>
                      </a: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654F91-E40B-CF1B-875A-F148E80E4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632672"/>
              </p:ext>
            </p:extLst>
          </p:nvPr>
        </p:nvGraphicFramePr>
        <p:xfrm>
          <a:off x="474604" y="1021313"/>
          <a:ext cx="11242488" cy="4252553"/>
        </p:xfrm>
        <a:graphic>
          <a:graphicData uri="http://schemas.openxmlformats.org/drawingml/2006/table">
            <a:tbl>
              <a:tblPr firstRow="1" bandRow="1">
                <a:effectLst>
                  <a:outerShdw blurRad="114300" dist="38100" dir="2700000" algn="tl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349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8529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8529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9272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675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Week Start Date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7/7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7/14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7/21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7/28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8/4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8/11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8/18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8/25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9/15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9/22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9/29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10/6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10/13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000953"/>
                  </a:ext>
                </a:extLst>
              </a:tr>
              <a:tr h="26996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Week End Date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7/11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7/18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7/25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8/15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8/22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8/29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9/12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9/19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9/26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10/3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10/10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10/17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Requirements &amp; Wireframes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Front-end Design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4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Architecture / Environment Setup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Database Expansion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API Development &amp; Backend 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209357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Front-end Development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Business Acceptance Testing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Deployment &amp; Configuration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Documentation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0" name="Group 15">
            <a:extLst>
              <a:ext uri="{FF2B5EF4-FFF2-40B4-BE49-F238E27FC236}">
                <a16:creationId xmlns:a16="http://schemas.microsoft.com/office/drawing/2014/main" id="{BD4B1877-839B-0518-87F7-D7A0D40F3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200117" y="2505194"/>
            <a:ext cx="1042062" cy="164592"/>
            <a:chOff x="2157548" y="2233748"/>
            <a:chExt cx="3709852" cy="204652"/>
          </a:xfrm>
        </p:grpSpPr>
        <p:sp>
          <p:nvSpPr>
            <p:cNvPr id="11" name="Rounded Rectangle 42">
              <a:extLst>
                <a:ext uri="{FF2B5EF4-FFF2-40B4-BE49-F238E27FC236}">
                  <a16:creationId xmlns:a16="http://schemas.microsoft.com/office/drawing/2014/main" id="{6E0C988A-C0FB-983F-8726-EE1717789288}"/>
                </a:ext>
              </a:extLst>
            </p:cNvPr>
            <p:cNvSpPr/>
            <p:nvPr/>
          </p:nvSpPr>
          <p:spPr>
            <a:xfrm>
              <a:off x="2157548" y="2233748"/>
              <a:ext cx="3709852" cy="204652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2" name="Rounded Rectangle 43">
              <a:extLst>
                <a:ext uri="{FF2B5EF4-FFF2-40B4-BE49-F238E27FC236}">
                  <a16:creationId xmlns:a16="http://schemas.microsoft.com/office/drawing/2014/main" id="{9EFB64B8-9E4D-3227-5822-D7D3DCD2AD81}"/>
                </a:ext>
              </a:extLst>
            </p:cNvPr>
            <p:cNvSpPr/>
            <p:nvPr/>
          </p:nvSpPr>
          <p:spPr>
            <a:xfrm>
              <a:off x="2207622" y="2259874"/>
              <a:ext cx="3630168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3" name="Group 27">
            <a:extLst>
              <a:ext uri="{FF2B5EF4-FFF2-40B4-BE49-F238E27FC236}">
                <a16:creationId xmlns:a16="http://schemas.microsoft.com/office/drawing/2014/main" id="{8F2973AD-16FC-C789-B8D0-8D352D9C8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787268" y="3348832"/>
            <a:ext cx="1890174" cy="164592"/>
            <a:chOff x="1371600" y="1905000"/>
            <a:chExt cx="1828800" cy="228600"/>
          </a:xfrm>
        </p:grpSpPr>
        <p:sp>
          <p:nvSpPr>
            <p:cNvPr id="14" name="Rounded Rectangle 54">
              <a:extLst>
                <a:ext uri="{FF2B5EF4-FFF2-40B4-BE49-F238E27FC236}">
                  <a16:creationId xmlns:a16="http://schemas.microsoft.com/office/drawing/2014/main" id="{26D34367-3DA8-59BF-EE95-8F53482C11DD}"/>
                </a:ext>
              </a:extLst>
            </p:cNvPr>
            <p:cNvSpPr/>
            <p:nvPr/>
          </p:nvSpPr>
          <p:spPr>
            <a:xfrm>
              <a:off x="1371600" y="1905000"/>
              <a:ext cx="18288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5" name="Rounded Rectangle 55">
              <a:extLst>
                <a:ext uri="{FF2B5EF4-FFF2-40B4-BE49-F238E27FC236}">
                  <a16:creationId xmlns:a16="http://schemas.microsoft.com/office/drawing/2014/main" id="{1487C89C-B9EB-ED1A-BD51-0DD654909223}"/>
                </a:ext>
              </a:extLst>
            </p:cNvPr>
            <p:cNvSpPr/>
            <p:nvPr/>
          </p:nvSpPr>
          <p:spPr>
            <a:xfrm>
              <a:off x="1421674" y="1931126"/>
              <a:ext cx="1737360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9" name="Group 33">
            <a:extLst>
              <a:ext uri="{FF2B5EF4-FFF2-40B4-BE49-F238E27FC236}">
                <a16:creationId xmlns:a16="http://schemas.microsoft.com/office/drawing/2014/main" id="{B36C4D27-9E53-24F3-48F1-8D2C61825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884201" y="4954625"/>
            <a:ext cx="710058" cy="164592"/>
            <a:chOff x="1371600" y="1905000"/>
            <a:chExt cx="1828800" cy="228600"/>
          </a:xfrm>
        </p:grpSpPr>
        <p:sp>
          <p:nvSpPr>
            <p:cNvPr id="20" name="Rounded Rectangle 60">
              <a:extLst>
                <a:ext uri="{FF2B5EF4-FFF2-40B4-BE49-F238E27FC236}">
                  <a16:creationId xmlns:a16="http://schemas.microsoft.com/office/drawing/2014/main" id="{A2D2E656-0AEC-A3D3-237E-0098AECA2C68}"/>
                </a:ext>
              </a:extLst>
            </p:cNvPr>
            <p:cNvSpPr/>
            <p:nvPr/>
          </p:nvSpPr>
          <p:spPr>
            <a:xfrm>
              <a:off x="1371600" y="1905000"/>
              <a:ext cx="18288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1" name="Rounded Rectangle 61">
              <a:extLst>
                <a:ext uri="{FF2B5EF4-FFF2-40B4-BE49-F238E27FC236}">
                  <a16:creationId xmlns:a16="http://schemas.microsoft.com/office/drawing/2014/main" id="{D5F5FEAC-6042-F927-12D9-0D73C7567DD6}"/>
                </a:ext>
              </a:extLst>
            </p:cNvPr>
            <p:cNvSpPr/>
            <p:nvPr/>
          </p:nvSpPr>
          <p:spPr>
            <a:xfrm>
              <a:off x="1421674" y="1931126"/>
              <a:ext cx="1737360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26" name="Group 27">
            <a:extLst>
              <a:ext uri="{FF2B5EF4-FFF2-40B4-BE49-F238E27FC236}">
                <a16:creationId xmlns:a16="http://schemas.microsoft.com/office/drawing/2014/main" id="{8B93F6B8-DF26-309B-0558-0C45BE65E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738444" y="2973249"/>
            <a:ext cx="2201277" cy="172751"/>
            <a:chOff x="1359045" y="1905000"/>
            <a:chExt cx="1841355" cy="228600"/>
          </a:xfrm>
        </p:grpSpPr>
        <p:sp>
          <p:nvSpPr>
            <p:cNvPr id="27" name="Rounded Rectangle 54">
              <a:extLst>
                <a:ext uri="{FF2B5EF4-FFF2-40B4-BE49-F238E27FC236}">
                  <a16:creationId xmlns:a16="http://schemas.microsoft.com/office/drawing/2014/main" id="{3736BF5A-1C32-77AD-B524-64F0C14C50D3}"/>
                </a:ext>
              </a:extLst>
            </p:cNvPr>
            <p:cNvSpPr/>
            <p:nvPr/>
          </p:nvSpPr>
          <p:spPr>
            <a:xfrm>
              <a:off x="1371600" y="1905000"/>
              <a:ext cx="18288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8" name="Rounded Rectangle 55">
              <a:extLst>
                <a:ext uri="{FF2B5EF4-FFF2-40B4-BE49-F238E27FC236}">
                  <a16:creationId xmlns:a16="http://schemas.microsoft.com/office/drawing/2014/main" id="{48D40ABA-0271-8F4A-CF83-F3AA4AB64BEE}"/>
                </a:ext>
              </a:extLst>
            </p:cNvPr>
            <p:cNvSpPr/>
            <p:nvPr/>
          </p:nvSpPr>
          <p:spPr>
            <a:xfrm>
              <a:off x="1359045" y="1931126"/>
              <a:ext cx="1737361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5631216-13DA-5093-E5D1-0CD509AE038C}"/>
              </a:ext>
            </a:extLst>
          </p:cNvPr>
          <p:cNvGrpSpPr/>
          <p:nvPr/>
        </p:nvGrpSpPr>
        <p:grpSpPr>
          <a:xfrm>
            <a:off x="10599616" y="4525678"/>
            <a:ext cx="1028803" cy="274299"/>
            <a:chOff x="10304661" y="4557434"/>
            <a:chExt cx="988648" cy="274299"/>
          </a:xfrm>
        </p:grpSpPr>
        <p:grpSp>
          <p:nvGrpSpPr>
            <p:cNvPr id="23" name="Group 33">
              <a:extLst>
                <a:ext uri="{FF2B5EF4-FFF2-40B4-BE49-F238E27FC236}">
                  <a16:creationId xmlns:a16="http://schemas.microsoft.com/office/drawing/2014/main" id="{5183D198-74E1-FB24-F1A8-D7D9800D1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10304661" y="4612947"/>
              <a:ext cx="859170" cy="164592"/>
              <a:chOff x="1371600" y="1905000"/>
              <a:chExt cx="1828800" cy="228600"/>
            </a:xfrm>
          </p:grpSpPr>
          <p:sp>
            <p:nvSpPr>
              <p:cNvPr id="24" name="Rounded Rectangle 60">
                <a:extLst>
                  <a:ext uri="{FF2B5EF4-FFF2-40B4-BE49-F238E27FC236}">
                    <a16:creationId xmlns:a16="http://schemas.microsoft.com/office/drawing/2014/main" id="{E07D2CF2-7EE2-95E4-CB8A-670126C0403C}"/>
                  </a:ext>
                </a:extLst>
              </p:cNvPr>
              <p:cNvSpPr/>
              <p:nvPr/>
            </p:nvSpPr>
            <p:spPr>
              <a:xfrm>
                <a:off x="1371600" y="1905000"/>
                <a:ext cx="1828800" cy="2286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8288" tIns="18288" rIns="18288" bIns="18288" anchor="ctr" anchorCtr="1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 sz="1600" b="1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5" name="Rounded Rectangle 61">
                <a:extLst>
                  <a:ext uri="{FF2B5EF4-FFF2-40B4-BE49-F238E27FC236}">
                    <a16:creationId xmlns:a16="http://schemas.microsoft.com/office/drawing/2014/main" id="{EEECB5E2-96BF-87B8-23CE-528EE6F62D75}"/>
                  </a:ext>
                </a:extLst>
              </p:cNvPr>
              <p:cNvSpPr/>
              <p:nvPr/>
            </p:nvSpPr>
            <p:spPr>
              <a:xfrm>
                <a:off x="1421674" y="1931126"/>
                <a:ext cx="1737360" cy="1524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29" name="Flowchart: Decision 36">
              <a:extLst>
                <a:ext uri="{FF2B5EF4-FFF2-40B4-BE49-F238E27FC236}">
                  <a16:creationId xmlns:a16="http://schemas.microsoft.com/office/drawing/2014/main" id="{A022F740-49F7-76F1-148C-3E0DD8805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033410" y="4557434"/>
              <a:ext cx="259899" cy="274299"/>
            </a:xfrm>
            <a:prstGeom prst="flowChartDecisi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 dirty="0">
                <a:latin typeface="Century Gothic" panose="020B0502020202020204" pitchFamily="34" charset="0"/>
              </a:endParaRPr>
            </a:p>
          </p:txBody>
        </p:sp>
      </p:grpSp>
      <p:sp>
        <p:nvSpPr>
          <p:cNvPr id="17" name="Rounded Rectangle 57">
            <a:extLst>
              <a:ext uri="{FF2B5EF4-FFF2-40B4-BE49-F238E27FC236}">
                <a16:creationId xmlns:a16="http://schemas.microsoft.com/office/drawing/2014/main" id="{14CA68B9-88CC-D2B6-812C-49496C773F59}"/>
              </a:ext>
            </a:extLst>
          </p:cNvPr>
          <p:cNvSpPr/>
          <p:nvPr/>
        </p:nvSpPr>
        <p:spPr>
          <a:xfrm>
            <a:off x="8997245" y="4148489"/>
            <a:ext cx="1978134" cy="164592"/>
          </a:xfrm>
          <a:prstGeom prst="roundRect">
            <a:avLst>
              <a:gd name="adj" fmla="val 4871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8288" tIns="18288" rIns="18288" bIns="18288" anchor="ctr" anchorCtr="1"/>
          <a:lstStyle/>
          <a:p>
            <a:pPr algn="ctr">
              <a:lnSpc>
                <a:spcPct val="85000"/>
              </a:lnSpc>
              <a:spcBef>
                <a:spcPct val="20000"/>
              </a:spcBef>
            </a:pPr>
            <a:endParaRPr lang="en-US" sz="16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0" name="Flowchart: Decision 36">
            <a:extLst>
              <a:ext uri="{FF2B5EF4-FFF2-40B4-BE49-F238E27FC236}">
                <a16:creationId xmlns:a16="http://schemas.microsoft.com/office/drawing/2014/main" id="{4D09D823-131B-45C0-3CFD-5E1A1D6E3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76466" y="4086498"/>
            <a:ext cx="259879" cy="274299"/>
          </a:xfrm>
          <a:prstGeom prst="flowChartDecision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6FFEB4-FD6D-899B-DD29-36DE75905B23}"/>
              </a:ext>
            </a:extLst>
          </p:cNvPr>
          <p:cNvSpPr txBox="1"/>
          <p:nvPr/>
        </p:nvSpPr>
        <p:spPr>
          <a:xfrm>
            <a:off x="474604" y="5365745"/>
            <a:ext cx="5413730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200" b="1" dirty="0">
                <a:latin typeface="Century Gothic" panose="020B0502020202020204" pitchFamily="34" charset="0"/>
              </a:rPr>
              <a:t>Milestones: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7/11 – Wireframes &amp; Requirement complete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9/12 – Development Complete, Unit and Integration Testing complete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10/10 – Testing Complete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10/17 – Go live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EB9B165-2009-F0A9-12DA-3AB32AEFC198}"/>
              </a:ext>
            </a:extLst>
          </p:cNvPr>
          <p:cNvGrpSpPr/>
          <p:nvPr/>
        </p:nvGrpSpPr>
        <p:grpSpPr>
          <a:xfrm>
            <a:off x="4174671" y="3722474"/>
            <a:ext cx="2206006" cy="274299"/>
            <a:chOff x="7276264" y="3589902"/>
            <a:chExt cx="2636315" cy="274299"/>
          </a:xfrm>
        </p:grpSpPr>
        <p:grpSp>
          <p:nvGrpSpPr>
            <p:cNvPr id="31" name="Group 27">
              <a:extLst>
                <a:ext uri="{FF2B5EF4-FFF2-40B4-BE49-F238E27FC236}">
                  <a16:creationId xmlns:a16="http://schemas.microsoft.com/office/drawing/2014/main" id="{F4A7378C-235C-0365-3B5F-0AB9C38A57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7276264" y="3644756"/>
              <a:ext cx="2515822" cy="164592"/>
              <a:chOff x="1371597" y="1905000"/>
              <a:chExt cx="1828800" cy="228600"/>
            </a:xfrm>
          </p:grpSpPr>
          <p:sp>
            <p:nvSpPr>
              <p:cNvPr id="32" name="Rounded Rectangle 54">
                <a:extLst>
                  <a:ext uri="{FF2B5EF4-FFF2-40B4-BE49-F238E27FC236}">
                    <a16:creationId xmlns:a16="http://schemas.microsoft.com/office/drawing/2014/main" id="{3782AB8C-E741-D739-4718-15FB1759317A}"/>
                  </a:ext>
                </a:extLst>
              </p:cNvPr>
              <p:cNvSpPr/>
              <p:nvPr/>
            </p:nvSpPr>
            <p:spPr>
              <a:xfrm>
                <a:off x="1371597" y="1905000"/>
                <a:ext cx="1828800" cy="2286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8288" tIns="18288" rIns="18288" bIns="18288" anchor="ctr" anchorCtr="1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 sz="1600" b="1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3" name="Rounded Rectangle 55">
                <a:extLst>
                  <a:ext uri="{FF2B5EF4-FFF2-40B4-BE49-F238E27FC236}">
                    <a16:creationId xmlns:a16="http://schemas.microsoft.com/office/drawing/2014/main" id="{6ED5BBC1-80FB-723C-33B6-E5A1036EEA18}"/>
                  </a:ext>
                </a:extLst>
              </p:cNvPr>
              <p:cNvSpPr/>
              <p:nvPr/>
            </p:nvSpPr>
            <p:spPr>
              <a:xfrm>
                <a:off x="1421674" y="1931125"/>
                <a:ext cx="1737360" cy="1524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35" name="Flowchart: Decision 36">
              <a:extLst>
                <a:ext uri="{FF2B5EF4-FFF2-40B4-BE49-F238E27FC236}">
                  <a16:creationId xmlns:a16="http://schemas.microsoft.com/office/drawing/2014/main" id="{6E3EA9A9-B0EC-F07C-1FD7-0C4E742E3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1553" y="3589902"/>
              <a:ext cx="311026" cy="274299"/>
            </a:xfrm>
            <a:prstGeom prst="flowChartDecisi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 dirty="0">
                <a:latin typeface="Century Gothic" panose="020B0502020202020204" pitchFamily="34" charset="0"/>
              </a:endParaRP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D629DCA-28D3-DCD0-A069-1624A39FB7F8}"/>
              </a:ext>
            </a:extLst>
          </p:cNvPr>
          <p:cNvCxnSpPr>
            <a:cxnSpLocks/>
          </p:cNvCxnSpPr>
          <p:nvPr/>
        </p:nvCxnSpPr>
        <p:spPr>
          <a:xfrm>
            <a:off x="8752008" y="1007377"/>
            <a:ext cx="11834" cy="4245326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D8A5413-10E2-D9E1-6151-7BA66CD6AD07}"/>
              </a:ext>
            </a:extLst>
          </p:cNvPr>
          <p:cNvSpPr txBox="1"/>
          <p:nvPr/>
        </p:nvSpPr>
        <p:spPr>
          <a:xfrm>
            <a:off x="5978462" y="5365222"/>
            <a:ext cx="56499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entury Gothic" panose="020B0502020202020204" pitchFamily="34" charset="0"/>
              </a:rPr>
              <a:t>Coordination: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9/17 – 10/10 : Business Acceptance Testing, Defect Resolution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9/29 – 10/10 : API Testing with Amazon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9/22 – 10/3 : Deployment Activities, Data Migration</a:t>
            </a:r>
          </a:p>
          <a:p>
            <a:endParaRPr lang="en-US" sz="1200" dirty="0">
              <a:latin typeface="Century Gothic" panose="020B0502020202020204" pitchFamily="34" charset="0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FF1D650-AC56-3262-CEEC-2089B3160614}"/>
              </a:ext>
            </a:extLst>
          </p:cNvPr>
          <p:cNvGrpSpPr/>
          <p:nvPr/>
        </p:nvGrpSpPr>
        <p:grpSpPr>
          <a:xfrm>
            <a:off x="3275169" y="2051536"/>
            <a:ext cx="1695265" cy="274299"/>
            <a:chOff x="10253237" y="4557434"/>
            <a:chExt cx="1629095" cy="274299"/>
          </a:xfrm>
        </p:grpSpPr>
        <p:sp>
          <p:nvSpPr>
            <p:cNvPr id="84" name="Rounded Rectangle 60">
              <a:extLst>
                <a:ext uri="{FF2B5EF4-FFF2-40B4-BE49-F238E27FC236}">
                  <a16:creationId xmlns:a16="http://schemas.microsoft.com/office/drawing/2014/main" id="{15DF55CD-017F-4648-F47B-0955A2DF1B8A}"/>
                </a:ext>
              </a:extLst>
            </p:cNvPr>
            <p:cNvSpPr/>
            <p:nvPr/>
          </p:nvSpPr>
          <p:spPr>
            <a:xfrm>
              <a:off x="10253237" y="4612947"/>
              <a:ext cx="1522080" cy="164592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83" name="Flowchart: Decision 36">
              <a:extLst>
                <a:ext uri="{FF2B5EF4-FFF2-40B4-BE49-F238E27FC236}">
                  <a16:creationId xmlns:a16="http://schemas.microsoft.com/office/drawing/2014/main" id="{EF502890-A4AE-37D3-28B4-75BE078B8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22433" y="4557434"/>
              <a:ext cx="259899" cy="274299"/>
            </a:xfrm>
            <a:prstGeom prst="flowChartDecisi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6" name="Group 11">
            <a:extLst>
              <a:ext uri="{FF2B5EF4-FFF2-40B4-BE49-F238E27FC236}">
                <a16:creationId xmlns:a16="http://schemas.microsoft.com/office/drawing/2014/main" id="{9856B4A4-E003-CCD4-9E58-349FB9EFF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954506" y="1693156"/>
            <a:ext cx="263936" cy="173698"/>
            <a:chOff x="1371600" y="1905000"/>
            <a:chExt cx="2667000" cy="228600"/>
          </a:xfrm>
        </p:grpSpPr>
        <p:sp>
          <p:nvSpPr>
            <p:cNvPr id="38" name="Rounded Rectangle 38">
              <a:extLst>
                <a:ext uri="{FF2B5EF4-FFF2-40B4-BE49-F238E27FC236}">
                  <a16:creationId xmlns:a16="http://schemas.microsoft.com/office/drawing/2014/main" id="{8B702A34-06DF-356B-53DE-D0142ECB4A31}"/>
                </a:ext>
              </a:extLst>
            </p:cNvPr>
            <p:cNvSpPr/>
            <p:nvPr/>
          </p:nvSpPr>
          <p:spPr>
            <a:xfrm>
              <a:off x="1371600" y="1905000"/>
              <a:ext cx="26670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9" name="Rounded Rectangle 40">
              <a:extLst>
                <a:ext uri="{FF2B5EF4-FFF2-40B4-BE49-F238E27FC236}">
                  <a16:creationId xmlns:a16="http://schemas.microsoft.com/office/drawing/2014/main" id="{900FDDD8-94F5-D7F7-3E7E-D4E01224594D}"/>
                </a:ext>
              </a:extLst>
            </p:cNvPr>
            <p:cNvSpPr/>
            <p:nvPr/>
          </p:nvSpPr>
          <p:spPr>
            <a:xfrm>
              <a:off x="1421674" y="1931126"/>
              <a:ext cx="2590800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sp>
        <p:nvSpPr>
          <p:cNvPr id="44" name="Flowchart: Decision 36">
            <a:extLst>
              <a:ext uri="{FF2B5EF4-FFF2-40B4-BE49-F238E27FC236}">
                <a16:creationId xmlns:a16="http://schemas.microsoft.com/office/drawing/2014/main" id="{A89F0AC9-7D1A-3854-7B70-0CE168446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95091" y="1643369"/>
            <a:ext cx="259899" cy="249363"/>
          </a:xfrm>
          <a:prstGeom prst="flowChartDecision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30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C473D-1FA2-5D83-0E85-6E3DF05B9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88609D-0FDD-5901-7B4C-41EBFD0488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Development of the system is progressing well. </a:t>
            </a:r>
          </a:p>
          <a:p>
            <a:pPr lvl="1"/>
            <a:r>
              <a:rPr lang="en-US" sz="1200" dirty="0"/>
              <a:t>85% done with the development</a:t>
            </a:r>
          </a:p>
          <a:p>
            <a:endParaRPr lang="en-US" sz="1600" dirty="0"/>
          </a:p>
          <a:p>
            <a:r>
              <a:rPr lang="en-US" sz="1600" dirty="0"/>
              <a:t>Continuing to work on the Deployment and Data Migration Plan.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1B195-76B5-8C38-B573-93B2C82E9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2F3A2-EEDF-463A-2E11-2C8F9D7A3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67FDF0-E64B-62CF-3815-3B6142F8D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August Overview</a:t>
            </a:r>
          </a:p>
        </p:txBody>
      </p:sp>
    </p:spTree>
    <p:extLst>
      <p:ext uri="{BB962C8B-B14F-4D97-AF65-F5344CB8AC3E}">
        <p14:creationId xmlns:p14="http://schemas.microsoft.com/office/powerpoint/2010/main" val="3996569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94313-19C3-7CAB-4AAF-F80F30DFB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4C6B74-1C65-FFA8-999F-F4BFEB75A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 fontScale="55000" lnSpcReduction="20000"/>
          </a:bodyPr>
          <a:lstStyle/>
          <a:p>
            <a:r>
              <a:rPr lang="en-US" sz="1600" dirty="0"/>
              <a:t>Architecture </a:t>
            </a:r>
          </a:p>
          <a:p>
            <a:r>
              <a:rPr lang="en-US" sz="1600" dirty="0"/>
              <a:t>SAD</a:t>
            </a:r>
          </a:p>
          <a:p>
            <a:r>
              <a:rPr lang="en-US" sz="1600" dirty="0"/>
              <a:t>User Flows</a:t>
            </a:r>
          </a:p>
          <a:p>
            <a:r>
              <a:rPr lang="en-US" sz="1600" dirty="0"/>
              <a:t>API Data Flow</a:t>
            </a:r>
          </a:p>
          <a:p>
            <a:r>
              <a:rPr lang="en-US" sz="1600" dirty="0"/>
              <a:t>ERD Core Entities</a:t>
            </a:r>
          </a:p>
          <a:p>
            <a:r>
              <a:rPr lang="en-US" sz="1600" dirty="0"/>
              <a:t>Security Flow</a:t>
            </a:r>
          </a:p>
          <a:p>
            <a:r>
              <a:rPr lang="en-US" sz="1600" dirty="0"/>
              <a:t>Integration Diagram</a:t>
            </a:r>
          </a:p>
          <a:p>
            <a:r>
              <a:rPr lang="en-US" sz="1600" dirty="0"/>
              <a:t>Database Schema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Comprehensive Test Scenarios Analysis.md</a:t>
            </a:r>
          </a:p>
          <a:p>
            <a:r>
              <a:rPr lang="en-US" sz="1600" dirty="0"/>
              <a:t>Test Execution Results Analysis</a:t>
            </a:r>
          </a:p>
          <a:p>
            <a:r>
              <a:rPr lang="en-US" sz="1200" dirty="0"/>
              <a:t>Deployment and Data Migration Plan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FF0000"/>
                </a:solidFill>
              </a:rPr>
              <a:t>2FA Setup Guide</a:t>
            </a:r>
          </a:p>
          <a:p>
            <a:r>
              <a:rPr lang="en-US" sz="1200" dirty="0">
                <a:solidFill>
                  <a:srgbClr val="FF0000"/>
                </a:solidFill>
              </a:rPr>
              <a:t>Docker deployment guide</a:t>
            </a:r>
          </a:p>
          <a:p>
            <a:r>
              <a:rPr lang="en-US" sz="1200" dirty="0">
                <a:solidFill>
                  <a:srgbClr val="FF0000"/>
                </a:solidFill>
              </a:rPr>
              <a:t>Plesk deployment guide</a:t>
            </a:r>
          </a:p>
          <a:p>
            <a:r>
              <a:rPr lang="en-US" sz="1200" dirty="0">
                <a:solidFill>
                  <a:srgbClr val="FF0000"/>
                </a:solidFill>
              </a:rPr>
              <a:t>Hosting in Production? Will it be on our servers, the Plesk Server?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4E5E9-411E-07C4-3110-22BA1AEC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7B0D9B-FB52-C155-F1D3-7AA4222ED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FA8BF3A-6A4D-772F-8F44-A041873BC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August Overview - Reports</a:t>
            </a:r>
          </a:p>
        </p:txBody>
      </p:sp>
    </p:spTree>
    <p:extLst>
      <p:ext uri="{BB962C8B-B14F-4D97-AF65-F5344CB8AC3E}">
        <p14:creationId xmlns:p14="http://schemas.microsoft.com/office/powerpoint/2010/main" val="3735198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E5E61-F043-B555-12A9-4FD1B3B51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34BE89-0C8D-B66D-3567-D4D203213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Tracking Defects</a:t>
            </a:r>
          </a:p>
          <a:p>
            <a:r>
              <a:rPr lang="en-US" sz="1600" dirty="0"/>
              <a:t>Identifying missing requirements or use cases</a:t>
            </a:r>
          </a:p>
          <a:p>
            <a:r>
              <a:rPr lang="en-US" sz="1600" dirty="0"/>
              <a:t>Documenting Process flows, User Journeys</a:t>
            </a:r>
          </a:p>
          <a:p>
            <a:r>
              <a:rPr lang="en-US" sz="1600" dirty="0"/>
              <a:t>Documenting Technical Architecture and Design Document.</a:t>
            </a:r>
          </a:p>
          <a:p>
            <a:r>
              <a:rPr lang="en-US" sz="1600" dirty="0"/>
              <a:t>API Specifications and </a:t>
            </a:r>
            <a:endParaRPr lang="en-US" sz="12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27C82-D03F-F624-781C-218C18581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7FD81B-106E-6C90-AC2D-FD3866220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B26125E-97D5-C407-D9B2-706930646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August Overview – Open Items</a:t>
            </a:r>
          </a:p>
        </p:txBody>
      </p:sp>
    </p:spTree>
    <p:extLst>
      <p:ext uri="{BB962C8B-B14F-4D97-AF65-F5344CB8AC3E}">
        <p14:creationId xmlns:p14="http://schemas.microsoft.com/office/powerpoint/2010/main" val="3611448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AAEFF-D8BC-D0B9-CCEF-00A858BC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EECCF6-883C-2AF3-FAE4-D56BAB379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7018" y="1379333"/>
            <a:ext cx="5050134" cy="1593353"/>
          </a:xfrm>
        </p:spPr>
        <p:txBody>
          <a:bodyPr>
            <a:normAutofit fontScale="85000" lnSpcReduction="10000"/>
          </a:bodyPr>
          <a:lstStyle/>
          <a:p>
            <a:r>
              <a:rPr lang="en-US" sz="1600" dirty="0"/>
              <a:t>I had a family emergency that reduced my commitment to the project for a few weeks. </a:t>
            </a:r>
          </a:p>
          <a:p>
            <a:r>
              <a:rPr lang="en-US" sz="1600" dirty="0"/>
              <a:t>The increased scope from the initial proposal with the additional enhancements has impacted the original timeline. </a:t>
            </a:r>
          </a:p>
          <a:p>
            <a:r>
              <a:rPr lang="en-US" sz="1600" dirty="0"/>
              <a:t>The timeline reflects an accurate schedule to ensure quality and fits to the business needs of the system.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A32AF-3CB9-3C70-1394-C750B1F53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18A8C-6CD1-B4ED-28F0-E10901E85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1FE94F4-3387-670D-60B6-F46E141A6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Scope Creep Analysis &amp; Timeline Impact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380B856-82F8-A147-CAC7-988F74BAE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815475"/>
              </p:ext>
            </p:extLst>
          </p:nvPr>
        </p:nvGraphicFramePr>
        <p:xfrm>
          <a:off x="952500" y="2176010"/>
          <a:ext cx="5297575" cy="32385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221168063"/>
                    </a:ext>
                  </a:extLst>
                </a:gridCol>
                <a:gridCol w="2668675">
                  <a:extLst>
                    <a:ext uri="{9D8B030D-6E8A-4147-A177-3AD203B41FA5}">
                      <a16:colId xmlns:a16="http://schemas.microsoft.com/office/drawing/2014/main" val="313337484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Area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4099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Client Requirements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User stories and requirements evolved during design.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65519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Front-End Redesign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Expanded from basic UI to extensive front-end design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78936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 Management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Introduced multi-ID types (ASIN, UPC, GTIN, EAN) and import features.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22142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Field Management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Included inline editing and dynamic field creation.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19268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Dashboards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Added 10+ metrics, tracking, and role-based views.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81602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Stakeholder Feedback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Multiple rounds of design revisions required.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703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0475F9B-BEE8-8AEC-7A79-29396E9B0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233645"/>
              </p:ext>
            </p:extLst>
          </p:nvPr>
        </p:nvGraphicFramePr>
        <p:xfrm>
          <a:off x="952500" y="1324090"/>
          <a:ext cx="5294707" cy="571500"/>
        </p:xfrm>
        <a:graphic>
          <a:graphicData uri="http://schemas.openxmlformats.org/drawingml/2006/table">
            <a:tbl>
              <a:tblPr/>
              <a:tblGrid>
                <a:gridCol w="1554333">
                  <a:extLst>
                    <a:ext uri="{9D8B030D-6E8A-4147-A177-3AD203B41FA5}">
                      <a16:colId xmlns:a16="http://schemas.microsoft.com/office/drawing/2014/main" val="2729284690"/>
                    </a:ext>
                  </a:extLst>
                </a:gridCol>
                <a:gridCol w="1554333">
                  <a:extLst>
                    <a:ext uri="{9D8B030D-6E8A-4147-A177-3AD203B41FA5}">
                      <a16:colId xmlns:a16="http://schemas.microsoft.com/office/drawing/2014/main" val="941067081"/>
                    </a:ext>
                  </a:extLst>
                </a:gridCol>
                <a:gridCol w="1554333">
                  <a:extLst>
                    <a:ext uri="{9D8B030D-6E8A-4147-A177-3AD203B41FA5}">
                      <a16:colId xmlns:a16="http://schemas.microsoft.com/office/drawing/2014/main" val="1293092941"/>
                    </a:ext>
                  </a:extLst>
                </a:gridCol>
                <a:gridCol w="631708">
                  <a:extLst>
                    <a:ext uri="{9D8B030D-6E8A-4147-A177-3AD203B41FA5}">
                      <a16:colId xmlns:a16="http://schemas.microsoft.com/office/drawing/2014/main" val="150934094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Metric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Original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Revised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Increase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26938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Timeline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14–18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34–40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+20–22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490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9285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125350-4A05-E2A5-07B6-8813C27720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86"/>
          <a:stretch>
            <a:fillRect/>
          </a:stretch>
        </p:blipFill>
        <p:spPr>
          <a:xfrm>
            <a:off x="311695" y="1105133"/>
            <a:ext cx="11787963" cy="48902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DBB939-F120-A1CA-2A1D-92C29E9913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383" t="7576" b="78093"/>
          <a:stretch/>
        </p:blipFill>
        <p:spPr>
          <a:xfrm>
            <a:off x="9516492" y="121371"/>
            <a:ext cx="2583166" cy="9496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761E5B-27FF-33A6-80EC-FC0741303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</p:spPr>
        <p:txBody>
          <a:bodyPr>
            <a:normAutofit/>
          </a:bodyPr>
          <a:lstStyle/>
          <a:p>
            <a:r>
              <a:rPr lang="en-US" sz="2800" dirty="0"/>
              <a:t>GreenCircle Certified Database Site Map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09F5C0-52DA-DF94-2FBE-5D1E855C48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040F15-3124-4DA1-BD1D-A4F020C7C5A7}" type="datetime1">
              <a:rPr lang="en-US" smtClean="0"/>
              <a:pPr>
                <a:spcAft>
                  <a:spcPts val="600"/>
                </a:spcAft>
              </a:pPr>
              <a:t>8/21/2025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C24D69F-4E32-59D8-62AB-5F97C38E1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178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2E4D06-E6D9-C763-0B86-D938D124541E}"/>
              </a:ext>
            </a:extLst>
          </p:cNvPr>
          <p:cNvSpPr txBox="1"/>
          <p:nvPr/>
        </p:nvSpPr>
        <p:spPr>
          <a:xfrm>
            <a:off x="302439" y="5603816"/>
            <a:ext cx="4848448" cy="93871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R="0" algn="l" rtl="0"/>
            <a:r>
              <a:rPr lang="en-US" sz="1100" b="1" i="0" u="none" strike="noStrike" baseline="0" dirty="0">
                <a:latin typeface="Century Gothic" panose="020B0502020202020204" pitchFamily="34" charset="0"/>
              </a:rPr>
              <a:t>Assumptions:</a:t>
            </a:r>
          </a:p>
          <a:p>
            <a:pPr marL="171450" marR="0" indent="-171450" algn="l" rtl="0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entury Gothic" panose="020B0502020202020204" pitchFamily="34" charset="0"/>
              </a:rPr>
              <a:t>Certificate List 1.0 is a different page than Certificates 3.0.</a:t>
            </a:r>
          </a:p>
          <a:p>
            <a:pPr marL="171450" marR="0" indent="-171450" algn="l" rtl="0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entury Gothic" panose="020B0502020202020204" pitchFamily="34" charset="0"/>
              </a:rPr>
              <a:t>Admin will have the ability to Add, Edit or Delete a Certificate, Company, Products,  Users, Certificate Type, Product Types and Tags.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D6F484-B1DD-E163-3259-5895CE3F6EAE}"/>
              </a:ext>
            </a:extLst>
          </p:cNvPr>
          <p:cNvSpPr txBox="1"/>
          <p:nvPr/>
        </p:nvSpPr>
        <p:spPr>
          <a:xfrm>
            <a:off x="5252485" y="4569142"/>
            <a:ext cx="3427058" cy="196977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R="0" algn="l" rtl="0"/>
            <a:r>
              <a:rPr lang="en-US" sz="1100" b="1" i="0" u="none" strike="noStrike" baseline="0" dirty="0">
                <a:latin typeface="Century Gothic" panose="020B0502020202020204" pitchFamily="34" charset="0"/>
              </a:rPr>
              <a:t>Notes: </a:t>
            </a: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entury Gothic" panose="020B0502020202020204" pitchFamily="34" charset="0"/>
              </a:rPr>
              <a:t>CRUD: [Create, Read, Update, Delete] – Wireframes include the details of the screens.</a:t>
            </a: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entury Gothic" panose="020B0502020202020204" pitchFamily="34" charset="0"/>
              </a:rPr>
              <a:t>Notifications &amp; Alerts: Color-coded: Green for success, Red for errors, Yellow for warnings, Blue/gray for info)</a:t>
            </a: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r>
              <a:rPr lang="en-US" sz="1100" dirty="0">
                <a:latin typeface="Century Gothic" panose="020B0502020202020204" pitchFamily="34" charset="0"/>
              </a:rPr>
              <a:t>Sign-up Registration will be included but hidden and disabled for all users except the admin.</a:t>
            </a:r>
            <a:endParaRPr lang="en-US" sz="1100" b="0" i="0" u="none" strike="noStrike" baseline="0" dirty="0">
              <a:latin typeface="Century Gothic" panose="020B0502020202020204" pitchFamily="34" charset="0"/>
            </a:endParaRP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endParaRPr lang="en-US" sz="1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514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DF82F-0331-BB8E-5272-33C43F9F7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427566-481B-68DE-187B-42D39D8A88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The following items are not included in the current scope and will be considered for future phases:</a:t>
            </a:r>
          </a:p>
          <a:p>
            <a:pPr lvl="1"/>
            <a:r>
              <a:rPr lang="en-US" sz="1600" dirty="0"/>
              <a:t>New Feature Requests Post-Freeze : Any new functionality or UX suggestions will be reviewed separately post-launch</a:t>
            </a:r>
          </a:p>
          <a:p>
            <a:pPr lvl="1"/>
            <a:r>
              <a:rPr lang="en-US" sz="1600" dirty="0"/>
              <a:t>Non-Core Page Redesigns: Pages not directly tied to core certificate workflows (e.g., user management, admin dashboards) are not part of the initial design scope.</a:t>
            </a:r>
          </a:p>
          <a:p>
            <a:pPr lvl="1"/>
            <a:r>
              <a:rPr lang="en-US" sz="1600" dirty="0"/>
              <a:t>Advanced Reporting &amp; Analytics Modules: Custom reporting or dashboards requiring dynamic visualizations will be addressed in a future release.</a:t>
            </a:r>
          </a:p>
          <a:p>
            <a:pPr lvl="1"/>
            <a:r>
              <a:rPr lang="en-US" sz="1600" dirty="0"/>
              <a:t>Undocumented Features – Anything not captured in this document or related requirement files is excluded.</a:t>
            </a:r>
          </a:p>
          <a:p>
            <a:pPr lvl="1"/>
            <a:r>
              <a:rPr lang="en-US" sz="1600" dirty="0"/>
              <a:t>Integration Beyond Amazon Export: Any third-party system integration beyond current export scope will be handled as a separate project.</a:t>
            </a:r>
          </a:p>
          <a:p>
            <a:pPr lvl="1"/>
            <a:r>
              <a:rPr lang="en-US" sz="1600" dirty="0"/>
              <a:t>Clone Functionality – Selective field cloning for certificate records is not included.</a:t>
            </a:r>
          </a:p>
          <a:p>
            <a:pPr lvl="1"/>
            <a:r>
              <a:rPr lang="en-US" sz="1600" dirty="0"/>
              <a:t>Notifications &amp; Alerts – Real-time user notifications are not part of this phase.</a:t>
            </a:r>
          </a:p>
          <a:p>
            <a:pPr lvl="1"/>
            <a:r>
              <a:rPr lang="en-US" sz="1600" dirty="0"/>
              <a:t>Undocumented Features – Anything not captured in this document or related requirement files is excluded</a:t>
            </a:r>
            <a:br>
              <a:rPr lang="en-US" sz="1600" dirty="0"/>
            </a:br>
            <a:br>
              <a:rPr lang="en-US" sz="1200" dirty="0"/>
            </a:br>
            <a:endParaRPr lang="en-US" sz="12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2D557-4EF9-DC97-622E-6FB4101F8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55A36-F8E6-D8DA-126D-787894AC3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11300A7-12E4-FCDE-78BC-D80527D24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Out of Scope Items – Initial Design Phase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5AD78-6108-BB9D-5401-A78AFFD63A66}"/>
              </a:ext>
            </a:extLst>
          </p:cNvPr>
          <p:cNvSpPr txBox="1"/>
          <p:nvPr/>
        </p:nvSpPr>
        <p:spPr>
          <a:xfrm>
            <a:off x="838199" y="5343327"/>
            <a:ext cx="107552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entury Gothic" panose="020B0502020202020204" pitchFamily="34" charset="0"/>
              </a:rPr>
              <a:t>Note: Any additional functionality or enhancements outside this scope will follow the formal change request process and may be included in a post-launch roadmap.</a:t>
            </a:r>
          </a:p>
        </p:txBody>
      </p:sp>
    </p:spTree>
    <p:extLst>
      <p:ext uri="{BB962C8B-B14F-4D97-AF65-F5344CB8AC3E}">
        <p14:creationId xmlns:p14="http://schemas.microsoft.com/office/powerpoint/2010/main" val="65312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92A39-4808-D1C5-1C2D-4C77A0CBA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E0CA37-DE69-39D8-9201-259F23020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The adjusted timeline provides:</a:t>
            </a:r>
          </a:p>
          <a:p>
            <a:pPr lvl="1"/>
            <a:r>
              <a:rPr lang="en-US" sz="1600" dirty="0"/>
              <a:t>Adequate time for comprehensive development of expanded features</a:t>
            </a:r>
          </a:p>
          <a:p>
            <a:pPr lvl="1"/>
            <a:r>
              <a:rPr lang="en-US" sz="1600" dirty="0"/>
              <a:t>Proper testing cycles for the enhanced functionality</a:t>
            </a:r>
          </a:p>
          <a:p>
            <a:pPr lvl="1"/>
            <a:r>
              <a:rPr lang="en-US" sz="1600" dirty="0"/>
              <a:t>Quality assurance for the more complex integrations</a:t>
            </a:r>
          </a:p>
          <a:p>
            <a:pPr lvl="1"/>
            <a:r>
              <a:rPr lang="en-US" sz="1600" dirty="0"/>
              <a:t>Stakeholder alignment on enhanced deliverables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Scope Evolution Highlights:</a:t>
            </a:r>
          </a:p>
          <a:p>
            <a:pPr lvl="1"/>
            <a:r>
              <a:rPr lang="en-US" sz="1600" dirty="0"/>
              <a:t>Enhanced Security Features - MFA, audit logging, role-based permissions</a:t>
            </a:r>
          </a:p>
          <a:p>
            <a:pPr lvl="1"/>
            <a:r>
              <a:rPr lang="en-US" sz="1600" dirty="0"/>
              <a:t>Advanced User Experience - Infinite scrolling, improved filtering, mobile considerations</a:t>
            </a:r>
          </a:p>
          <a:p>
            <a:pPr lvl="1"/>
            <a:r>
              <a:rPr lang="en-US" sz="1600" dirty="0"/>
              <a:t>Complex Data Management - Sophisticated product ID handling, multi-partner associations</a:t>
            </a:r>
          </a:p>
          <a:p>
            <a:pPr lvl="1"/>
            <a:r>
              <a:rPr lang="en-US" sz="1600" dirty="0"/>
              <a:t>Extended User Types - External partners, varied client access models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F6EDC-B6C6-A099-DEC4-82C079A82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C73A54-41C8-CA0E-841B-8085AE958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8E7924-905A-2614-D7A5-32A814ADF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October 17</a:t>
            </a:r>
            <a:r>
              <a:rPr lang="en-US" sz="2800" baseline="30000" dirty="0"/>
              <a:t>th</a:t>
            </a:r>
            <a:r>
              <a:rPr lang="en-US" sz="2800" dirty="0"/>
              <a:t> Go-live</a:t>
            </a:r>
          </a:p>
        </p:txBody>
      </p:sp>
    </p:spTree>
    <p:extLst>
      <p:ext uri="{BB962C8B-B14F-4D97-AF65-F5344CB8AC3E}">
        <p14:creationId xmlns:p14="http://schemas.microsoft.com/office/powerpoint/2010/main" val="3707748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DF033-B05F-CD69-1F4A-A77171C79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0CFBCA-F0E2-720C-F72D-B4018C6AD5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Multiple UI design paths were explored throughout the project</a:t>
            </a:r>
          </a:p>
          <a:p>
            <a:r>
              <a:rPr lang="en-US" sz="1600" dirty="0"/>
              <a:t>Functionality appeared inconsistently across versions (e.g., filters/buttons in some screens but missing in others)</a:t>
            </a:r>
          </a:p>
          <a:p>
            <a:r>
              <a:rPr lang="en-US" sz="1600" dirty="0"/>
              <a:t>Comments and revisions introduced fragmentation and slowed alignment</a:t>
            </a:r>
          </a:p>
          <a:p>
            <a:r>
              <a:rPr lang="en-US" sz="1600" dirty="0"/>
              <a:t>Final design direction is now established, but required more time than originally scoped</a:t>
            </a:r>
          </a:p>
          <a:p>
            <a:r>
              <a:rPr lang="en-US" sz="1600" dirty="0"/>
              <a:t>Incremental requirements were introduced with additional scope delivered in fragments.</a:t>
            </a:r>
          </a:p>
          <a:p>
            <a:r>
              <a:rPr lang="en-US" sz="1600" dirty="0"/>
              <a:t>As new features were added mid-cycle, screens often showed inconsistent functionality.</a:t>
            </a:r>
          </a:p>
          <a:p>
            <a:r>
              <a:rPr lang="en-US" sz="1600" dirty="0"/>
              <a:t>Each revision improved the system but fragmented design artifacts and slowed decisions.</a:t>
            </a:r>
          </a:p>
          <a:p>
            <a:r>
              <a:rPr lang="en-US" sz="1600" dirty="0"/>
              <a:t>We are now consolidating all approved elements into a single UI reference to avoid rework.</a:t>
            </a:r>
          </a:p>
          <a:p>
            <a:r>
              <a:rPr lang="en-US" sz="1600" dirty="0"/>
              <a:t>This will improve quality, reduce QA cycles, and streamline final delivery.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C84C5-D12D-B6C4-B206-420E550AA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6E6D04-E1FB-3B2E-8583-DDE9B7C01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18492AF-5746-CA9B-9F58-091C68814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Design Revision Impact on Delivery</a:t>
            </a:r>
          </a:p>
        </p:txBody>
      </p:sp>
    </p:spTree>
    <p:extLst>
      <p:ext uri="{BB962C8B-B14F-4D97-AF65-F5344CB8AC3E}">
        <p14:creationId xmlns:p14="http://schemas.microsoft.com/office/powerpoint/2010/main" val="3708942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7DF16-47D7-5346-4A60-5961D0974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723A87-13F6-4C8F-F493-C2C538890F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Scope Freeze: No new functionality will be added. Existing design elements are being unified into one master reference.</a:t>
            </a:r>
          </a:p>
          <a:p>
            <a:r>
              <a:rPr lang="en-US" sz="1600" dirty="0"/>
              <a:t>Fragmented Pages: Screens created during iterative revisions are being merged to ensure every approved feature appears consistently.</a:t>
            </a:r>
          </a:p>
          <a:p>
            <a:r>
              <a:rPr lang="en-US" sz="1600" dirty="0"/>
              <a:t>Quality Focus: Consolidation eliminates hidden gaps, reduces rework, and accelerates the build and QA phases.</a:t>
            </a:r>
          </a:p>
          <a:p>
            <a:r>
              <a:rPr lang="en-US" sz="1600" dirty="0"/>
              <a:t>Post-Launch Enhancements: Any new ideas identified after consolidation will be scheduled for a future release cycle.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A1CAA-4EA8-3AA2-524F-0A15E65E5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4D01AF-30AD-66BA-874F-51BD0286D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8F632A-84C8-386A-41A6-4C208A184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Final Design Consolidation - Scope Locked</a:t>
            </a:r>
          </a:p>
        </p:txBody>
      </p:sp>
    </p:spTree>
    <p:extLst>
      <p:ext uri="{BB962C8B-B14F-4D97-AF65-F5344CB8AC3E}">
        <p14:creationId xmlns:p14="http://schemas.microsoft.com/office/powerpoint/2010/main" val="1511918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B8ACC-59AE-B99F-EC32-946E2068F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7D141D-E8C8-B982-4B9C-47CB2461E0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Purpose: Structure future requests to maintain control over budget and timelines.</a:t>
            </a:r>
          </a:p>
          <a:p>
            <a:r>
              <a:rPr lang="en-US" sz="1600" dirty="0"/>
              <a:t>Baseline Locked: the consolidated design is the development baseline.</a:t>
            </a:r>
          </a:p>
          <a:p>
            <a:r>
              <a:rPr lang="en-US" sz="1600" dirty="0"/>
              <a:t>Transparency: All new requests will be assessed and estimated before inclusion.</a:t>
            </a:r>
          </a:p>
          <a:p>
            <a:r>
              <a:rPr lang="en-US" sz="1600" dirty="0"/>
              <a:t>No Hidden Drift: Unapproved additions will be deferred to a future release phase.</a:t>
            </a:r>
          </a:p>
          <a:p>
            <a:r>
              <a:rPr lang="en-US" sz="1600" dirty="0"/>
              <a:t>Process includes request intake, impact review, client approval, and timeline update.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Future changes will follow a simple estimate-and-approve process.</a:t>
            </a:r>
          </a:p>
          <a:p>
            <a:r>
              <a:rPr lang="en-US" sz="1600" dirty="0"/>
              <a:t>Any additions will be reviewed for:</a:t>
            </a:r>
          </a:p>
          <a:p>
            <a:pPr lvl="1"/>
            <a:r>
              <a:rPr lang="en-US" sz="1600" dirty="0"/>
              <a:t>Timeline impact</a:t>
            </a:r>
          </a:p>
          <a:p>
            <a:pPr lvl="1"/>
            <a:r>
              <a:rPr lang="en-US" sz="1600" dirty="0"/>
              <a:t>Cost implication</a:t>
            </a:r>
          </a:p>
          <a:p>
            <a:pPr lvl="1"/>
            <a:r>
              <a:rPr lang="en-US" sz="1600" dirty="0"/>
              <a:t>System stability</a:t>
            </a:r>
          </a:p>
          <a:p>
            <a:r>
              <a:rPr lang="en-US" sz="1600" dirty="0"/>
              <a:t>This ensures transparency and avoids unintentional delays during final phases.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D828E-64F4-CD3A-A47A-8D0E66D2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11710-A7B1-CDD9-46F0-17B640DCD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7ECB31F-45EA-B1C4-E98B-012AB6544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Managing Scope and Change Control Plan</a:t>
            </a:r>
          </a:p>
        </p:txBody>
      </p:sp>
    </p:spTree>
    <p:extLst>
      <p:ext uri="{BB962C8B-B14F-4D97-AF65-F5344CB8AC3E}">
        <p14:creationId xmlns:p14="http://schemas.microsoft.com/office/powerpoint/2010/main" val="1589950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8F73-0F16-5A35-7F2F-6EA632BBE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892AD-D341-A98C-0FCB-A1E4FF57C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Requirements, User Stories, Process Flows, Architecture,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E3766-C7E2-1B94-2FB4-E09966B56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5E615-12C4-4709-B50C-4AFC9D577141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EBDA5-C2DC-A6C0-3FEE-87F11F295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20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300E0-832A-8397-6AE0-9ADBCBFE4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705C81-41B4-1109-8719-83F6B73BD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## Executive Summary</a:t>
            </a:r>
          </a:p>
          <a:p>
            <a:endParaRPr lang="en-US" dirty="0"/>
          </a:p>
          <a:p>
            <a:r>
              <a:rPr lang="en-US" dirty="0"/>
              <a:t>We are pleased to present our comprehensive data migration strategy for the GreenCircle Certified (GCC) Database Solution. Our approach ensures a seamless transition from your current certificate management system to the new ASP.NET Core platform with zero data loss, minimal business disruption, and enhanced operational capabilities.</a:t>
            </a:r>
          </a:p>
          <a:p>
            <a:endParaRPr lang="en-US" dirty="0"/>
          </a:p>
          <a:p>
            <a:r>
              <a:rPr lang="en-US" dirty="0"/>
              <a:t>### Key Deliverables</a:t>
            </a:r>
          </a:p>
          <a:p>
            <a:r>
              <a:rPr lang="en-US" dirty="0"/>
              <a:t>- </a:t>
            </a:r>
            <a:r>
              <a:rPr lang="en-US" b="1" dirty="0"/>
              <a:t>**Migration Window:**</a:t>
            </a:r>
            <a:r>
              <a:rPr lang="en-US" dirty="0"/>
              <a:t> Less than 4 hours of system downtime</a:t>
            </a:r>
          </a:p>
          <a:p>
            <a:r>
              <a:rPr lang="en-US" dirty="0"/>
              <a:t>- </a:t>
            </a:r>
            <a:r>
              <a:rPr lang="en-US" b="1" dirty="0"/>
              <a:t>**Data Integrity:**</a:t>
            </a:r>
            <a:r>
              <a:rPr lang="en-US" dirty="0"/>
              <a:t> 99.99% accuracy guarantee with comprehensive validation</a:t>
            </a:r>
          </a:p>
          <a:p>
            <a:r>
              <a:rPr lang="en-US" dirty="0"/>
              <a:t>- </a:t>
            </a:r>
            <a:r>
              <a:rPr lang="en-US" b="1" dirty="0"/>
              <a:t>**Risk Mitigation:**</a:t>
            </a:r>
            <a:r>
              <a:rPr lang="en-US" dirty="0"/>
              <a:t> Multi-layered backup and rollback procedures</a:t>
            </a:r>
          </a:p>
          <a:p>
            <a:r>
              <a:rPr lang="en-US" dirty="0"/>
              <a:t>- </a:t>
            </a:r>
            <a:r>
              <a:rPr lang="en-US" b="1" dirty="0"/>
              <a:t>**Business Continuity:**</a:t>
            </a:r>
            <a:r>
              <a:rPr lang="en-US" dirty="0"/>
              <a:t> Phased approach ensuring operational stability</a:t>
            </a:r>
          </a:p>
          <a:p>
            <a:r>
              <a:rPr lang="en-US" dirty="0"/>
              <a:t>- </a:t>
            </a:r>
            <a:r>
              <a:rPr lang="en-US" b="1" dirty="0"/>
              <a:t>**Post-Migration Support:**</a:t>
            </a:r>
            <a:r>
              <a:rPr lang="en-US" dirty="0"/>
              <a:t> 30-day intensive support period</a:t>
            </a:r>
          </a:p>
          <a:p>
            <a:endParaRPr lang="en-US" dirty="0"/>
          </a:p>
          <a:p>
            <a:r>
              <a:rPr lang="en-US" dirty="0"/>
              <a:t>### Strategic Benefits</a:t>
            </a:r>
          </a:p>
          <a:p>
            <a:r>
              <a:rPr lang="en-US" dirty="0"/>
              <a:t>- </a:t>
            </a:r>
            <a:r>
              <a:rPr lang="en-US" b="1" dirty="0"/>
              <a:t>**Reduced Operational Risk:**</a:t>
            </a:r>
            <a:r>
              <a:rPr lang="en-US" dirty="0"/>
              <a:t> Proven migration methodology with automated validation</a:t>
            </a:r>
          </a:p>
          <a:p>
            <a:r>
              <a:rPr lang="en-US" dirty="0"/>
              <a:t>- </a:t>
            </a:r>
            <a:r>
              <a:rPr lang="en-US" b="1" dirty="0"/>
              <a:t>**Enhanced Data Quality:**</a:t>
            </a:r>
            <a:r>
              <a:rPr lang="en-US" dirty="0"/>
              <a:t> Built-in cleansing and standardization processes</a:t>
            </a:r>
          </a:p>
          <a:p>
            <a:r>
              <a:rPr lang="en-US" dirty="0"/>
              <a:t>- </a:t>
            </a:r>
            <a:r>
              <a:rPr lang="en-US" b="1" dirty="0"/>
              <a:t>**Improved Compliance:**</a:t>
            </a:r>
            <a:r>
              <a:rPr lang="en-US" dirty="0"/>
              <a:t> Complete audit trail and regulatory alignment</a:t>
            </a:r>
          </a:p>
          <a:p>
            <a:r>
              <a:rPr lang="en-US" dirty="0"/>
              <a:t>- </a:t>
            </a:r>
            <a:r>
              <a:rPr lang="en-US" b="1" dirty="0"/>
              <a:t>**Future Scalability:**</a:t>
            </a:r>
            <a:r>
              <a:rPr lang="en-US" dirty="0"/>
              <a:t> Architecture supporting 10x growth capacity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D58F-8D80-64BB-5794-6FCEFF0D6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7A234-7326-EE9C-A5B6-4F3FB8295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4727EC9-3AFC-F5B2-DBCD-3EF0A8515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Data Migration Plan</a:t>
            </a:r>
          </a:p>
        </p:txBody>
      </p:sp>
    </p:spTree>
    <p:extLst>
      <p:ext uri="{BB962C8B-B14F-4D97-AF65-F5344CB8AC3E}">
        <p14:creationId xmlns:p14="http://schemas.microsoft.com/office/powerpoint/2010/main" val="838657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94B16-4D9E-EC33-7D55-AAF1BF690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5DA823-6675-E1B9-3DCE-0EB28EBA01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16117-110E-0B84-BB1D-E33E8A9F2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789B64-D61D-12D0-A95D-16A630F7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DC4E7F0-2C91-FA79-384B-6C4DA1E2B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1380787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8DD44-78FC-8AA6-2F0C-D1A97EE37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DAF582-C957-2B1B-0413-F4050BB07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73547-B77F-432E-38F2-ADA4D2C70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00D07-8937-D324-069B-85A6DD0D4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46CF0A7-8987-150D-73C6-1A9ACF1C8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079370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D4C5A-535A-9528-BFA0-F1500B19F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AA54AE-9B71-3BAA-7344-F5CFAFB3E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3CFAE-CB44-9AEA-EE40-A07BBDE1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16E93-A5BD-3428-2B4B-CDF881B4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202FEAF-78B8-B073-0017-3CAD18CD7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695953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E0C0B-217F-12A6-08DB-7A7A94BFD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EAE74F-9304-DAFA-EBC1-AD675EAD5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BC04C-7D52-6FCD-B2EA-393DF8EAE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0EFAD-7324-5C95-0088-479BB3AD1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72396FB-0A5B-2879-C7FF-75030F7F1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679103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03685-955C-671D-EDC0-7CFC3C4BD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531C97-5347-8F63-ACDA-C95A1E4440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69D43-768E-0A73-E13A-6F67C663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7E66E-F072-A876-9DAF-4BB96E64B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D44FC4F-11B1-CAEE-F993-2025857A5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477377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6A573-E112-13BA-892C-972A2C2B2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E75FE4-61D0-C577-4FA1-510577AB2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21ACB-ED61-9CAF-0358-13655B20D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68699B-1191-A72B-BF91-D0D8E9072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E7647F3-F59F-EFEC-19B7-AE68E0B1B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59329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3B672-3D42-5373-BCAD-4937CBBF6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209FA3-179E-C8EA-560E-254C8815C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96062-78CD-5199-F317-4957E3AD6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AB322C-2B37-227A-7884-685979D47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668832E-3D70-D8B4-9C4E-88B1E52A8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6886651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CD979-72FA-17B4-3DD6-5D06BD6F4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D378B1-5981-3085-E6CD-5124A4D246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CE3AD-B64A-F2A2-6298-583708A13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793086-0C2E-892F-0E12-75B9C2661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8C863E-8DCC-80D9-2900-8F38AF2F5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643079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84659</TotalTime>
  <Words>1493</Words>
  <Application>Microsoft Office PowerPoint</Application>
  <PresentationFormat>Widescreen</PresentationFormat>
  <Paragraphs>290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Aptos</vt:lpstr>
      <vt:lpstr>Aptos Narrow</vt:lpstr>
      <vt:lpstr>Arial</vt:lpstr>
      <vt:lpstr>Arial Narrow</vt:lpstr>
      <vt:lpstr>Calibri</vt:lpstr>
      <vt:lpstr>Century Gothic</vt:lpstr>
      <vt:lpstr>Courier New</vt:lpstr>
      <vt:lpstr>Symbol</vt:lpstr>
      <vt:lpstr>office theme</vt:lpstr>
      <vt:lpstr>GreenCircle Certified Database Project</vt:lpstr>
      <vt:lpstr>Project Timeline Updates</vt:lpstr>
      <vt:lpstr>August Overview</vt:lpstr>
      <vt:lpstr>August Overview - Reports</vt:lpstr>
      <vt:lpstr>August Overview – Open Items</vt:lpstr>
      <vt:lpstr>Scope Creep Analysis &amp; Timeline Impact</vt:lpstr>
      <vt:lpstr>GreenCircle Certified Database Site Map</vt:lpstr>
      <vt:lpstr>Out of Scope Items – Initial Design Phase</vt:lpstr>
      <vt:lpstr>October 17th Go-live</vt:lpstr>
      <vt:lpstr>Design Revision Impact on Delivery</vt:lpstr>
      <vt:lpstr>Final Design Consolidation - Scope Locked</vt:lpstr>
      <vt:lpstr>Managing Scope and Change Control Plan</vt:lpstr>
      <vt:lpstr>Appendix</vt:lpstr>
      <vt:lpstr>Data Migration Plan</vt:lpstr>
      <vt:lpstr>Architecture</vt:lpstr>
      <vt:lpstr>A</vt:lpstr>
      <vt:lpstr>A</vt:lpstr>
      <vt:lpstr>A</vt:lpstr>
      <vt:lpstr>A</vt:lpstr>
      <vt:lpstr>A</vt:lpstr>
      <vt:lpstr>A</vt:lpstr>
      <vt:lpstr>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Shawn West</dc:creator>
  <cp:lastModifiedBy>Shawn West</cp:lastModifiedBy>
  <cp:revision>19</cp:revision>
  <cp:lastPrinted>2025-06-16T04:02:37Z</cp:lastPrinted>
  <dcterms:created xsi:type="dcterms:W3CDTF">2025-01-22T16:07:21Z</dcterms:created>
  <dcterms:modified xsi:type="dcterms:W3CDTF">2025-08-22T14:02:48Z</dcterms:modified>
</cp:coreProperties>
</file>