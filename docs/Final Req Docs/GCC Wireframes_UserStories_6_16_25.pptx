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C2_FC4002C9.xml" ContentType="application/vnd.ms-powerpoint.comments+xml"/>
  <Override PartName="/ppt/notesSlides/notesSlide2.xml" ContentType="application/vnd.openxmlformats-officedocument.presentationml.notesSlide+xml"/>
  <Override PartName="/ppt/comments/modernComment_162_585D6095.xml" ContentType="application/vnd.ms-powerpoint.comments+xml"/>
  <Override PartName="/ppt/notesSlides/notesSlide3.xml" ContentType="application/vnd.openxmlformats-officedocument.presentationml.notesSlide+xml"/>
  <Override PartName="/ppt/comments/modernComment_164_DF4B0CCB.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73_CE11F937.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C3_8AF442F4.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70_4C2E9737.xml" ContentType="application/vnd.ms-powerpoint.comments+xml"/>
  <Override PartName="/ppt/comments/modernComment_16A_6BF7F40D.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6F_38404EE6.xml" ContentType="application/vnd.ms-powerpoint.comments+xml"/>
  <Override PartName="/ppt/notesSlides/notesSlide22.xml" ContentType="application/vnd.openxmlformats-officedocument.presentationml.notesSlide+xml"/>
  <Override PartName="/ppt/comments/modernComment_179_D96863A8.xml" ContentType="application/vnd.ms-powerpoint.comments+xml"/>
  <Override PartName="/ppt/notesSlides/notesSlide23.xml" ContentType="application/vnd.openxmlformats-officedocument.presentationml.notesSlide+xml"/>
  <Override PartName="/ppt/comments/modernComment_1F3_D94645EB.xml" ContentType="application/vnd.ms-powerpoint.comments+xml"/>
  <Override PartName="/ppt/notesSlides/notesSlide24.xml" ContentType="application/vnd.openxmlformats-officedocument.presentationml.notesSlide+xml"/>
  <Override PartName="/ppt/comments/modernComment_1F2_23F17660.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1D2_C28FF9C0.xml" ContentType="application/vnd.ms-powerpoint.comment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omments/modernComment_192_92FE78C8.xml" ContentType="application/vnd.ms-powerpoint.comment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omments/modernComment_1DE_B08F2197.xml" ContentType="application/vnd.ms-powerpoint.comment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omments/modernComment_193_FBE5591B.xml" ContentType="application/vnd.ms-powerpoint.comments+xml"/>
  <Override PartName="/ppt/notesSlides/notesSlide39.xml" ContentType="application/vnd.openxmlformats-officedocument.presentationml.notesSlide+xml"/>
  <Override PartName="/ppt/comments/modernComment_18B_7907B08A.xml" ContentType="application/vnd.ms-powerpoint.comments+xml"/>
  <Override PartName="/ppt/notesSlides/notesSlide40.xml" ContentType="application/vnd.openxmlformats-officedocument.presentationml.notesSlide+xml"/>
  <Override PartName="/ppt/comments/modernComment_196_E8C294A1.xml" ContentType="application/vnd.ms-powerpoint.comment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184_EF665A2F.xml" ContentType="application/vnd.ms-powerpoint.comment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omments/modernComment_1E6_B49544B.xml" ContentType="application/vnd.ms-powerpoint.comments+xml"/>
  <Override PartName="/ppt/notesSlides/notesSlide46.xml" ContentType="application/vnd.openxmlformats-officedocument.presentationml.notesSlide+xml"/>
  <Override PartName="/ppt/comments/modernComment_17D_D953812.xml" ContentType="application/vnd.ms-powerpoint.comment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omments/modernComment_1E7_59D25364.xml" ContentType="application/vnd.ms-powerpoint.comment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omments/modernComment_1A1_171560A0.xml" ContentType="application/vnd.ms-powerpoint.comments+xml"/>
  <Override PartName="/ppt/notesSlides/notesSlide57.xml" ContentType="application/vnd.openxmlformats-officedocument.presentationml.notesSlide+xml"/>
  <Override PartName="/ppt/comments/modernComment_1E5_EAB02A56.xml" ContentType="application/vnd.ms-powerpoint.comments+xml"/>
  <Override PartName="/ppt/notesSlides/notesSlide58.xml" ContentType="application/vnd.openxmlformats-officedocument.presentationml.notesSlide+xml"/>
  <Override PartName="/ppt/comments/modernComment_1F0_E0DD5B63.xml" ContentType="application/vnd.ms-powerpoint.comments+xml"/>
  <Override PartName="/ppt/notesSlides/notesSlide59.xml" ContentType="application/vnd.openxmlformats-officedocument.presentationml.notesSlide+xml"/>
  <Override PartName="/ppt/comments/modernComment_178_DD11F8D3.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7"/>
  </p:notesMasterIdLst>
  <p:sldIdLst>
    <p:sldId id="353" r:id="rId2"/>
    <p:sldId id="450" r:id="rId3"/>
    <p:sldId id="354" r:id="rId4"/>
    <p:sldId id="375" r:id="rId5"/>
    <p:sldId id="356" r:id="rId6"/>
    <p:sldId id="369" r:id="rId7"/>
    <p:sldId id="370" r:id="rId8"/>
    <p:sldId id="371" r:id="rId9"/>
    <p:sldId id="372" r:id="rId10"/>
    <p:sldId id="451" r:id="rId11"/>
    <p:sldId id="452" r:id="rId12"/>
    <p:sldId id="373" r:id="rId13"/>
    <p:sldId id="374" r:id="rId14"/>
    <p:sldId id="368" r:id="rId15"/>
    <p:sldId id="362" r:id="rId16"/>
    <p:sldId id="422" r:id="rId17"/>
    <p:sldId id="468" r:id="rId18"/>
    <p:sldId id="470" r:id="rId19"/>
    <p:sldId id="454" r:id="rId20"/>
    <p:sldId id="455" r:id="rId21"/>
    <p:sldId id="456" r:id="rId22"/>
    <p:sldId id="457" r:id="rId23"/>
    <p:sldId id="458" r:id="rId24"/>
    <p:sldId id="459" r:id="rId25"/>
    <p:sldId id="460" r:id="rId26"/>
    <p:sldId id="367" r:id="rId27"/>
    <p:sldId id="377" r:id="rId28"/>
    <p:sldId id="499" r:id="rId29"/>
    <p:sldId id="498" r:id="rId30"/>
    <p:sldId id="399" r:id="rId31"/>
    <p:sldId id="453" r:id="rId32"/>
    <p:sldId id="497" r:id="rId33"/>
    <p:sldId id="378" r:id="rId34"/>
    <p:sldId id="465" r:id="rId35"/>
    <p:sldId id="466" r:id="rId36"/>
    <p:sldId id="396" r:id="rId37"/>
    <p:sldId id="405" r:id="rId38"/>
    <p:sldId id="379" r:id="rId39"/>
    <p:sldId id="402" r:id="rId40"/>
    <p:sldId id="394" r:id="rId41"/>
    <p:sldId id="478" r:id="rId42"/>
    <p:sldId id="482" r:id="rId43"/>
    <p:sldId id="403" r:id="rId44"/>
    <p:sldId id="395" r:id="rId45"/>
    <p:sldId id="406" r:id="rId46"/>
    <p:sldId id="471" r:id="rId47"/>
    <p:sldId id="388" r:id="rId48"/>
    <p:sldId id="472" r:id="rId49"/>
    <p:sldId id="384" r:id="rId50"/>
    <p:sldId id="486" r:id="rId51"/>
    <p:sldId id="381" r:id="rId52"/>
    <p:sldId id="383" r:id="rId53"/>
    <p:sldId id="488" r:id="rId54"/>
    <p:sldId id="473" r:id="rId55"/>
    <p:sldId id="474" r:id="rId56"/>
    <p:sldId id="475" r:id="rId57"/>
    <p:sldId id="476" r:id="rId58"/>
    <p:sldId id="386" r:id="rId59"/>
    <p:sldId id="480" r:id="rId60"/>
    <p:sldId id="487" r:id="rId61"/>
    <p:sldId id="484" r:id="rId62"/>
    <p:sldId id="417" r:id="rId63"/>
    <p:sldId id="485" r:id="rId64"/>
    <p:sldId id="496" r:id="rId65"/>
    <p:sldId id="376" r:id="rId66"/>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E2EBA9-E2D7-432C-9B28-B1BFC88819B1}">
          <p14:sldIdLst>
            <p14:sldId id="353"/>
            <p14:sldId id="450"/>
            <p14:sldId id="354"/>
            <p14:sldId id="375"/>
            <p14:sldId id="356"/>
            <p14:sldId id="369"/>
            <p14:sldId id="370"/>
            <p14:sldId id="371"/>
            <p14:sldId id="372"/>
            <p14:sldId id="451"/>
            <p14:sldId id="452"/>
            <p14:sldId id="373"/>
            <p14:sldId id="374"/>
            <p14:sldId id="368"/>
            <p14:sldId id="362"/>
            <p14:sldId id="422"/>
            <p14:sldId id="468"/>
            <p14:sldId id="470"/>
            <p14:sldId id="454"/>
            <p14:sldId id="455"/>
            <p14:sldId id="456"/>
            <p14:sldId id="457"/>
            <p14:sldId id="458"/>
            <p14:sldId id="459"/>
            <p14:sldId id="460"/>
            <p14:sldId id="367"/>
            <p14:sldId id="377"/>
            <p14:sldId id="499"/>
            <p14:sldId id="498"/>
            <p14:sldId id="399"/>
            <p14:sldId id="453"/>
            <p14:sldId id="497"/>
            <p14:sldId id="378"/>
            <p14:sldId id="465"/>
            <p14:sldId id="466"/>
            <p14:sldId id="396"/>
            <p14:sldId id="405"/>
            <p14:sldId id="379"/>
            <p14:sldId id="402"/>
            <p14:sldId id="394"/>
            <p14:sldId id="478"/>
            <p14:sldId id="482"/>
            <p14:sldId id="403"/>
            <p14:sldId id="395"/>
            <p14:sldId id="406"/>
            <p14:sldId id="471"/>
            <p14:sldId id="388"/>
            <p14:sldId id="472"/>
            <p14:sldId id="384"/>
            <p14:sldId id="486"/>
            <p14:sldId id="381"/>
            <p14:sldId id="383"/>
            <p14:sldId id="488"/>
            <p14:sldId id="473"/>
            <p14:sldId id="474"/>
            <p14:sldId id="475"/>
            <p14:sldId id="476"/>
            <p14:sldId id="386"/>
            <p14:sldId id="480"/>
            <p14:sldId id="487"/>
            <p14:sldId id="484"/>
            <p14:sldId id="417"/>
            <p14:sldId id="485"/>
          </p14:sldIdLst>
        </p14:section>
        <p14:section name="Future Phase or Out of Scope" id="{D025056C-58C0-4681-ADFB-19DC6FC10A91}">
          <p14:sldIdLst>
            <p14:sldId id="496"/>
            <p14:sldId id="3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92B05B-E117-52AD-3F68-AE601404E83B}" name="Shawn West" initials="SW" userId="S::Swest@anukiconsulting.com::bcaf3c6b-bfc1-40d2-81dc-c3fa941236d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CFDEB"/>
    <a:srgbClr val="FFEDB3"/>
    <a:srgbClr val="DEECEF"/>
    <a:srgbClr val="FCE6E4"/>
    <a:srgbClr val="FDECEA"/>
    <a:srgbClr val="FFF8E1"/>
    <a:srgbClr val="D0F0C0"/>
    <a:srgbClr val="4A66AC"/>
    <a:srgbClr val="5AA2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76" autoAdjust="0"/>
    <p:restoredTop sz="96247" autoAdjust="0"/>
  </p:normalViewPr>
  <p:slideViewPr>
    <p:cSldViewPr snapToGrid="0">
      <p:cViewPr varScale="1">
        <p:scale>
          <a:sx n="99" d="100"/>
          <a:sy n="99" d="100"/>
        </p:scale>
        <p:origin x="318" y="30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wn West" userId="bcaf3c6b-bfc1-40d2-81dc-c3fa941236d7" providerId="ADAL" clId="{78FDEA28-BF65-4DD5-B59C-8EFBA5C3113B}"/>
    <pc:docChg chg="modSld">
      <pc:chgData name="Shawn West" userId="bcaf3c6b-bfc1-40d2-81dc-c3fa941236d7" providerId="ADAL" clId="{78FDEA28-BF65-4DD5-B59C-8EFBA5C3113B}" dt="2025-06-22T03:26:04.310" v="4" actId="1076"/>
      <pc:docMkLst>
        <pc:docMk/>
      </pc:docMkLst>
      <pc:sldChg chg="modSp mod">
        <pc:chgData name="Shawn West" userId="bcaf3c6b-bfc1-40d2-81dc-c3fa941236d7" providerId="ADAL" clId="{78FDEA28-BF65-4DD5-B59C-8EFBA5C3113B}" dt="2025-06-22T03:26:04.310" v="4" actId="1076"/>
        <pc:sldMkLst>
          <pc:docMk/>
          <pc:sldMk cId="3645261291" sldId="499"/>
        </pc:sldMkLst>
        <pc:spChg chg="mod">
          <ac:chgData name="Shawn West" userId="bcaf3c6b-bfc1-40d2-81dc-c3fa941236d7" providerId="ADAL" clId="{78FDEA28-BF65-4DD5-B59C-8EFBA5C3113B}" dt="2025-06-22T03:26:04.310" v="4" actId="1076"/>
          <ac:spMkLst>
            <pc:docMk/>
            <pc:sldMk cId="3645261291" sldId="499"/>
            <ac:spMk id="7" creationId="{714C56C7-EF7C-1EA9-E87B-E11B225D69D6}"/>
          </ac:spMkLst>
        </pc:spChg>
      </pc:sldChg>
    </pc:docChg>
  </pc:docChgLst>
</pc:chgInfo>
</file>

<file path=ppt/comments/modernComment_1A1_171560A0.xml><?xml version="1.0" encoding="utf-8"?>
<p188:cmLst xmlns:a="http://schemas.openxmlformats.org/drawingml/2006/main" xmlns:r="http://schemas.openxmlformats.org/officeDocument/2006/relationships" xmlns:p188="http://schemas.microsoft.com/office/powerpoint/2018/8/main">
  <p188:cm id="{3A01405C-7D6A-486E-AB78-A0800629DE8A}" authorId="{8892B05B-E117-52AD-3F68-AE601404E83B}" created="2025-06-11T12:18:39.373">
    <ac:deMkLst xmlns:ac="http://schemas.microsoft.com/office/drawing/2013/main/command">
      <pc:docMk xmlns:pc="http://schemas.microsoft.com/office/powerpoint/2013/main/command"/>
      <pc:sldMk xmlns:pc="http://schemas.microsoft.com/office/powerpoint/2013/main/command" cId="387276960" sldId="417"/>
      <ac:picMk id="10" creationId="{013FBF8F-0F5B-8007-07A4-F4793D41FF59}"/>
    </ac:deMkLst>
    <p188:txBody>
      <a:bodyPr/>
      <a:lstStyle/>
      <a:p>
        <a:r>
          <a:rPr lang="en-US"/>
          <a:t>Remove Import Button</a:t>
        </a:r>
      </a:p>
    </p188:txBody>
  </p188:cm>
</p188:cmLst>
</file>

<file path=ppt/comments/modernComment_1C2_FC4002C9.xml><?xml version="1.0" encoding="utf-8"?>
<p188:cmLst xmlns:a="http://schemas.openxmlformats.org/drawingml/2006/main" xmlns:r="http://schemas.openxmlformats.org/officeDocument/2006/relationships" xmlns:p188="http://schemas.microsoft.com/office/powerpoint/2018/8/main">
  <p188:cm id="{1042AF72-3C50-40EA-BD51-D5B6F40649EA}" authorId="{8892B05B-E117-52AD-3F68-AE601404E83B}" created="2025-03-19T17:54:29.311">
    <ac:deMkLst xmlns:ac="http://schemas.microsoft.com/office/drawing/2013/main/command">
      <pc:docMk xmlns:pc="http://schemas.microsoft.com/office/powerpoint/2013/main/command"/>
      <pc:sldMk xmlns:pc="http://schemas.microsoft.com/office/powerpoint/2013/main/command" cId="4232053449" sldId="450"/>
      <ac:spMk id="2" creationId="{99AFF3E6-054C-2EFD-46A6-4A2570E7BFE7}"/>
    </ac:deMkLst>
    <p188:replyLst>
      <p188:reply id="{D0B3C560-6F10-4D9A-824E-9178A45213AD}" authorId="{8892B05B-E117-52AD-3F68-AE601404E83B}" created="2025-03-19T17:54:50.859">
        <p188:txBody>
          <a:bodyPr/>
          <a:lstStyle/>
          <a:p>
            <a:r>
              <a:rPr lang="en-US"/>
              <a:t>need these pages to edit/delete Product Name or Company Name records</a:t>
            </a:r>
          </a:p>
        </p188:txBody>
      </p188:reply>
      <p188:reply id="{26D4B4E8-D638-4B7F-98B5-ADAB9C1E3AD1}" authorId="{8892B05B-E117-52AD-3F68-AE601404E83B}" created="2025-03-19T17:55:36.329">
        <p188:txBody>
          <a:bodyPr/>
          <a:lstStyle/>
          <a:p>
            <a:r>
              <a:rPr lang="en-US"/>
              <a:t>Ability to add new field</a:t>
            </a:r>
          </a:p>
        </p188:txBody>
      </p188:reply>
    </p188:replyLst>
    <p188:txBody>
      <a:bodyPr/>
      <a:lstStyle/>
      <a:p>
        <a:r>
          <a:rPr lang="en-US"/>
          <a:t>Replace with larger model. </a:t>
        </a:r>
      </a:p>
    </p188:txBody>
  </p188:cm>
</p188:cmLst>
</file>

<file path=ppt/comments/modernComment_1C3_8AF442F4.xml><?xml version="1.0" encoding="utf-8"?>
<p188:cmLst xmlns:a="http://schemas.openxmlformats.org/drawingml/2006/main" xmlns:r="http://schemas.openxmlformats.org/officeDocument/2006/relationships" xmlns:p188="http://schemas.microsoft.com/office/powerpoint/2018/8/main">
  <p188:cm id="{53BC377E-CFE6-419C-ADE8-9311C6869186}" authorId="{8892B05B-E117-52AD-3F68-AE601404E83B}" created="2025-03-12T15:27:58.262">
    <ac:txMkLst xmlns:ac="http://schemas.microsoft.com/office/drawing/2013/main/command">
      <pc:docMk xmlns:pc="http://schemas.microsoft.com/office/powerpoint/2013/main/command"/>
      <pc:sldMk xmlns:pc="http://schemas.microsoft.com/office/powerpoint/2013/main/command" cId="2331263732" sldId="451"/>
      <ac:spMk id="2" creationId="{83569786-0B90-B76C-5861-9066EF16D50B}"/>
      <ac:txMk cp="570" len="32">
        <ac:context len="1295" hash="1354245916"/>
      </ac:txMk>
    </ac:txMkLst>
    <p188:pos x="8588359" y="2217950"/>
    <p188:txBody>
      <a:bodyPr/>
      <a:lstStyle/>
      <a:p>
        <a:r>
          <a:rPr lang="en-US"/>
          <a:t>See prior comment - admin will set what status types and cert access user would have. </a:t>
        </a:r>
      </a:p>
    </p188:txBody>
  </p188:cm>
  <p188:cm id="{D3154BB6-6E2D-4CCD-A919-4F132C7362BC}" authorId="{8892B05B-E117-52AD-3F68-AE601404E83B}" created="2025-03-12T15:29:29.311">
    <ac:txMkLst xmlns:ac="http://schemas.microsoft.com/office/drawing/2013/main/command">
      <pc:docMk xmlns:pc="http://schemas.microsoft.com/office/powerpoint/2013/main/command"/>
      <pc:sldMk xmlns:pc="http://schemas.microsoft.com/office/powerpoint/2013/main/command" cId="2331263732" sldId="451"/>
      <ac:spMk id="2" creationId="{83569786-0B90-B76C-5861-9066EF16D50B}"/>
      <ac:txMk cp="1019" len="132">
        <ac:context len="1295" hash="1354245916"/>
      </ac:txMk>
    </ac:txMkLst>
    <p188:pos x="10402871" y="4703975"/>
    <p188:txBody>
      <a:bodyPr/>
      <a:lstStyle/>
      <a:p>
        <a:r>
          <a:rPr lang="en-US"/>
          <a:t>Add user story</a:t>
        </a:r>
      </a:p>
    </p188:txBody>
  </p188:cm>
  <p188:cm id="{F666A07E-6625-403F-9399-D2F98D61FACC}" authorId="{8892B05B-E117-52AD-3F68-AE601404E83B}" created="2025-03-25T14:35:02.269">
    <ac:txMkLst xmlns:ac="http://schemas.microsoft.com/office/drawing/2013/main/command">
      <pc:docMk xmlns:pc="http://schemas.microsoft.com/office/powerpoint/2013/main/command"/>
      <pc:sldMk xmlns:pc="http://schemas.microsoft.com/office/powerpoint/2013/main/command" cId="2331263732" sldId="451"/>
      <ac:spMk id="2" creationId="{83569786-0B90-B76C-5861-9066EF16D50B}"/>
      <ac:txMk cp="1080" len="31">
        <ac:context len="1295" hash="1354245916"/>
      </ac:txMk>
    </ac:txMkLst>
    <p188:pos x="7125770" y="4367091"/>
    <p188:txBody>
      <a:bodyPr/>
      <a:lstStyle/>
      <a:p>
        <a:r>
          <a:rPr lang="en-US"/>
          <a:t>Vague, revise</a:t>
        </a:r>
      </a:p>
    </p188:txBody>
  </p188:cm>
</p188:cmLst>
</file>

<file path=ppt/comments/modernComment_1D2_C28FF9C0.xml><?xml version="1.0" encoding="utf-8"?>
<p188:cmLst xmlns:a="http://schemas.openxmlformats.org/drawingml/2006/main" xmlns:r="http://schemas.openxmlformats.org/officeDocument/2006/relationships" xmlns:p188="http://schemas.microsoft.com/office/powerpoint/2018/8/main">
  <p188:cm id="{264E6736-88E3-48FF-ADBC-3437BFC35246}" authorId="{8892B05B-E117-52AD-3F68-AE601404E83B}" status="resolved" created="2025-03-13T23:06:58.973" complete="100000">
    <ac:txMkLst xmlns:ac="http://schemas.microsoft.com/office/drawing/2013/main/command">
      <pc:docMk xmlns:pc="http://schemas.microsoft.com/office/powerpoint/2013/main/command"/>
      <pc:sldMk xmlns:pc="http://schemas.microsoft.com/office/powerpoint/2013/main/command" cId="3264215488" sldId="466"/>
      <ac:spMk id="3" creationId="{C958CCF9-4296-9E9E-0FD9-BBC67F43188D}"/>
      <ac:txMk cp="43">
        <ac:context len="567" hash="2755132478"/>
      </ac:txMk>
    </ac:txMkLst>
    <p188:pos x="8653781" y="1285599"/>
    <p188:txBody>
      <a:bodyPr/>
      <a:lstStyle/>
      <a:p>
        <a:r>
          <a:rPr lang="en-US"/>
          <a:t>this is for when adding cert -- but they can download cert</a:t>
        </a:r>
      </a:p>
    </p188:txBody>
  </p188:cm>
</p188:cmLst>
</file>

<file path=ppt/comments/modernComment_1DE_B08F2197.xml><?xml version="1.0" encoding="utf-8"?>
<p188:cmLst xmlns:a="http://schemas.openxmlformats.org/drawingml/2006/main" xmlns:r="http://schemas.openxmlformats.org/officeDocument/2006/relationships" xmlns:p188="http://schemas.microsoft.com/office/powerpoint/2018/8/main">
  <p188:cm id="{0D15BCD9-2D3A-4C93-B212-FDC502E3FE49}" authorId="{8892B05B-E117-52AD-3F68-AE601404E83B}" created="2025-06-11T00:45:33.886">
    <ac:deMkLst xmlns:ac="http://schemas.microsoft.com/office/drawing/2013/main/command">
      <pc:docMk xmlns:pc="http://schemas.microsoft.com/office/powerpoint/2013/main/command"/>
      <pc:sldMk xmlns:pc="http://schemas.microsoft.com/office/powerpoint/2013/main/command" cId="2962170263" sldId="478"/>
      <ac:spMk id="2" creationId="{BC14CFFD-1203-4EA4-E69C-74E500406D1A}"/>
    </ac:deMkLst>
    <p188:txBody>
      <a:bodyPr/>
      <a:lstStyle/>
      <a:p>
        <a:r>
          <a:rPr lang="en-US"/>
          <a:t>Review documents for Clarity</a:t>
        </a:r>
      </a:p>
    </p188:txBody>
  </p188:cm>
</p188:cmLst>
</file>

<file path=ppt/comments/modernComment_1E5_EAB02A56.xml><?xml version="1.0" encoding="utf-8"?>
<p188:cmLst xmlns:a="http://schemas.openxmlformats.org/drawingml/2006/main" xmlns:r="http://schemas.openxmlformats.org/officeDocument/2006/relationships" xmlns:p188="http://schemas.microsoft.com/office/powerpoint/2018/8/main">
  <p188:cm id="{DCEABDBE-71B4-42E3-B3E9-D2716FD27ECF}" authorId="{8892B05B-E117-52AD-3F68-AE601404E83B}" created="2025-06-11T12:19:21.248">
    <pc:sldMkLst xmlns:pc="http://schemas.microsoft.com/office/powerpoint/2013/main/command">
      <pc:docMk/>
      <pc:sldMk cId="3937413718" sldId="485"/>
    </pc:sldMkLst>
    <p188:txBody>
      <a:bodyPr/>
      <a:lstStyle/>
      <a:p>
        <a:r>
          <a:rPr lang="en-US"/>
          <a:t>Remove Import</a:t>
        </a:r>
      </a:p>
    </p188:txBody>
  </p188:cm>
</p188:cmLst>
</file>

<file path=ppt/comments/modernComment_1E6_B49544B.xml><?xml version="1.0" encoding="utf-8"?>
<p188:cmLst xmlns:a="http://schemas.openxmlformats.org/drawingml/2006/main" xmlns:r="http://schemas.openxmlformats.org/officeDocument/2006/relationships" xmlns:p188="http://schemas.microsoft.com/office/powerpoint/2018/8/main">
  <p188:cm id="{D70264BD-F703-4BEB-A01F-E62BF3D4CECE}" authorId="{8892B05B-E117-52AD-3F68-AE601404E83B}" created="2025-06-11T03:13:51.580">
    <ac:deMkLst xmlns:ac="http://schemas.microsoft.com/office/drawing/2013/main/command">
      <pc:docMk xmlns:pc="http://schemas.microsoft.com/office/powerpoint/2013/main/command"/>
      <pc:sldMk xmlns:pc="http://schemas.microsoft.com/office/powerpoint/2013/main/command" cId="189355083" sldId="486"/>
      <ac:spMk id="2" creationId="{8193203F-71F5-B6FA-4289-26A39CFBAAE0}"/>
    </ac:deMkLst>
    <p188:replyLst>
      <p188:reply id="{12DC3590-620F-4E51-AAB2-BB2BB33A077E}" authorId="{8892B05B-E117-52AD-3F68-AE601404E83B}" created="2025-06-11T03:14:47.753">
        <p188:txBody>
          <a:bodyPr/>
          <a:lstStyle/>
          <a:p>
            <a:r>
              <a:rPr lang="en-US"/>
              <a:t>View Certificate - with it being public, do we really need it listed?</a:t>
            </a:r>
          </a:p>
        </p188:txBody>
      </p188:reply>
      <p188:reply id="{96DBE419-823D-424F-97CA-F60452392ECA}" authorId="{8892B05B-E117-52AD-3F68-AE601404E83B}" created="2025-06-11T03:15:46.258">
        <p188:txBody>
          <a:bodyPr/>
          <a:lstStyle/>
          <a:p>
            <a:r>
              <a:rPr lang="en-US"/>
              <a:t>DISCUSS: Adding Status access (can they only see active certs, expired, confidential, etc. )</a:t>
            </a:r>
          </a:p>
        </p188:txBody>
      </p188:reply>
      <p188:reply id="{7501116E-8FCD-4BA4-91FE-217F506319E1}" authorId="{8892B05B-E117-52AD-3F68-AE601404E83B}" created="2025-06-11T03:18:49.218">
        <p188:txBody>
          <a:bodyPr/>
          <a:lstStyle/>
          <a:p>
            <a:r>
              <a:rPr lang="en-US"/>
              <a:t>How is field access handled by role user?</a:t>
            </a:r>
          </a:p>
        </p188:txBody>
      </p188:reply>
    </p188:replyLst>
    <p188:txBody>
      <a:bodyPr/>
      <a:lstStyle/>
      <a:p>
        <a:r>
          <a:rPr lang="en-US"/>
          <a:t>Certificate Management: 
- REVIEW: May need to extend this to view products vs manage based on giving access to products to clients and partners. </a:t>
        </a:r>
      </a:p>
    </p188:txBody>
  </p188:cm>
</p188:cmLst>
</file>

<file path=ppt/comments/modernComment_1E7_59D25364.xml><?xml version="1.0" encoding="utf-8"?>
<p188:cmLst xmlns:a="http://schemas.openxmlformats.org/drawingml/2006/main" xmlns:r="http://schemas.openxmlformats.org/officeDocument/2006/relationships" xmlns:p188="http://schemas.microsoft.com/office/powerpoint/2018/8/main">
  <p188:cm id="{738CFFC4-AF1F-4861-A45E-5FB81C0A800D}" authorId="{8892B05B-E117-52AD-3F68-AE601404E83B}" created="2025-06-11T04:56:23.618">
    <ac:deMkLst xmlns:ac="http://schemas.microsoft.com/office/drawing/2013/main/command">
      <pc:docMk xmlns:pc="http://schemas.microsoft.com/office/powerpoint/2013/main/command"/>
      <pc:sldMk xmlns:pc="http://schemas.microsoft.com/office/powerpoint/2013/main/command" cId="1506956132" sldId="487"/>
      <ac:spMk id="2" creationId="{77E75440-D068-0568-F453-6E3DF9A4C645}"/>
    </ac:deMkLst>
    <p188:txBody>
      <a:bodyPr/>
      <a:lstStyle/>
      <a:p>
        <a:r>
          <a:rPr lang="en-US"/>
          <a:t>This should be 5.2</a:t>
        </a:r>
      </a:p>
    </p188:txBody>
  </p188:cm>
  <p188:cm id="{B711629A-2D3B-4C95-B903-519C1FC5603F}" authorId="{8892B05B-E117-52AD-3F68-AE601404E83B}" created="2025-06-11T04:58:23.657">
    <ac:deMkLst xmlns:ac="http://schemas.microsoft.com/office/drawing/2013/main/command">
      <pc:docMk xmlns:pc="http://schemas.microsoft.com/office/powerpoint/2013/main/command"/>
      <pc:sldMk xmlns:pc="http://schemas.microsoft.com/office/powerpoint/2013/main/command" cId="1506956132" sldId="487"/>
      <ac:picMk id="14" creationId="{17107048-E3B1-882A-DAA9-4BB73E359699}"/>
    </ac:deMkLst>
    <p188:replyLst>
      <p188:reply id="{97D48ECA-1F9A-414C-B612-CDCB07C13951}" authorId="{8892B05B-E117-52AD-3F68-AE601404E83B}" created="2025-06-11T04:58:49.590">
        <p188:txBody>
          <a:bodyPr/>
          <a:lstStyle/>
          <a:p>
            <a:r>
              <a:rPr lang="en-US"/>
              <a:t>How is this going to be handled with 100-1000s of ASIN for one cert?</a:t>
            </a:r>
          </a:p>
        </p188:txBody>
      </p188:reply>
      <p188:reply id="{18A0404E-5D69-4479-B70E-38172EE3034B}" authorId="{8892B05B-E117-52AD-3F68-AE601404E83B}" created="2025-06-11T04:59:41.066">
        <p188:txBody>
          <a:bodyPr/>
          <a:lstStyle/>
          <a:p>
            <a:r>
              <a:rPr lang="en-US"/>
              <a:t>If you import it will only add new records - not replace/updated current?
</a:t>
            </a:r>
          </a:p>
        </p188:txBody>
      </p188:reply>
      <p188:reply id="{F887925F-5269-48D8-AECA-6A96866E889B}" authorId="{8892B05B-E117-52AD-3F68-AE601404E83B}" created="2025-06-11T05:00:07.543">
        <p188:txBody>
          <a:bodyPr/>
          <a:lstStyle/>
          <a:p>
            <a:r>
              <a:rPr lang="en-US"/>
              <a:t>Add recently deleted view that is kept for 6 months where you can see these.</a:t>
            </a:r>
          </a:p>
        </p188:txBody>
      </p188:reply>
      <p188:reply id="{AD105A74-7F21-4646-A57F-AE49EDD4E246}" authorId="{8892B05B-E117-52AD-3F68-AE601404E83B}" created="2025-06-11T05:01:36.101">
        <p188:txBody>
          <a:bodyPr/>
          <a:lstStyle/>
          <a:p>
            <a:r>
              <a:rPr lang="en-US"/>
              <a:t>REVIEW: Anuki to provide an Excel template on what fields to include and instruction to be able to properly import so DB accepts data.</a:t>
            </a:r>
          </a:p>
        </p188:txBody>
      </p188:reply>
      <p188:reply id="{9EB4C544-EB7E-44F0-8E39-D2DA04FB70ED}" authorId="{8892B05B-E117-52AD-3F68-AE601404E83B}" created="2025-06-11T05:02:24.980">
        <p188:txBody>
          <a:bodyPr/>
          <a:lstStyle/>
          <a:p>
            <a:r>
              <a:rPr lang="en-US"/>
              <a:t>Need to account for ability to mass delete select items.</a:t>
            </a:r>
          </a:p>
        </p188:txBody>
      </p188:reply>
      <p188:reply id="{60779C4F-AD3D-4DCD-AE49-C2F4E6A134B5}" authorId="{8892B05B-E117-52AD-3F68-AE601404E83B}" created="2025-06-11T11:59:00.333">
        <p188:txBody>
          <a:bodyPr/>
          <a:lstStyle/>
          <a:p>
            <a:r>
              <a:rPr lang="en-US"/>
              <a:t>Allow multiple Partner selections</a:t>
            </a:r>
          </a:p>
        </p188:txBody>
      </p188:reply>
      <p188:reply id="{A05398BE-7931-4893-9CBC-13A485EDF8A1}" authorId="{8892B05B-E117-52AD-3F68-AE601404E83B}" created="2025-06-11T12:16:42.655">
        <p188:txBody>
          <a:bodyPr/>
          <a:lstStyle/>
          <a:p>
            <a:r>
              <a:rPr lang="en-US"/>
              <a:t>Archive for admin for inactive removal after set time period. </a:t>
            </a:r>
          </a:p>
        </p188:txBody>
      </p188:reply>
    </p188:replyLst>
    <p188:txBody>
      <a:bodyPr/>
      <a:lstStyle/>
      <a:p>
        <a:r>
          <a:rPr lang="en-US"/>
          <a:t>Make Type Columns (ASIN, EAN, GTIN and UPC separate columns each Cert. </a:t>
        </a:r>
      </a:p>
    </p188:txBody>
  </p188:cm>
</p188:cmLst>
</file>

<file path=ppt/comments/modernComment_1F0_E0DD5B63.xml><?xml version="1.0" encoding="utf-8"?>
<p188:cmLst xmlns:a="http://schemas.openxmlformats.org/drawingml/2006/main" xmlns:r="http://schemas.openxmlformats.org/officeDocument/2006/relationships" xmlns:p188="http://schemas.microsoft.com/office/powerpoint/2018/8/main">
  <p188:cm id="{05C26FCF-B792-4AA9-9076-5834DFC0A2B5}" authorId="{8892B05B-E117-52AD-3F68-AE601404E83B}" created="2025-03-12T15:59:46.717">
    <ac:txMkLst xmlns:ac="http://schemas.microsoft.com/office/drawing/2013/main/command">
      <pc:docMk xmlns:pc="http://schemas.microsoft.com/office/powerpoint/2013/main/command"/>
      <pc:sldMk xmlns:pc="http://schemas.microsoft.com/office/powerpoint/2013/main/command" cId="3772603235" sldId="496"/>
      <ac:spMk id="2" creationId="{0DFC10E4-CBA1-A558-9AE2-DE06C12C76A4}"/>
      <ac:txMk cp="0">
        <ac:context len="14" hash="4289383828"/>
      </ac:txMk>
    </ac:txMkLst>
    <p188:pos x="6677025" y="1863127"/>
    <p188:txBody>
      <a:bodyPr/>
      <a:lstStyle/>
      <a:p>
        <a:r>
          <a:rPr lang="en-US"/>
          <a:t>Where is the list of backend functionality that is happening behind the scenes - certification numbering, public listing based on status, etc. </a:t>
        </a:r>
      </a:p>
    </p188:txBody>
  </p188:cm>
</p188:cmLst>
</file>

<file path=ppt/comments/modernComment_1F2_23F17660.xml><?xml version="1.0" encoding="utf-8"?>
<p188:cmLst xmlns:a="http://schemas.openxmlformats.org/drawingml/2006/main" xmlns:r="http://schemas.openxmlformats.org/officeDocument/2006/relationships" xmlns:p188="http://schemas.microsoft.com/office/powerpoint/2018/8/main">
  <p188:cm id="{0149C588-2794-446B-8EB6-21057B5D2DD5}" authorId="{8892B05B-E117-52AD-3F68-AE601404E83B}" status="resolved" created="2025-03-12T16:04:54.082">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Update wireframes: certification 1.0 to color code to the right role. </a:t>
        </a:r>
      </a:p>
    </p188:txBody>
  </p188:cm>
  <p188:cm id="{CA3E18F1-7FAB-4BDC-ABD8-4F84C53AA328}" authorId="{8892B05B-E117-52AD-3F68-AE601404E83B}" status="resolved" created="2025-03-12T16:06:10.434">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What are the options for Sort By?</a:t>
        </a:r>
      </a:p>
    </p188:txBody>
  </p188:cm>
  <p188:cm id="{C41A9795-90E9-48BD-94FA-23DEC9C4F62B}" authorId="{8892B05B-E117-52AD-3F68-AE601404E83B}" status="resolved" created="2025-03-12T16:06:24.631">
    <pc:sldMkLst xmlns:pc="http://schemas.microsoft.com/office/powerpoint/2013/main/command">
      <pc:docMk/>
      <pc:sldMk cId="3647497128" sldId="377"/>
    </pc:sldMkLst>
    <p188:txBody>
      <a:bodyPr/>
      <a:lstStyle/>
      <a:p>
        <a:r>
          <a:rPr lang="en-US"/>
          <a:t>Remove Tags from Clear Filters/Tags. </a:t>
        </a:r>
      </a:p>
    </p188:txBody>
  </p188:cm>
  <p188:cm id="{C071F541-5B7E-4D0C-9FF8-EC2DDE1340D9}" authorId="{8892B05B-E117-52AD-3F68-AE601404E83B}" status="resolved" created="2025-03-12T16:08:06.111">
    <ac:deMkLst xmlns:ac="http://schemas.microsoft.com/office/drawing/2013/main/command">
      <pc:docMk xmlns:pc="http://schemas.microsoft.com/office/powerpoint/2013/main/command"/>
      <pc:sldMk xmlns:pc="http://schemas.microsoft.com/office/powerpoint/2013/main/command" cId="603027040" sldId="498"/>
      <ac:spMk id="2" creationId="{FF05C042-2DC0-5F23-195B-B82ED9184931}"/>
    </ac:deMkLst>
    <p188:txBody>
      <a:bodyPr/>
      <a:lstStyle/>
      <a:p>
        <a:r>
          <a:rPr lang="en-US"/>
          <a:t>Global: Remove, the tags would be listed under “Additional” section as another search criteria. (Remove Quick Tags)</a:t>
        </a:r>
      </a:p>
    </p188:txBody>
  </p188:cm>
</p188:cmLst>
</file>

<file path=ppt/comments/modernComment_1F3_D94645EB.xml><?xml version="1.0" encoding="utf-8"?>
<p188:cmLst xmlns:a="http://schemas.openxmlformats.org/drawingml/2006/main" xmlns:r="http://schemas.openxmlformats.org/officeDocument/2006/relationships" xmlns:p188="http://schemas.microsoft.com/office/powerpoint/2018/8/main">
  <p188:cm id="{DA14F96D-62D1-4E41-A62E-7E3A5DF86C84}" authorId="{8892B05B-E117-52AD-3F68-AE601404E83B}" status="resolved" created="2025-03-12T16:04:54.082">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Update wireframes: certification 1.0 to color code to the right role. </a:t>
        </a:r>
      </a:p>
    </p188:txBody>
  </p188:cm>
  <p188:cm id="{7DE0DEA2-405C-41C2-8EDE-71E7181CB122}" authorId="{8892B05B-E117-52AD-3F68-AE601404E83B}" status="resolved" created="2025-03-12T16:06:10.434">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What are the options for Sort By?</a:t>
        </a:r>
      </a:p>
    </p188:txBody>
  </p188:cm>
  <p188:cm id="{9245CE2F-8575-4E3A-9814-A6103406E2C5}" authorId="{8892B05B-E117-52AD-3F68-AE601404E83B}" status="resolved" created="2025-03-12T16:06:24.631">
    <pc:sldMkLst xmlns:pc="http://schemas.microsoft.com/office/powerpoint/2013/main/command">
      <pc:docMk/>
      <pc:sldMk cId="3647497128" sldId="377"/>
    </pc:sldMkLst>
    <p188:txBody>
      <a:bodyPr/>
      <a:lstStyle/>
      <a:p>
        <a:r>
          <a:rPr lang="en-US"/>
          <a:t>Remove Tags from Clear Filters/Tags. </a:t>
        </a:r>
      </a:p>
    </p188:txBody>
  </p188:cm>
  <p188:cm id="{38CC033F-DF14-4E3B-A58D-2F041632AB5D}" authorId="{8892B05B-E117-52AD-3F68-AE601404E83B}" status="resolved" created="2025-03-12T16:08:06.111">
    <ac:deMkLst xmlns:ac="http://schemas.microsoft.com/office/drawing/2013/main/command">
      <pc:docMk xmlns:pc="http://schemas.microsoft.com/office/powerpoint/2013/main/command"/>
      <pc:sldMk xmlns:pc="http://schemas.microsoft.com/office/powerpoint/2013/main/command" cId="3645261291" sldId="499"/>
      <ac:spMk id="2" creationId="{ADC7AE14-B49D-C29F-4C86-FEEF3DB82812}"/>
    </ac:deMkLst>
    <p188:txBody>
      <a:bodyPr/>
      <a:lstStyle/>
      <a:p>
        <a:r>
          <a:rPr lang="en-US"/>
          <a:t>Global: Remove, the tags would be listed under “Additional” section as another search criteria. (Remove Quick Tags)</a:t>
        </a:r>
      </a:p>
    </p188:txBody>
  </p188:cm>
</p188:cmLst>
</file>

<file path=ppt/comments/modernComment_16A_6BF7F40D.xml><?xml version="1.0" encoding="utf-8"?>
<p188:cmLst xmlns:a="http://schemas.openxmlformats.org/drawingml/2006/main" xmlns:r="http://schemas.openxmlformats.org/officeDocument/2006/relationships" xmlns:p188="http://schemas.microsoft.com/office/powerpoint/2018/8/main">
  <p188:cm id="{90AAC005-8FC1-448C-89B1-45C425032835}" authorId="{8892B05B-E117-52AD-3F68-AE601404E83B}" status="resolved" created="2025-03-12T15:58:15.655" complete="100000">
    <ac:txMkLst xmlns:ac="http://schemas.microsoft.com/office/drawing/2013/main/command">
      <pc:docMk xmlns:pc="http://schemas.microsoft.com/office/powerpoint/2013/main/command"/>
      <pc:sldMk xmlns:pc="http://schemas.microsoft.com/office/powerpoint/2013/main/command" cId="1811411981" sldId="362"/>
      <ac:spMk id="2" creationId="{3EF71AB4-F97A-4195-EB35-371ADC8DAC8D}"/>
      <ac:txMk cp="243">
        <ac:context len="1349" hash="2078282685"/>
      </ac:txMk>
    </ac:txMkLst>
    <p188:pos x="2087546" y="1646450"/>
    <p188:txBody>
      <a:bodyPr/>
      <a:lstStyle/>
      <a:p>
        <a:r>
          <a:rPr lang="en-US"/>
          <a:t>Missing all the other fields an admin would have access to edit only - product categories, product types and sub categories, certification types, CS attributes.
+ ability to add new fields. </a:t>
        </a:r>
      </a:p>
    </p188:txBody>
  </p188:cm>
  <p188:cm id="{29F7BCB5-40EE-4218-95A4-61EB4F815E9A}" authorId="{8892B05B-E117-52AD-3F68-AE601404E83B}" created="2025-05-22T19:01:10.982">
    <ac:txMkLst xmlns:ac="http://schemas.microsoft.com/office/drawing/2013/main/command">
      <pc:docMk xmlns:pc="http://schemas.microsoft.com/office/powerpoint/2013/main/command"/>
      <pc:sldMk xmlns:pc="http://schemas.microsoft.com/office/powerpoint/2013/main/command" cId="1811411981" sldId="362"/>
      <ac:spMk id="2" creationId="{3EF71AB4-F97A-4195-EB35-371ADC8DAC8D}"/>
      <ac:txMk cp="1086" len="29">
        <ac:context len="1349" hash="2078282685"/>
      </ac:txMk>
    </ac:txMkLst>
    <p188:pos x="4397008" y="4973482"/>
    <p188:txBody>
      <a:bodyPr/>
      <a:lstStyle/>
      <a:p>
        <a:r>
          <a:rPr lang="en-US"/>
          <a:t>TODO</a:t>
        </a:r>
      </a:p>
    </p188:txBody>
  </p188:cm>
</p188:cmLst>
</file>

<file path=ppt/comments/modernComment_16F_38404EE6.xml><?xml version="1.0" encoding="utf-8"?>
<p188:cmLst xmlns:a="http://schemas.openxmlformats.org/drawingml/2006/main" xmlns:r="http://schemas.openxmlformats.org/officeDocument/2006/relationships" xmlns:p188="http://schemas.microsoft.com/office/powerpoint/2018/8/main">
  <p188:cm id="{DC0FEDB2-41C6-4E1F-BE47-54BD80303C72}" authorId="{8892B05B-E117-52AD-3F68-AE601404E83B}" created="2025-03-12T15:59:46.717">
    <ac:txMkLst xmlns:ac="http://schemas.microsoft.com/office/drawing/2013/main/command">
      <pc:docMk xmlns:pc="http://schemas.microsoft.com/office/powerpoint/2013/main/command"/>
      <pc:sldMk xmlns:pc="http://schemas.microsoft.com/office/powerpoint/2013/main/command" cId="943738598" sldId="367"/>
      <ac:spMk id="2" creationId="{5BA61F2D-8802-6399-2D12-834453AE289D}"/>
      <ac:txMk cp="0" len="10">
        <ac:context len="11" hash="3438511650"/>
      </ac:txMk>
    </ac:txMkLst>
    <p188:pos x="6677025" y="1863127"/>
    <p188:txBody>
      <a:bodyPr/>
      <a:lstStyle/>
      <a:p>
        <a:r>
          <a:rPr lang="en-US"/>
          <a:t>Where is the list of backend functionality that is happening behind the scenes - certification numbering, public listing based on status, etc. </a:t>
        </a:r>
      </a:p>
    </p188:txBody>
  </p188:cm>
</p188:cmLst>
</file>

<file path=ppt/comments/modernComment_17D_D953812.xml><?xml version="1.0" encoding="utf-8"?>
<p188:cmLst xmlns:a="http://schemas.openxmlformats.org/drawingml/2006/main" xmlns:r="http://schemas.openxmlformats.org/officeDocument/2006/relationships" xmlns:p188="http://schemas.microsoft.com/office/powerpoint/2018/8/main">
  <p188:cm id="{C178F186-CE6C-41FC-83A3-BB463543B263}"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8B_7907B08A.xml><?xml version="1.0" encoding="utf-8"?>
<p188:cmLst xmlns:a="http://schemas.openxmlformats.org/drawingml/2006/main" xmlns:r="http://schemas.openxmlformats.org/officeDocument/2006/relationships" xmlns:p188="http://schemas.microsoft.com/office/powerpoint/2018/8/main">
  <p188:cm id="{E96715DB-A402-4AD0-A249-4F30E278FE95}" authorId="{8892B05B-E117-52AD-3F68-AE601404E83B}" created="2025-06-11T01:44:10.191">
    <ac:deMkLst xmlns:ac="http://schemas.microsoft.com/office/drawing/2013/main/command">
      <pc:docMk xmlns:pc="http://schemas.microsoft.com/office/powerpoint/2013/main/command"/>
      <pc:sldMk xmlns:pc="http://schemas.microsoft.com/office/powerpoint/2013/main/command" cId="2030547082" sldId="395"/>
      <ac:spMk id="2" creationId="{992E59C9-0367-9241-BE81-8D150A9F70A7}"/>
    </ac:deMkLst>
    <p188:txBody>
      <a:bodyPr/>
      <a:lstStyle/>
      <a:p>
        <a:r>
          <a:rPr lang="en-US"/>
          <a:t>This page is the same as Add with the exception of CRUD operations. 
Per Carly: combine these to reduce confusion. </a:t>
        </a:r>
      </a:p>
    </p188:txBody>
  </p188:cm>
</p188:cmLst>
</file>

<file path=ppt/comments/modernComment_162_585D6095.xml><?xml version="1.0" encoding="utf-8"?>
<p188:cmLst xmlns:a="http://schemas.openxmlformats.org/drawingml/2006/main" xmlns:r="http://schemas.openxmlformats.org/officeDocument/2006/relationships" xmlns:p188="http://schemas.microsoft.com/office/powerpoint/2018/8/main">
  <p188:cm id="{33B46C2A-506E-4658-84D2-74DBA8B22B50}" authorId="{8892B05B-E117-52AD-3F68-AE601404E83B}" created="2025-03-19T17:54:29.311">
    <ac:deMkLst xmlns:ac="http://schemas.microsoft.com/office/drawing/2013/main/command">
      <pc:docMk xmlns:pc="http://schemas.microsoft.com/office/powerpoint/2013/main/command"/>
      <pc:sldMk xmlns:pc="http://schemas.microsoft.com/office/powerpoint/2013/main/command" cId="1482514581" sldId="354"/>
      <ac:spMk id="2" creationId="{30761E5B-27FF-33A6-80EC-FC0741303A51}"/>
    </ac:deMkLst>
    <p188:replyLst>
      <p188:reply id="{D0B3C560-6F10-4D9A-824E-9178A45213AD}" authorId="{8892B05B-E117-52AD-3F68-AE601404E83B}" created="2025-03-19T17:54:50.859">
        <p188:txBody>
          <a:bodyPr/>
          <a:lstStyle/>
          <a:p>
            <a:r>
              <a:rPr lang="en-US"/>
              <a:t>need these pages to edit/delete Product Name or Company Name records</a:t>
            </a:r>
          </a:p>
        </p188:txBody>
      </p188:reply>
      <p188:reply id="{26D4B4E8-D638-4B7F-98B5-ADAB9C1E3AD1}" authorId="{8892B05B-E117-52AD-3F68-AE601404E83B}" created="2025-03-19T17:55:36.329">
        <p188:txBody>
          <a:bodyPr/>
          <a:lstStyle/>
          <a:p>
            <a:r>
              <a:rPr lang="en-US"/>
              <a:t>Ability to add new field</a:t>
            </a:r>
          </a:p>
        </p188:txBody>
      </p188:reply>
    </p188:replyLst>
    <p188:txBody>
      <a:bodyPr/>
      <a:lstStyle/>
      <a:p>
        <a:r>
          <a:rPr lang="en-US"/>
          <a:t>Replace with larger model. </a:t>
        </a:r>
      </a:p>
    </p188:txBody>
  </p188:cm>
</p188:cmLst>
</file>

<file path=ppt/comments/modernComment_164_DF4B0CCB.xml><?xml version="1.0" encoding="utf-8"?>
<p188:cmLst xmlns:a="http://schemas.openxmlformats.org/drawingml/2006/main" xmlns:r="http://schemas.openxmlformats.org/officeDocument/2006/relationships" xmlns:p188="http://schemas.microsoft.com/office/powerpoint/2018/8/main">
  <p188:cm id="{2E3DED14-92A9-4554-A9C9-6D72EB22D167}" authorId="{8892B05B-E117-52AD-3F68-AE601404E83B}" created="2025-03-12T15:21:10.400">
    <ac:deMkLst xmlns:ac="http://schemas.microsoft.com/office/drawing/2013/main/command">
      <pc:docMk xmlns:pc="http://schemas.microsoft.com/office/powerpoint/2013/main/command"/>
      <pc:sldMk xmlns:pc="http://schemas.microsoft.com/office/powerpoint/2013/main/command" cId="3746237643" sldId="356"/>
      <ac:spMk id="2" creationId="{F6136374-B8A5-5DC4-DFFA-0DE84C0CF22B}"/>
    </ac:deMkLst>
    <p188:txBody>
      <a:bodyPr/>
      <a:lstStyle/>
      <a:p>
        <a:r>
          <a:rPr lang="en-US"/>
          <a:t>Slide updated</a:t>
        </a:r>
      </a:p>
    </p188:txBody>
  </p188:cm>
</p188:cmLst>
</file>

<file path=ppt/comments/modernComment_170_4C2E9737.xml><?xml version="1.0" encoding="utf-8"?>
<p188:cmLst xmlns:a="http://schemas.openxmlformats.org/drawingml/2006/main" xmlns:r="http://schemas.openxmlformats.org/officeDocument/2006/relationships" xmlns:p188="http://schemas.microsoft.com/office/powerpoint/2018/8/main">
  <p188:cm id="{6D1C6ACB-C597-488C-81C0-7F850878AC3A}" authorId="{8892B05B-E117-52AD-3F68-AE601404E83B}" status="resolved" created="2025-03-12T15:55:56.108" complete="100000">
    <ac:txMkLst xmlns:ac="http://schemas.microsoft.com/office/drawing/2013/main/command">
      <pc:docMk xmlns:pc="http://schemas.microsoft.com/office/powerpoint/2013/main/command"/>
      <pc:sldMk xmlns:pc="http://schemas.microsoft.com/office/powerpoint/2013/main/command" cId="1278121783" sldId="368"/>
      <ac:spMk id="2" creationId="{04CCD32C-5ACE-C071-9790-C4849E18E0B7}"/>
      <ac:txMk cp="441" len="100">
        <ac:context len="1085" hash="2891952444"/>
      </ac:txMk>
    </ac:txMkLst>
    <p188:pos x="10617184" y="2532275"/>
    <p188:txBody>
      <a:bodyPr/>
      <a:lstStyle/>
      <a:p>
        <a:r>
          <a:rPr lang="en-US"/>
          <a:t>Generalize more - they could filter by any field based on their search needs. </a:t>
        </a:r>
      </a:p>
    </p188:txBody>
  </p188:cm>
</p188:cmLst>
</file>

<file path=ppt/comments/modernComment_173_CE11F937.xml><?xml version="1.0" encoding="utf-8"?>
<p188:cmLst xmlns:a="http://schemas.openxmlformats.org/drawingml/2006/main" xmlns:r="http://schemas.openxmlformats.org/officeDocument/2006/relationships" xmlns:p188="http://schemas.microsoft.com/office/powerpoint/2018/8/main">
  <p188:cm id="{050F17A4-5574-4B92-8E37-3E10F514F72C}" authorId="{8892B05B-E117-52AD-3F68-AE601404E83B}" status="resolved" created="2025-03-12T15:27:58.262" complete="100000">
    <ac:txMkLst xmlns:ac="http://schemas.microsoft.com/office/drawing/2013/main/command">
      <pc:docMk xmlns:pc="http://schemas.microsoft.com/office/powerpoint/2013/main/command"/>
      <pc:sldMk xmlns:pc="http://schemas.microsoft.com/office/powerpoint/2013/main/command" cId="3457284407" sldId="371"/>
      <ac:spMk id="2" creationId="{88278B6C-8D4D-02BA-D79F-E94EA2B0E734}"/>
      <ac:txMk cp="563" len="32">
        <ac:context len="1396" hash="3731095102"/>
      </ac:txMk>
    </ac:txMkLst>
    <p188:pos x="8588359" y="2217950"/>
    <p188:txBody>
      <a:bodyPr/>
      <a:lstStyle/>
      <a:p>
        <a:r>
          <a:rPr lang="en-US"/>
          <a:t>See prior comment - admin will set what status types and cert access user would have. </a:t>
        </a:r>
      </a:p>
    </p188:txBody>
  </p188:cm>
  <p188:cm id="{7C6BAACF-9E2F-468A-90E1-D4F4F0B15724}" authorId="{8892B05B-E117-52AD-3F68-AE601404E83B}" status="resolved" created="2025-03-12T15:29:29.311" complete="100000">
    <ac:txMkLst xmlns:ac="http://schemas.microsoft.com/office/drawing/2013/main/command">
      <pc:docMk xmlns:pc="http://schemas.microsoft.com/office/powerpoint/2013/main/command"/>
      <pc:sldMk xmlns:pc="http://schemas.microsoft.com/office/powerpoint/2013/main/command" cId="3457284407" sldId="371"/>
      <ac:spMk id="2" creationId="{88278B6C-8D4D-02BA-D79F-E94EA2B0E734}"/>
      <ac:txMk cp="1117" len="132">
        <ac:context len="1396" hash="3731095102"/>
      </ac:txMk>
    </ac:txMkLst>
    <p188:pos x="10402871" y="4703975"/>
    <p188:txBody>
      <a:bodyPr/>
      <a:lstStyle/>
      <a:p>
        <a:r>
          <a:rPr lang="en-US"/>
          <a:t>Add user story</a:t>
        </a:r>
      </a:p>
    </p188:txBody>
  </p188:cm>
</p188:cmLst>
</file>

<file path=ppt/comments/modernComment_178_DD11F8D3.xml><?xml version="1.0" encoding="utf-8"?>
<p188:cmLst xmlns:a="http://schemas.openxmlformats.org/drawingml/2006/main" xmlns:r="http://schemas.openxmlformats.org/officeDocument/2006/relationships" xmlns:p188="http://schemas.microsoft.com/office/powerpoint/2018/8/main">
  <p188:cm id="{E5438782-02AC-4F94-A8BF-A6321FD3A37F}" authorId="{8892B05B-E117-52AD-3F68-AE601404E83B}" created="2025-03-12T15:21:58.813">
    <ac:txMkLst xmlns:ac="http://schemas.microsoft.com/office/drawing/2013/main/command">
      <pc:docMk xmlns:pc="http://schemas.microsoft.com/office/powerpoint/2013/main/command"/>
      <pc:sldMk xmlns:pc="http://schemas.microsoft.com/office/powerpoint/2013/main/command" cId="3708942547" sldId="376"/>
      <ac:spMk id="2" creationId="{2F0CFBCA-F0E2-720C-F72D-B4018C6AD50E}"/>
      <ac:txMk cp="1">
        <ac:context len="1330" hash="403174131"/>
      </ac:txMk>
    </ac:txMkLst>
    <p188:pos x="1458896" y="389150"/>
    <p188:txBody>
      <a:bodyPr/>
      <a:lstStyle/>
      <a:p>
        <a:r>
          <a:rPr lang="en-US"/>
          <a:t>•	S6:
o	Wishlist items: What is the list of items included but not part of Phase 1? Not sure I would be clear on what is excluded and need to make sure it is nothing critical. 
	TODO: provide list of what is in Phase 1 and what is not included in Phase 1. </a:t>
        </a:r>
      </a:p>
    </p188:txBody>
  </p188:cm>
  <p188:cm id="{DBE74732-717A-4DC8-B9D2-0DF4BD7E31D1}" authorId="{8892B05B-E117-52AD-3F68-AE601404E83B}" created="2025-06-11T12:24:46.351">
    <ac:txMkLst xmlns:ac="http://schemas.microsoft.com/office/drawing/2013/main/command">
      <pc:docMk xmlns:pc="http://schemas.microsoft.com/office/powerpoint/2013/main/command"/>
      <pc:sldMk xmlns:pc="http://schemas.microsoft.com/office/powerpoint/2013/main/command" cId="3708942547" sldId="376"/>
      <ac:spMk id="2" creationId="{2F0CFBCA-F0E2-720C-F72D-B4018C6AD50E}"/>
      <ac:txMk cp="814" len="198">
        <ac:context len="1330" hash="403174131"/>
      </ac:txMk>
    </ac:txMkLst>
    <p188:pos x="10937823" y="3034663"/>
    <p188:replyLst>
      <p188:reply id="{CDC3DC9B-F520-4043-9EE9-E0B09F262DB4}" authorId="{8892B05B-E117-52AD-3F68-AE601404E83B}" created="2025-06-11T12:25:00.530">
        <p188:txBody>
          <a:bodyPr/>
          <a:lstStyle/>
          <a:p>
            <a:r>
              <a:rPr lang="en-US"/>
              <a:t>Revise not clear</a:t>
            </a:r>
          </a:p>
        </p188:txBody>
      </p188:reply>
    </p188:replyLst>
    <p188:txBody>
      <a:bodyPr/>
      <a:lstStyle/>
      <a:p>
        <a:r>
          <a:rPr lang="en-US"/>
          <a:t>This will be inlcuded in phase 1 as it is needed for core usability for Analyst. </a:t>
        </a:r>
      </a:p>
    </p188:txBody>
  </p188:cm>
</p188:cmLst>
</file>

<file path=ppt/comments/modernComment_179_D96863A8.xml><?xml version="1.0" encoding="utf-8"?>
<p188:cmLst xmlns:a="http://schemas.openxmlformats.org/drawingml/2006/main" xmlns:r="http://schemas.openxmlformats.org/officeDocument/2006/relationships" xmlns:p188="http://schemas.microsoft.com/office/powerpoint/2018/8/main">
  <p188:cm id="{15162903-E6D8-436D-B50E-1DB63B4937F0}" authorId="{8892B05B-E117-52AD-3F68-AE601404E83B}" status="resolved" created="2025-03-12T16:04:54.082" complete="100000">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Update wireframes: certification 1.0 to color code to the right role. </a:t>
        </a:r>
      </a:p>
    </p188:txBody>
  </p188:cm>
  <p188:cm id="{37430F3B-9D2F-4BD8-BD39-A6672C475F44}" authorId="{8892B05B-E117-52AD-3F68-AE601404E83B}" status="resolved" created="2025-03-12T16:06:10.434" complete="100000">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What are the options for Sort By?</a:t>
        </a:r>
      </a:p>
    </p188:txBody>
  </p188:cm>
  <p188:cm id="{368D99CF-0488-4B16-8E90-6AEB262DB431}" authorId="{8892B05B-E117-52AD-3F68-AE601404E83B}" status="resolved" created="2025-03-12T16:06:24.631" complete="100000">
    <pc:sldMkLst xmlns:pc="http://schemas.microsoft.com/office/powerpoint/2013/main/command">
      <pc:docMk/>
      <pc:sldMk cId="3647497128" sldId="377"/>
    </pc:sldMkLst>
    <p188:txBody>
      <a:bodyPr/>
      <a:lstStyle/>
      <a:p>
        <a:r>
          <a:rPr lang="en-US"/>
          <a:t>Remove Tags from Clear Filters/Tags. </a:t>
        </a:r>
      </a:p>
    </p188:txBody>
  </p188:cm>
  <p188:cm id="{AF10A082-CEA2-4FEA-A1C3-B27BA81F68A6}" authorId="{8892B05B-E117-52AD-3F68-AE601404E83B}" status="resolved" created="2025-03-12T16:08:06.111" complete="100000">
    <ac:deMkLst xmlns:ac="http://schemas.microsoft.com/office/drawing/2013/main/command">
      <pc:docMk xmlns:pc="http://schemas.microsoft.com/office/powerpoint/2013/main/command"/>
      <pc:sldMk xmlns:pc="http://schemas.microsoft.com/office/powerpoint/2013/main/command" cId="3647497128" sldId="377"/>
      <ac:spMk id="2" creationId="{1A750256-B405-D059-3211-7254434BABFB}"/>
    </ac:deMkLst>
    <p188:txBody>
      <a:bodyPr/>
      <a:lstStyle/>
      <a:p>
        <a:r>
          <a:rPr lang="en-US"/>
          <a:t>Global: Remove, the tags would be listed under “Additional” section as another search criteria. (Remove Quick Tags)</a:t>
        </a:r>
      </a:p>
    </p188:txBody>
  </p188:cm>
</p188:cmLst>
</file>

<file path=ppt/comments/modernComment_184_EF665A2F.xml><?xml version="1.0" encoding="utf-8"?>
<p188:cmLst xmlns:a="http://schemas.openxmlformats.org/drawingml/2006/main" xmlns:r="http://schemas.openxmlformats.org/officeDocument/2006/relationships" xmlns:p188="http://schemas.microsoft.com/office/powerpoint/2018/8/main">
  <p188:cm id="{864A4945-54E9-4BBC-924A-43B97AD214CB}" authorId="{8892B05B-E117-52AD-3F68-AE601404E83B}" created="2025-06-11T03:02:58.478">
    <ac:deMkLst xmlns:ac="http://schemas.microsoft.com/office/drawing/2013/main/command">
      <pc:docMk xmlns:pc="http://schemas.microsoft.com/office/powerpoint/2013/main/command"/>
      <pc:sldMk xmlns:pc="http://schemas.microsoft.com/office/powerpoint/2013/main/command" cId="4016462383" sldId="388"/>
      <ac:spMk id="2" creationId="{03E61F42-C95C-6659-C358-270A845AF354}"/>
    </ac:deMkLst>
    <p188:txBody>
      <a:bodyPr/>
      <a:lstStyle/>
      <a:p>
        <a:r>
          <a:rPr lang="en-US"/>
          <a:t>REVIEW: This should not be for Product Types. 5.2 is supposed to be to manage full list of Products (pag 59)
Product Type editing is only available to Admin and should be under 7.4</a:t>
        </a:r>
      </a:p>
    </p188:txBody>
  </p188:cm>
</p188:cmLst>
</file>

<file path=ppt/comments/modernComment_192_92FE78C8.xml><?xml version="1.0" encoding="utf-8"?>
<p188:cmLst xmlns:a="http://schemas.openxmlformats.org/drawingml/2006/main" xmlns:r="http://schemas.openxmlformats.org/officeDocument/2006/relationships" xmlns:p188="http://schemas.microsoft.com/office/powerpoint/2018/8/main">
  <p188:cm id="{9355F843-F015-47A9-B2F1-1F25007E801D}" authorId="{8892B05B-E117-52AD-3F68-AE601404E83B}" created="2025-03-13T23:06:58.97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8653781" y="1285599"/>
    <p188:txBody>
      <a:bodyPr/>
      <a:lstStyle/>
      <a:p>
        <a:r>
          <a:rPr lang="en-US"/>
          <a:t>this is for when adding cert -- but they can download cert</a:t>
        </a:r>
      </a:p>
    </p188:txBody>
  </p188:cm>
  <p188:cm id="{CC471090-0CCD-41FA-BD10-2575013F76CE}" authorId="{8892B05B-E117-52AD-3F68-AE601404E83B}" created="2025-03-13T23:07:48.878">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2433455" y="1285599"/>
    <p188:txBody>
      <a:bodyPr/>
      <a:lstStyle/>
      <a:p>
        <a:r>
          <a:rPr lang="en-US"/>
          <a:t>this doesn't make sense to list</a:t>
        </a:r>
      </a:p>
    </p188:txBody>
  </p188:cm>
  <p188:cm id="{3CAEE60A-5BD7-436C-999A-4458F84B8A67}" authorId="{8892B05B-E117-52AD-3F68-AE601404E83B}" created="2025-03-13T23:08:33.41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195" len="4">
        <ac:context len="703" hash="3965113112"/>
      </ac:txMk>
    </ac:txMkLst>
    <p188:pos x="1675465" y="2031557"/>
    <p188:txBody>
      <a:bodyPr/>
      <a:lstStyle/>
      <a:p>
        <a:r>
          <a:rPr lang="en-US"/>
          <a:t>What sort option are available?</a:t>
        </a:r>
      </a:p>
    </p188:txBody>
  </p188:cm>
</p188:cmLst>
</file>

<file path=ppt/comments/modernComment_193_FBE5591B.xml><?xml version="1.0" encoding="utf-8"?>
<p188:cmLst xmlns:a="http://schemas.openxmlformats.org/drawingml/2006/main" xmlns:r="http://schemas.openxmlformats.org/officeDocument/2006/relationships" xmlns:p188="http://schemas.microsoft.com/office/powerpoint/2018/8/main">
  <p188:cm id="{5120BB2C-5A66-415A-9A94-4C8F5FD175E0}" authorId="{8892B05B-E117-52AD-3F68-AE601404E83B}" created="2025-03-13T23:21:38.384">
    <ac:tx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txMk cp="1127" len="91">
        <ac:context len="1219" hash="4180998640"/>
      </ac:txMk>
    </ac:txMkLst>
    <p188:pos x="5461103" y="2721307"/>
    <p188:replyLst>
      <p188:reply id="{EDD022A6-7D09-490A-8E15-66DFF229025E}" authorId="{8892B05B-E117-52AD-3F68-AE601404E83B}" created="2025-06-11T01:38:45.378">
        <p188:txBody>
          <a:bodyPr/>
          <a:lstStyle/>
          <a:p>
            <a:r>
              <a:rPr lang="en-US"/>
              <a:t>Not right now. </a:t>
            </a:r>
          </a:p>
        </p188:txBody>
      </p188:reply>
    </p188:replyLst>
    <p188:txBody>
      <a:bodyPr/>
      <a:lstStyle/>
      <a:p>
        <a:r>
          <a:rPr lang="en-US"/>
          <a:t>Will not be something we do right away but could use later if it's there (but then would need different tile layout)</a:t>
        </a:r>
      </a:p>
    </p188:txBody>
  </p188:cm>
  <p188:cm id="{DD6E5187-43CA-4E72-AD78-261868ED668E}" authorId="{8892B05B-E117-52AD-3F68-AE601404E83B}" created="2025-06-11T01:18:33.569">
    <ac:de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deMkLst>
    <p188:txBody>
      <a:bodyPr/>
      <a:lstStyle/>
      <a:p>
        <a:r>
          <a:rPr lang="en-US"/>
          <a:t>The repeat is to list what will be displayed on that page and by role. 
</a:t>
        </a:r>
      </a:p>
    </p188:txBody>
  </p188:cm>
</p188:cmLst>
</file>

<file path=ppt/comments/modernComment_196_E8C294A1.xml><?xml version="1.0" encoding="utf-8"?>
<p188:cmLst xmlns:a="http://schemas.openxmlformats.org/drawingml/2006/main" xmlns:r="http://schemas.openxmlformats.org/officeDocument/2006/relationships" xmlns:p188="http://schemas.microsoft.com/office/powerpoint/2018/8/main">
  <p188:cm id="{2DCDAB7B-25A1-4F62-A970-1B7B8FAA8B00}" authorId="{8892B05B-E117-52AD-3F68-AE601404E83B}" created="2025-03-14T20:45:19.741">
    <pc:sldMkLst xmlns:pc="http://schemas.microsoft.com/office/powerpoint/2013/main/command">
      <pc:docMk/>
      <pc:sldMk cId="3905066145" sldId="406"/>
    </pc:sldMkLst>
    <p188:txBody>
      <a:bodyPr/>
      <a:lstStyle/>
      <a:p>
        <a:r>
          <a:rPr lang="en-US"/>
          <a:t>Add the metrics that will be attached, GCC wants to know what would these be?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53" tIns="48327" rIns="96653" bIns="48327" rtlCol="0"/>
          <a:lstStyle>
            <a:lvl1pPr algn="r">
              <a:defRPr sz="1200"/>
            </a:lvl1pPr>
          </a:lstStyle>
          <a:p>
            <a:fld id="{1904ED56-815F-4152-9F12-EA9FD3F07DC0}" type="datetimeFigureOut">
              <a:t>6/21/2025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53" tIns="48327" rIns="96653" bIns="4832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3" tIns="48327" rIns="96653" bIns="48327" rtlCol="0" anchor="b"/>
          <a:lstStyle>
            <a:lvl1pPr algn="r">
              <a:defRPr sz="1200"/>
            </a:lvl1pPr>
          </a:lstStyle>
          <a:p>
            <a:fld id="{AFF60533-1213-4FCB-A4AA-C44494E2E2E7}" type="slidenum">
              <a:t>‹#›</a:t>
            </a:fld>
            <a:endParaRPr lang="en-US"/>
          </a:p>
        </p:txBody>
      </p:sp>
    </p:spTree>
    <p:extLst>
      <p:ext uri="{BB962C8B-B14F-4D97-AF65-F5344CB8AC3E}">
        <p14:creationId xmlns:p14="http://schemas.microsoft.com/office/powerpoint/2010/main" val="3155014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9D3E4-4397-F9B9-45A9-AC6A103A9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F4240-1BC9-E615-2F01-D74659E431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49111-B56C-62B0-1A5F-4C78B12C73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E45521-8B14-F028-FA0D-3AFB0A581DB1}"/>
              </a:ext>
            </a:extLst>
          </p:cNvPr>
          <p:cNvSpPr>
            <a:spLocks noGrp="1"/>
          </p:cNvSpPr>
          <p:nvPr>
            <p:ph type="sldNum" sz="quarter" idx="5"/>
          </p:nvPr>
        </p:nvSpPr>
        <p:spPr/>
        <p:txBody>
          <a:bodyPr/>
          <a:lstStyle/>
          <a:p>
            <a:fld id="{AFF60533-1213-4FCB-A4AA-C44494E2E2E7}" type="slidenum">
              <a:rPr lang="en-US" smtClean="0"/>
              <a:t>2</a:t>
            </a:fld>
            <a:endParaRPr lang="en-US"/>
          </a:p>
        </p:txBody>
      </p:sp>
    </p:spTree>
    <p:extLst>
      <p:ext uri="{BB962C8B-B14F-4D97-AF65-F5344CB8AC3E}">
        <p14:creationId xmlns:p14="http://schemas.microsoft.com/office/powerpoint/2010/main" val="3215009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Comments:</a:t>
            </a:r>
          </a:p>
          <a:p>
            <a:pPr marL="362448" indent="-362448">
              <a:buFont typeface="Symbol" panose="05050102010706020507" pitchFamily="18"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S2: </a:t>
            </a:r>
          </a:p>
          <a:p>
            <a:pPr marL="785305" lvl="1" indent="-302040">
              <a:buFont typeface="Courier New" panose="02070309020205020404" pitchFamily="49" charset="0"/>
              <a:buChar char="o"/>
            </a:pPr>
            <a:r>
              <a:rPr lang="en-US" kern="100" dirty="0">
                <a:latin typeface="Aptos" panose="020B0004020202020204" pitchFamily="34" charset="0"/>
                <a:ea typeface="Aptos" panose="020B0004020202020204" pitchFamily="34" charset="0"/>
                <a:cs typeface="Times New Roman" panose="02020603050405020304" pitchFamily="18" charset="0"/>
              </a:rPr>
              <a:t>See comment on page 46 may need these pages to edit/delete Product Name or Company Name records unless you can find another way</a:t>
            </a:r>
          </a:p>
          <a:p>
            <a:pPr marL="785305" lvl="1" indent="-302040">
              <a:buFont typeface="Courier New" panose="02070309020205020404" pitchFamily="49" charset="0"/>
              <a:buChar char="o"/>
            </a:pPr>
            <a:r>
              <a:rPr lang="en-US" b="1" kern="100" dirty="0">
                <a:latin typeface="Aptos" panose="020B0004020202020204" pitchFamily="34" charset="0"/>
                <a:ea typeface="Aptos" panose="020B0004020202020204" pitchFamily="34" charset="0"/>
                <a:cs typeface="Times New Roman" panose="02020603050405020304" pitchFamily="18" charset="0"/>
              </a:rPr>
              <a:t>How do you add a new field. Not represented anywhere. </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785305" lvl="1" indent="-302040">
              <a:buFont typeface="Courier New" panose="02070309020205020404" pitchFamily="49" charset="0"/>
              <a:buChar char="o"/>
            </a:pPr>
            <a:r>
              <a:rPr lang="en-US" kern="100" dirty="0">
                <a:latin typeface="Aptos" panose="020B0004020202020204" pitchFamily="34" charset="0"/>
                <a:ea typeface="Aptos" panose="020B0004020202020204" pitchFamily="34" charset="0"/>
                <a:cs typeface="Times New Roman" panose="02020603050405020304" pitchFamily="18" charset="0"/>
              </a:rPr>
              <a:t>Remove (Roles) from site map. </a:t>
            </a:r>
          </a:p>
          <a:p>
            <a:pPr marL="785305" lvl="1" indent="-302040">
              <a:buFont typeface="Courier New" panose="02070309020205020404" pitchFamily="49" charset="0"/>
              <a:buChar char="o"/>
            </a:pPr>
            <a:r>
              <a:rPr lang="en-US" kern="100" dirty="0">
                <a:latin typeface="Aptos" panose="020B0004020202020204" pitchFamily="34" charset="0"/>
                <a:ea typeface="Aptos" panose="020B0004020202020204" pitchFamily="34" charset="0"/>
                <a:cs typeface="Times New Roman" panose="02020603050405020304" pitchFamily="18" charset="0"/>
              </a:rPr>
              <a:t>Is there an API page – or is that all backend?</a:t>
            </a:r>
          </a:p>
          <a:p>
            <a:pPr marL="785305" lvl="1" indent="-302040">
              <a:buFont typeface="Courier New" panose="02070309020205020404" pitchFamily="49" charset="0"/>
              <a:buChar char="o"/>
            </a:pPr>
            <a:r>
              <a:rPr lang="en-US" kern="100" dirty="0">
                <a:latin typeface="Aptos" panose="020B0004020202020204" pitchFamily="34" charset="0"/>
                <a:ea typeface="Aptos" panose="020B0004020202020204" pitchFamily="34" charset="0"/>
                <a:cs typeface="Times New Roman" panose="02020603050405020304" pitchFamily="18" charset="0"/>
              </a:rPr>
              <a:t>7.1.3 – see comments in section</a:t>
            </a:r>
          </a:p>
          <a:p>
            <a:pPr marL="785305" lvl="1" indent="-302040">
              <a:buFont typeface="Courier New" panose="02070309020205020404" pitchFamily="49" charset="0"/>
              <a:buChar char="o"/>
            </a:pPr>
            <a:r>
              <a:rPr lang="en-US" kern="100" dirty="0">
                <a:latin typeface="Aptos" panose="020B0004020202020204" pitchFamily="34" charset="0"/>
                <a:ea typeface="Aptos" panose="020B0004020202020204" pitchFamily="34" charset="0"/>
                <a:cs typeface="Times New Roman" panose="02020603050405020304" pitchFamily="18" charset="0"/>
              </a:rPr>
              <a:t>Are you accounting for non-phase 1 on purpose? No this was missed when updating the documents. </a:t>
            </a:r>
          </a:p>
          <a:p>
            <a:pPr marL="785305" lvl="1" indent="-302040">
              <a:buFont typeface="Courier New" panose="02070309020205020404" pitchFamily="49" charset="0"/>
              <a:buChar char="o"/>
            </a:pPr>
            <a:r>
              <a:rPr lang="en-US" kern="100" dirty="0">
                <a:latin typeface="Aptos" panose="020B0004020202020204" pitchFamily="34" charset="0"/>
                <a:ea typeface="Aptos" panose="020B0004020202020204" pitchFamily="34" charset="0"/>
                <a:cs typeface="Times New Roman" panose="02020603050405020304" pitchFamily="18" charset="0"/>
              </a:rPr>
              <a:t>Grayed Items: Some were intentionally removing. </a:t>
            </a:r>
          </a:p>
          <a:p>
            <a:pPr marL="785305" lvl="1" indent="-302040">
              <a:buFont typeface="Courier New" panose="02070309020205020404" pitchFamily="49" charset="0"/>
              <a:buChar char="o"/>
            </a:pPr>
            <a:r>
              <a:rPr lang="en-US" kern="100" dirty="0">
                <a:latin typeface="Aptos" panose="020B0004020202020204" pitchFamily="34" charset="0"/>
                <a:ea typeface="Aptos" panose="020B0004020202020204" pitchFamily="34" charset="0"/>
                <a:cs typeface="Times New Roman" panose="02020603050405020304" pitchFamily="18" charset="0"/>
              </a:rPr>
              <a:t>3.3 – This would be clients and partners</a:t>
            </a:r>
          </a:p>
          <a:p>
            <a:pPr marL="785305" lvl="1" indent="-302040">
              <a:buFont typeface="Courier New" panose="02070309020205020404" pitchFamily="49" charset="0"/>
              <a:buChar char="o"/>
            </a:pPr>
            <a:r>
              <a:rPr lang="en-US" kern="100" dirty="0">
                <a:latin typeface="Aptos" panose="020B0004020202020204" pitchFamily="34" charset="0"/>
                <a:ea typeface="Aptos" panose="020B0004020202020204" pitchFamily="34" charset="0"/>
                <a:cs typeface="Times New Roman" panose="02020603050405020304" pitchFamily="18" charset="0"/>
              </a:rPr>
              <a:t>There needs to be interface for the Analyst to be able to add and edit new Product (and associate product category/type to it) and Company. Current DB has this happening in the Cert upload interface and separate pages. </a:t>
            </a: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a:t>
            </a:fld>
            <a:endParaRPr lang="en-US"/>
          </a:p>
        </p:txBody>
      </p:sp>
    </p:spTree>
    <p:extLst>
      <p:ext uri="{BB962C8B-B14F-4D97-AF65-F5344CB8AC3E}">
        <p14:creationId xmlns:p14="http://schemas.microsoft.com/office/powerpoint/2010/main" val="2222437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2448" indent="-362448">
              <a:buFont typeface="Symbol" panose="05050102010706020507" pitchFamily="18"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S3:</a:t>
            </a:r>
          </a:p>
          <a:p>
            <a:pPr marL="785305" lvl="1" indent="-302040">
              <a:buFont typeface="Courier New" panose="02070309020205020404" pitchFamily="49" charset="0"/>
              <a:buChar char="o"/>
            </a:pPr>
            <a:r>
              <a:rPr lang="en-US" kern="100" dirty="0">
                <a:latin typeface="Aptos" panose="020B0004020202020204" pitchFamily="34" charset="0"/>
                <a:ea typeface="Aptos" panose="020B0004020202020204" pitchFamily="34" charset="0"/>
                <a:cs typeface="Times New Roman" panose="02020603050405020304" pitchFamily="18" charset="0"/>
              </a:rPr>
              <a:t>Replace image with updated Role information.  </a:t>
            </a:r>
          </a:p>
          <a:p>
            <a:pPr marL="1208161" lvl="2" indent="-241632">
              <a:buFont typeface="Wingdings" panose="05000000000000000000" pitchFamily="2"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Add: Public: Product Type (+Subcategory)</a:t>
            </a:r>
          </a:p>
          <a:p>
            <a:pPr marL="1208161" lvl="2" indent="-241632">
              <a:buFont typeface="Wingdings" panose="05000000000000000000" pitchFamily="2"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Add: Public: Country</a:t>
            </a:r>
          </a:p>
          <a:p>
            <a:pPr marL="1208161" lvl="2" indent="-241632">
              <a:buFont typeface="Wingdings" panose="05000000000000000000" pitchFamily="2"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Add: External: GTIN, EAN, Status, CSF Attributes, Tags [external + internal – if given permission by Admin]</a:t>
            </a:r>
          </a:p>
          <a:p>
            <a:pPr marL="1208161" lvl="2" indent="-241632">
              <a:buFont typeface="Wingdings" panose="05000000000000000000" pitchFamily="2"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Add: GCC User: Metrics dashboard</a:t>
            </a:r>
          </a:p>
          <a:p>
            <a:pPr marL="1208161" lvl="2" indent="-241632">
              <a:buFont typeface="Wingdings" panose="05000000000000000000" pitchFamily="2"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Add: Admin: deletion</a:t>
            </a:r>
          </a:p>
          <a:p>
            <a:pPr marL="1208161" lvl="2" indent="-241632">
              <a:buFont typeface="Wingdings" panose="05000000000000000000" pitchFamily="2"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See spreadsheet for all Cert fields, Company Contact Email /URL, User Last Modified, Record Created Date, Record Last Updated Date, Tags [all internal and external]</a:t>
            </a: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5</a:t>
            </a:fld>
            <a:endParaRPr lang="en-US"/>
          </a:p>
        </p:txBody>
      </p:sp>
    </p:spTree>
    <p:extLst>
      <p:ext uri="{BB962C8B-B14F-4D97-AF65-F5344CB8AC3E}">
        <p14:creationId xmlns:p14="http://schemas.microsoft.com/office/powerpoint/2010/main" val="4063128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comments:  user stories updated. </a:t>
            </a:r>
          </a:p>
        </p:txBody>
      </p:sp>
      <p:sp>
        <p:nvSpPr>
          <p:cNvPr id="4" name="Slide Number Placeholder 3"/>
          <p:cNvSpPr>
            <a:spLocks noGrp="1"/>
          </p:cNvSpPr>
          <p:nvPr>
            <p:ph type="sldNum" sz="quarter" idx="5"/>
          </p:nvPr>
        </p:nvSpPr>
        <p:spPr/>
        <p:txBody>
          <a:bodyPr/>
          <a:lstStyle/>
          <a:p>
            <a:fld id="{AFF60533-1213-4FCB-A4AA-C44494E2E2E7}" type="slidenum">
              <a:rPr lang="en-US" smtClean="0"/>
              <a:t>6</a:t>
            </a:fld>
            <a:endParaRPr lang="en-US"/>
          </a:p>
        </p:txBody>
      </p:sp>
    </p:spTree>
    <p:extLst>
      <p:ext uri="{BB962C8B-B14F-4D97-AF65-F5344CB8AC3E}">
        <p14:creationId xmlns:p14="http://schemas.microsoft.com/office/powerpoint/2010/main" val="2024862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a:t>
            </a:r>
          </a:p>
        </p:txBody>
      </p:sp>
      <p:sp>
        <p:nvSpPr>
          <p:cNvPr id="4" name="Slide Number Placeholder 3"/>
          <p:cNvSpPr>
            <a:spLocks noGrp="1"/>
          </p:cNvSpPr>
          <p:nvPr>
            <p:ph type="sldNum" sz="quarter" idx="5"/>
          </p:nvPr>
        </p:nvSpPr>
        <p:spPr/>
        <p:txBody>
          <a:bodyPr/>
          <a:lstStyle/>
          <a:p>
            <a:fld id="{AFF60533-1213-4FCB-A4AA-C44494E2E2E7}" type="slidenum">
              <a:rPr lang="en-US" smtClean="0"/>
              <a:t>7</a:t>
            </a:fld>
            <a:endParaRPr lang="en-US"/>
          </a:p>
        </p:txBody>
      </p:sp>
    </p:spTree>
    <p:extLst>
      <p:ext uri="{BB962C8B-B14F-4D97-AF65-F5344CB8AC3E}">
        <p14:creationId xmlns:p14="http://schemas.microsoft.com/office/powerpoint/2010/main" val="530367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GCC Comments:</a:t>
            </a:r>
          </a:p>
          <a:p>
            <a:pPr marL="181225" indent="-181225">
              <a:buFontTx/>
              <a:buChar char="-"/>
            </a:pPr>
            <a:r>
              <a:rPr lang="en-US" dirty="0"/>
              <a:t>We will have 2 types of External Users and I think you should break them out. </a:t>
            </a:r>
          </a:p>
          <a:p>
            <a:pPr marL="181225" indent="-181225">
              <a:buFontTx/>
              <a:buChar char="-"/>
            </a:pPr>
            <a:r>
              <a:rPr lang="en-US" dirty="0"/>
              <a:t>1. Customers (which you have accounted for here)</a:t>
            </a:r>
          </a:p>
          <a:p>
            <a:pPr marL="181225" indent="-181225">
              <a:buFontTx/>
              <a:buChar char="-"/>
            </a:pPr>
            <a:r>
              <a:rPr lang="en-US" dirty="0"/>
              <a:t>2. Partners (where they will have access across companies for products that are part of their program only – for example Amazon CPF clients/certs)</a:t>
            </a:r>
          </a:p>
          <a:p>
            <a:pPr marL="181225" indent="-181225">
              <a:buFontTx/>
              <a:buChar char="-"/>
            </a:pPr>
            <a:endParaRPr lang="en-US" dirty="0"/>
          </a:p>
          <a:p>
            <a:pPr marL="181225" indent="-181225">
              <a:buFontTx/>
              <a:buChar char="-"/>
            </a:pPr>
            <a:r>
              <a:rPr lang="en-US" dirty="0"/>
              <a:t>This helped to answer one of my questions!</a:t>
            </a:r>
          </a:p>
        </p:txBody>
      </p:sp>
      <p:sp>
        <p:nvSpPr>
          <p:cNvPr id="4" name="Slide Number Placeholder 3"/>
          <p:cNvSpPr>
            <a:spLocks noGrp="1"/>
          </p:cNvSpPr>
          <p:nvPr>
            <p:ph type="sldNum" sz="quarter" idx="5"/>
          </p:nvPr>
        </p:nvSpPr>
        <p:spPr/>
        <p:txBody>
          <a:bodyPr/>
          <a:lstStyle/>
          <a:p>
            <a:fld id="{AFF60533-1213-4FCB-A4AA-C44494E2E2E7}" type="slidenum">
              <a:rPr lang="en-US" smtClean="0"/>
              <a:t>8</a:t>
            </a:fld>
            <a:endParaRPr lang="en-US"/>
          </a:p>
        </p:txBody>
      </p:sp>
    </p:spTree>
    <p:extLst>
      <p:ext uri="{BB962C8B-B14F-4D97-AF65-F5344CB8AC3E}">
        <p14:creationId xmlns:p14="http://schemas.microsoft.com/office/powerpoint/2010/main" val="1039410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29">
              <a:defRPr/>
            </a:pPr>
            <a:r>
              <a:rPr lang="en-US" dirty="0"/>
              <a:t>- Deleted: </a:t>
            </a:r>
            <a:r>
              <a:rPr lang="en-AU" dirty="0">
                <a:latin typeface="Arial" panose="020B0604020202020204" pitchFamily="34" charset="0"/>
                <a:ea typeface="Calibri" panose="020F0502020204030204" pitchFamily="34" charset="0"/>
              </a:rPr>
              <a:t>As an external user, I want to see the issuing agency of a certification so that I can verify its credibility.</a:t>
            </a:r>
            <a:endParaRPr lang="en-US" dirty="0">
              <a:latin typeface="Arial" panose="020B0604020202020204" pitchFamily="34" charset="0"/>
              <a:ea typeface="Calibri" panose="020F0502020204030204" pitchFamily="34" charset="0"/>
            </a:endParaRPr>
          </a:p>
          <a:p>
            <a:endParaRPr lang="en-US" dirty="0"/>
          </a:p>
          <a:p>
            <a:pPr marL="181225" indent="-181225">
              <a:buFontTx/>
              <a:buChar char="-"/>
            </a:pPr>
            <a:r>
              <a:rPr lang="en-US" dirty="0"/>
              <a:t>It’s unlikely we would create unique tags for a particular client’s purpose only. </a:t>
            </a:r>
          </a:p>
          <a:p>
            <a:pPr marL="664488" lvl="1" indent="-181225" defTabSz="966529">
              <a:buFontTx/>
              <a:buChar char="-"/>
              <a:defRPr/>
            </a:pPr>
            <a:r>
              <a:rPr lang="en-US" dirty="0"/>
              <a:t>Deleted: </a:t>
            </a:r>
            <a:r>
              <a:rPr lang="en-AU" dirty="0">
                <a:latin typeface="Arial" panose="020B0604020202020204" pitchFamily="34" charset="0"/>
                <a:ea typeface="Calibri" panose="020F0502020204030204" pitchFamily="34" charset="0"/>
              </a:rPr>
              <a:t>As an external user, I want to request additional tags for my company's certifications so that I can enhance organization.</a:t>
            </a:r>
            <a:endParaRPr lang="en-US" dirty="0">
              <a:latin typeface="Arial" panose="020B0604020202020204" pitchFamily="34" charset="0"/>
              <a:ea typeface="Calibri" panose="020F0502020204030204" pitchFamily="34" charset="0"/>
            </a:endParaRPr>
          </a:p>
          <a:p>
            <a:pPr marL="664488" lvl="1" indent="-181225">
              <a:buFontTx/>
              <a:buChar char="-"/>
            </a:pPr>
            <a:endParaRPr lang="en-US" dirty="0"/>
          </a:p>
          <a:p>
            <a:endParaRPr lang="en-US" dirty="0"/>
          </a:p>
          <a:p>
            <a:pPr marL="181225" indent="-181225">
              <a:buFontTx/>
              <a:buChar char="-"/>
            </a:pPr>
            <a:r>
              <a:rPr lang="en-US" dirty="0"/>
              <a:t>Maybe for partners but should not need API for clients.</a:t>
            </a:r>
          </a:p>
          <a:p>
            <a:pPr marL="664488" lvl="1" indent="-181225" defTabSz="966529">
              <a:buFontTx/>
              <a:buChar char="-"/>
              <a:defRPr/>
            </a:pPr>
            <a:r>
              <a:rPr lang="en-US" dirty="0"/>
              <a:t>Deleted: </a:t>
            </a:r>
            <a:r>
              <a:rPr lang="en-AU" dirty="0">
                <a:latin typeface="Arial" panose="020B0604020202020204" pitchFamily="34" charset="0"/>
                <a:ea typeface="Calibri" panose="020F0502020204030204" pitchFamily="34" charset="0"/>
              </a:rPr>
              <a:t>As an external user, I want to request additional access from an admin if needed so that I can view more relevant certifications and/or API configuration.</a:t>
            </a:r>
            <a:endParaRPr lang="en-US" dirty="0">
              <a:latin typeface="Arial" panose="020B0604020202020204" pitchFamily="34" charset="0"/>
              <a:ea typeface="Calibri" panose="020F0502020204030204" pitchFamily="34" charset="0"/>
            </a:endParaRPr>
          </a:p>
          <a:p>
            <a:pPr marL="664488" lvl="1" indent="-181225">
              <a:buFontTx/>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9</a:t>
            </a:fld>
            <a:endParaRPr lang="en-US"/>
          </a:p>
        </p:txBody>
      </p:sp>
    </p:spTree>
    <p:extLst>
      <p:ext uri="{BB962C8B-B14F-4D97-AF65-F5344CB8AC3E}">
        <p14:creationId xmlns:p14="http://schemas.microsoft.com/office/powerpoint/2010/main" val="2106431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22C7-E3EB-2E27-1C11-A65076D95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F3AB5-A71A-50E8-359A-563964677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5268C-A935-8AC5-A4C1-2C647B4A7F66}"/>
              </a:ext>
            </a:extLst>
          </p:cNvPr>
          <p:cNvSpPr>
            <a:spLocks noGrp="1"/>
          </p:cNvSpPr>
          <p:nvPr>
            <p:ph type="body" idx="1"/>
          </p:nvPr>
        </p:nvSpPr>
        <p:spPr/>
        <p:txBody>
          <a:bodyPr/>
          <a:lstStyle/>
          <a:p>
            <a:r>
              <a:rPr lang="en-US" dirty="0"/>
              <a:t>GCC Comments:</a:t>
            </a:r>
          </a:p>
          <a:p>
            <a:pPr marL="181225" indent="-181225">
              <a:buFontTx/>
              <a:buChar char="-"/>
            </a:pPr>
            <a:r>
              <a:rPr lang="en-US" dirty="0"/>
              <a:t>We will have 2 types of External Users and I think you should break them out. </a:t>
            </a:r>
          </a:p>
          <a:p>
            <a:pPr marL="181225" indent="-181225">
              <a:buFontTx/>
              <a:buChar char="-"/>
            </a:pPr>
            <a:r>
              <a:rPr lang="en-US" dirty="0"/>
              <a:t>1. Customers (which you have accounted for here)</a:t>
            </a:r>
          </a:p>
          <a:p>
            <a:pPr marL="181225" indent="-181225">
              <a:buFontTx/>
              <a:buChar char="-"/>
            </a:pPr>
            <a:r>
              <a:rPr lang="en-US" dirty="0"/>
              <a:t>2. Partners (where they will have access across companies for products that are part of their program only – for example Amazon CPF clients/certs)</a:t>
            </a:r>
          </a:p>
          <a:p>
            <a:pPr marL="181225" indent="-181225">
              <a:buFontTx/>
              <a:buChar char="-"/>
            </a:pPr>
            <a:endParaRPr lang="en-US" dirty="0"/>
          </a:p>
          <a:p>
            <a:pPr marL="181225" indent="-181225">
              <a:buFontTx/>
              <a:buChar char="-"/>
            </a:pPr>
            <a:r>
              <a:rPr lang="en-US" dirty="0"/>
              <a:t>This helped to answer one of my questions!</a:t>
            </a:r>
          </a:p>
        </p:txBody>
      </p:sp>
      <p:sp>
        <p:nvSpPr>
          <p:cNvPr id="4" name="Slide Number Placeholder 3">
            <a:extLst>
              <a:ext uri="{FF2B5EF4-FFF2-40B4-BE49-F238E27FC236}">
                <a16:creationId xmlns:a16="http://schemas.microsoft.com/office/drawing/2014/main" id="{B42D97C5-DADC-CDBE-4866-104B4663019B}"/>
              </a:ext>
            </a:extLst>
          </p:cNvPr>
          <p:cNvSpPr>
            <a:spLocks noGrp="1"/>
          </p:cNvSpPr>
          <p:nvPr>
            <p:ph type="sldNum" sz="quarter" idx="5"/>
          </p:nvPr>
        </p:nvSpPr>
        <p:spPr/>
        <p:txBody>
          <a:bodyPr/>
          <a:lstStyle/>
          <a:p>
            <a:fld id="{AFF60533-1213-4FCB-A4AA-C44494E2E2E7}" type="slidenum">
              <a:rPr lang="en-US" smtClean="0"/>
              <a:t>10</a:t>
            </a:fld>
            <a:endParaRPr lang="en-US"/>
          </a:p>
        </p:txBody>
      </p:sp>
    </p:spTree>
    <p:extLst>
      <p:ext uri="{BB962C8B-B14F-4D97-AF65-F5344CB8AC3E}">
        <p14:creationId xmlns:p14="http://schemas.microsoft.com/office/powerpoint/2010/main" val="4112597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1695-3A39-BBA0-13CD-1148EBFB5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58592-DAAB-54B8-27C9-D03330813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31DD5-2BB9-991A-893E-090502D96D3F}"/>
              </a:ext>
            </a:extLst>
          </p:cNvPr>
          <p:cNvSpPr>
            <a:spLocks noGrp="1"/>
          </p:cNvSpPr>
          <p:nvPr>
            <p:ph type="body" idx="1"/>
          </p:nvPr>
        </p:nvSpPr>
        <p:spPr/>
        <p:txBody>
          <a:bodyPr/>
          <a:lstStyle/>
          <a:p>
            <a:pPr defTabSz="966529">
              <a:defRPr/>
            </a:pPr>
            <a:r>
              <a:rPr lang="en-US" dirty="0"/>
              <a:t>- Deleted: </a:t>
            </a:r>
            <a:r>
              <a:rPr lang="en-AU" dirty="0">
                <a:latin typeface="Arial" panose="020B0604020202020204" pitchFamily="34" charset="0"/>
                <a:ea typeface="Calibri" panose="020F0502020204030204" pitchFamily="34" charset="0"/>
              </a:rPr>
              <a:t>As an external user, I want to see the issuing agency of a certification so that I can verify its credibility.</a:t>
            </a:r>
            <a:endParaRPr lang="en-US" dirty="0">
              <a:latin typeface="Arial" panose="020B0604020202020204" pitchFamily="34" charset="0"/>
              <a:ea typeface="Calibri" panose="020F0502020204030204" pitchFamily="34" charset="0"/>
            </a:endParaRPr>
          </a:p>
          <a:p>
            <a:endParaRPr lang="en-US" dirty="0"/>
          </a:p>
          <a:p>
            <a:pPr marL="181225" indent="-181225">
              <a:buFontTx/>
              <a:buChar char="-"/>
            </a:pPr>
            <a:r>
              <a:rPr lang="en-US" dirty="0"/>
              <a:t>It’s unlikely we would create unique tags for a particular client’s purpose only. </a:t>
            </a:r>
          </a:p>
          <a:p>
            <a:pPr marL="664488" lvl="1" indent="-181225" defTabSz="966529">
              <a:buFontTx/>
              <a:buChar char="-"/>
              <a:defRPr/>
            </a:pPr>
            <a:r>
              <a:rPr lang="en-US" dirty="0"/>
              <a:t>Deleted: </a:t>
            </a:r>
            <a:r>
              <a:rPr lang="en-AU" dirty="0">
                <a:latin typeface="Arial" panose="020B0604020202020204" pitchFamily="34" charset="0"/>
                <a:ea typeface="Calibri" panose="020F0502020204030204" pitchFamily="34" charset="0"/>
              </a:rPr>
              <a:t>As an external user, I want to request additional tags for my company's certifications so that I can enhance organization.</a:t>
            </a:r>
            <a:endParaRPr lang="en-US" dirty="0">
              <a:latin typeface="Arial" panose="020B0604020202020204" pitchFamily="34" charset="0"/>
              <a:ea typeface="Calibri" panose="020F0502020204030204" pitchFamily="34" charset="0"/>
            </a:endParaRPr>
          </a:p>
          <a:p>
            <a:pPr marL="664488" lvl="1" indent="-181225">
              <a:buFontTx/>
              <a:buChar char="-"/>
            </a:pPr>
            <a:endParaRPr lang="en-US" dirty="0"/>
          </a:p>
          <a:p>
            <a:endParaRPr lang="en-US" dirty="0"/>
          </a:p>
          <a:p>
            <a:pPr marL="181225" indent="-181225">
              <a:buFontTx/>
              <a:buChar char="-"/>
            </a:pPr>
            <a:r>
              <a:rPr lang="en-US" dirty="0"/>
              <a:t>Maybe for partners but should not need API for clients.</a:t>
            </a:r>
          </a:p>
          <a:p>
            <a:pPr marL="664488" lvl="1" indent="-181225" defTabSz="966529">
              <a:buFontTx/>
              <a:buChar char="-"/>
              <a:defRPr/>
            </a:pPr>
            <a:r>
              <a:rPr lang="en-US" dirty="0"/>
              <a:t>Deleted: </a:t>
            </a:r>
            <a:r>
              <a:rPr lang="en-AU" dirty="0">
                <a:latin typeface="Arial" panose="020B0604020202020204" pitchFamily="34" charset="0"/>
                <a:ea typeface="Calibri" panose="020F0502020204030204" pitchFamily="34" charset="0"/>
              </a:rPr>
              <a:t>As an external user, I want to request additional access from an admin if needed so that I can view more relevant certifications and/or API configuration.</a:t>
            </a:r>
            <a:endParaRPr lang="en-US" dirty="0">
              <a:latin typeface="Arial" panose="020B0604020202020204" pitchFamily="34" charset="0"/>
              <a:ea typeface="Calibri" panose="020F0502020204030204" pitchFamily="34" charset="0"/>
            </a:endParaRPr>
          </a:p>
          <a:p>
            <a:pPr marL="664488" lvl="1" indent="-181225">
              <a:buFontTx/>
              <a:buChar char="-"/>
            </a:pPr>
            <a:endParaRPr lang="en-US" dirty="0"/>
          </a:p>
        </p:txBody>
      </p:sp>
      <p:sp>
        <p:nvSpPr>
          <p:cNvPr id="4" name="Slide Number Placeholder 3">
            <a:extLst>
              <a:ext uri="{FF2B5EF4-FFF2-40B4-BE49-F238E27FC236}">
                <a16:creationId xmlns:a16="http://schemas.microsoft.com/office/drawing/2014/main" id="{7F98E825-3A4C-3EA7-A4A6-ABB6D4A8DE70}"/>
              </a:ext>
            </a:extLst>
          </p:cNvPr>
          <p:cNvSpPr>
            <a:spLocks noGrp="1"/>
          </p:cNvSpPr>
          <p:nvPr>
            <p:ph type="sldNum" sz="quarter" idx="5"/>
          </p:nvPr>
        </p:nvSpPr>
        <p:spPr/>
        <p:txBody>
          <a:bodyPr/>
          <a:lstStyle/>
          <a:p>
            <a:fld id="{AFF60533-1213-4FCB-A4AA-C44494E2E2E7}" type="slidenum">
              <a:rPr lang="en-US" smtClean="0"/>
              <a:t>11</a:t>
            </a:fld>
            <a:endParaRPr lang="en-US"/>
          </a:p>
        </p:txBody>
      </p:sp>
    </p:spTree>
    <p:extLst>
      <p:ext uri="{BB962C8B-B14F-4D97-AF65-F5344CB8AC3E}">
        <p14:creationId xmlns:p14="http://schemas.microsoft.com/office/powerpoint/2010/main" val="310605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29">
              <a:defRPr/>
            </a:pPr>
            <a:r>
              <a:rPr lang="en-US" dirty="0"/>
              <a:t>Deleted: </a:t>
            </a:r>
            <a:r>
              <a:rPr lang="en-AU" dirty="0">
                <a:latin typeface="Arial" panose="020B0604020202020204" pitchFamily="34" charset="0"/>
                <a:ea typeface="Calibri" panose="020F0502020204030204" pitchFamily="34" charset="0"/>
              </a:rPr>
              <a:t>As an analyst, I want to search for certifications across multiple companies so that I can analyse trends.</a:t>
            </a:r>
            <a:endParaRPr lang="en-US" dirty="0">
              <a:latin typeface="Arial" panose="020B0604020202020204" pitchFamily="34" charset="0"/>
              <a:ea typeface="Calibri" panose="020F0502020204030204" pitchFamily="34" charset="0"/>
            </a:endParaRPr>
          </a:p>
          <a:p>
            <a:r>
              <a:rPr lang="en-US" dirty="0"/>
              <a:t>- They don’t use for this purpose today but it could be. </a:t>
            </a:r>
          </a:p>
        </p:txBody>
      </p:sp>
      <p:sp>
        <p:nvSpPr>
          <p:cNvPr id="4" name="Slide Number Placeholder 3"/>
          <p:cNvSpPr>
            <a:spLocks noGrp="1"/>
          </p:cNvSpPr>
          <p:nvPr>
            <p:ph type="sldNum" sz="quarter" idx="5"/>
          </p:nvPr>
        </p:nvSpPr>
        <p:spPr/>
        <p:txBody>
          <a:bodyPr/>
          <a:lstStyle/>
          <a:p>
            <a:fld id="{AFF60533-1213-4FCB-A4AA-C44494E2E2E7}" type="slidenum">
              <a:rPr lang="en-US" smtClean="0"/>
              <a:t>12</a:t>
            </a:fld>
            <a:endParaRPr lang="en-US"/>
          </a:p>
        </p:txBody>
      </p:sp>
    </p:spTree>
    <p:extLst>
      <p:ext uri="{BB962C8B-B14F-4D97-AF65-F5344CB8AC3E}">
        <p14:creationId xmlns:p14="http://schemas.microsoft.com/office/powerpoint/2010/main" val="3837319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29">
              <a:defRPr/>
            </a:pPr>
            <a:r>
              <a:rPr lang="en-US" dirty="0"/>
              <a:t>Deleted: </a:t>
            </a:r>
            <a:r>
              <a:rPr lang="en-AU" dirty="0">
                <a:latin typeface="Arial" panose="020B0604020202020204" pitchFamily="34" charset="0"/>
                <a:ea typeface="Calibri" panose="020F0502020204030204" pitchFamily="34" charset="0"/>
              </a:rPr>
              <a:t>As an analyst, I want to submit requests to modify certifications so that an admin can approve changes.</a:t>
            </a:r>
            <a:endParaRPr lang="en-US" dirty="0">
              <a:latin typeface="Arial" panose="020B0604020202020204" pitchFamily="34" charset="0"/>
              <a:ea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13</a:t>
            </a:fld>
            <a:endParaRPr lang="en-US"/>
          </a:p>
        </p:txBody>
      </p:sp>
    </p:spTree>
    <p:extLst>
      <p:ext uri="{BB962C8B-B14F-4D97-AF65-F5344CB8AC3E}">
        <p14:creationId xmlns:p14="http://schemas.microsoft.com/office/powerpoint/2010/main" val="2325842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C168E-0916-0955-ADCB-F0A387C8B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B36DC-DCE7-9CE7-5F6D-294C6D39B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9DF8D-46CD-69CB-62E9-6ADC46574E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DFA9A3-657B-63FA-C0FA-B21651D73927}"/>
              </a:ext>
            </a:extLst>
          </p:cNvPr>
          <p:cNvSpPr>
            <a:spLocks noGrp="1"/>
          </p:cNvSpPr>
          <p:nvPr>
            <p:ph type="sldNum" sz="quarter" idx="5"/>
          </p:nvPr>
        </p:nvSpPr>
        <p:spPr/>
        <p:txBody>
          <a:bodyPr/>
          <a:lstStyle/>
          <a:p>
            <a:fld id="{AFF60533-1213-4FCB-A4AA-C44494E2E2E7}" type="slidenum">
              <a:rPr lang="en-US" smtClean="0"/>
              <a:t>17</a:t>
            </a:fld>
            <a:endParaRPr lang="en-US"/>
          </a:p>
        </p:txBody>
      </p:sp>
    </p:spTree>
    <p:extLst>
      <p:ext uri="{BB962C8B-B14F-4D97-AF65-F5344CB8AC3E}">
        <p14:creationId xmlns:p14="http://schemas.microsoft.com/office/powerpoint/2010/main" val="2626300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EB4F-0C00-699B-FB88-AD292FF9A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568CA-7BA8-5F4F-1006-3CDBAD7D8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8B801-1C2D-C386-9753-BD5123E5DC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2D74DC-269E-7586-A842-358B90B95C87}"/>
              </a:ext>
            </a:extLst>
          </p:cNvPr>
          <p:cNvSpPr>
            <a:spLocks noGrp="1"/>
          </p:cNvSpPr>
          <p:nvPr>
            <p:ph type="sldNum" sz="quarter" idx="5"/>
          </p:nvPr>
        </p:nvSpPr>
        <p:spPr/>
        <p:txBody>
          <a:bodyPr/>
          <a:lstStyle/>
          <a:p>
            <a:fld id="{AFF60533-1213-4FCB-A4AA-C44494E2E2E7}" type="slidenum">
              <a:rPr lang="en-US" smtClean="0"/>
              <a:t>18</a:t>
            </a:fld>
            <a:endParaRPr lang="en-US"/>
          </a:p>
        </p:txBody>
      </p:sp>
    </p:spTree>
    <p:extLst>
      <p:ext uri="{BB962C8B-B14F-4D97-AF65-F5344CB8AC3E}">
        <p14:creationId xmlns:p14="http://schemas.microsoft.com/office/powerpoint/2010/main" val="1947987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0591-09B0-2E2A-E70D-100AD0249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3C15B-BA46-AAB2-5AD6-8A8A48DB8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F22A8-EAD1-55CE-77C4-D8E4FF74F553}"/>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D657C02-2C14-C39D-7BAF-AA8E42973A59}"/>
              </a:ext>
            </a:extLst>
          </p:cNvPr>
          <p:cNvSpPr>
            <a:spLocks noGrp="1"/>
          </p:cNvSpPr>
          <p:nvPr>
            <p:ph type="sldNum" sz="quarter" idx="5"/>
          </p:nvPr>
        </p:nvSpPr>
        <p:spPr/>
        <p:txBody>
          <a:bodyPr/>
          <a:lstStyle/>
          <a:p>
            <a:fld id="{AFF60533-1213-4FCB-A4AA-C44494E2E2E7}" type="slidenum">
              <a:rPr lang="en-US" smtClean="0"/>
              <a:t>19</a:t>
            </a:fld>
            <a:endParaRPr lang="en-US"/>
          </a:p>
        </p:txBody>
      </p:sp>
    </p:spTree>
    <p:extLst>
      <p:ext uri="{BB962C8B-B14F-4D97-AF65-F5344CB8AC3E}">
        <p14:creationId xmlns:p14="http://schemas.microsoft.com/office/powerpoint/2010/main" val="301328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892C-DDC6-9829-020D-63B1095C4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504F0-4C35-FE6D-0AD9-E26259E48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7E836-8C9F-895D-0E77-9900FCDF14AB}"/>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89A1151-FE54-3C3A-8A0B-0C54F110883A}"/>
              </a:ext>
            </a:extLst>
          </p:cNvPr>
          <p:cNvSpPr>
            <a:spLocks noGrp="1"/>
          </p:cNvSpPr>
          <p:nvPr>
            <p:ph type="sldNum" sz="quarter" idx="5"/>
          </p:nvPr>
        </p:nvSpPr>
        <p:spPr/>
        <p:txBody>
          <a:bodyPr/>
          <a:lstStyle/>
          <a:p>
            <a:fld id="{AFF60533-1213-4FCB-A4AA-C44494E2E2E7}" type="slidenum">
              <a:rPr lang="en-US" smtClean="0"/>
              <a:t>20</a:t>
            </a:fld>
            <a:endParaRPr lang="en-US"/>
          </a:p>
        </p:txBody>
      </p:sp>
    </p:spTree>
    <p:extLst>
      <p:ext uri="{BB962C8B-B14F-4D97-AF65-F5344CB8AC3E}">
        <p14:creationId xmlns:p14="http://schemas.microsoft.com/office/powerpoint/2010/main" val="9553364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D4ACC-7D84-B98C-6382-DADCBB822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A09E9-2EB0-B161-AFFB-59568885C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7B0E9-1453-00F7-0C10-00F1F2C10820}"/>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571D9BA-6C1F-2DED-D373-20791D46103A}"/>
              </a:ext>
            </a:extLst>
          </p:cNvPr>
          <p:cNvSpPr>
            <a:spLocks noGrp="1"/>
          </p:cNvSpPr>
          <p:nvPr>
            <p:ph type="sldNum" sz="quarter" idx="5"/>
          </p:nvPr>
        </p:nvSpPr>
        <p:spPr/>
        <p:txBody>
          <a:bodyPr/>
          <a:lstStyle/>
          <a:p>
            <a:fld id="{AFF60533-1213-4FCB-A4AA-C44494E2E2E7}" type="slidenum">
              <a:rPr lang="en-US" smtClean="0"/>
              <a:t>21</a:t>
            </a:fld>
            <a:endParaRPr lang="en-US"/>
          </a:p>
        </p:txBody>
      </p:sp>
    </p:spTree>
    <p:extLst>
      <p:ext uri="{BB962C8B-B14F-4D97-AF65-F5344CB8AC3E}">
        <p14:creationId xmlns:p14="http://schemas.microsoft.com/office/powerpoint/2010/main" val="18122697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B9EF-ADA5-4E82-090D-D0C64BE30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8C7B4-D5EC-F296-4D71-04F2D99ED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7A2A1-81D0-B01F-159A-B9CF19EE3008}"/>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26B8214-F935-D3F5-70A0-7DC361DA33C1}"/>
              </a:ext>
            </a:extLst>
          </p:cNvPr>
          <p:cNvSpPr>
            <a:spLocks noGrp="1"/>
          </p:cNvSpPr>
          <p:nvPr>
            <p:ph type="sldNum" sz="quarter" idx="5"/>
          </p:nvPr>
        </p:nvSpPr>
        <p:spPr/>
        <p:txBody>
          <a:bodyPr/>
          <a:lstStyle/>
          <a:p>
            <a:fld id="{AFF60533-1213-4FCB-A4AA-C44494E2E2E7}" type="slidenum">
              <a:rPr lang="en-US" smtClean="0"/>
              <a:t>22</a:t>
            </a:fld>
            <a:endParaRPr lang="en-US"/>
          </a:p>
        </p:txBody>
      </p:sp>
    </p:spTree>
    <p:extLst>
      <p:ext uri="{BB962C8B-B14F-4D97-AF65-F5344CB8AC3E}">
        <p14:creationId xmlns:p14="http://schemas.microsoft.com/office/powerpoint/2010/main" val="2971939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A2B02-2B45-D551-9B54-E99D52536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C1A3E-90AE-23D4-E7CC-686BE9BD3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4B7D5-4FB1-AA51-CF7B-3FA0C7173296}"/>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079C95A-5A08-55EE-C64D-6574BAC939D8}"/>
              </a:ext>
            </a:extLst>
          </p:cNvPr>
          <p:cNvSpPr>
            <a:spLocks noGrp="1"/>
          </p:cNvSpPr>
          <p:nvPr>
            <p:ph type="sldNum" sz="quarter" idx="5"/>
          </p:nvPr>
        </p:nvSpPr>
        <p:spPr/>
        <p:txBody>
          <a:bodyPr/>
          <a:lstStyle/>
          <a:p>
            <a:fld id="{AFF60533-1213-4FCB-A4AA-C44494E2E2E7}" type="slidenum">
              <a:rPr lang="en-US" smtClean="0"/>
              <a:t>23</a:t>
            </a:fld>
            <a:endParaRPr lang="en-US"/>
          </a:p>
        </p:txBody>
      </p:sp>
    </p:spTree>
    <p:extLst>
      <p:ext uri="{BB962C8B-B14F-4D97-AF65-F5344CB8AC3E}">
        <p14:creationId xmlns:p14="http://schemas.microsoft.com/office/powerpoint/2010/main" val="2085488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FBC3B-AD4D-2E52-C1B6-C86DF7E4F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AAA72-75DF-A8FE-CD39-EB9E87043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09F64-2A5A-E83E-60FE-8191D68C6B8E}"/>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8B29B1C-C950-6F89-D676-3BDAA117EEAA}"/>
              </a:ext>
            </a:extLst>
          </p:cNvPr>
          <p:cNvSpPr>
            <a:spLocks noGrp="1"/>
          </p:cNvSpPr>
          <p:nvPr>
            <p:ph type="sldNum" sz="quarter" idx="5"/>
          </p:nvPr>
        </p:nvSpPr>
        <p:spPr/>
        <p:txBody>
          <a:bodyPr/>
          <a:lstStyle/>
          <a:p>
            <a:fld id="{AFF60533-1213-4FCB-A4AA-C44494E2E2E7}" type="slidenum">
              <a:rPr lang="en-US" smtClean="0"/>
              <a:t>24</a:t>
            </a:fld>
            <a:endParaRPr lang="en-US"/>
          </a:p>
        </p:txBody>
      </p:sp>
    </p:spTree>
    <p:extLst>
      <p:ext uri="{BB962C8B-B14F-4D97-AF65-F5344CB8AC3E}">
        <p14:creationId xmlns:p14="http://schemas.microsoft.com/office/powerpoint/2010/main" val="34705731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1BB5-91EE-CD4D-A792-19C3441FC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48B00-CC73-467F-CDAB-0A0FAFB5B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68F92-3307-A929-0968-573AC7E2A524}"/>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E4E13F6-2B8B-45A0-A38D-CD559946E24C}"/>
              </a:ext>
            </a:extLst>
          </p:cNvPr>
          <p:cNvSpPr>
            <a:spLocks noGrp="1"/>
          </p:cNvSpPr>
          <p:nvPr>
            <p:ph type="sldNum" sz="quarter" idx="5"/>
          </p:nvPr>
        </p:nvSpPr>
        <p:spPr/>
        <p:txBody>
          <a:bodyPr/>
          <a:lstStyle/>
          <a:p>
            <a:fld id="{AFF60533-1213-4FCB-A4AA-C44494E2E2E7}" type="slidenum">
              <a:rPr lang="en-US" smtClean="0"/>
              <a:t>25</a:t>
            </a:fld>
            <a:endParaRPr lang="en-US"/>
          </a:p>
        </p:txBody>
      </p:sp>
    </p:spTree>
    <p:extLst>
      <p:ext uri="{BB962C8B-B14F-4D97-AF65-F5344CB8AC3E}">
        <p14:creationId xmlns:p14="http://schemas.microsoft.com/office/powerpoint/2010/main" val="1781684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26</a:t>
            </a:fld>
            <a:endParaRPr lang="en-US"/>
          </a:p>
        </p:txBody>
      </p:sp>
    </p:spTree>
    <p:extLst>
      <p:ext uri="{BB962C8B-B14F-4D97-AF65-F5344CB8AC3E}">
        <p14:creationId xmlns:p14="http://schemas.microsoft.com/office/powerpoint/2010/main" val="4117267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strike="sngStrike" dirty="0"/>
              <a:t>Use only Century Gothic web safe font (not Cambria)</a:t>
            </a:r>
          </a:p>
          <a:p>
            <a:pPr marL="181225" indent="-181225">
              <a:buFont typeface="Arial" panose="020B0604020202020204" pitchFamily="34" charset="0"/>
              <a:buChar char="•"/>
            </a:pPr>
            <a:r>
              <a:rPr lang="en-US" strike="sngStrike" dirty="0"/>
              <a:t>Will want a portion of the data to display on the tile and click-in to then have other fields. See example image for hierarchy and fields for title. </a:t>
            </a:r>
          </a:p>
          <a:p>
            <a:pPr marL="181225" indent="-181225">
              <a:buFont typeface="Arial" panose="020B0604020202020204" pitchFamily="34" charset="0"/>
              <a:buChar char="•"/>
            </a:pPr>
            <a:r>
              <a:rPr lang="en-US" strike="sngStrike" dirty="0"/>
              <a:t>The header: Will likely want brief marketing intro content here</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Global change: remove Product from Header</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Remove Tags from Clear Filters/Tags. </a:t>
            </a:r>
          </a:p>
          <a:p>
            <a:pPr marL="181225" indent="-181225" defTabSz="966529">
              <a:buFont typeface="Arial" panose="020B0604020202020204" pitchFamily="34" charset="0"/>
              <a:buChar char="•"/>
              <a:defRPr/>
            </a:pPr>
            <a:r>
              <a:rPr lang="en-US" sz="1900" dirty="0">
                <a:latin typeface="Segoe UI" panose="020B0502040204020203" pitchFamily="34" charset="0"/>
              </a:rPr>
              <a:t>What are the options for Sort By?</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Global: Remove, the tags would be listed under “Additional” section as another search criteria. (Remove Quick Tags)</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We will want to add an email info@greencirclecertified.com</a:t>
            </a:r>
            <a:endParaRPr lang="en-US" sz="1900" strike="sngStrike" dirty="0">
              <a:latin typeface="Arial" panose="020B0604020202020204" pitchFamily="34" charset="0"/>
            </a:endParaRP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27</a:t>
            </a:fld>
            <a:endParaRPr lang="en-US"/>
          </a:p>
        </p:txBody>
      </p:sp>
    </p:spTree>
    <p:extLst>
      <p:ext uri="{BB962C8B-B14F-4D97-AF65-F5344CB8AC3E}">
        <p14:creationId xmlns:p14="http://schemas.microsoft.com/office/powerpoint/2010/main" val="4019988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E8D2-016C-1DF8-1B55-A07086006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357A9-6CFA-C12C-06A5-C9CFA3A5B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0D81D-905D-C708-70F3-403F2B2E84AF}"/>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Use only Century Gothic web safe font (not Cambria)</a:t>
            </a:r>
          </a:p>
          <a:p>
            <a:pPr marL="181225" indent="-181225">
              <a:buFont typeface="Arial" panose="020B0604020202020204" pitchFamily="34" charset="0"/>
              <a:buChar char="•"/>
            </a:pPr>
            <a:r>
              <a:rPr lang="en-US" strike="sngStrike" dirty="0"/>
              <a:t>Will want a portion of the data to display on the tile and click-in to then have other fields. See example image for hierarchy and fields for title. </a:t>
            </a:r>
          </a:p>
          <a:p>
            <a:pPr marL="181225" indent="-181225">
              <a:buFont typeface="Arial" panose="020B0604020202020204" pitchFamily="34" charset="0"/>
              <a:buChar char="•"/>
            </a:pPr>
            <a:r>
              <a:rPr lang="en-US" strike="sngStrike" dirty="0"/>
              <a:t>The header: Will likely want brief marketing intro content here</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Global change: remove Product from Header</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Remove Tags from Clear Filters/Tags. </a:t>
            </a:r>
          </a:p>
          <a:p>
            <a:pPr marL="181225" indent="-181225" defTabSz="966529">
              <a:buFont typeface="Arial" panose="020B0604020202020204" pitchFamily="34" charset="0"/>
              <a:buChar char="•"/>
              <a:defRPr/>
            </a:pPr>
            <a:r>
              <a:rPr lang="en-US" sz="1900" dirty="0">
                <a:latin typeface="Segoe UI" panose="020B0502040204020203" pitchFamily="34" charset="0"/>
              </a:rPr>
              <a:t>What are the options for Sort By?</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Global: Remove, the tags would be listed under “Additional” section as another search criteria. (Remove Quick Tags)</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We will want to add an email info@greencirclecertified.com</a:t>
            </a:r>
            <a:endParaRPr lang="en-US" sz="1900" strike="sngStrike" dirty="0">
              <a:latin typeface="Arial" panose="020B0604020202020204" pitchFamily="34" charset="0"/>
            </a:endParaRPr>
          </a:p>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AB81AE8F-7FEA-EECD-3BF6-D0E08A897B60}"/>
              </a:ext>
            </a:extLst>
          </p:cNvPr>
          <p:cNvSpPr>
            <a:spLocks noGrp="1"/>
          </p:cNvSpPr>
          <p:nvPr>
            <p:ph type="sldNum" sz="quarter" idx="5"/>
          </p:nvPr>
        </p:nvSpPr>
        <p:spPr/>
        <p:txBody>
          <a:bodyPr/>
          <a:lstStyle/>
          <a:p>
            <a:fld id="{AFF60533-1213-4FCB-A4AA-C44494E2E2E7}" type="slidenum">
              <a:rPr lang="en-US" smtClean="0"/>
              <a:t>28</a:t>
            </a:fld>
            <a:endParaRPr lang="en-US"/>
          </a:p>
        </p:txBody>
      </p:sp>
    </p:spTree>
    <p:extLst>
      <p:ext uri="{BB962C8B-B14F-4D97-AF65-F5344CB8AC3E}">
        <p14:creationId xmlns:p14="http://schemas.microsoft.com/office/powerpoint/2010/main" val="37555833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F774-0A40-F25C-5C31-C1C76A30C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0DFF2-612E-90A3-E132-1301110AB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AE6C8-D753-3F67-8A26-00043811A1DC}"/>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Use only Century Gothic web safe font (not Cambria)</a:t>
            </a:r>
          </a:p>
          <a:p>
            <a:pPr marL="181225" indent="-181225">
              <a:buFont typeface="Arial" panose="020B0604020202020204" pitchFamily="34" charset="0"/>
              <a:buChar char="•"/>
            </a:pPr>
            <a:r>
              <a:rPr lang="en-US" strike="sngStrike" dirty="0"/>
              <a:t>Will want a portion of the data to display on the tile and click-in to then have other fields. See example image for hierarchy and fields for title. </a:t>
            </a:r>
          </a:p>
          <a:p>
            <a:pPr marL="181225" indent="-181225">
              <a:buFont typeface="Arial" panose="020B0604020202020204" pitchFamily="34" charset="0"/>
              <a:buChar char="•"/>
            </a:pPr>
            <a:r>
              <a:rPr lang="en-US" strike="sngStrike" dirty="0"/>
              <a:t>The header: Will likely want brief marketing intro content here</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Global change: remove Product from Header</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Remove Tags from Clear Filters/Tags. </a:t>
            </a:r>
          </a:p>
          <a:p>
            <a:pPr marL="181225" indent="-181225" defTabSz="966529">
              <a:buFont typeface="Arial" panose="020B0604020202020204" pitchFamily="34" charset="0"/>
              <a:buChar char="•"/>
              <a:defRPr/>
            </a:pPr>
            <a:r>
              <a:rPr lang="en-US" sz="1900" dirty="0">
                <a:latin typeface="Segoe UI" panose="020B0502040204020203" pitchFamily="34" charset="0"/>
              </a:rPr>
              <a:t>What are the options for Sort By?</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Global: Remove, the tags would be listed under “Additional” section as another search criteria. (Remove Quick Tags)</a:t>
            </a:r>
          </a:p>
          <a:p>
            <a:pPr marL="181225" indent="-181225" defTabSz="966529">
              <a:buFont typeface="Arial" panose="020B0604020202020204" pitchFamily="34" charset="0"/>
              <a:buChar char="•"/>
              <a:defRPr/>
            </a:pPr>
            <a:r>
              <a:rPr lang="en-US" sz="1900" strike="sngStrike" dirty="0">
                <a:latin typeface="Segoe UI" panose="020B0502040204020203" pitchFamily="34" charset="0"/>
              </a:rPr>
              <a:t>We will want to add an email info@greencirclecertified.com</a:t>
            </a:r>
            <a:endParaRPr lang="en-US" sz="1900" strike="sngStrike" dirty="0">
              <a:latin typeface="Arial" panose="020B0604020202020204" pitchFamily="34" charset="0"/>
            </a:endParaRPr>
          </a:p>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9E3A13C5-4F58-1125-5306-60AEC2974AE9}"/>
              </a:ext>
            </a:extLst>
          </p:cNvPr>
          <p:cNvSpPr>
            <a:spLocks noGrp="1"/>
          </p:cNvSpPr>
          <p:nvPr>
            <p:ph type="sldNum" sz="quarter" idx="5"/>
          </p:nvPr>
        </p:nvSpPr>
        <p:spPr/>
        <p:txBody>
          <a:bodyPr/>
          <a:lstStyle/>
          <a:p>
            <a:fld id="{AFF60533-1213-4FCB-A4AA-C44494E2E2E7}" type="slidenum">
              <a:rPr lang="en-US" smtClean="0"/>
              <a:t>29</a:t>
            </a:fld>
            <a:endParaRPr lang="en-US"/>
          </a:p>
        </p:txBody>
      </p:sp>
    </p:spTree>
    <p:extLst>
      <p:ext uri="{BB962C8B-B14F-4D97-AF65-F5344CB8AC3E}">
        <p14:creationId xmlns:p14="http://schemas.microsoft.com/office/powerpoint/2010/main" val="963409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trike="sngStrike" dirty="0"/>
          </a:p>
          <a:p>
            <a:r>
              <a:rPr lang="en-US" strike="sngStrike" dirty="0"/>
              <a:t>I don't understand what this means - on https://www.greencirclecertified.com/ you select Certified Product Database to get to this location</a:t>
            </a:r>
            <a:br>
              <a:rPr lang="en-US" strike="sngStrike" dirty="0"/>
            </a:br>
            <a:br>
              <a:rPr lang="en-US" strike="sngStrike" dirty="0"/>
            </a:br>
            <a:r>
              <a:rPr lang="en-US" strike="sngStrike" dirty="0"/>
              <a:t>If you are talking about how someone signs in that would be Sign In. We should not need to say Go to Portal anymore</a:t>
            </a:r>
          </a:p>
          <a:p>
            <a:endParaRPr lang="en-US" strike="sngStrike" dirty="0"/>
          </a:p>
          <a:p>
            <a:r>
              <a:rPr lang="en-US" strike="sngStrike" dirty="0"/>
              <a:t>What are available sort options?</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30</a:t>
            </a:fld>
            <a:endParaRPr lang="en-US"/>
          </a:p>
        </p:txBody>
      </p:sp>
    </p:spTree>
    <p:extLst>
      <p:ext uri="{BB962C8B-B14F-4D97-AF65-F5344CB8AC3E}">
        <p14:creationId xmlns:p14="http://schemas.microsoft.com/office/powerpoint/2010/main" val="6863803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98C1F-FD2B-01A0-BA6F-2277DE0E1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ABF81-1BD9-68AA-71FB-1ACE720EE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8A446-E9A1-8105-02B3-B31CDCF05D3F}"/>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D87E584-FD08-B53C-A81D-F222EC9B2808}"/>
              </a:ext>
            </a:extLst>
          </p:cNvPr>
          <p:cNvSpPr>
            <a:spLocks noGrp="1"/>
          </p:cNvSpPr>
          <p:nvPr>
            <p:ph type="sldNum" sz="quarter" idx="5"/>
          </p:nvPr>
        </p:nvSpPr>
        <p:spPr/>
        <p:txBody>
          <a:bodyPr/>
          <a:lstStyle/>
          <a:p>
            <a:fld id="{AFF60533-1213-4FCB-A4AA-C44494E2E2E7}" type="slidenum">
              <a:rPr lang="en-US" smtClean="0"/>
              <a:t>31</a:t>
            </a:fld>
            <a:endParaRPr lang="en-US"/>
          </a:p>
        </p:txBody>
      </p:sp>
    </p:spTree>
    <p:extLst>
      <p:ext uri="{BB962C8B-B14F-4D97-AF65-F5344CB8AC3E}">
        <p14:creationId xmlns:p14="http://schemas.microsoft.com/office/powerpoint/2010/main" val="24131578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B7880-6B9C-8CC0-C720-59F0FD635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8F20E-7EB4-1FED-E5E8-286209844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CEF35-9D0B-7EC2-1E92-99DCFF4B81EE}"/>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1BBDCA5-5C21-BF00-E1CB-36AFC62B2143}"/>
              </a:ext>
            </a:extLst>
          </p:cNvPr>
          <p:cNvSpPr>
            <a:spLocks noGrp="1"/>
          </p:cNvSpPr>
          <p:nvPr>
            <p:ph type="sldNum" sz="quarter" idx="5"/>
          </p:nvPr>
        </p:nvSpPr>
        <p:spPr/>
        <p:txBody>
          <a:bodyPr/>
          <a:lstStyle/>
          <a:p>
            <a:fld id="{AFF60533-1213-4FCB-A4AA-C44494E2E2E7}" type="slidenum">
              <a:rPr lang="en-US" smtClean="0"/>
              <a:t>32</a:t>
            </a:fld>
            <a:endParaRPr lang="en-US"/>
          </a:p>
        </p:txBody>
      </p:sp>
    </p:spTree>
    <p:extLst>
      <p:ext uri="{BB962C8B-B14F-4D97-AF65-F5344CB8AC3E}">
        <p14:creationId xmlns:p14="http://schemas.microsoft.com/office/powerpoint/2010/main" val="3029107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33</a:t>
            </a:fld>
            <a:endParaRPr lang="en-US"/>
          </a:p>
        </p:txBody>
      </p:sp>
    </p:spTree>
    <p:extLst>
      <p:ext uri="{BB962C8B-B14F-4D97-AF65-F5344CB8AC3E}">
        <p14:creationId xmlns:p14="http://schemas.microsoft.com/office/powerpoint/2010/main" val="30788290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5BF9-2FE4-89E8-D84B-E2CF61BDB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307B3-4762-6072-A272-5BFEFB524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16F7E-1440-B80F-55AF-AC307F3C9E4F}"/>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E51B3137-56AE-FCDD-E35C-64D12DCE85BF}"/>
              </a:ext>
            </a:extLst>
          </p:cNvPr>
          <p:cNvSpPr>
            <a:spLocks noGrp="1"/>
          </p:cNvSpPr>
          <p:nvPr>
            <p:ph type="sldNum" sz="quarter" idx="5"/>
          </p:nvPr>
        </p:nvSpPr>
        <p:spPr/>
        <p:txBody>
          <a:bodyPr/>
          <a:lstStyle/>
          <a:p>
            <a:fld id="{AFF60533-1213-4FCB-A4AA-C44494E2E2E7}" type="slidenum">
              <a:rPr lang="en-US" smtClean="0"/>
              <a:t>34</a:t>
            </a:fld>
            <a:endParaRPr lang="en-US"/>
          </a:p>
        </p:txBody>
      </p:sp>
    </p:spTree>
    <p:extLst>
      <p:ext uri="{BB962C8B-B14F-4D97-AF65-F5344CB8AC3E}">
        <p14:creationId xmlns:p14="http://schemas.microsoft.com/office/powerpoint/2010/main" val="1349063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46006-CF81-40D8-236E-13268DE91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F85A0-62E4-C552-315F-42F89F13E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7EAB1-D06F-9EDD-2BD1-18A6DF03DC40}"/>
              </a:ext>
            </a:extLst>
          </p:cNvPr>
          <p:cNvSpPr>
            <a:spLocks noGrp="1"/>
          </p:cNvSpPr>
          <p:nvPr>
            <p:ph type="body" idx="1"/>
          </p:nvPr>
        </p:nvSpPr>
        <p:spPr/>
        <p:txBody>
          <a:bodyPr/>
          <a:lstStyle/>
          <a:p>
            <a:r>
              <a:rPr lang="en-US" dirty="0"/>
              <a:t>We need to make sure only GCC users have edit access to a certificate record</a:t>
            </a:r>
          </a:p>
          <a:p>
            <a:endParaRPr lang="en-US" dirty="0"/>
          </a:p>
        </p:txBody>
      </p:sp>
      <p:sp>
        <p:nvSpPr>
          <p:cNvPr id="4" name="Slide Number Placeholder 3">
            <a:extLst>
              <a:ext uri="{FF2B5EF4-FFF2-40B4-BE49-F238E27FC236}">
                <a16:creationId xmlns:a16="http://schemas.microsoft.com/office/drawing/2014/main" id="{18D57FE4-1D64-88AE-C1A5-0229F9F788BD}"/>
              </a:ext>
            </a:extLst>
          </p:cNvPr>
          <p:cNvSpPr>
            <a:spLocks noGrp="1"/>
          </p:cNvSpPr>
          <p:nvPr>
            <p:ph type="sldNum" sz="quarter" idx="5"/>
          </p:nvPr>
        </p:nvSpPr>
        <p:spPr/>
        <p:txBody>
          <a:bodyPr/>
          <a:lstStyle/>
          <a:p>
            <a:fld id="{AFF60533-1213-4FCB-A4AA-C44494E2E2E7}" type="slidenum">
              <a:rPr lang="en-US" smtClean="0"/>
              <a:t>35</a:t>
            </a:fld>
            <a:endParaRPr lang="en-US"/>
          </a:p>
        </p:txBody>
      </p:sp>
    </p:spTree>
    <p:extLst>
      <p:ext uri="{BB962C8B-B14F-4D97-AF65-F5344CB8AC3E}">
        <p14:creationId xmlns:p14="http://schemas.microsoft.com/office/powerpoint/2010/main" val="19019163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They </a:t>
            </a:r>
            <a:r>
              <a:rPr lang="en-US" dirty="0" err="1"/>
              <a:t>wouldnt</a:t>
            </a:r>
            <a:r>
              <a:rPr lang="en-US" dirty="0"/>
              <a:t> see this unless dashboard data reflects their data access.</a:t>
            </a:r>
          </a:p>
          <a:p>
            <a:endParaRPr lang="en-US" dirty="0"/>
          </a:p>
          <a:p>
            <a:r>
              <a:rPr lang="en-US" b="1" dirty="0"/>
              <a:t>Not just clients - partners will also be external users and will see certs associated with their program</a:t>
            </a:r>
          </a:p>
          <a:p>
            <a:endParaRPr lang="en-US" b="1" dirty="0"/>
          </a:p>
          <a:p>
            <a:r>
              <a:rPr lang="en-US" b="1" dirty="0"/>
              <a:t>Add </a:t>
            </a:r>
            <a:r>
              <a:rPr lang="en-US" b="1" dirty="0" err="1"/>
              <a:t>Certificat</a:t>
            </a:r>
            <a:r>
              <a:rPr lang="en-US" b="1" dirty="0"/>
              <a:t> Button: Remove They could not add Cert remove</a:t>
            </a:r>
          </a:p>
          <a:p>
            <a:endParaRPr lang="en-US" b="1" dirty="0"/>
          </a:p>
          <a:p>
            <a:r>
              <a:rPr lang="en-US" b="1" dirty="0"/>
              <a:t>Apply applicable comments from page 22</a:t>
            </a:r>
          </a:p>
        </p:txBody>
      </p:sp>
      <p:sp>
        <p:nvSpPr>
          <p:cNvPr id="4" name="Slide Number Placeholder 3"/>
          <p:cNvSpPr>
            <a:spLocks noGrp="1"/>
          </p:cNvSpPr>
          <p:nvPr>
            <p:ph type="sldNum" sz="quarter" idx="5"/>
          </p:nvPr>
        </p:nvSpPr>
        <p:spPr/>
        <p:txBody>
          <a:bodyPr/>
          <a:lstStyle/>
          <a:p>
            <a:fld id="{AFF60533-1213-4FCB-A4AA-C44494E2E2E7}" type="slidenum">
              <a:rPr lang="en-US" smtClean="0"/>
              <a:t>36</a:t>
            </a:fld>
            <a:endParaRPr lang="en-US"/>
          </a:p>
        </p:txBody>
      </p:sp>
    </p:spTree>
    <p:extLst>
      <p:ext uri="{BB962C8B-B14F-4D97-AF65-F5344CB8AC3E}">
        <p14:creationId xmlns:p14="http://schemas.microsoft.com/office/powerpoint/2010/main" val="28540389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we grant permissions to clients it would be through Company - and there could be multiple companies associated with 1 client (ASSA ABLOY for example) </a:t>
            </a:r>
            <a:br>
              <a:rPr lang="en-US" b="1" dirty="0"/>
            </a:br>
            <a:br>
              <a:rPr lang="en-US" b="1" dirty="0"/>
            </a:br>
            <a:r>
              <a:rPr lang="en-US" b="1" dirty="0"/>
              <a:t>However, on the partner side they would not be by Company but by tag or new field</a:t>
            </a:r>
          </a:p>
        </p:txBody>
      </p:sp>
      <p:sp>
        <p:nvSpPr>
          <p:cNvPr id="4" name="Slide Number Placeholder 3"/>
          <p:cNvSpPr>
            <a:spLocks noGrp="1"/>
          </p:cNvSpPr>
          <p:nvPr>
            <p:ph type="sldNum" sz="quarter" idx="5"/>
          </p:nvPr>
        </p:nvSpPr>
        <p:spPr/>
        <p:txBody>
          <a:bodyPr/>
          <a:lstStyle/>
          <a:p>
            <a:fld id="{AFF60533-1213-4FCB-A4AA-C44494E2E2E7}" type="slidenum">
              <a:rPr lang="en-US" smtClean="0"/>
              <a:t>37</a:t>
            </a:fld>
            <a:endParaRPr lang="en-US"/>
          </a:p>
        </p:txBody>
      </p:sp>
    </p:spTree>
    <p:extLst>
      <p:ext uri="{BB962C8B-B14F-4D97-AF65-F5344CB8AC3E}">
        <p14:creationId xmlns:p14="http://schemas.microsoft.com/office/powerpoint/2010/main" val="21598441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p:cNvSpPr>
            <a:spLocks noGrp="1"/>
          </p:cNvSpPr>
          <p:nvPr>
            <p:ph type="sldNum" sz="quarter" idx="5"/>
          </p:nvPr>
        </p:nvSpPr>
        <p:spPr/>
        <p:txBody>
          <a:bodyPr/>
          <a:lstStyle/>
          <a:p>
            <a:fld id="{AFF60533-1213-4FCB-A4AA-C44494E2E2E7}" type="slidenum">
              <a:rPr lang="en-US" smtClean="0"/>
              <a:t>38</a:t>
            </a:fld>
            <a:endParaRPr lang="en-US"/>
          </a:p>
        </p:txBody>
      </p:sp>
    </p:spTree>
    <p:extLst>
      <p:ext uri="{BB962C8B-B14F-4D97-AF65-F5344CB8AC3E}">
        <p14:creationId xmlns:p14="http://schemas.microsoft.com/office/powerpoint/2010/main" val="8372837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make sure only GCC users have edit access to a certificate record</a:t>
            </a:r>
          </a:p>
          <a:p>
            <a:endParaRPr lang="en-US" dirty="0"/>
          </a:p>
          <a:p>
            <a:pPr defTabSz="948507">
              <a:defRPr/>
            </a:pPr>
            <a:r>
              <a:rPr lang="en-US">
                <a:solidFill>
                  <a:srgbClr val="606771"/>
                </a:solidFill>
                <a:latin typeface="Segoe UI" panose="020B0502040204020203" pitchFamily="34" charset="0"/>
              </a:rPr>
              <a:t>All data fields to be displayed based on user’s permissions: </a:t>
            </a:r>
            <a:r>
              <a:rPr lang="en-US" b="1">
                <a:solidFill>
                  <a:srgbClr val="606771"/>
                </a:solidFill>
                <a:latin typeface="Segoe UI" panose="020B0502040204020203" pitchFamily="34" charset="0"/>
              </a:rPr>
              <a:t>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Preview</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39</a:t>
            </a:fld>
            <a:endParaRPr lang="en-US"/>
          </a:p>
        </p:txBody>
      </p:sp>
    </p:spTree>
    <p:extLst>
      <p:ext uri="{BB962C8B-B14F-4D97-AF65-F5344CB8AC3E}">
        <p14:creationId xmlns:p14="http://schemas.microsoft.com/office/powerpoint/2010/main" val="163851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p:cNvSpPr>
            <a:spLocks noGrp="1"/>
          </p:cNvSpPr>
          <p:nvPr>
            <p:ph type="sldNum" sz="quarter" idx="5"/>
          </p:nvPr>
        </p:nvSpPr>
        <p:spPr/>
        <p:txBody>
          <a:bodyPr/>
          <a:lstStyle/>
          <a:p>
            <a:fld id="{AFF60533-1213-4FCB-A4AA-C44494E2E2E7}" type="slidenum">
              <a:rPr lang="en-US" smtClean="0"/>
              <a:t>40</a:t>
            </a:fld>
            <a:endParaRPr lang="en-US"/>
          </a:p>
        </p:txBody>
      </p:sp>
    </p:spTree>
    <p:extLst>
      <p:ext uri="{BB962C8B-B14F-4D97-AF65-F5344CB8AC3E}">
        <p14:creationId xmlns:p14="http://schemas.microsoft.com/office/powerpoint/2010/main" val="7145888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0A37-8B11-EC42-6C10-7DEFBEC76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55580-2071-A1FC-F2B4-BD04A1B46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14427-1440-9A34-1559-7FAA66260DAC}"/>
              </a:ext>
            </a:extLst>
          </p:cNvPr>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a:extLst>
              <a:ext uri="{FF2B5EF4-FFF2-40B4-BE49-F238E27FC236}">
                <a16:creationId xmlns:a16="http://schemas.microsoft.com/office/drawing/2014/main" id="{778AB5B1-6B91-9BBD-EE98-41BADBBBCA2E}"/>
              </a:ext>
            </a:extLst>
          </p:cNvPr>
          <p:cNvSpPr>
            <a:spLocks noGrp="1"/>
          </p:cNvSpPr>
          <p:nvPr>
            <p:ph type="sldNum" sz="quarter" idx="5"/>
          </p:nvPr>
        </p:nvSpPr>
        <p:spPr/>
        <p:txBody>
          <a:bodyPr/>
          <a:lstStyle/>
          <a:p>
            <a:fld id="{AFF60533-1213-4FCB-A4AA-C44494E2E2E7}" type="slidenum">
              <a:rPr lang="en-US" smtClean="0"/>
              <a:t>41</a:t>
            </a:fld>
            <a:endParaRPr lang="en-US"/>
          </a:p>
        </p:txBody>
      </p:sp>
    </p:spTree>
    <p:extLst>
      <p:ext uri="{BB962C8B-B14F-4D97-AF65-F5344CB8AC3E}">
        <p14:creationId xmlns:p14="http://schemas.microsoft.com/office/powerpoint/2010/main" val="31923654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7FD64-4E7F-A7FF-89C2-1B4DB2B7A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0CB40-ED28-81A6-1B6C-F3D9D8F85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0056F-AE44-4221-ADF4-16979EC23B6D}"/>
              </a:ext>
            </a:extLst>
          </p:cNvPr>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a:extLst>
              <a:ext uri="{FF2B5EF4-FFF2-40B4-BE49-F238E27FC236}">
                <a16:creationId xmlns:a16="http://schemas.microsoft.com/office/drawing/2014/main" id="{08D9DF4B-2939-EF84-7072-BFF646B6758F}"/>
              </a:ext>
            </a:extLst>
          </p:cNvPr>
          <p:cNvSpPr>
            <a:spLocks noGrp="1"/>
          </p:cNvSpPr>
          <p:nvPr>
            <p:ph type="sldNum" sz="quarter" idx="5"/>
          </p:nvPr>
        </p:nvSpPr>
        <p:spPr/>
        <p:txBody>
          <a:bodyPr/>
          <a:lstStyle/>
          <a:p>
            <a:fld id="{AFF60533-1213-4FCB-A4AA-C44494E2E2E7}" type="slidenum">
              <a:rPr lang="en-US" smtClean="0"/>
              <a:t>42</a:t>
            </a:fld>
            <a:endParaRPr lang="en-US"/>
          </a:p>
        </p:txBody>
      </p:sp>
    </p:spTree>
    <p:extLst>
      <p:ext uri="{BB962C8B-B14F-4D97-AF65-F5344CB8AC3E}">
        <p14:creationId xmlns:p14="http://schemas.microsoft.com/office/powerpoint/2010/main" val="20428186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 doc provided --- only changes are:</a:t>
            </a:r>
          </a:p>
          <a:p>
            <a:endParaRPr lang="en-US" dirty="0"/>
          </a:p>
          <a:p>
            <a:r>
              <a:rPr lang="en-US" dirty="0"/>
              <a:t>Product Name - not required</a:t>
            </a:r>
          </a:p>
          <a:p>
            <a:r>
              <a:rPr lang="en-US" dirty="0"/>
              <a:t>Product Category - required if there is a Product Name</a:t>
            </a:r>
          </a:p>
          <a:p>
            <a:r>
              <a:rPr lang="en-US" dirty="0"/>
              <a:t>Certificated Upload - not required</a:t>
            </a:r>
          </a:p>
        </p:txBody>
      </p:sp>
      <p:sp>
        <p:nvSpPr>
          <p:cNvPr id="4" name="Slide Number Placeholder 3"/>
          <p:cNvSpPr>
            <a:spLocks noGrp="1"/>
          </p:cNvSpPr>
          <p:nvPr>
            <p:ph type="sldNum" sz="quarter" idx="5"/>
          </p:nvPr>
        </p:nvSpPr>
        <p:spPr/>
        <p:txBody>
          <a:bodyPr/>
          <a:lstStyle/>
          <a:p>
            <a:fld id="{AFF60533-1213-4FCB-A4AA-C44494E2E2E7}" type="slidenum">
              <a:rPr lang="en-US" smtClean="0"/>
              <a:t>43</a:t>
            </a:fld>
            <a:endParaRPr lang="en-US"/>
          </a:p>
        </p:txBody>
      </p:sp>
    </p:spTree>
    <p:extLst>
      <p:ext uri="{BB962C8B-B14F-4D97-AF65-F5344CB8AC3E}">
        <p14:creationId xmlns:p14="http://schemas.microsoft.com/office/powerpoint/2010/main" val="39160701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comments as other page. Need to also be able to remove and replace prior cert PDF</a:t>
            </a:r>
            <a:br>
              <a:rPr lang="en-US" dirty="0"/>
            </a:br>
            <a:r>
              <a:rPr lang="en-US" dirty="0"/>
              <a:t>There should be a confirmation box that appears asking if they are sure they want to delete</a:t>
            </a:r>
          </a:p>
        </p:txBody>
      </p:sp>
      <p:sp>
        <p:nvSpPr>
          <p:cNvPr id="4" name="Slide Number Placeholder 3"/>
          <p:cNvSpPr>
            <a:spLocks noGrp="1"/>
          </p:cNvSpPr>
          <p:nvPr>
            <p:ph type="sldNum" sz="quarter" idx="5"/>
          </p:nvPr>
        </p:nvSpPr>
        <p:spPr/>
        <p:txBody>
          <a:bodyPr/>
          <a:lstStyle/>
          <a:p>
            <a:fld id="{AFF60533-1213-4FCB-A4AA-C44494E2E2E7}" type="slidenum">
              <a:rPr lang="en-US" smtClean="0"/>
              <a:t>44</a:t>
            </a:fld>
            <a:endParaRPr lang="en-US"/>
          </a:p>
        </p:txBody>
      </p:sp>
    </p:spTree>
    <p:extLst>
      <p:ext uri="{BB962C8B-B14F-4D97-AF65-F5344CB8AC3E}">
        <p14:creationId xmlns:p14="http://schemas.microsoft.com/office/powerpoint/2010/main" val="17185840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45</a:t>
            </a:fld>
            <a:endParaRPr lang="en-US"/>
          </a:p>
        </p:txBody>
      </p:sp>
    </p:spTree>
    <p:extLst>
      <p:ext uri="{BB962C8B-B14F-4D97-AF65-F5344CB8AC3E}">
        <p14:creationId xmlns:p14="http://schemas.microsoft.com/office/powerpoint/2010/main" val="23896268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C8CB9-8477-13AA-F860-BAE19FFF2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D3482-2B7D-4EEC-F28E-2E8E396AB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B3A72-406B-DA9A-6C01-CBF482F181AE}"/>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r>
              <a:rPr lang="en-US" dirty="0"/>
              <a:t>We may need a Products page added to be able to edit and remove records (similar to current DB)</a:t>
            </a:r>
          </a:p>
          <a:p>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FE3823BC-237D-44EE-8B07-9E1F3BC68A5B}"/>
              </a:ext>
            </a:extLst>
          </p:cNvPr>
          <p:cNvSpPr>
            <a:spLocks noGrp="1"/>
          </p:cNvSpPr>
          <p:nvPr>
            <p:ph type="sldNum" sz="quarter" idx="5"/>
          </p:nvPr>
        </p:nvSpPr>
        <p:spPr/>
        <p:txBody>
          <a:bodyPr/>
          <a:lstStyle/>
          <a:p>
            <a:fld id="{AFF60533-1213-4FCB-A4AA-C44494E2E2E7}" type="slidenum">
              <a:rPr lang="en-US" smtClean="0"/>
              <a:t>46</a:t>
            </a:fld>
            <a:endParaRPr lang="en-US"/>
          </a:p>
        </p:txBody>
      </p:sp>
    </p:spTree>
    <p:extLst>
      <p:ext uri="{BB962C8B-B14F-4D97-AF65-F5344CB8AC3E}">
        <p14:creationId xmlns:p14="http://schemas.microsoft.com/office/powerpoint/2010/main" val="5638098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r>
              <a:rPr lang="en-US" dirty="0"/>
              <a:t>We may need a Products page added to be able to edit and remove records (similar to current DB)</a:t>
            </a:r>
          </a:p>
          <a:p>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47</a:t>
            </a:fld>
            <a:endParaRPr lang="en-US"/>
          </a:p>
        </p:txBody>
      </p:sp>
    </p:spTree>
    <p:extLst>
      <p:ext uri="{BB962C8B-B14F-4D97-AF65-F5344CB8AC3E}">
        <p14:creationId xmlns:p14="http://schemas.microsoft.com/office/powerpoint/2010/main" val="33716615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37F2-594E-9752-8921-E994E08A7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762DC-6236-E209-772E-BFBDF3E3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4FB93-02EB-FE22-F665-9BEB74424F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33A5C3-8CC2-C6DA-6138-83B2181E876C}"/>
              </a:ext>
            </a:extLst>
          </p:cNvPr>
          <p:cNvSpPr>
            <a:spLocks noGrp="1"/>
          </p:cNvSpPr>
          <p:nvPr>
            <p:ph type="sldNum" sz="quarter" idx="5"/>
          </p:nvPr>
        </p:nvSpPr>
        <p:spPr/>
        <p:txBody>
          <a:bodyPr/>
          <a:lstStyle/>
          <a:p>
            <a:fld id="{AFF60533-1213-4FCB-A4AA-C44494E2E2E7}" type="slidenum">
              <a:rPr lang="en-US" smtClean="0"/>
              <a:t>48</a:t>
            </a:fld>
            <a:endParaRPr lang="en-US"/>
          </a:p>
        </p:txBody>
      </p:sp>
    </p:spTree>
    <p:extLst>
      <p:ext uri="{BB962C8B-B14F-4D97-AF65-F5344CB8AC3E}">
        <p14:creationId xmlns:p14="http://schemas.microsoft.com/office/powerpoint/2010/main" val="13224887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p:cNvSpPr>
            <a:spLocks noGrp="1"/>
          </p:cNvSpPr>
          <p:nvPr>
            <p:ph type="sldNum" sz="quarter" idx="5"/>
          </p:nvPr>
        </p:nvSpPr>
        <p:spPr/>
        <p:txBody>
          <a:bodyPr/>
          <a:lstStyle/>
          <a:p>
            <a:fld id="{AFF60533-1213-4FCB-A4AA-C44494E2E2E7}" type="slidenum">
              <a:rPr lang="en-US" smtClean="0"/>
              <a:t>49</a:t>
            </a:fld>
            <a:endParaRPr lang="en-US"/>
          </a:p>
        </p:txBody>
      </p:sp>
    </p:spTree>
    <p:extLst>
      <p:ext uri="{BB962C8B-B14F-4D97-AF65-F5344CB8AC3E}">
        <p14:creationId xmlns:p14="http://schemas.microsoft.com/office/powerpoint/2010/main" val="4222220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2A9F-A7F8-B262-71C2-79BCC85E0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A1909-A4E5-5B0B-2913-26567EC86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73C28-EF98-2F09-CBCD-1546E4A9EBD5}"/>
              </a:ext>
            </a:extLst>
          </p:cNvPr>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a:extLst>
              <a:ext uri="{FF2B5EF4-FFF2-40B4-BE49-F238E27FC236}">
                <a16:creationId xmlns:a16="http://schemas.microsoft.com/office/drawing/2014/main" id="{9A2D5B8A-602D-8E81-EDA6-FF1371F799AE}"/>
              </a:ext>
            </a:extLst>
          </p:cNvPr>
          <p:cNvSpPr>
            <a:spLocks noGrp="1"/>
          </p:cNvSpPr>
          <p:nvPr>
            <p:ph type="sldNum" sz="quarter" idx="5"/>
          </p:nvPr>
        </p:nvSpPr>
        <p:spPr/>
        <p:txBody>
          <a:bodyPr/>
          <a:lstStyle/>
          <a:p>
            <a:fld id="{AFF60533-1213-4FCB-A4AA-C44494E2E2E7}" type="slidenum">
              <a:rPr lang="en-US" smtClean="0"/>
              <a:t>50</a:t>
            </a:fld>
            <a:endParaRPr lang="en-US"/>
          </a:p>
        </p:txBody>
      </p:sp>
    </p:spTree>
    <p:extLst>
      <p:ext uri="{BB962C8B-B14F-4D97-AF65-F5344CB8AC3E}">
        <p14:creationId xmlns:p14="http://schemas.microsoft.com/office/powerpoint/2010/main" val="7861895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p:cNvSpPr>
            <a:spLocks noGrp="1"/>
          </p:cNvSpPr>
          <p:nvPr>
            <p:ph type="sldNum" sz="quarter" idx="5"/>
          </p:nvPr>
        </p:nvSpPr>
        <p:spPr/>
        <p:txBody>
          <a:bodyPr/>
          <a:lstStyle/>
          <a:p>
            <a:fld id="{AFF60533-1213-4FCB-A4AA-C44494E2E2E7}" type="slidenum">
              <a:rPr lang="en-US" smtClean="0"/>
              <a:t>51</a:t>
            </a:fld>
            <a:endParaRPr lang="en-US"/>
          </a:p>
        </p:txBody>
      </p:sp>
    </p:spTree>
    <p:extLst>
      <p:ext uri="{BB962C8B-B14F-4D97-AF65-F5344CB8AC3E}">
        <p14:creationId xmlns:p14="http://schemas.microsoft.com/office/powerpoint/2010/main" val="15671431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Company to form</a:t>
            </a:r>
          </a:p>
          <a:p>
            <a:r>
              <a:rPr lang="en-US" dirty="0"/>
              <a:t>Remove Cancel</a:t>
            </a:r>
          </a:p>
          <a:p>
            <a:r>
              <a:rPr lang="en-US" dirty="0"/>
              <a:t>Save not submit</a:t>
            </a:r>
          </a:p>
          <a:p>
            <a:endParaRPr lang="en-US" b="1" dirty="0"/>
          </a:p>
          <a:p>
            <a:r>
              <a:rPr lang="en-US" b="1" dirty="0"/>
              <a:t>This does not address how we would manage what a specific External user could see/their permissions (e.g., only their company certs, etc.), fields they can access, etc.</a:t>
            </a:r>
          </a:p>
          <a:p>
            <a:endParaRPr lang="en-US" b="1" dirty="0"/>
          </a:p>
          <a:p>
            <a:r>
              <a:rPr lang="en-US" b="1" dirty="0"/>
              <a:t>Assuming having none checked is disabling a user?</a:t>
            </a:r>
          </a:p>
          <a:p>
            <a:endParaRPr lang="en-US" b="1" dirty="0"/>
          </a:p>
        </p:txBody>
      </p:sp>
      <p:sp>
        <p:nvSpPr>
          <p:cNvPr id="4" name="Slide Number Placeholder 3"/>
          <p:cNvSpPr>
            <a:spLocks noGrp="1"/>
          </p:cNvSpPr>
          <p:nvPr>
            <p:ph type="sldNum" sz="quarter" idx="5"/>
          </p:nvPr>
        </p:nvSpPr>
        <p:spPr/>
        <p:txBody>
          <a:bodyPr/>
          <a:lstStyle/>
          <a:p>
            <a:fld id="{AFF60533-1213-4FCB-A4AA-C44494E2E2E7}" type="slidenum">
              <a:rPr lang="en-US" smtClean="0"/>
              <a:t>52</a:t>
            </a:fld>
            <a:endParaRPr lang="en-US"/>
          </a:p>
        </p:txBody>
      </p:sp>
    </p:spTree>
    <p:extLst>
      <p:ext uri="{BB962C8B-B14F-4D97-AF65-F5344CB8AC3E}">
        <p14:creationId xmlns:p14="http://schemas.microsoft.com/office/powerpoint/2010/main" val="37449088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AD3E7-2E63-90AE-0205-44A4CBAA0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A7545-C7AE-FE6A-D199-2522461DD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61361A-7432-B9EE-5487-5E0EA0448C64}"/>
              </a:ext>
            </a:extLst>
          </p:cNvPr>
          <p:cNvSpPr>
            <a:spLocks noGrp="1"/>
          </p:cNvSpPr>
          <p:nvPr>
            <p:ph type="body" idx="1"/>
          </p:nvPr>
        </p:nvSpPr>
        <p:spPr/>
        <p:txBody>
          <a:bodyPr/>
          <a:lstStyle/>
          <a:p>
            <a:r>
              <a:rPr lang="en-US" dirty="0"/>
              <a:t>Add Company to form</a:t>
            </a:r>
          </a:p>
          <a:p>
            <a:r>
              <a:rPr lang="en-US" dirty="0"/>
              <a:t>Remove Cancel</a:t>
            </a:r>
          </a:p>
          <a:p>
            <a:r>
              <a:rPr lang="en-US" dirty="0"/>
              <a:t>Save not submit</a:t>
            </a:r>
          </a:p>
          <a:p>
            <a:endParaRPr lang="en-US" b="1" dirty="0"/>
          </a:p>
          <a:p>
            <a:r>
              <a:rPr lang="en-US" b="1" dirty="0"/>
              <a:t>This does not address how we would manage what a specific External user could see/their permissions (e.g., only their company certs, etc.), fields they can access, etc.</a:t>
            </a:r>
          </a:p>
          <a:p>
            <a:endParaRPr lang="en-US" b="1" dirty="0"/>
          </a:p>
          <a:p>
            <a:r>
              <a:rPr lang="en-US" b="1" dirty="0"/>
              <a:t>Assuming having none checked is disabling a user?</a:t>
            </a:r>
          </a:p>
          <a:p>
            <a:endParaRPr lang="en-US" b="1" dirty="0"/>
          </a:p>
        </p:txBody>
      </p:sp>
      <p:sp>
        <p:nvSpPr>
          <p:cNvPr id="4" name="Slide Number Placeholder 3">
            <a:extLst>
              <a:ext uri="{FF2B5EF4-FFF2-40B4-BE49-F238E27FC236}">
                <a16:creationId xmlns:a16="http://schemas.microsoft.com/office/drawing/2014/main" id="{A6668A81-6551-C8D2-0D99-1F2622378508}"/>
              </a:ext>
            </a:extLst>
          </p:cNvPr>
          <p:cNvSpPr>
            <a:spLocks noGrp="1"/>
          </p:cNvSpPr>
          <p:nvPr>
            <p:ph type="sldNum" sz="quarter" idx="5"/>
          </p:nvPr>
        </p:nvSpPr>
        <p:spPr/>
        <p:txBody>
          <a:bodyPr/>
          <a:lstStyle/>
          <a:p>
            <a:fld id="{AFF60533-1213-4FCB-A4AA-C44494E2E2E7}" type="slidenum">
              <a:rPr lang="en-US" smtClean="0"/>
              <a:t>53</a:t>
            </a:fld>
            <a:endParaRPr lang="en-US"/>
          </a:p>
        </p:txBody>
      </p:sp>
    </p:spTree>
    <p:extLst>
      <p:ext uri="{BB962C8B-B14F-4D97-AF65-F5344CB8AC3E}">
        <p14:creationId xmlns:p14="http://schemas.microsoft.com/office/powerpoint/2010/main" val="23254383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ED9A-3279-9420-264D-B5F7AB32D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8955F-2470-A7BD-372A-1DB86E1FA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0E40A-F995-54EA-2C3B-D2A8672FF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F26AEF-0F7E-D626-D170-F808F9C2D779}"/>
              </a:ext>
            </a:extLst>
          </p:cNvPr>
          <p:cNvSpPr>
            <a:spLocks noGrp="1"/>
          </p:cNvSpPr>
          <p:nvPr>
            <p:ph type="sldNum" sz="quarter" idx="5"/>
          </p:nvPr>
        </p:nvSpPr>
        <p:spPr/>
        <p:txBody>
          <a:bodyPr/>
          <a:lstStyle/>
          <a:p>
            <a:fld id="{AFF60533-1213-4FCB-A4AA-C44494E2E2E7}" type="slidenum">
              <a:rPr lang="en-US" smtClean="0"/>
              <a:t>54</a:t>
            </a:fld>
            <a:endParaRPr lang="en-US"/>
          </a:p>
        </p:txBody>
      </p:sp>
    </p:spTree>
    <p:extLst>
      <p:ext uri="{BB962C8B-B14F-4D97-AF65-F5344CB8AC3E}">
        <p14:creationId xmlns:p14="http://schemas.microsoft.com/office/powerpoint/2010/main" val="26463112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9CB77-D7BE-4197-6CB2-30371560A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2EEED-3163-CC46-E4B6-8EE89B0A3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CE1D9C-E6FE-5E98-740D-D2F3768705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1886BA-92F9-1A09-DFAF-C04E9FCA04AA}"/>
              </a:ext>
            </a:extLst>
          </p:cNvPr>
          <p:cNvSpPr>
            <a:spLocks noGrp="1"/>
          </p:cNvSpPr>
          <p:nvPr>
            <p:ph type="sldNum" sz="quarter" idx="5"/>
          </p:nvPr>
        </p:nvSpPr>
        <p:spPr/>
        <p:txBody>
          <a:bodyPr/>
          <a:lstStyle/>
          <a:p>
            <a:fld id="{AFF60533-1213-4FCB-A4AA-C44494E2E2E7}" type="slidenum">
              <a:rPr lang="en-US" smtClean="0"/>
              <a:t>55</a:t>
            </a:fld>
            <a:endParaRPr lang="en-US"/>
          </a:p>
        </p:txBody>
      </p:sp>
    </p:spTree>
    <p:extLst>
      <p:ext uri="{BB962C8B-B14F-4D97-AF65-F5344CB8AC3E}">
        <p14:creationId xmlns:p14="http://schemas.microsoft.com/office/powerpoint/2010/main" val="18368681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0D5B5-7B53-BBA1-F642-92F8172DC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2CD3B-5F0B-373C-4C99-CDC7718D5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01B07-5488-B23A-3A35-D1122AD32C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1625B-EC3C-E325-0F53-E2A5CA2A7563}"/>
              </a:ext>
            </a:extLst>
          </p:cNvPr>
          <p:cNvSpPr>
            <a:spLocks noGrp="1"/>
          </p:cNvSpPr>
          <p:nvPr>
            <p:ph type="sldNum" sz="quarter" idx="5"/>
          </p:nvPr>
        </p:nvSpPr>
        <p:spPr/>
        <p:txBody>
          <a:bodyPr/>
          <a:lstStyle/>
          <a:p>
            <a:fld id="{AFF60533-1213-4FCB-A4AA-C44494E2E2E7}" type="slidenum">
              <a:rPr lang="en-US" smtClean="0"/>
              <a:t>56</a:t>
            </a:fld>
            <a:endParaRPr lang="en-US"/>
          </a:p>
        </p:txBody>
      </p:sp>
    </p:spTree>
    <p:extLst>
      <p:ext uri="{BB962C8B-B14F-4D97-AF65-F5344CB8AC3E}">
        <p14:creationId xmlns:p14="http://schemas.microsoft.com/office/powerpoint/2010/main" val="32208484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0DB0-0674-5D61-3BAE-78E1A328D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601C4-01AF-E3C6-C038-772367C0E5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73F35-FA00-B478-5FF4-4388DE0597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4227EE-6034-FDF0-1F34-FF67E8C511C1}"/>
              </a:ext>
            </a:extLst>
          </p:cNvPr>
          <p:cNvSpPr>
            <a:spLocks noGrp="1"/>
          </p:cNvSpPr>
          <p:nvPr>
            <p:ph type="sldNum" sz="quarter" idx="5"/>
          </p:nvPr>
        </p:nvSpPr>
        <p:spPr/>
        <p:txBody>
          <a:bodyPr/>
          <a:lstStyle/>
          <a:p>
            <a:fld id="{AFF60533-1213-4FCB-A4AA-C44494E2E2E7}" type="slidenum">
              <a:rPr lang="en-US" smtClean="0"/>
              <a:t>57</a:t>
            </a:fld>
            <a:endParaRPr lang="en-US"/>
          </a:p>
        </p:txBody>
      </p:sp>
    </p:spTree>
    <p:extLst>
      <p:ext uri="{BB962C8B-B14F-4D97-AF65-F5344CB8AC3E}">
        <p14:creationId xmlns:p14="http://schemas.microsoft.com/office/powerpoint/2010/main" val="16866382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(not submit)</a:t>
            </a:r>
          </a:p>
        </p:txBody>
      </p:sp>
      <p:sp>
        <p:nvSpPr>
          <p:cNvPr id="4" name="Slide Number Placeholder 3"/>
          <p:cNvSpPr>
            <a:spLocks noGrp="1"/>
          </p:cNvSpPr>
          <p:nvPr>
            <p:ph type="sldNum" sz="quarter" idx="5"/>
          </p:nvPr>
        </p:nvSpPr>
        <p:spPr/>
        <p:txBody>
          <a:bodyPr/>
          <a:lstStyle/>
          <a:p>
            <a:fld id="{AFF60533-1213-4FCB-A4AA-C44494E2E2E7}" type="slidenum">
              <a:rPr lang="en-US" smtClean="0"/>
              <a:t>58</a:t>
            </a:fld>
            <a:endParaRPr lang="en-US"/>
          </a:p>
        </p:txBody>
      </p:sp>
    </p:spTree>
    <p:extLst>
      <p:ext uri="{BB962C8B-B14F-4D97-AF65-F5344CB8AC3E}">
        <p14:creationId xmlns:p14="http://schemas.microsoft.com/office/powerpoint/2010/main" val="34487426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4B7B5-0BD8-9D35-ED57-71EBFEB73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E2B22-91ED-6493-6173-A640D3446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041E47-2298-ED2C-743D-F508D9D1411F}"/>
              </a:ext>
            </a:extLst>
          </p:cNvPr>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a:extLst>
              <a:ext uri="{FF2B5EF4-FFF2-40B4-BE49-F238E27FC236}">
                <a16:creationId xmlns:a16="http://schemas.microsoft.com/office/drawing/2014/main" id="{571F5C98-CA82-850D-2D43-0F608EFC2EA7}"/>
              </a:ext>
            </a:extLst>
          </p:cNvPr>
          <p:cNvSpPr>
            <a:spLocks noGrp="1"/>
          </p:cNvSpPr>
          <p:nvPr>
            <p:ph type="sldNum" sz="quarter" idx="5"/>
          </p:nvPr>
        </p:nvSpPr>
        <p:spPr/>
        <p:txBody>
          <a:bodyPr/>
          <a:lstStyle/>
          <a:p>
            <a:fld id="{AFF60533-1213-4FCB-A4AA-C44494E2E2E7}" type="slidenum">
              <a:rPr lang="en-US" smtClean="0"/>
              <a:t>60</a:t>
            </a:fld>
            <a:endParaRPr lang="en-US"/>
          </a:p>
        </p:txBody>
      </p:sp>
    </p:spTree>
    <p:extLst>
      <p:ext uri="{BB962C8B-B14F-4D97-AF65-F5344CB8AC3E}">
        <p14:creationId xmlns:p14="http://schemas.microsoft.com/office/powerpoint/2010/main" val="40289741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03A3-6B82-E9AC-5890-4BC894856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46B7A-C701-5B3C-585C-E8D2BC7D5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CD673-6CF9-50DD-CF46-66F733373B5C}"/>
              </a:ext>
            </a:extLst>
          </p:cNvPr>
          <p:cNvSpPr>
            <a:spLocks noGrp="1"/>
          </p:cNvSpPr>
          <p:nvPr>
            <p:ph type="body" idx="1"/>
          </p:nvPr>
        </p:nvSpPr>
        <p:spPr/>
        <p:txBody>
          <a:bodyPr/>
          <a:lstStyle/>
          <a:p>
            <a:r>
              <a:rPr lang="en-US" dirty="0"/>
              <a:t>Delete button should have a popup.</a:t>
            </a:r>
          </a:p>
          <a:p>
            <a:br>
              <a:rPr lang="en-US" dirty="0"/>
            </a:br>
            <a:r>
              <a:rPr lang="en-US" dirty="0"/>
              <a:t>Apply applicable comments from page 48</a:t>
            </a:r>
          </a:p>
          <a:p>
            <a:endParaRPr lang="en-US" dirty="0"/>
          </a:p>
          <a:p>
            <a:r>
              <a:rPr lang="en-US" dirty="0"/>
              <a:t>Can we color code internal vs external tags.</a:t>
            </a:r>
            <a:br>
              <a:rPr lang="en-US" dirty="0"/>
            </a:br>
            <a:br>
              <a:rPr lang="en-US" dirty="0"/>
            </a:br>
            <a:r>
              <a:rPr lang="en-US" dirty="0"/>
              <a:t>Ability to sort by alphabetical order</a:t>
            </a:r>
          </a:p>
        </p:txBody>
      </p:sp>
      <p:sp>
        <p:nvSpPr>
          <p:cNvPr id="4" name="Slide Number Placeholder 3">
            <a:extLst>
              <a:ext uri="{FF2B5EF4-FFF2-40B4-BE49-F238E27FC236}">
                <a16:creationId xmlns:a16="http://schemas.microsoft.com/office/drawing/2014/main" id="{D9C90071-265A-E2CA-FC5A-5D0C1F1AA46B}"/>
              </a:ext>
            </a:extLst>
          </p:cNvPr>
          <p:cNvSpPr>
            <a:spLocks noGrp="1"/>
          </p:cNvSpPr>
          <p:nvPr>
            <p:ph type="sldNum" sz="quarter" idx="5"/>
          </p:nvPr>
        </p:nvSpPr>
        <p:spPr/>
        <p:txBody>
          <a:bodyPr/>
          <a:lstStyle/>
          <a:p>
            <a:fld id="{AFF60533-1213-4FCB-A4AA-C44494E2E2E7}" type="slidenum">
              <a:rPr lang="en-US" smtClean="0"/>
              <a:t>61</a:t>
            </a:fld>
            <a:endParaRPr lang="en-US"/>
          </a:p>
        </p:txBody>
      </p:sp>
    </p:spTree>
    <p:extLst>
      <p:ext uri="{BB962C8B-B14F-4D97-AF65-F5344CB8AC3E}">
        <p14:creationId xmlns:p14="http://schemas.microsoft.com/office/powerpoint/2010/main" val="19563452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button should have a popup.</a:t>
            </a:r>
          </a:p>
          <a:p>
            <a:br>
              <a:rPr lang="en-US" dirty="0"/>
            </a:br>
            <a:r>
              <a:rPr lang="en-US" dirty="0"/>
              <a:t>Apply applicable comments from page 48</a:t>
            </a:r>
          </a:p>
          <a:p>
            <a:endParaRPr lang="en-US" dirty="0"/>
          </a:p>
          <a:p>
            <a:r>
              <a:rPr lang="en-US" dirty="0"/>
              <a:t>Can we color code internal vs external tags.</a:t>
            </a:r>
            <a:br>
              <a:rPr lang="en-US" dirty="0"/>
            </a:br>
            <a:br>
              <a:rPr lang="en-US" dirty="0"/>
            </a:br>
            <a:r>
              <a:rPr lang="en-US" dirty="0"/>
              <a:t>Ability to sort by alphabetical order</a:t>
            </a:r>
          </a:p>
        </p:txBody>
      </p:sp>
      <p:sp>
        <p:nvSpPr>
          <p:cNvPr id="4" name="Slide Number Placeholder 3"/>
          <p:cNvSpPr>
            <a:spLocks noGrp="1"/>
          </p:cNvSpPr>
          <p:nvPr>
            <p:ph type="sldNum" sz="quarter" idx="5"/>
          </p:nvPr>
        </p:nvSpPr>
        <p:spPr/>
        <p:txBody>
          <a:bodyPr/>
          <a:lstStyle/>
          <a:p>
            <a:fld id="{AFF60533-1213-4FCB-A4AA-C44494E2E2E7}" type="slidenum">
              <a:rPr lang="en-US" smtClean="0"/>
              <a:t>62</a:t>
            </a:fld>
            <a:endParaRPr lang="en-US"/>
          </a:p>
        </p:txBody>
      </p:sp>
    </p:spTree>
    <p:extLst>
      <p:ext uri="{BB962C8B-B14F-4D97-AF65-F5344CB8AC3E}">
        <p14:creationId xmlns:p14="http://schemas.microsoft.com/office/powerpoint/2010/main" val="35052892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9386D-5FA1-E739-752B-8AB7BC5A5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C9942-0B06-9FF9-F5DA-E0EFE2BF0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72CB-A260-0C4F-4D34-B8191637DB6C}"/>
              </a:ext>
            </a:extLst>
          </p:cNvPr>
          <p:cNvSpPr>
            <a:spLocks noGrp="1"/>
          </p:cNvSpPr>
          <p:nvPr>
            <p:ph type="body" idx="1"/>
          </p:nvPr>
        </p:nvSpPr>
        <p:spPr/>
        <p:txBody>
          <a:bodyPr/>
          <a:lstStyle/>
          <a:p>
            <a:r>
              <a:rPr lang="en-US" dirty="0"/>
              <a:t>Delete button should have a popup.</a:t>
            </a:r>
          </a:p>
          <a:p>
            <a:br>
              <a:rPr lang="en-US" dirty="0"/>
            </a:br>
            <a:r>
              <a:rPr lang="en-US" dirty="0"/>
              <a:t>Apply applicable comments from page 48</a:t>
            </a:r>
          </a:p>
          <a:p>
            <a:endParaRPr lang="en-US" dirty="0"/>
          </a:p>
          <a:p>
            <a:r>
              <a:rPr lang="en-US" dirty="0"/>
              <a:t>Can we color code internal vs external tags.</a:t>
            </a:r>
            <a:br>
              <a:rPr lang="en-US" dirty="0"/>
            </a:br>
            <a:br>
              <a:rPr lang="en-US" dirty="0"/>
            </a:br>
            <a:r>
              <a:rPr lang="en-US" dirty="0"/>
              <a:t>Ability to sort by alphabetical order</a:t>
            </a:r>
          </a:p>
        </p:txBody>
      </p:sp>
      <p:sp>
        <p:nvSpPr>
          <p:cNvPr id="4" name="Slide Number Placeholder 3">
            <a:extLst>
              <a:ext uri="{FF2B5EF4-FFF2-40B4-BE49-F238E27FC236}">
                <a16:creationId xmlns:a16="http://schemas.microsoft.com/office/drawing/2014/main" id="{E5DC8C9B-F3FB-9B61-A665-0A8FDDDD59B3}"/>
              </a:ext>
            </a:extLst>
          </p:cNvPr>
          <p:cNvSpPr>
            <a:spLocks noGrp="1"/>
          </p:cNvSpPr>
          <p:nvPr>
            <p:ph type="sldNum" sz="quarter" idx="5"/>
          </p:nvPr>
        </p:nvSpPr>
        <p:spPr/>
        <p:txBody>
          <a:bodyPr/>
          <a:lstStyle/>
          <a:p>
            <a:fld id="{AFF60533-1213-4FCB-A4AA-C44494E2E2E7}" type="slidenum">
              <a:rPr lang="en-US" smtClean="0"/>
              <a:t>63</a:t>
            </a:fld>
            <a:endParaRPr lang="en-US"/>
          </a:p>
        </p:txBody>
      </p:sp>
    </p:spTree>
    <p:extLst>
      <p:ext uri="{BB962C8B-B14F-4D97-AF65-F5344CB8AC3E}">
        <p14:creationId xmlns:p14="http://schemas.microsoft.com/office/powerpoint/2010/main" val="68014984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3EF9F-FDAC-98C4-70DB-F5B8197EA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2BE1B-0D8B-3EEF-C37C-8E8C9214A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3C360B-A43E-BF30-B5B0-648FD65EB7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1C093D-6129-7B9F-175E-3D5560C4666F}"/>
              </a:ext>
            </a:extLst>
          </p:cNvPr>
          <p:cNvSpPr>
            <a:spLocks noGrp="1"/>
          </p:cNvSpPr>
          <p:nvPr>
            <p:ph type="sldNum" sz="quarter" idx="5"/>
          </p:nvPr>
        </p:nvSpPr>
        <p:spPr/>
        <p:txBody>
          <a:bodyPr/>
          <a:lstStyle/>
          <a:p>
            <a:fld id="{AFF60533-1213-4FCB-A4AA-C44494E2E2E7}" type="slidenum">
              <a:rPr lang="en-US" smtClean="0"/>
              <a:t>64</a:t>
            </a:fld>
            <a:endParaRPr lang="en-US"/>
          </a:p>
        </p:txBody>
      </p:sp>
    </p:spTree>
    <p:extLst>
      <p:ext uri="{BB962C8B-B14F-4D97-AF65-F5344CB8AC3E}">
        <p14:creationId xmlns:p14="http://schemas.microsoft.com/office/powerpoint/2010/main" val="23286583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2448" indent="-362448">
              <a:buFont typeface="Symbol" panose="05050102010706020507" pitchFamily="18" charset="2"/>
              <a:buChar char=""/>
            </a:pPr>
            <a:r>
              <a:rPr lang="en-US" kern="100" dirty="0">
                <a:latin typeface="Aptos" panose="020B0004020202020204" pitchFamily="34" charset="0"/>
                <a:ea typeface="Aptos" panose="020B0004020202020204" pitchFamily="34" charset="0"/>
                <a:cs typeface="Times New Roman" panose="02020603050405020304" pitchFamily="18" charset="0"/>
              </a:rPr>
              <a:t>S6:</a:t>
            </a:r>
          </a:p>
          <a:p>
            <a:pPr marL="785305" lvl="1" indent="-302040">
              <a:buFont typeface="Courier New" panose="02070309020205020404" pitchFamily="49" charset="0"/>
              <a:buChar char="o"/>
            </a:pPr>
            <a:r>
              <a:rPr lang="en-US" kern="100" dirty="0">
                <a:latin typeface="Aptos" panose="020B0004020202020204" pitchFamily="34" charset="0"/>
                <a:ea typeface="Aptos" panose="020B0004020202020204" pitchFamily="34" charset="0"/>
                <a:cs typeface="Times New Roman" panose="02020603050405020304" pitchFamily="18" charset="0"/>
              </a:rPr>
              <a:t>Wishlist items: What is the list of items included but not part of Phase 1? Not sure I would be clear on what is excluded and need to make sure it is nothing critical. </a:t>
            </a:r>
          </a:p>
          <a:p>
            <a:pPr marL="1208161" lvl="2" indent="-241632">
              <a:buFont typeface="Wingdings" panose="05000000000000000000" pitchFamily="2" charset="2"/>
              <a:buChar char=""/>
            </a:pPr>
            <a:r>
              <a:rPr lang="en-US" b="1" kern="100" dirty="0">
                <a:latin typeface="Aptos" panose="020B0004020202020204" pitchFamily="34" charset="0"/>
                <a:ea typeface="Aptos" panose="020B0004020202020204" pitchFamily="34" charset="0"/>
                <a:cs typeface="Times New Roman" panose="02020603050405020304" pitchFamily="18" charset="0"/>
              </a:rPr>
              <a:t>TODO: provide list of what is in Phase 1 and what is not included in Phase 1. </a:t>
            </a:r>
            <a:endParaRPr lang="en-US" kern="100" dirty="0">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65</a:t>
            </a:fld>
            <a:endParaRPr lang="en-US"/>
          </a:p>
        </p:txBody>
      </p:sp>
    </p:spTree>
    <p:extLst>
      <p:ext uri="{BB962C8B-B14F-4D97-AF65-F5344CB8AC3E}">
        <p14:creationId xmlns:p14="http://schemas.microsoft.com/office/powerpoint/2010/main" val="1184885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defRPr>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98503" y="868054"/>
            <a:ext cx="10755297" cy="5139345"/>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14EC8B48-3E80-40FE-82B7-08F610C8B0AF}" type="datetime1">
              <a:rPr lang="en-US" smtClean="0"/>
              <a:t>6/21/2025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06810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98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32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0056A89-B657-4E56-81EA-47AEC42B3D30}" type="datetime1">
              <a:rPr lang="en-US" smtClean="0"/>
              <a:t>6/21/2025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8" name="Title 1">
            <a:extLst>
              <a:ext uri="{FF2B5EF4-FFF2-40B4-BE49-F238E27FC236}">
                <a16:creationId xmlns:a16="http://schemas.microsoft.com/office/drawing/2014/main" id="{8A7280F5-7666-28EA-35DD-86411B8924B7}"/>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120309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solidFill>
                  <a:schemeClr val="tx1"/>
                </a:solidFill>
                <a:latin typeface="Century Gothic" panose="020B0502020202020204" pitchFamily="34"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CFD0E2-6DB6-48B0-A00E-AF2C677C1319}" type="datetime1">
              <a:rPr lang="en-US" smtClean="0"/>
              <a:t>6/21/2025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atin typeface="Century Gothic" panose="020B0502020202020204"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latin typeface="Century Gothic" panose="020B0502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3C5E615-12C4-4709-B50C-4AFC9D577141}" type="datetime1">
              <a:rPr lang="en-US" smtClean="0"/>
              <a:t>6/21/2025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98504" y="898733"/>
            <a:ext cx="5399072"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8504" y="1800520"/>
            <a:ext cx="5399072"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29727" y="898733"/>
            <a:ext cx="5425661"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29727" y="1800520"/>
            <a:ext cx="5425661"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F516FE9-DAFF-4019-B1DF-FCD5398715BB}" type="datetime1">
              <a:rPr lang="en-US" smtClean="0"/>
              <a:t>6/21/2025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10" name="Title 1">
            <a:extLst>
              <a:ext uri="{FF2B5EF4-FFF2-40B4-BE49-F238E27FC236}">
                <a16:creationId xmlns:a16="http://schemas.microsoft.com/office/drawing/2014/main" id="{6957E462-421E-68A0-EA15-ACBC76D2262F}"/>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FDEACDC-4FA8-4934-9E2F-B8BAA099B586}" type="datetime1">
              <a:rPr lang="en-US" smtClean="0"/>
              <a:t>6/21/2025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atin typeface="Century Gothic" panose="020B0502020202020204" pitchFamily="34" charset="0"/>
              </a:defRPr>
            </a:lvl1pPr>
            <a:lvl2pPr>
              <a:defRPr sz="2800">
                <a:latin typeface="Century Gothic" panose="020B0502020202020204" pitchFamily="34" charset="0"/>
              </a:defRPr>
            </a:lvl2pPr>
            <a:lvl3pPr>
              <a:defRPr sz="2400">
                <a:latin typeface="Century Gothic" panose="020B0502020202020204" pitchFamily="34" charset="0"/>
              </a:defRPr>
            </a:lvl3pPr>
            <a:lvl4pPr>
              <a:defRPr sz="2000">
                <a:latin typeface="Century Gothic" panose="020B0502020202020204" pitchFamily="34" charset="0"/>
              </a:defRPr>
            </a:lvl4pPr>
            <a:lvl5pPr>
              <a:defRPr sz="2000">
                <a:latin typeface="Century Gothic" panose="020B0502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atin typeface="Century Gothic" panose="020B0502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18E9538-4AA9-4306-AAAC-5D9AE10FAA03}" type="datetime1">
              <a:rPr lang="en-US" smtClean="0"/>
              <a:t>6/21/2025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822262E-171E-47EC-8BDD-63B9658BD71F}" type="datetime1">
              <a:rPr lang="en-US" smtClean="0"/>
              <a:t>6/21/2025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6172" y="932485"/>
            <a:ext cx="10717627" cy="51106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1DDE8F-1896-42B2-B75E-118659C1A926}" type="datetime1">
              <a:rPr lang="en-US" smtClean="0"/>
              <a:t>6/21/2025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181178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pic>
        <p:nvPicPr>
          <p:cNvPr id="13" name="Picture 12" descr="A blue and white logo&#10;&#10;AI-generated content may be incorrect.">
            <a:extLst>
              <a:ext uri="{FF2B5EF4-FFF2-40B4-BE49-F238E27FC236}">
                <a16:creationId xmlns:a16="http://schemas.microsoft.com/office/drawing/2014/main" id="{16857A67-82BF-0CC1-2736-42AF2618A6C5}"/>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493093" y="6270021"/>
            <a:ext cx="1564607" cy="433698"/>
          </a:xfrm>
          <a:prstGeom prst="rect">
            <a:avLst/>
          </a:prstGeom>
        </p:spPr>
      </p:pic>
      <p:sp>
        <p:nvSpPr>
          <p:cNvPr id="15" name="Title 1">
            <a:extLst>
              <a:ext uri="{FF2B5EF4-FFF2-40B4-BE49-F238E27FC236}">
                <a16:creationId xmlns:a16="http://schemas.microsoft.com/office/drawing/2014/main" id="{2E79D129-442B-01DD-C2C5-E6EF3B967137}"/>
              </a:ext>
            </a:extLst>
          </p:cNvPr>
          <p:cNvSpPr txBox="1">
            <a:spLocks/>
          </p:cNvSpPr>
          <p:nvPr userDrawn="1"/>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endParaRPr lang="en-US"/>
          </a:p>
        </p:txBody>
      </p:sp>
      <p:sp>
        <p:nvSpPr>
          <p:cNvPr id="17" name="Title 1">
            <a:extLst>
              <a:ext uri="{FF2B5EF4-FFF2-40B4-BE49-F238E27FC236}">
                <a16:creationId xmlns:a16="http://schemas.microsoft.com/office/drawing/2014/main" id="{7DD846F1-3040-CF69-75AE-EA6E3AE7A307}"/>
              </a:ext>
            </a:extLst>
          </p:cNvPr>
          <p:cNvSpPr txBox="1">
            <a:spLocks/>
          </p:cNvSpPr>
          <p:nvPr userDrawn="1"/>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a:t> </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64" r:id="rId3"/>
    <p:sldLayoutId id="2147483661" r:id="rId4"/>
    <p:sldLayoutId id="2147483663" r:id="rId5"/>
    <p:sldLayoutId id="2147483665" r:id="rId6"/>
    <p:sldLayoutId id="2147483667" r:id="rId7"/>
    <p:sldLayoutId id="2147483668" r:id="rId8"/>
    <p:sldLayoutId id="2147483669" r:id="rId9"/>
  </p:sldLayoutIdLst>
  <p:hf hdr="0" ftr="0"/>
  <p:txStyles>
    <p:title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C2_FC4002C9.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62_585D6095.xm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64_DF4B0CCB.xm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73_CE11F937.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C3_8AF442F4.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170_4C2E973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microsoft.com/office/2018/10/relationships/comments" Target="../comments/modernComment_16A_6BF7F40D.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16F_38404EE6.xml"/><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79_D96863A8.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1F3_D94645EB.xm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microsoft.com/office/2018/10/relationships/comments" Target="../comments/modernComment_1F2_23F17660.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microsoft.com/office/2018/10/relationships/comments" Target="../comments/modernComment_1D2_C28FF9C0.xm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microsoft.com/office/2018/10/relationships/comments" Target="../comments/modernComment_192_92FE78C8.xm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microsoft.com/office/2018/10/relationships/comments" Target="../comments/modernComment_1DE_B08F2197.xml"/><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microsoft.com/office/2018/10/relationships/comments" Target="../comments/modernComment_193_FBE5591B.xml"/><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microsoft.com/office/2018/10/relationships/comments" Target="../comments/modernComment_18B_7907B08A.xml"/><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3" Type="http://schemas.microsoft.com/office/2018/10/relationships/comments" Target="../comments/modernComment_196_E8C294A1.xml"/><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microsoft.com/office/2018/10/relationships/comments" Target="../comments/modernComment_184_EF665A2F.xml"/><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microsoft.com/office/2018/10/relationships/comments" Target="../comments/modernComment_1E6_B49544B.xml"/><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3" Type="http://schemas.microsoft.com/office/2018/10/relationships/comments" Target="../comments/modernComment_17D_D953812.xml"/><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microsoft.com/office/2018/10/relationships/comments" Target="../comments/modernComment_1E7_59D25364.xml"/><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microsoft.com/office/2018/10/relationships/comments" Target="../comments/modernComment_1A1_171560A0.xml"/><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63.xml.rels><?xml version="1.0" encoding="UTF-8" standalone="yes"?>
<Relationships xmlns="http://schemas.openxmlformats.org/package/2006/relationships"><Relationship Id="rId3" Type="http://schemas.microsoft.com/office/2018/10/relationships/comments" Target="../comments/modernComment_1E5_EAB02A56.xml"/><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64.xml.rels><?xml version="1.0" encoding="UTF-8" standalone="yes"?>
<Relationships xmlns="http://schemas.openxmlformats.org/package/2006/relationships"><Relationship Id="rId3" Type="http://schemas.microsoft.com/office/2018/10/relationships/comments" Target="../comments/modernComment_1F0_E0DD5B63.xml"/><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microsoft.com/office/2018/10/relationships/comments" Target="../comments/modernComment_178_DD11F8D3.xml"/><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lant growing out of a ball&#10;&#10;AI-generated content may be incorrect.">
            <a:extLst>
              <a:ext uri="{FF2B5EF4-FFF2-40B4-BE49-F238E27FC236}">
                <a16:creationId xmlns:a16="http://schemas.microsoft.com/office/drawing/2014/main" id="{858E65D0-34B3-3980-38F1-A8A4758397B4}"/>
              </a:ext>
            </a:extLst>
          </p:cNvPr>
          <p:cNvPicPr>
            <a:picLocks noChangeAspect="1"/>
          </p:cNvPicPr>
          <p:nvPr/>
        </p:nvPicPr>
        <p:blipFill>
          <a:blip r:embed="rId2">
            <a:extLst>
              <a:ext uri="{28A0092B-C50C-407E-A947-70E740481C1C}">
                <a14:useLocalDpi xmlns:a14="http://schemas.microsoft.com/office/drawing/2010/main" val="0"/>
              </a:ext>
            </a:extLst>
          </a:blip>
          <a:srcRect t="5591" b="17949"/>
          <a:stretch/>
        </p:blipFill>
        <p:spPr>
          <a:xfrm>
            <a:off x="0" y="1925054"/>
            <a:ext cx="12192000" cy="4292866"/>
          </a:xfrm>
          <a:prstGeom prst="rect">
            <a:avLst/>
          </a:prstGeom>
        </p:spPr>
      </p:pic>
      <p:sp>
        <p:nvSpPr>
          <p:cNvPr id="2" name="Title 1">
            <a:extLst>
              <a:ext uri="{FF2B5EF4-FFF2-40B4-BE49-F238E27FC236}">
                <a16:creationId xmlns:a16="http://schemas.microsoft.com/office/drawing/2014/main" id="{DB2D8BCD-86CA-7D6C-C1E4-D5F9AA3D53C1}"/>
              </a:ext>
            </a:extLst>
          </p:cNvPr>
          <p:cNvSpPr>
            <a:spLocks noGrp="1"/>
          </p:cNvSpPr>
          <p:nvPr>
            <p:ph type="title"/>
          </p:nvPr>
        </p:nvSpPr>
        <p:spPr>
          <a:xfrm>
            <a:off x="0" y="0"/>
            <a:ext cx="8391326" cy="1738154"/>
          </a:xfrm>
        </p:spPr>
        <p:txBody>
          <a:bodyPr>
            <a:normAutofit/>
          </a:bodyPr>
          <a:lstStyle/>
          <a:p>
            <a:pPr algn="ctr"/>
            <a:r>
              <a:rPr lang="en-US">
                <a:latin typeface="Century Gothic" panose="020B0502020202020204" pitchFamily="34" charset="0"/>
              </a:rPr>
              <a:t>GreenCircle Certified </a:t>
            </a:r>
            <a:br>
              <a:rPr lang="en-US">
                <a:latin typeface="Century Gothic" panose="020B0502020202020204" pitchFamily="34" charset="0"/>
              </a:rPr>
            </a:br>
            <a:r>
              <a:rPr lang="en-US" sz="4800">
                <a:latin typeface="Century Gothic" panose="020B0502020202020204" pitchFamily="34" charset="0"/>
              </a:rPr>
              <a:t>Database Project</a:t>
            </a:r>
            <a:endParaRPr lang="en-US">
              <a:latin typeface="Century Gothic" panose="020B0502020202020204" pitchFamily="34" charset="0"/>
            </a:endParaRPr>
          </a:p>
        </p:txBody>
      </p:sp>
      <p:pic>
        <p:nvPicPr>
          <p:cNvPr id="1030" name="Picture 6" descr="Green Circle Certified">
            <a:extLst>
              <a:ext uri="{FF2B5EF4-FFF2-40B4-BE49-F238E27FC236}">
                <a16:creationId xmlns:a16="http://schemas.microsoft.com/office/drawing/2014/main" id="{ACDED094-9C2C-2C27-915F-2E49AB794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6603" y="275098"/>
            <a:ext cx="1143000" cy="1114425"/>
          </a:xfrm>
          <a:prstGeom prst="rect">
            <a:avLst/>
          </a:prstGeom>
          <a:noFill/>
          <a:extLst>
            <a:ext uri="{909E8E84-426E-40DD-AFC4-6F175D3DCCD1}">
              <a14:hiddenFill xmlns:a14="http://schemas.microsoft.com/office/drawing/2010/main">
                <a:solidFill>
                  <a:srgbClr val="FFFFFF"/>
                </a:solidFill>
              </a14:hiddenFill>
            </a:ext>
          </a:extLst>
        </p:spPr>
      </p:pic>
      <p:sp>
        <p:nvSpPr>
          <p:cNvPr id="14" name="Date Placeholder 13">
            <a:extLst>
              <a:ext uri="{FF2B5EF4-FFF2-40B4-BE49-F238E27FC236}">
                <a16:creationId xmlns:a16="http://schemas.microsoft.com/office/drawing/2014/main" id="{AC500507-CB45-8600-884F-3826F0951947}"/>
              </a:ext>
            </a:extLst>
          </p:cNvPr>
          <p:cNvSpPr>
            <a:spLocks noGrp="1"/>
          </p:cNvSpPr>
          <p:nvPr>
            <p:ph type="dt" sz="half" idx="10"/>
          </p:nvPr>
        </p:nvSpPr>
        <p:spPr/>
        <p:txBody>
          <a:bodyPr/>
          <a:lstStyle/>
          <a:p>
            <a:fld id="{0ECCE86E-37E5-4543-A6EB-A0C93BD06DFB}" type="datetime1">
              <a:rPr lang="en-US" smtClean="0"/>
              <a:t>6/21/2025</a:t>
            </a:fld>
            <a:endParaRPr lang="en-US"/>
          </a:p>
        </p:txBody>
      </p:sp>
      <p:sp>
        <p:nvSpPr>
          <p:cNvPr id="15" name="Slide Number Placeholder 14">
            <a:extLst>
              <a:ext uri="{FF2B5EF4-FFF2-40B4-BE49-F238E27FC236}">
                <a16:creationId xmlns:a16="http://schemas.microsoft.com/office/drawing/2014/main" id="{8A481C8B-53E8-D429-7340-0A13268C55E9}"/>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16" name="Rectangle 15">
            <a:extLst>
              <a:ext uri="{FF2B5EF4-FFF2-40B4-BE49-F238E27FC236}">
                <a16:creationId xmlns:a16="http://schemas.microsoft.com/office/drawing/2014/main" id="{ABB2265E-E3BD-C8E7-5B8E-FAF4E3557BF7}"/>
              </a:ext>
            </a:extLst>
          </p:cNvPr>
          <p:cNvSpPr/>
          <p:nvPr/>
        </p:nvSpPr>
        <p:spPr>
          <a:xfrm>
            <a:off x="174206" y="2136338"/>
            <a:ext cx="5649078" cy="1754326"/>
          </a:xfrm>
          <a:prstGeom prst="rect">
            <a:avLst/>
          </a:prstGeom>
          <a:noFill/>
        </p:spPr>
        <p:txBody>
          <a:bodyPr wrap="square" lIns="91440" tIns="45720" rIns="91440" bIns="45720">
            <a:spAutoFit/>
          </a:bodyPr>
          <a:lstStyle/>
          <a:p>
            <a:pPr algn="ctr"/>
            <a:r>
              <a:rPr lang="en-US" sz="5400" b="0" cap="none" spc="0" dirty="0">
                <a:ln w="0"/>
                <a:solidFill>
                  <a:srgbClr val="FCFDEB"/>
                </a:solidFill>
                <a:effectLst>
                  <a:outerShdw blurRad="38100" dist="19050" dir="2700000" algn="tl" rotWithShape="0">
                    <a:schemeClr val="dk1">
                      <a:alpha val="40000"/>
                    </a:schemeClr>
                  </a:outerShdw>
                </a:effectLst>
                <a:latin typeface="Century Gothic" panose="020B0502020202020204" pitchFamily="34" charset="0"/>
              </a:rPr>
              <a:t>Wireframes</a:t>
            </a:r>
            <a:r>
              <a:rPr lang="en-US" sz="5400" b="0" cap="none" spc="0" dirty="0">
                <a:ln w="0"/>
                <a:solidFill>
                  <a:schemeClr val="tx1"/>
                </a:solidFill>
                <a:effectLst>
                  <a:outerShdw blurRad="38100" dist="19050" dir="2700000" algn="tl" rotWithShape="0">
                    <a:schemeClr val="dk1">
                      <a:alpha val="40000"/>
                    </a:schemeClr>
                  </a:outerShdw>
                </a:effectLst>
                <a:latin typeface="Century Gothic" panose="020B0502020202020204" pitchFamily="34" charset="0"/>
              </a:rPr>
              <a:t> and User Stories</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52079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1F773-9401-75BC-E1BA-22D57DB2E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FF3E6-054C-2EFD-46A6-4A2570E7BFE7}"/>
              </a:ext>
            </a:extLst>
          </p:cNvPr>
          <p:cNvSpPr>
            <a:spLocks noGrp="1"/>
          </p:cNvSpPr>
          <p:nvPr>
            <p:ph type="title"/>
          </p:nvPr>
        </p:nvSpPr>
        <p:spPr>
          <a:xfrm>
            <a:off x="598503" y="193906"/>
            <a:ext cx="10515600" cy="487131"/>
          </a:xfrm>
        </p:spPr>
        <p:txBody>
          <a:bodyPr>
            <a:normAutofit/>
          </a:bodyPr>
          <a:lstStyle/>
          <a:p>
            <a:r>
              <a:rPr lang="en-US" sz="2800" dirty="0"/>
              <a:t>Project Timeline Updates</a:t>
            </a:r>
          </a:p>
        </p:txBody>
      </p:sp>
      <p:sp>
        <p:nvSpPr>
          <p:cNvPr id="7" name="Date Placeholder 6">
            <a:extLst>
              <a:ext uri="{FF2B5EF4-FFF2-40B4-BE49-F238E27FC236}">
                <a16:creationId xmlns:a16="http://schemas.microsoft.com/office/drawing/2014/main" id="{50B0A9C6-52B6-C60F-5706-49FB7671D8ED}"/>
              </a:ext>
            </a:extLst>
          </p:cNvPr>
          <p:cNvSpPr>
            <a:spLocks noGrp="1"/>
          </p:cNvSpPr>
          <p:nvPr>
            <p:ph type="dt" sz="half" idx="10"/>
          </p:nvPr>
        </p:nvSpPr>
        <p:spPr>
          <a:xfrm>
            <a:off x="838200" y="6356350"/>
            <a:ext cx="2743200" cy="365125"/>
          </a:xfrm>
        </p:spPr>
        <p:txBody>
          <a:bodyPr anchor="ctr">
            <a:normAutofit/>
          </a:bodyPr>
          <a:lstStyle/>
          <a:p>
            <a:pPr>
              <a:spcAft>
                <a:spcPts val="600"/>
              </a:spcAft>
            </a:pPr>
            <a:fld id="{1F040F15-3124-4DA1-BD1D-A4F020C7C5A7}" type="datetime1">
              <a:rPr lang="en-US" smtClean="0"/>
              <a:pPr>
                <a:spcAft>
                  <a:spcPts val="600"/>
                </a:spcAft>
              </a:pPr>
              <a:t>6/21/2025</a:t>
            </a:fld>
            <a:endParaRPr lang="en-US"/>
          </a:p>
        </p:txBody>
      </p:sp>
      <p:sp>
        <p:nvSpPr>
          <p:cNvPr id="8" name="Slide Number Placeholder 7">
            <a:extLst>
              <a:ext uri="{FF2B5EF4-FFF2-40B4-BE49-F238E27FC236}">
                <a16:creationId xmlns:a16="http://schemas.microsoft.com/office/drawing/2014/main" id="{1710F4CB-4F23-632C-1215-37A497CBF68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a:t>
            </a:fld>
            <a:endParaRPr lang="en-US"/>
          </a:p>
        </p:txBody>
      </p:sp>
      <p:graphicFrame>
        <p:nvGraphicFramePr>
          <p:cNvPr id="3" name="Table 2">
            <a:extLst>
              <a:ext uri="{FF2B5EF4-FFF2-40B4-BE49-F238E27FC236}">
                <a16:creationId xmlns:a16="http://schemas.microsoft.com/office/drawing/2014/main" id="{F443D4CC-EE03-21C4-49AB-7EC5E8C7D324}"/>
              </a:ext>
            </a:extLst>
          </p:cNvPr>
          <p:cNvGraphicFramePr>
            <a:graphicFrameLocks noGrp="1"/>
          </p:cNvGraphicFramePr>
          <p:nvPr>
            <p:extLst>
              <p:ext uri="{D42A27DB-BD31-4B8C-83A1-F6EECF244321}">
                <p14:modId xmlns:p14="http://schemas.microsoft.com/office/powerpoint/2010/main" val="4207642647"/>
              </p:ext>
            </p:extLst>
          </p:nvPr>
        </p:nvGraphicFramePr>
        <p:xfrm>
          <a:off x="474604" y="637308"/>
          <a:ext cx="11242488" cy="391232"/>
        </p:xfrm>
        <a:graphic>
          <a:graphicData uri="http://schemas.openxmlformats.org/drawingml/2006/table">
            <a:tbl>
              <a:tblPr firstRow="1" bandRow="1">
                <a:effectLst>
                  <a:outerShdw blurRad="114300" dist="38100" dir="2700000" algn="tl" rotWithShape="0">
                    <a:prstClr val="black">
                      <a:alpha val="20000"/>
                    </a:prstClr>
                  </a:outerShdw>
                </a:effectLst>
                <a:tableStyleId>{5C22544A-7EE6-4342-B048-85BDC9FD1C3A}</a:tableStyleId>
              </a:tblPr>
              <a:tblGrid>
                <a:gridCol w="1598758">
                  <a:extLst>
                    <a:ext uri="{9D8B030D-6E8A-4147-A177-3AD203B41FA5}">
                      <a16:colId xmlns:a16="http://schemas.microsoft.com/office/drawing/2014/main" val="20000"/>
                    </a:ext>
                  </a:extLst>
                </a:gridCol>
                <a:gridCol w="9643730">
                  <a:extLst>
                    <a:ext uri="{9D8B030D-6E8A-4147-A177-3AD203B41FA5}">
                      <a16:colId xmlns:a16="http://schemas.microsoft.com/office/drawing/2014/main" val="20001"/>
                    </a:ext>
                  </a:extLst>
                </a:gridCol>
              </a:tblGrid>
              <a:tr h="390869">
                <a:tc>
                  <a:txBody>
                    <a:bodyPr/>
                    <a:lstStyle/>
                    <a:p>
                      <a:pPr algn="ctr"/>
                      <a:r>
                        <a:rPr lang="en-US" sz="1900" b="0" dirty="0">
                          <a:effectLst>
                            <a:outerShdw blurRad="38100" dist="38100" dir="2700000" algn="tl">
                              <a:srgbClr val="000000">
                                <a:alpha val="43137"/>
                              </a:srgbClr>
                            </a:outerShdw>
                          </a:effectLst>
                          <a:latin typeface="Century Gothic" panose="020B0502020202020204" pitchFamily="34" charset="0"/>
                        </a:rPr>
                        <a:t>Tasks</a:t>
                      </a:r>
                    </a:p>
                  </a:txBody>
                  <a:tcPr marL="101672" marR="101672" marT="50836" marB="50836">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50000"/>
                      </a:schemeClr>
                    </a:solidFill>
                  </a:tcPr>
                </a:tc>
                <a:tc>
                  <a:txBody>
                    <a:bodyPr/>
                    <a:lstStyle/>
                    <a:p>
                      <a:pPr algn="ctr"/>
                      <a:r>
                        <a:rPr lang="en-US" sz="1900" b="0" dirty="0">
                          <a:effectLst>
                            <a:outerShdw blurRad="38100" dist="38100" dir="2700000" algn="tl">
                              <a:srgbClr val="000000">
                                <a:alpha val="43137"/>
                              </a:srgbClr>
                            </a:outerShdw>
                          </a:effectLst>
                          <a:latin typeface="Century Gothic" panose="020B0502020202020204" pitchFamily="34" charset="0"/>
                        </a:rPr>
                        <a:t>Timeline</a:t>
                      </a: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bl>
          </a:graphicData>
        </a:graphic>
      </p:graphicFrame>
      <p:graphicFrame>
        <p:nvGraphicFramePr>
          <p:cNvPr id="4" name="Table 3">
            <a:extLst>
              <a:ext uri="{FF2B5EF4-FFF2-40B4-BE49-F238E27FC236}">
                <a16:creationId xmlns:a16="http://schemas.microsoft.com/office/drawing/2014/main" id="{A32B67E2-D7E7-2CB2-E613-E3DAECD7603D}"/>
              </a:ext>
            </a:extLst>
          </p:cNvPr>
          <p:cNvGraphicFramePr>
            <a:graphicFrameLocks noGrp="1"/>
          </p:cNvGraphicFramePr>
          <p:nvPr>
            <p:extLst>
              <p:ext uri="{D42A27DB-BD31-4B8C-83A1-F6EECF244321}">
                <p14:modId xmlns:p14="http://schemas.microsoft.com/office/powerpoint/2010/main" val="4293369031"/>
              </p:ext>
            </p:extLst>
          </p:nvPr>
        </p:nvGraphicFramePr>
        <p:xfrm>
          <a:off x="474604" y="1021313"/>
          <a:ext cx="11221228" cy="4568945"/>
        </p:xfrm>
        <a:graphic>
          <a:graphicData uri="http://schemas.openxmlformats.org/drawingml/2006/table">
            <a:tbl>
              <a:tblPr firstRow="1" bandRow="1">
                <a:effectLst>
                  <a:outerShdw blurRad="114300" dist="38100" dir="2700000" algn="tl" rotWithShape="0">
                    <a:prstClr val="black">
                      <a:alpha val="20000"/>
                    </a:prstClr>
                  </a:outerShdw>
                </a:effectLst>
                <a:tableStyleId>{5C22544A-7EE6-4342-B048-85BDC9FD1C3A}</a:tableStyleId>
              </a:tblPr>
              <a:tblGrid>
                <a:gridCol w="1594702">
                  <a:extLst>
                    <a:ext uri="{9D8B030D-6E8A-4147-A177-3AD203B41FA5}">
                      <a16:colId xmlns:a16="http://schemas.microsoft.com/office/drawing/2014/main" val="20000"/>
                    </a:ext>
                  </a:extLst>
                </a:gridCol>
                <a:gridCol w="424877">
                  <a:extLst>
                    <a:ext uri="{9D8B030D-6E8A-4147-A177-3AD203B41FA5}">
                      <a16:colId xmlns:a16="http://schemas.microsoft.com/office/drawing/2014/main" val="20001"/>
                    </a:ext>
                  </a:extLst>
                </a:gridCol>
                <a:gridCol w="424877">
                  <a:extLst>
                    <a:ext uri="{9D8B030D-6E8A-4147-A177-3AD203B41FA5}">
                      <a16:colId xmlns:a16="http://schemas.microsoft.com/office/drawing/2014/main" val="20002"/>
                    </a:ext>
                  </a:extLst>
                </a:gridCol>
                <a:gridCol w="398944">
                  <a:extLst>
                    <a:ext uri="{9D8B030D-6E8A-4147-A177-3AD203B41FA5}">
                      <a16:colId xmlns:a16="http://schemas.microsoft.com/office/drawing/2014/main" val="20003"/>
                    </a:ext>
                  </a:extLst>
                </a:gridCol>
                <a:gridCol w="398944">
                  <a:extLst>
                    <a:ext uri="{9D8B030D-6E8A-4147-A177-3AD203B41FA5}">
                      <a16:colId xmlns:a16="http://schemas.microsoft.com/office/drawing/2014/main" val="20004"/>
                    </a:ext>
                  </a:extLst>
                </a:gridCol>
                <a:gridCol w="398944">
                  <a:extLst>
                    <a:ext uri="{9D8B030D-6E8A-4147-A177-3AD203B41FA5}">
                      <a16:colId xmlns:a16="http://schemas.microsoft.com/office/drawing/2014/main" val="20005"/>
                    </a:ext>
                  </a:extLst>
                </a:gridCol>
                <a:gridCol w="398944">
                  <a:extLst>
                    <a:ext uri="{9D8B030D-6E8A-4147-A177-3AD203B41FA5}">
                      <a16:colId xmlns:a16="http://schemas.microsoft.com/office/drawing/2014/main" val="20006"/>
                    </a:ext>
                  </a:extLst>
                </a:gridCol>
                <a:gridCol w="398944">
                  <a:extLst>
                    <a:ext uri="{9D8B030D-6E8A-4147-A177-3AD203B41FA5}">
                      <a16:colId xmlns:a16="http://schemas.microsoft.com/office/drawing/2014/main" val="20007"/>
                    </a:ext>
                  </a:extLst>
                </a:gridCol>
                <a:gridCol w="398944">
                  <a:extLst>
                    <a:ext uri="{9D8B030D-6E8A-4147-A177-3AD203B41FA5}">
                      <a16:colId xmlns:a16="http://schemas.microsoft.com/office/drawing/2014/main" val="20008"/>
                    </a:ext>
                  </a:extLst>
                </a:gridCol>
                <a:gridCol w="398944">
                  <a:extLst>
                    <a:ext uri="{9D8B030D-6E8A-4147-A177-3AD203B41FA5}">
                      <a16:colId xmlns:a16="http://schemas.microsoft.com/office/drawing/2014/main" val="20009"/>
                    </a:ext>
                  </a:extLst>
                </a:gridCol>
                <a:gridCol w="398944">
                  <a:extLst>
                    <a:ext uri="{9D8B030D-6E8A-4147-A177-3AD203B41FA5}">
                      <a16:colId xmlns:a16="http://schemas.microsoft.com/office/drawing/2014/main" val="20010"/>
                    </a:ext>
                  </a:extLst>
                </a:gridCol>
                <a:gridCol w="398944">
                  <a:extLst>
                    <a:ext uri="{9D8B030D-6E8A-4147-A177-3AD203B41FA5}">
                      <a16:colId xmlns:a16="http://schemas.microsoft.com/office/drawing/2014/main" val="20011"/>
                    </a:ext>
                  </a:extLst>
                </a:gridCol>
                <a:gridCol w="398944">
                  <a:extLst>
                    <a:ext uri="{9D8B030D-6E8A-4147-A177-3AD203B41FA5}">
                      <a16:colId xmlns:a16="http://schemas.microsoft.com/office/drawing/2014/main" val="20012"/>
                    </a:ext>
                  </a:extLst>
                </a:gridCol>
                <a:gridCol w="397266">
                  <a:extLst>
                    <a:ext uri="{9D8B030D-6E8A-4147-A177-3AD203B41FA5}">
                      <a16:colId xmlns:a16="http://schemas.microsoft.com/office/drawing/2014/main" val="20013"/>
                    </a:ext>
                  </a:extLst>
                </a:gridCol>
                <a:gridCol w="397266">
                  <a:extLst>
                    <a:ext uri="{9D8B030D-6E8A-4147-A177-3AD203B41FA5}">
                      <a16:colId xmlns:a16="http://schemas.microsoft.com/office/drawing/2014/main" val="20014"/>
                    </a:ext>
                  </a:extLst>
                </a:gridCol>
                <a:gridCol w="402303">
                  <a:extLst>
                    <a:ext uri="{9D8B030D-6E8A-4147-A177-3AD203B41FA5}">
                      <a16:colId xmlns:a16="http://schemas.microsoft.com/office/drawing/2014/main" val="20015"/>
                    </a:ext>
                  </a:extLst>
                </a:gridCol>
                <a:gridCol w="330278">
                  <a:extLst>
                    <a:ext uri="{9D8B030D-6E8A-4147-A177-3AD203B41FA5}">
                      <a16:colId xmlns:a16="http://schemas.microsoft.com/office/drawing/2014/main" val="20016"/>
                    </a:ext>
                  </a:extLst>
                </a:gridCol>
                <a:gridCol w="467611">
                  <a:extLst>
                    <a:ext uri="{9D8B030D-6E8A-4147-A177-3AD203B41FA5}">
                      <a16:colId xmlns:a16="http://schemas.microsoft.com/office/drawing/2014/main" val="20017"/>
                    </a:ext>
                  </a:extLst>
                </a:gridCol>
                <a:gridCol w="398944">
                  <a:extLst>
                    <a:ext uri="{9D8B030D-6E8A-4147-A177-3AD203B41FA5}">
                      <a16:colId xmlns:a16="http://schemas.microsoft.com/office/drawing/2014/main" val="20018"/>
                    </a:ext>
                  </a:extLst>
                </a:gridCol>
                <a:gridCol w="398944">
                  <a:extLst>
                    <a:ext uri="{9D8B030D-6E8A-4147-A177-3AD203B41FA5}">
                      <a16:colId xmlns:a16="http://schemas.microsoft.com/office/drawing/2014/main" val="20019"/>
                    </a:ext>
                  </a:extLst>
                </a:gridCol>
                <a:gridCol w="398944">
                  <a:extLst>
                    <a:ext uri="{9D8B030D-6E8A-4147-A177-3AD203B41FA5}">
                      <a16:colId xmlns:a16="http://schemas.microsoft.com/office/drawing/2014/main" val="20020"/>
                    </a:ext>
                  </a:extLst>
                </a:gridCol>
                <a:gridCol w="398944">
                  <a:extLst>
                    <a:ext uri="{9D8B030D-6E8A-4147-A177-3AD203B41FA5}">
                      <a16:colId xmlns:a16="http://schemas.microsoft.com/office/drawing/2014/main" val="20021"/>
                    </a:ext>
                  </a:extLst>
                </a:gridCol>
                <a:gridCol w="398944">
                  <a:extLst>
                    <a:ext uri="{9D8B030D-6E8A-4147-A177-3AD203B41FA5}">
                      <a16:colId xmlns:a16="http://schemas.microsoft.com/office/drawing/2014/main" val="20022"/>
                    </a:ext>
                  </a:extLst>
                </a:gridCol>
                <a:gridCol w="398944">
                  <a:extLst>
                    <a:ext uri="{9D8B030D-6E8A-4147-A177-3AD203B41FA5}">
                      <a16:colId xmlns:a16="http://schemas.microsoft.com/office/drawing/2014/main" val="212648245"/>
                    </a:ext>
                  </a:extLst>
                </a:gridCol>
                <a:gridCol w="398944">
                  <a:extLst>
                    <a:ext uri="{9D8B030D-6E8A-4147-A177-3AD203B41FA5}">
                      <a16:colId xmlns:a16="http://schemas.microsoft.com/office/drawing/2014/main" val="1959820458"/>
                    </a:ext>
                  </a:extLst>
                </a:gridCol>
              </a:tblGrid>
              <a:tr h="267556">
                <a:tc>
                  <a:txBody>
                    <a:bodyPr/>
                    <a:lstStyle/>
                    <a:p>
                      <a:pPr marL="0" algn="l" defTabSz="914400" rtl="0" eaLnBrk="1" latinLnBrk="0" hangingPunct="1"/>
                      <a:r>
                        <a:rPr lang="en-US" sz="1100" b="0" kern="1200" dirty="0">
                          <a:solidFill>
                            <a:schemeClr val="tx1"/>
                          </a:solidFill>
                          <a:latin typeface="Century Gothic" panose="020B0502020202020204" pitchFamily="34" charset="0"/>
                          <a:ea typeface="+mn-ea"/>
                          <a:cs typeface="+mn-cs"/>
                        </a:rPr>
                        <a:t>Week Start Date</a:t>
                      </a:r>
                    </a:p>
                  </a:txBody>
                  <a:tcPr marL="0" marR="0" marT="0" marB="0">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fontAlgn="t"/>
                      <a:r>
                        <a:rPr lang="en-US" sz="1100" b="0" i="0" u="none" strike="noStrike" dirty="0">
                          <a:solidFill>
                            <a:srgbClr val="000000"/>
                          </a:solidFill>
                          <a:effectLst/>
                          <a:latin typeface="Century Gothic"/>
                        </a:rPr>
                        <a:t>2/3</a:t>
                      </a:r>
                      <a:endParaRPr lang="en-US" sz="1100" b="0" i="0" u="none" strike="noStrike">
                        <a:solidFill>
                          <a:srgbClr val="000000"/>
                        </a:solidFill>
                        <a:effectLst/>
                        <a:latin typeface="Century Gothic"/>
                      </a:endParaRP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2/10</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2/17</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2/24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3/3</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3/10</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3/17</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3/24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3/31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4/7</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4/14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4/21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4/28</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5/5</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5/12</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5/19</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EB2E6"/>
                    </a:solidFill>
                  </a:tcPr>
                </a:tc>
                <a:tc>
                  <a:txBody>
                    <a:bodyPr/>
                    <a:lstStyle/>
                    <a:p>
                      <a:pPr algn="l" fontAlgn="t"/>
                      <a:r>
                        <a:rPr lang="en-US" sz="1100" b="0" i="0" u="none" strike="noStrike" dirty="0">
                          <a:solidFill>
                            <a:srgbClr val="000000"/>
                          </a:solidFill>
                          <a:effectLst/>
                          <a:latin typeface="Century Gothic" panose="020B0502020202020204" pitchFamily="34" charset="0"/>
                        </a:rPr>
                        <a:t>5/26</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EECEF"/>
                    </a:solidFill>
                  </a:tcPr>
                </a:tc>
                <a:tc>
                  <a:txBody>
                    <a:bodyPr/>
                    <a:lstStyle/>
                    <a:p>
                      <a:pPr algn="l" fontAlgn="t"/>
                      <a:r>
                        <a:rPr lang="en-US" sz="1100" b="0" i="0" u="none" strike="noStrike" dirty="0">
                          <a:solidFill>
                            <a:srgbClr val="000000"/>
                          </a:solidFill>
                          <a:effectLst/>
                          <a:latin typeface="Century Gothic" panose="020B0502020202020204" pitchFamily="34" charset="0"/>
                        </a:rPr>
                        <a:t>6/2</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EECEF"/>
                    </a:solidFill>
                  </a:tcPr>
                </a:tc>
                <a:tc>
                  <a:txBody>
                    <a:bodyPr/>
                    <a:lstStyle/>
                    <a:p>
                      <a:pPr algn="l" fontAlgn="t"/>
                      <a:r>
                        <a:rPr lang="en-US" sz="1100" b="0" i="0" u="none" strike="noStrike" dirty="0">
                          <a:solidFill>
                            <a:srgbClr val="000000"/>
                          </a:solidFill>
                          <a:effectLst/>
                          <a:latin typeface="Century Gothic" panose="020B0502020202020204" pitchFamily="34" charset="0"/>
                        </a:rPr>
                        <a:t>6/9</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6/16</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6/23</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6/30</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7/7</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7/14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442000953"/>
                  </a:ext>
                </a:extLst>
              </a:tr>
              <a:tr h="269965">
                <a:tc>
                  <a:txBody>
                    <a:bodyPr/>
                    <a:lstStyle/>
                    <a:p>
                      <a:pPr marL="0" algn="l" defTabSz="914400" rtl="0" eaLnBrk="1" latinLnBrk="0" hangingPunct="1"/>
                      <a:r>
                        <a:rPr lang="en-US" sz="1100" b="0" kern="1200" dirty="0">
                          <a:solidFill>
                            <a:schemeClr val="tx1"/>
                          </a:solidFill>
                          <a:latin typeface="Century Gothic" panose="020B0502020202020204" pitchFamily="34" charset="0"/>
                          <a:ea typeface="+mn-ea"/>
                          <a:cs typeface="+mn-cs"/>
                        </a:rPr>
                        <a:t>Week End Date</a:t>
                      </a:r>
                    </a:p>
                  </a:txBody>
                  <a:tcPr marL="0" marR="0" marT="0" marB="0">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AB9DE"/>
                    </a:solidFill>
                  </a:tcPr>
                </a:tc>
                <a:tc>
                  <a:txBody>
                    <a:bodyPr/>
                    <a:lstStyle/>
                    <a:p>
                      <a:pPr algn="l" fontAlgn="t"/>
                      <a:r>
                        <a:rPr lang="en-US" sz="1100" b="0" i="0" u="none" strike="noStrike">
                          <a:solidFill>
                            <a:srgbClr val="000000"/>
                          </a:solidFill>
                          <a:effectLst/>
                          <a:latin typeface="Century Gothic" panose="020B0502020202020204" pitchFamily="34" charset="0"/>
                        </a:rPr>
                        <a:t>2/7</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2/14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2/21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a:solidFill>
                            <a:srgbClr val="000000"/>
                          </a:solidFill>
                          <a:effectLst/>
                          <a:latin typeface="Century Gothic" panose="020B0502020202020204" pitchFamily="34" charset="0"/>
                        </a:rPr>
                        <a:t>2/28</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3/7</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a:solidFill>
                            <a:srgbClr val="000000"/>
                          </a:solidFill>
                          <a:effectLst/>
                          <a:latin typeface="Century Gothic" panose="020B0502020202020204" pitchFamily="34" charset="0"/>
                        </a:rPr>
                        <a:t>3/14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3/21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3/28</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4/4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4/11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4/18</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4/25</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5/2</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5/9</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5/16</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5/23</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5/30</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6/6</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6/13</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6/20</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6/27</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7/4</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7/11</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fontAlgn="t"/>
                      <a:r>
                        <a:rPr lang="en-US" sz="1100" b="0" i="0" u="none" strike="noStrike" dirty="0">
                          <a:solidFill>
                            <a:srgbClr val="000000"/>
                          </a:solidFill>
                          <a:effectLst/>
                          <a:latin typeface="Century Gothic" panose="020B0502020202020204" pitchFamily="34" charset="0"/>
                        </a:rPr>
                        <a:t>7/18</a:t>
                      </a:r>
                    </a:p>
                  </a:txBody>
                  <a:tcPr marL="9525" marR="9525" marT="952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1"/>
                  </a:ext>
                </a:extLst>
              </a:tr>
              <a:tr h="408944">
                <a:tc>
                  <a:txBody>
                    <a:bodyPr/>
                    <a:lstStyle/>
                    <a:p>
                      <a:pPr marL="0" algn="l" defTabSz="914400" rtl="0" eaLnBrk="1" latinLnBrk="0" hangingPunct="1"/>
                      <a:r>
                        <a:rPr lang="en-US" sz="1200" kern="1200" dirty="0">
                          <a:solidFill>
                            <a:schemeClr val="tx1"/>
                          </a:solidFill>
                          <a:latin typeface="Century Gothic" panose="020B0502020202020204" pitchFamily="34" charset="0"/>
                          <a:ea typeface="+mn-ea"/>
                          <a:cs typeface="+mn-cs"/>
                        </a:rPr>
                        <a:t>Requirements &amp; Analysis</a:t>
                      </a:r>
                    </a:p>
                  </a:txBody>
                  <a:tcPr marL="101672" marR="101672" marT="50836" marB="50836" anchor="ctr">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2"/>
                  </a:ext>
                </a:extLst>
              </a:tr>
              <a:tr h="408944">
                <a:tc>
                  <a:txBody>
                    <a:bodyPr/>
                    <a:lstStyle/>
                    <a:p>
                      <a:pPr marL="0" algn="l" defTabSz="914400" rtl="0" eaLnBrk="1" latinLnBrk="0" hangingPunct="1"/>
                      <a:r>
                        <a:rPr lang="en-US" sz="1200" kern="1200" dirty="0">
                          <a:solidFill>
                            <a:schemeClr val="tx1"/>
                          </a:solidFill>
                          <a:latin typeface="Century Gothic" panose="020B0502020202020204" pitchFamily="34" charset="0"/>
                          <a:ea typeface="+mn-ea"/>
                          <a:cs typeface="+mn-cs"/>
                        </a:rPr>
                        <a:t>Architecture / Environment Setup</a:t>
                      </a:r>
                    </a:p>
                  </a:txBody>
                  <a:tcPr marL="101672" marR="101672" marT="50836" marB="50836" anchor="ctr">
                    <a:lnL w="127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3"/>
                  </a:ext>
                </a:extLst>
              </a:tr>
              <a:tr h="408944">
                <a:tc>
                  <a:txBody>
                    <a:bodyPr/>
                    <a:lstStyle/>
                    <a:p>
                      <a:pPr marL="0" indent="0" algn="l" defTabSz="914400" rtl="0" eaLnBrk="1" latinLnBrk="0" hangingPunct="1"/>
                      <a:r>
                        <a:rPr lang="en-US" sz="1200" kern="1200" dirty="0">
                          <a:solidFill>
                            <a:schemeClr val="tx1"/>
                          </a:solidFill>
                          <a:latin typeface="Century Gothic" panose="020B0502020202020204" pitchFamily="34" charset="0"/>
                          <a:ea typeface="+mn-ea"/>
                          <a:cs typeface="+mn-cs"/>
                        </a:rPr>
                        <a:t>Database Expansion</a:t>
                      </a:r>
                    </a:p>
                  </a:txBody>
                  <a:tcPr marL="101672" marR="101672" marT="50836" marB="50836"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4"/>
                  </a:ext>
                </a:extLst>
              </a:tr>
              <a:tr h="408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Century Gothic" panose="020B0502020202020204" pitchFamily="34" charset="0"/>
                          <a:ea typeface="+mn-ea"/>
                          <a:cs typeface="+mn-cs"/>
                        </a:rPr>
                        <a:t>API Development</a:t>
                      </a:r>
                    </a:p>
                  </a:txBody>
                  <a:tcPr marL="101672" marR="101672" marT="50836" marB="50836"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5"/>
                  </a:ext>
                </a:extLst>
              </a:tr>
              <a:tr h="408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Century Gothic" panose="020B0502020202020204" pitchFamily="34" charset="0"/>
                          <a:ea typeface="+mn-ea"/>
                          <a:cs typeface="+mn-cs"/>
                        </a:rPr>
                        <a:t>Front-end Design</a:t>
                      </a:r>
                    </a:p>
                  </a:txBody>
                  <a:tcPr marL="101672" marR="101672" marT="50836" marB="50836"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65209357"/>
                  </a:ext>
                </a:extLst>
              </a:tr>
              <a:tr h="408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Century Gothic" panose="020B0502020202020204" pitchFamily="34" charset="0"/>
                          <a:ea typeface="+mn-ea"/>
                          <a:cs typeface="+mn-cs"/>
                        </a:rPr>
                        <a:t>Front-end Development</a:t>
                      </a:r>
                    </a:p>
                  </a:txBody>
                  <a:tcPr marL="101672" marR="101672" marT="50836" marB="50836"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6"/>
                  </a:ext>
                </a:extLst>
              </a:tr>
              <a:tr h="408944">
                <a:tc>
                  <a:txBody>
                    <a:bodyPr/>
                    <a:lstStyle/>
                    <a:p>
                      <a:pPr marL="0" algn="l" defTabSz="914400" rtl="0" eaLnBrk="1" latinLnBrk="0" hangingPunct="1"/>
                      <a:r>
                        <a:rPr lang="en-US" sz="1200" kern="1200" dirty="0">
                          <a:solidFill>
                            <a:schemeClr val="tx1"/>
                          </a:solidFill>
                          <a:latin typeface="Century Gothic" panose="020B0502020202020204" pitchFamily="34" charset="0"/>
                          <a:ea typeface="+mn-ea"/>
                          <a:cs typeface="+mn-cs"/>
                        </a:rPr>
                        <a:t>Testing and Validation</a:t>
                      </a:r>
                    </a:p>
                  </a:txBody>
                  <a:tcPr marL="101672" marR="101672" marT="50836" marB="50836"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7"/>
                  </a:ext>
                </a:extLst>
              </a:tr>
              <a:tr h="408944">
                <a:tc>
                  <a:txBody>
                    <a:bodyPr/>
                    <a:lstStyle/>
                    <a:p>
                      <a:pPr marL="0" algn="l" defTabSz="914400" rtl="0" eaLnBrk="1" latinLnBrk="0" hangingPunct="1"/>
                      <a:r>
                        <a:rPr lang="en-US" sz="1200" kern="1200" dirty="0">
                          <a:solidFill>
                            <a:schemeClr val="tx1"/>
                          </a:solidFill>
                          <a:latin typeface="Century Gothic" panose="020B0502020202020204" pitchFamily="34" charset="0"/>
                          <a:ea typeface="+mn-ea"/>
                          <a:cs typeface="+mn-cs"/>
                        </a:rPr>
                        <a:t>Deployment &amp; Configuration</a:t>
                      </a:r>
                    </a:p>
                  </a:txBody>
                  <a:tcPr marL="101672" marR="101672" marT="50836" marB="50836"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8"/>
                  </a:ext>
                </a:extLst>
              </a:tr>
              <a:tr h="408944">
                <a:tc>
                  <a:txBody>
                    <a:bodyPr/>
                    <a:lstStyle/>
                    <a:p>
                      <a:pPr marL="0" algn="l" defTabSz="914400" rtl="0" eaLnBrk="1" latinLnBrk="0" hangingPunct="1"/>
                      <a:r>
                        <a:rPr lang="en-US" sz="1200" kern="1200" dirty="0">
                          <a:solidFill>
                            <a:schemeClr val="tx1"/>
                          </a:solidFill>
                          <a:latin typeface="Century Gothic" panose="020B0502020202020204" pitchFamily="34" charset="0"/>
                          <a:ea typeface="+mn-ea"/>
                          <a:cs typeface="+mn-cs"/>
                        </a:rPr>
                        <a:t>Documentation</a:t>
                      </a:r>
                    </a:p>
                  </a:txBody>
                  <a:tcPr marL="101672" marR="101672" marT="50836" marB="50836"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endParaRPr lang="en-US" sz="2000" dirty="0">
                        <a:latin typeface="Arial Narrow" pitchFamily="34" charset="0"/>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pPr marL="0" algn="r" defTabSz="914400" rtl="0" eaLnBrk="1" latinLnBrk="0" hangingPunct="1"/>
                      <a:endParaRPr lang="en-US" sz="1700" kern="1200" dirty="0">
                        <a:solidFill>
                          <a:schemeClr val="accent4"/>
                        </a:solidFill>
                        <a:latin typeface="Arial Narrow" pitchFamily="34" charset="0"/>
                        <a:ea typeface="+mn-ea"/>
                        <a:cs typeface="+mn-cs"/>
                      </a:endParaRPr>
                    </a:p>
                  </a:txBody>
                  <a:tcPr marL="101672" marR="101672" marT="50836" marB="50836">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9"/>
                  </a:ext>
                </a:extLst>
              </a:tr>
            </a:tbl>
          </a:graphicData>
        </a:graphic>
      </p:graphicFrame>
      <p:grpSp>
        <p:nvGrpSpPr>
          <p:cNvPr id="5" name="Group 11">
            <a:extLst>
              <a:ext uri="{FF2B5EF4-FFF2-40B4-BE49-F238E27FC236}">
                <a16:creationId xmlns:a16="http://schemas.microsoft.com/office/drawing/2014/main" id="{CA7B86EF-F0ED-AA85-3570-C6BCC6E1CA60}"/>
              </a:ext>
              <a:ext uri="{C183D7F6-B498-43B3-948B-1728B52AA6E4}">
                <adec:decorative xmlns:adec="http://schemas.microsoft.com/office/drawing/2017/decorative" val="1"/>
              </a:ext>
            </a:extLst>
          </p:cNvPr>
          <p:cNvGrpSpPr/>
          <p:nvPr/>
        </p:nvGrpSpPr>
        <p:grpSpPr>
          <a:xfrm>
            <a:off x="2081971" y="1720472"/>
            <a:ext cx="5516551" cy="164592"/>
            <a:chOff x="1371600" y="1905000"/>
            <a:chExt cx="2667000" cy="228600"/>
          </a:xfrm>
        </p:grpSpPr>
        <p:sp>
          <p:nvSpPr>
            <p:cNvPr id="6" name="Rounded Rectangle 38">
              <a:extLst>
                <a:ext uri="{FF2B5EF4-FFF2-40B4-BE49-F238E27FC236}">
                  <a16:creationId xmlns:a16="http://schemas.microsoft.com/office/drawing/2014/main" id="{7680B1CC-584F-EA30-F53A-7398726BB1FC}"/>
                </a:ext>
              </a:extLst>
            </p:cNvPr>
            <p:cNvSpPr/>
            <p:nvPr/>
          </p:nvSpPr>
          <p:spPr>
            <a:xfrm>
              <a:off x="1371600" y="1905000"/>
              <a:ext cx="26670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9" name="Rounded Rectangle 40">
              <a:extLst>
                <a:ext uri="{FF2B5EF4-FFF2-40B4-BE49-F238E27FC236}">
                  <a16:creationId xmlns:a16="http://schemas.microsoft.com/office/drawing/2014/main" id="{5A9E9EDA-88B5-D2D4-3296-F86744BFD3D8}"/>
                </a:ext>
              </a:extLst>
            </p:cNvPr>
            <p:cNvSpPr/>
            <p:nvPr/>
          </p:nvSpPr>
          <p:spPr>
            <a:xfrm>
              <a:off x="1421674" y="1931126"/>
              <a:ext cx="259080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grpSp>
        <p:nvGrpSpPr>
          <p:cNvPr id="10" name="Group 15">
            <a:extLst>
              <a:ext uri="{FF2B5EF4-FFF2-40B4-BE49-F238E27FC236}">
                <a16:creationId xmlns:a16="http://schemas.microsoft.com/office/drawing/2014/main" id="{3ADF8424-5FDC-7B39-0726-01AF37103733}"/>
              </a:ext>
              <a:ext uri="{C183D7F6-B498-43B3-948B-1728B52AA6E4}">
                <adec:decorative xmlns:adec="http://schemas.microsoft.com/office/drawing/2017/decorative" val="1"/>
              </a:ext>
            </a:extLst>
          </p:cNvPr>
          <p:cNvGrpSpPr/>
          <p:nvPr/>
        </p:nvGrpSpPr>
        <p:grpSpPr>
          <a:xfrm>
            <a:off x="7399289" y="2177935"/>
            <a:ext cx="917914" cy="164592"/>
            <a:chOff x="2157548" y="2233748"/>
            <a:chExt cx="3709852" cy="204652"/>
          </a:xfrm>
        </p:grpSpPr>
        <p:sp>
          <p:nvSpPr>
            <p:cNvPr id="11" name="Rounded Rectangle 42">
              <a:extLst>
                <a:ext uri="{FF2B5EF4-FFF2-40B4-BE49-F238E27FC236}">
                  <a16:creationId xmlns:a16="http://schemas.microsoft.com/office/drawing/2014/main" id="{5F8A1A5E-E2A8-3580-E49D-6697E2EAF046}"/>
                </a:ext>
              </a:extLst>
            </p:cNvPr>
            <p:cNvSpPr/>
            <p:nvPr/>
          </p:nvSpPr>
          <p:spPr>
            <a:xfrm>
              <a:off x="2157548" y="2233748"/>
              <a:ext cx="3709852" cy="204652"/>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12" name="Rounded Rectangle 43">
              <a:extLst>
                <a:ext uri="{FF2B5EF4-FFF2-40B4-BE49-F238E27FC236}">
                  <a16:creationId xmlns:a16="http://schemas.microsoft.com/office/drawing/2014/main" id="{8BD3719C-A2A2-F671-B26A-30F1FCD5C019}"/>
                </a:ext>
              </a:extLst>
            </p:cNvPr>
            <p:cNvSpPr/>
            <p:nvPr/>
          </p:nvSpPr>
          <p:spPr>
            <a:xfrm>
              <a:off x="2207622" y="2259874"/>
              <a:ext cx="3630168"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grpSp>
        <p:nvGrpSpPr>
          <p:cNvPr id="13" name="Group 27">
            <a:extLst>
              <a:ext uri="{FF2B5EF4-FFF2-40B4-BE49-F238E27FC236}">
                <a16:creationId xmlns:a16="http://schemas.microsoft.com/office/drawing/2014/main" id="{F230F41D-1160-AA05-F7AE-FAD2C5AEBADC}"/>
              </a:ext>
              <a:ext uri="{C183D7F6-B498-43B3-948B-1728B52AA6E4}">
                <adec:decorative xmlns:adec="http://schemas.microsoft.com/office/drawing/2017/decorative" val="1"/>
              </a:ext>
            </a:extLst>
          </p:cNvPr>
          <p:cNvGrpSpPr/>
          <p:nvPr/>
        </p:nvGrpSpPr>
        <p:grpSpPr>
          <a:xfrm>
            <a:off x="8127253" y="3082825"/>
            <a:ext cx="1562127" cy="164592"/>
            <a:chOff x="1371600" y="1905000"/>
            <a:chExt cx="1828800" cy="228600"/>
          </a:xfrm>
        </p:grpSpPr>
        <p:sp>
          <p:nvSpPr>
            <p:cNvPr id="14" name="Rounded Rectangle 54">
              <a:extLst>
                <a:ext uri="{FF2B5EF4-FFF2-40B4-BE49-F238E27FC236}">
                  <a16:creationId xmlns:a16="http://schemas.microsoft.com/office/drawing/2014/main" id="{04A962F9-640A-DC12-1EE2-6945D29BA95A}"/>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15" name="Rounded Rectangle 55">
              <a:extLst>
                <a:ext uri="{FF2B5EF4-FFF2-40B4-BE49-F238E27FC236}">
                  <a16:creationId xmlns:a16="http://schemas.microsoft.com/office/drawing/2014/main" id="{3FAA4963-478F-CF7E-6EF0-F8BBCA0D59A7}"/>
                </a:ext>
              </a:extLst>
            </p:cNvPr>
            <p:cNvSpPr/>
            <p:nvPr/>
          </p:nvSpPr>
          <p:spPr>
            <a:xfrm>
              <a:off x="1421674" y="1931126"/>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grpSp>
        <p:nvGrpSpPr>
          <p:cNvPr id="19" name="Group 33">
            <a:extLst>
              <a:ext uri="{FF2B5EF4-FFF2-40B4-BE49-F238E27FC236}">
                <a16:creationId xmlns:a16="http://schemas.microsoft.com/office/drawing/2014/main" id="{8A7C71D2-810E-D39D-E031-235668C5B5C8}"/>
              </a:ext>
              <a:ext uri="{C183D7F6-B498-43B3-948B-1728B52AA6E4}">
                <adec:decorative xmlns:adec="http://schemas.microsoft.com/office/drawing/2017/decorative" val="1"/>
              </a:ext>
            </a:extLst>
          </p:cNvPr>
          <p:cNvGrpSpPr/>
          <p:nvPr/>
        </p:nvGrpSpPr>
        <p:grpSpPr>
          <a:xfrm>
            <a:off x="10737104" y="5291356"/>
            <a:ext cx="710058" cy="164592"/>
            <a:chOff x="1371600" y="1905000"/>
            <a:chExt cx="1828800" cy="228600"/>
          </a:xfrm>
        </p:grpSpPr>
        <p:sp>
          <p:nvSpPr>
            <p:cNvPr id="20" name="Rounded Rectangle 60">
              <a:extLst>
                <a:ext uri="{FF2B5EF4-FFF2-40B4-BE49-F238E27FC236}">
                  <a16:creationId xmlns:a16="http://schemas.microsoft.com/office/drawing/2014/main" id="{CC17798A-0646-D7BA-61FF-F5DCBC14DA57}"/>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21" name="Rounded Rectangle 61">
              <a:extLst>
                <a:ext uri="{FF2B5EF4-FFF2-40B4-BE49-F238E27FC236}">
                  <a16:creationId xmlns:a16="http://schemas.microsoft.com/office/drawing/2014/main" id="{37415E7E-BF3D-B8F7-C311-7C2D6886414D}"/>
                </a:ext>
              </a:extLst>
            </p:cNvPr>
            <p:cNvSpPr/>
            <p:nvPr/>
          </p:nvSpPr>
          <p:spPr>
            <a:xfrm>
              <a:off x="1421674" y="1931126"/>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grpSp>
        <p:nvGrpSpPr>
          <p:cNvPr id="26" name="Group 27">
            <a:extLst>
              <a:ext uri="{FF2B5EF4-FFF2-40B4-BE49-F238E27FC236}">
                <a16:creationId xmlns:a16="http://schemas.microsoft.com/office/drawing/2014/main" id="{AA655226-01D2-FFF0-D46F-C3EAE32733AC}"/>
              </a:ext>
              <a:ext uri="{C183D7F6-B498-43B3-948B-1728B52AA6E4}">
                <adec:decorative xmlns:adec="http://schemas.microsoft.com/office/drawing/2017/decorative" val="1"/>
              </a:ext>
            </a:extLst>
          </p:cNvPr>
          <p:cNvGrpSpPr/>
          <p:nvPr/>
        </p:nvGrpSpPr>
        <p:grpSpPr>
          <a:xfrm>
            <a:off x="7731992" y="2645991"/>
            <a:ext cx="1181706" cy="164592"/>
            <a:chOff x="1359045" y="1905000"/>
            <a:chExt cx="1841355" cy="228600"/>
          </a:xfrm>
        </p:grpSpPr>
        <p:sp>
          <p:nvSpPr>
            <p:cNvPr id="27" name="Rounded Rectangle 54">
              <a:extLst>
                <a:ext uri="{FF2B5EF4-FFF2-40B4-BE49-F238E27FC236}">
                  <a16:creationId xmlns:a16="http://schemas.microsoft.com/office/drawing/2014/main" id="{5F3A4366-8A7B-B5DA-B3D6-2515BC06A20E}"/>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28" name="Rounded Rectangle 55">
              <a:extLst>
                <a:ext uri="{FF2B5EF4-FFF2-40B4-BE49-F238E27FC236}">
                  <a16:creationId xmlns:a16="http://schemas.microsoft.com/office/drawing/2014/main" id="{0B8BA3D4-4E9A-9D16-C05D-58FE9062726B}"/>
                </a:ext>
              </a:extLst>
            </p:cNvPr>
            <p:cNvSpPr/>
            <p:nvPr/>
          </p:nvSpPr>
          <p:spPr>
            <a:xfrm>
              <a:off x="1359045" y="1931126"/>
              <a:ext cx="1737361"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grpSp>
        <p:nvGrpSpPr>
          <p:cNvPr id="42" name="Group 41">
            <a:extLst>
              <a:ext uri="{FF2B5EF4-FFF2-40B4-BE49-F238E27FC236}">
                <a16:creationId xmlns:a16="http://schemas.microsoft.com/office/drawing/2014/main" id="{BDF57A97-3813-FDD2-E6A9-4B05BF0B1479}"/>
              </a:ext>
            </a:extLst>
          </p:cNvPr>
          <p:cNvGrpSpPr/>
          <p:nvPr/>
        </p:nvGrpSpPr>
        <p:grpSpPr>
          <a:xfrm>
            <a:off x="10504841" y="4814436"/>
            <a:ext cx="800965" cy="274299"/>
            <a:chOff x="10304661" y="4557434"/>
            <a:chExt cx="988648" cy="274299"/>
          </a:xfrm>
        </p:grpSpPr>
        <p:grpSp>
          <p:nvGrpSpPr>
            <p:cNvPr id="23" name="Group 33">
              <a:extLst>
                <a:ext uri="{FF2B5EF4-FFF2-40B4-BE49-F238E27FC236}">
                  <a16:creationId xmlns:a16="http://schemas.microsoft.com/office/drawing/2014/main" id="{E6752E33-9E4C-BB40-0DEA-5C041F201933}"/>
                </a:ext>
                <a:ext uri="{C183D7F6-B498-43B3-948B-1728B52AA6E4}">
                  <adec:decorative xmlns:adec="http://schemas.microsoft.com/office/drawing/2017/decorative" val="1"/>
                </a:ext>
              </a:extLst>
            </p:cNvPr>
            <p:cNvGrpSpPr/>
            <p:nvPr/>
          </p:nvGrpSpPr>
          <p:grpSpPr>
            <a:xfrm>
              <a:off x="10304661" y="4612947"/>
              <a:ext cx="859170" cy="164592"/>
              <a:chOff x="1371600" y="1905000"/>
              <a:chExt cx="1828800" cy="228600"/>
            </a:xfrm>
          </p:grpSpPr>
          <p:sp>
            <p:nvSpPr>
              <p:cNvPr id="24" name="Rounded Rectangle 60">
                <a:extLst>
                  <a:ext uri="{FF2B5EF4-FFF2-40B4-BE49-F238E27FC236}">
                    <a16:creationId xmlns:a16="http://schemas.microsoft.com/office/drawing/2014/main" id="{89198745-C4E0-194B-3597-F37CA3CB3EF3}"/>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25" name="Rounded Rectangle 61">
                <a:extLst>
                  <a:ext uri="{FF2B5EF4-FFF2-40B4-BE49-F238E27FC236}">
                    <a16:creationId xmlns:a16="http://schemas.microsoft.com/office/drawing/2014/main" id="{5874D2E4-3599-9B86-069F-879B983AEFB4}"/>
                  </a:ext>
                </a:extLst>
              </p:cNvPr>
              <p:cNvSpPr/>
              <p:nvPr/>
            </p:nvSpPr>
            <p:spPr>
              <a:xfrm>
                <a:off x="1421674" y="1931126"/>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sp>
          <p:nvSpPr>
            <p:cNvPr id="29" name="Flowchart: Decision 36">
              <a:extLst>
                <a:ext uri="{FF2B5EF4-FFF2-40B4-BE49-F238E27FC236}">
                  <a16:creationId xmlns:a16="http://schemas.microsoft.com/office/drawing/2014/main" id="{1F92427C-6CF9-7E4E-1E87-44833A85D3C2}"/>
                </a:ext>
                <a:ext uri="{C183D7F6-B498-43B3-948B-1728B52AA6E4}">
                  <adec:decorative xmlns:adec="http://schemas.microsoft.com/office/drawing/2017/decorative" val="1"/>
                </a:ext>
              </a:extLst>
            </p:cNvPr>
            <p:cNvSpPr/>
            <p:nvPr/>
          </p:nvSpPr>
          <p:spPr>
            <a:xfrm>
              <a:off x="11033410" y="4557434"/>
              <a:ext cx="259899" cy="274299"/>
            </a:xfrm>
            <a:prstGeom prst="flowChartDecisi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none" anchor="ctr"/>
            <a:lstStyle/>
            <a:p>
              <a:pPr>
                <a:defRPr/>
              </a:pPr>
              <a:endParaRPr lang="en-US" dirty="0">
                <a:latin typeface="Century Gothic" panose="020B0502020202020204" pitchFamily="34" charset="0"/>
              </a:endParaRPr>
            </a:p>
          </p:txBody>
        </p:sp>
      </p:grpSp>
      <p:grpSp>
        <p:nvGrpSpPr>
          <p:cNvPr id="41" name="Group 40">
            <a:extLst>
              <a:ext uri="{FF2B5EF4-FFF2-40B4-BE49-F238E27FC236}">
                <a16:creationId xmlns:a16="http://schemas.microsoft.com/office/drawing/2014/main" id="{845A38D5-BB9F-6557-82E6-408964C4E4D7}"/>
              </a:ext>
            </a:extLst>
          </p:cNvPr>
          <p:cNvGrpSpPr/>
          <p:nvPr/>
        </p:nvGrpSpPr>
        <p:grpSpPr>
          <a:xfrm>
            <a:off x="9730046" y="4346380"/>
            <a:ext cx="801273" cy="274299"/>
            <a:chOff x="9815102" y="4089378"/>
            <a:chExt cx="801273" cy="274299"/>
          </a:xfrm>
        </p:grpSpPr>
        <p:grpSp>
          <p:nvGrpSpPr>
            <p:cNvPr id="16" name="Group 30">
              <a:extLst>
                <a:ext uri="{FF2B5EF4-FFF2-40B4-BE49-F238E27FC236}">
                  <a16:creationId xmlns:a16="http://schemas.microsoft.com/office/drawing/2014/main" id="{BC56BE61-0434-94AB-2E4A-DF08077B0287}"/>
                </a:ext>
                <a:ext uri="{C183D7F6-B498-43B3-948B-1728B52AA6E4}">
                  <adec:decorative xmlns:adec="http://schemas.microsoft.com/office/drawing/2017/decorative" val="1"/>
                </a:ext>
              </a:extLst>
            </p:cNvPr>
            <p:cNvGrpSpPr/>
            <p:nvPr/>
          </p:nvGrpSpPr>
          <p:grpSpPr>
            <a:xfrm>
              <a:off x="9815102" y="4151369"/>
              <a:ext cx="698378" cy="164592"/>
              <a:chOff x="1371600" y="1905000"/>
              <a:chExt cx="1828800" cy="228600"/>
            </a:xfrm>
          </p:grpSpPr>
          <p:sp>
            <p:nvSpPr>
              <p:cNvPr id="17" name="Rounded Rectangle 57">
                <a:extLst>
                  <a:ext uri="{FF2B5EF4-FFF2-40B4-BE49-F238E27FC236}">
                    <a16:creationId xmlns:a16="http://schemas.microsoft.com/office/drawing/2014/main" id="{4C70D94E-F1DF-15B7-9EAE-D9764FE9DDFB}"/>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18" name="Rounded Rectangle 58">
                <a:extLst>
                  <a:ext uri="{FF2B5EF4-FFF2-40B4-BE49-F238E27FC236}">
                    <a16:creationId xmlns:a16="http://schemas.microsoft.com/office/drawing/2014/main" id="{4A9B2B32-0D6F-94B0-F60D-C545590D5A33}"/>
                  </a:ext>
                </a:extLst>
              </p:cNvPr>
              <p:cNvSpPr/>
              <p:nvPr/>
            </p:nvSpPr>
            <p:spPr>
              <a:xfrm>
                <a:off x="1421674" y="1931126"/>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sp>
          <p:nvSpPr>
            <p:cNvPr id="30" name="Flowchart: Decision 36">
              <a:extLst>
                <a:ext uri="{FF2B5EF4-FFF2-40B4-BE49-F238E27FC236}">
                  <a16:creationId xmlns:a16="http://schemas.microsoft.com/office/drawing/2014/main" id="{2D482A16-64A5-B26D-AE7A-67335CAA44D6}"/>
                </a:ext>
                <a:ext uri="{C183D7F6-B498-43B3-948B-1728B52AA6E4}">
                  <adec:decorative xmlns:adec="http://schemas.microsoft.com/office/drawing/2017/decorative" val="1"/>
                </a:ext>
              </a:extLst>
            </p:cNvPr>
            <p:cNvSpPr/>
            <p:nvPr/>
          </p:nvSpPr>
          <p:spPr>
            <a:xfrm>
              <a:off x="10356476" y="4089378"/>
              <a:ext cx="259899" cy="274299"/>
            </a:xfrm>
            <a:prstGeom prst="flowChartDecisi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none" anchor="ctr"/>
            <a:lstStyle/>
            <a:p>
              <a:pPr>
                <a:defRPr/>
              </a:pPr>
              <a:endParaRPr lang="en-US" dirty="0">
                <a:latin typeface="Century Gothic" panose="020B0502020202020204" pitchFamily="34" charset="0"/>
              </a:endParaRPr>
            </a:p>
          </p:txBody>
        </p:sp>
      </p:grpSp>
      <p:sp>
        <p:nvSpPr>
          <p:cNvPr id="34" name="Flowchart: Decision 36">
            <a:extLst>
              <a:ext uri="{FF2B5EF4-FFF2-40B4-BE49-F238E27FC236}">
                <a16:creationId xmlns:a16="http://schemas.microsoft.com/office/drawing/2014/main" id="{B08645CB-4312-DC63-79F6-B43CC6027EA8}"/>
              </a:ext>
              <a:ext uri="{C183D7F6-B498-43B3-948B-1728B52AA6E4}">
                <adec:decorative xmlns:adec="http://schemas.microsoft.com/office/drawing/2017/decorative" val="1"/>
              </a:ext>
            </a:extLst>
          </p:cNvPr>
          <p:cNvSpPr/>
          <p:nvPr/>
        </p:nvSpPr>
        <p:spPr>
          <a:xfrm>
            <a:off x="7389306" y="1655697"/>
            <a:ext cx="259899" cy="274299"/>
          </a:xfrm>
          <a:prstGeom prst="flowChartDecisi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none" anchor="ctr"/>
          <a:lstStyle/>
          <a:p>
            <a:pPr>
              <a:defRPr/>
            </a:pPr>
            <a:endParaRPr lang="en-US" dirty="0">
              <a:latin typeface="Century Gothic" panose="020B0502020202020204" pitchFamily="34" charset="0"/>
            </a:endParaRPr>
          </a:p>
        </p:txBody>
      </p:sp>
      <p:sp>
        <p:nvSpPr>
          <p:cNvPr id="37" name="TextBox 36">
            <a:extLst>
              <a:ext uri="{FF2B5EF4-FFF2-40B4-BE49-F238E27FC236}">
                <a16:creationId xmlns:a16="http://schemas.microsoft.com/office/drawing/2014/main" id="{90D1311F-1CD8-EB31-08DC-1F6C48C0A816}"/>
              </a:ext>
            </a:extLst>
          </p:cNvPr>
          <p:cNvSpPr txBox="1"/>
          <p:nvPr/>
        </p:nvSpPr>
        <p:spPr>
          <a:xfrm>
            <a:off x="350814" y="5785459"/>
            <a:ext cx="4457706" cy="1015663"/>
          </a:xfrm>
          <a:prstGeom prst="rect">
            <a:avLst/>
          </a:prstGeom>
          <a:solidFill>
            <a:schemeClr val="bg1"/>
          </a:solidFill>
        </p:spPr>
        <p:txBody>
          <a:bodyPr wrap="square">
            <a:spAutoFit/>
          </a:bodyPr>
          <a:lstStyle/>
          <a:p>
            <a:r>
              <a:rPr lang="en-US" sz="1200" b="1" dirty="0">
                <a:latin typeface="Century Gothic" panose="020B0502020202020204" pitchFamily="34" charset="0"/>
              </a:rPr>
              <a:t>Milestones:</a:t>
            </a:r>
          </a:p>
          <a:p>
            <a:r>
              <a:rPr lang="en-US" sz="1200" dirty="0">
                <a:latin typeface="Century Gothic" panose="020B0502020202020204" pitchFamily="34" charset="0"/>
              </a:rPr>
              <a:t>5/9 – Wireframes &amp; Requirement complete</a:t>
            </a:r>
          </a:p>
          <a:p>
            <a:r>
              <a:rPr lang="en-US" sz="1200" dirty="0">
                <a:latin typeface="Century Gothic" panose="020B0502020202020204" pitchFamily="34" charset="0"/>
              </a:rPr>
              <a:t>6/13 – Development Complete</a:t>
            </a:r>
          </a:p>
          <a:p>
            <a:r>
              <a:rPr lang="en-US" sz="1200" dirty="0">
                <a:latin typeface="Century Gothic" panose="020B0502020202020204" pitchFamily="34" charset="0"/>
              </a:rPr>
              <a:t>6/27 – Testing Complete</a:t>
            </a:r>
          </a:p>
          <a:p>
            <a:r>
              <a:rPr lang="en-US" sz="1200" dirty="0">
                <a:latin typeface="Century Gothic" panose="020B0502020202020204" pitchFamily="34" charset="0"/>
              </a:rPr>
              <a:t>7/11 – Go live</a:t>
            </a:r>
          </a:p>
        </p:txBody>
      </p:sp>
      <p:grpSp>
        <p:nvGrpSpPr>
          <p:cNvPr id="40" name="Group 39">
            <a:extLst>
              <a:ext uri="{FF2B5EF4-FFF2-40B4-BE49-F238E27FC236}">
                <a16:creationId xmlns:a16="http://schemas.microsoft.com/office/drawing/2014/main" id="{82482DB5-4AEC-57C2-1B1B-F5C108E4EC1E}"/>
              </a:ext>
            </a:extLst>
          </p:cNvPr>
          <p:cNvGrpSpPr/>
          <p:nvPr/>
        </p:nvGrpSpPr>
        <p:grpSpPr>
          <a:xfrm>
            <a:off x="7554993" y="3846904"/>
            <a:ext cx="2148199" cy="274299"/>
            <a:chOff x="7276268" y="3589902"/>
            <a:chExt cx="2599321" cy="274299"/>
          </a:xfrm>
        </p:grpSpPr>
        <p:grpSp>
          <p:nvGrpSpPr>
            <p:cNvPr id="31" name="Group 27">
              <a:extLst>
                <a:ext uri="{FF2B5EF4-FFF2-40B4-BE49-F238E27FC236}">
                  <a16:creationId xmlns:a16="http://schemas.microsoft.com/office/drawing/2014/main" id="{AF239E21-A26B-3856-9740-E28BDC1F14B3}"/>
                </a:ext>
                <a:ext uri="{C183D7F6-B498-43B3-948B-1728B52AA6E4}">
                  <adec:decorative xmlns:adec="http://schemas.microsoft.com/office/drawing/2017/decorative" val="1"/>
                </a:ext>
              </a:extLst>
            </p:cNvPr>
            <p:cNvGrpSpPr/>
            <p:nvPr/>
          </p:nvGrpSpPr>
          <p:grpSpPr>
            <a:xfrm>
              <a:off x="7276268" y="3644756"/>
              <a:ext cx="2515821" cy="164592"/>
              <a:chOff x="1371600" y="1905000"/>
              <a:chExt cx="1828800" cy="228600"/>
            </a:xfrm>
          </p:grpSpPr>
          <p:sp>
            <p:nvSpPr>
              <p:cNvPr id="32" name="Rounded Rectangle 54">
                <a:extLst>
                  <a:ext uri="{FF2B5EF4-FFF2-40B4-BE49-F238E27FC236}">
                    <a16:creationId xmlns:a16="http://schemas.microsoft.com/office/drawing/2014/main" id="{62E63DB5-6D47-F27B-0B68-2039EB301B25}"/>
                  </a:ext>
                </a:extLst>
              </p:cNvPr>
              <p:cNvSpPr/>
              <p:nvPr/>
            </p:nvSpPr>
            <p:spPr>
              <a:xfrm>
                <a:off x="1371600" y="1905000"/>
                <a:ext cx="1828800" cy="2286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33" name="Rounded Rectangle 55">
                <a:extLst>
                  <a:ext uri="{FF2B5EF4-FFF2-40B4-BE49-F238E27FC236}">
                    <a16:creationId xmlns:a16="http://schemas.microsoft.com/office/drawing/2014/main" id="{B021155C-6146-B855-FFA1-F4B32A636231}"/>
                  </a:ext>
                </a:extLst>
              </p:cNvPr>
              <p:cNvSpPr/>
              <p:nvPr/>
            </p:nvSpPr>
            <p:spPr>
              <a:xfrm>
                <a:off x="1421674" y="1931126"/>
                <a:ext cx="1737360" cy="152400"/>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sp>
          <p:nvSpPr>
            <p:cNvPr id="35" name="Flowchart: Decision 36">
              <a:extLst>
                <a:ext uri="{FF2B5EF4-FFF2-40B4-BE49-F238E27FC236}">
                  <a16:creationId xmlns:a16="http://schemas.microsoft.com/office/drawing/2014/main" id="{276586C3-75EF-1C50-6B80-EB2242D1A126}"/>
                </a:ext>
                <a:ext uri="{C183D7F6-B498-43B3-948B-1728B52AA6E4}">
                  <adec:decorative xmlns:adec="http://schemas.microsoft.com/office/drawing/2017/decorative" val="1"/>
                </a:ext>
              </a:extLst>
            </p:cNvPr>
            <p:cNvSpPr/>
            <p:nvPr/>
          </p:nvSpPr>
          <p:spPr>
            <a:xfrm>
              <a:off x="9615690" y="3589902"/>
              <a:ext cx="259899" cy="274299"/>
            </a:xfrm>
            <a:prstGeom prst="flowChartDecision">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none" anchor="ctr"/>
            <a:lstStyle/>
            <a:p>
              <a:pPr>
                <a:defRPr/>
              </a:pPr>
              <a:endParaRPr lang="en-US" dirty="0">
                <a:latin typeface="Century Gothic" panose="020B0502020202020204" pitchFamily="34" charset="0"/>
              </a:endParaRPr>
            </a:p>
          </p:txBody>
        </p:sp>
      </p:grpSp>
      <p:cxnSp>
        <p:nvCxnSpPr>
          <p:cNvPr id="22" name="Straight Arrow Connector 21">
            <a:extLst>
              <a:ext uri="{FF2B5EF4-FFF2-40B4-BE49-F238E27FC236}">
                <a16:creationId xmlns:a16="http://schemas.microsoft.com/office/drawing/2014/main" id="{1885C21C-8518-8418-8014-353A556E0AEF}"/>
              </a:ext>
            </a:extLst>
          </p:cNvPr>
          <p:cNvCxnSpPr>
            <a:cxnSpLocks/>
          </p:cNvCxnSpPr>
          <p:nvPr/>
        </p:nvCxnSpPr>
        <p:spPr>
          <a:xfrm>
            <a:off x="7007724" y="988352"/>
            <a:ext cx="0" cy="4655039"/>
          </a:xfrm>
          <a:prstGeom prst="straightConnector1">
            <a:avLst/>
          </a:prstGeom>
          <a:ln>
            <a:solidFill>
              <a:srgbClr val="C00000"/>
            </a:solidFill>
            <a:headEnd type="none" w="med" len="med"/>
            <a:tailEnd type="arrow" w="med" len="med"/>
          </a:ln>
        </p:spPr>
        <p:style>
          <a:lnRef idx="3">
            <a:schemeClr val="accent3"/>
          </a:lnRef>
          <a:fillRef idx="0">
            <a:schemeClr val="accent3"/>
          </a:fillRef>
          <a:effectRef idx="2">
            <a:schemeClr val="accent3"/>
          </a:effectRef>
          <a:fontRef idx="minor">
            <a:schemeClr val="tx1"/>
          </a:fontRef>
        </p:style>
      </p:cxnSp>
      <p:sp>
        <p:nvSpPr>
          <p:cNvPr id="43" name="TextBox 42">
            <a:extLst>
              <a:ext uri="{FF2B5EF4-FFF2-40B4-BE49-F238E27FC236}">
                <a16:creationId xmlns:a16="http://schemas.microsoft.com/office/drawing/2014/main" id="{04BFB7F5-9590-BF62-525C-7A2971E4C4D7}"/>
              </a:ext>
            </a:extLst>
          </p:cNvPr>
          <p:cNvSpPr txBox="1"/>
          <p:nvPr/>
        </p:nvSpPr>
        <p:spPr>
          <a:xfrm>
            <a:off x="5443230" y="5779876"/>
            <a:ext cx="5649957" cy="1015663"/>
          </a:xfrm>
          <a:prstGeom prst="rect">
            <a:avLst/>
          </a:prstGeom>
          <a:noFill/>
        </p:spPr>
        <p:txBody>
          <a:bodyPr wrap="square">
            <a:spAutoFit/>
          </a:bodyPr>
          <a:lstStyle/>
          <a:p>
            <a:r>
              <a:rPr lang="en-US" sz="1200" b="1" dirty="0">
                <a:latin typeface="Century Gothic" panose="020B0502020202020204" pitchFamily="34" charset="0"/>
              </a:rPr>
              <a:t>Coordination:</a:t>
            </a:r>
          </a:p>
          <a:p>
            <a:r>
              <a:rPr lang="en-US" sz="1200" dirty="0">
                <a:latin typeface="Century Gothic" panose="020B0502020202020204" pitchFamily="34" charset="0"/>
              </a:rPr>
              <a:t>6/16 – 6/27 : Business Acceptance Testing, Defect Resolution</a:t>
            </a:r>
          </a:p>
          <a:p>
            <a:r>
              <a:rPr lang="en-US" sz="1200" dirty="0">
                <a:latin typeface="Century Gothic" panose="020B0502020202020204" pitchFamily="34" charset="0"/>
              </a:rPr>
              <a:t>6/16 – 6/27 : API Testing with Amazon</a:t>
            </a:r>
          </a:p>
          <a:p>
            <a:r>
              <a:rPr lang="en-US" sz="1200" dirty="0">
                <a:latin typeface="Century Gothic" panose="020B0502020202020204" pitchFamily="34" charset="0"/>
              </a:rPr>
              <a:t>6/30 – 7/11 : Deployment Activities</a:t>
            </a:r>
          </a:p>
          <a:p>
            <a:endParaRPr lang="en-US" sz="1200" dirty="0">
              <a:latin typeface="Century Gothic" panose="020B0502020202020204" pitchFamily="34" charset="0"/>
            </a:endParaRPr>
          </a:p>
        </p:txBody>
      </p:sp>
      <p:grpSp>
        <p:nvGrpSpPr>
          <p:cNvPr id="36" name="Group 33">
            <a:extLst>
              <a:ext uri="{FF2B5EF4-FFF2-40B4-BE49-F238E27FC236}">
                <a16:creationId xmlns:a16="http://schemas.microsoft.com/office/drawing/2014/main" id="{008C0BE6-5328-CCE7-D2E0-0C54E3F4DF91}"/>
              </a:ext>
              <a:ext uri="{C183D7F6-B498-43B3-948B-1728B52AA6E4}">
                <adec:decorative xmlns:adec="http://schemas.microsoft.com/office/drawing/2017/decorative" val="1"/>
              </a:ext>
            </a:extLst>
          </p:cNvPr>
          <p:cNvGrpSpPr/>
          <p:nvPr/>
        </p:nvGrpSpPr>
        <p:grpSpPr>
          <a:xfrm>
            <a:off x="7375041" y="3513698"/>
            <a:ext cx="781065" cy="164592"/>
            <a:chOff x="1371600" y="1905000"/>
            <a:chExt cx="1828800" cy="228600"/>
          </a:xfrm>
          <a:solidFill>
            <a:srgbClr val="4A66AC"/>
          </a:solidFill>
        </p:grpSpPr>
        <p:sp>
          <p:nvSpPr>
            <p:cNvPr id="38" name="Rounded Rectangle 60">
              <a:extLst>
                <a:ext uri="{FF2B5EF4-FFF2-40B4-BE49-F238E27FC236}">
                  <a16:creationId xmlns:a16="http://schemas.microsoft.com/office/drawing/2014/main" id="{DC338B7A-64F3-783A-10F6-F6239A9A42FF}"/>
                </a:ext>
              </a:extLst>
            </p:cNvPr>
            <p:cNvSpPr/>
            <p:nvPr/>
          </p:nvSpPr>
          <p:spPr>
            <a:xfrm>
              <a:off x="1371600" y="1905000"/>
              <a:ext cx="1828800" cy="228600"/>
            </a:xfrm>
            <a:prstGeom prst="roundRect">
              <a:avLst>
                <a:gd name="adj" fmla="val 48717"/>
              </a:avLst>
            </a:prstGeom>
            <a:grpFill/>
            <a:ln>
              <a:noFill/>
            </a:ln>
          </p:spPr>
          <p:style>
            <a:lnRef idx="0">
              <a:scrgbClr r="0" g="0" b="0"/>
            </a:lnRef>
            <a:fillRef idx="0">
              <a:scrgbClr r="0" g="0" b="0"/>
            </a:fillRef>
            <a:effectRef idx="0">
              <a:scrgbClr r="0" g="0" b="0"/>
            </a:effectRef>
            <a:fontRef idx="minor">
              <a:schemeClr val="lt1"/>
            </a:fontRef>
          </p:style>
          <p:txBody>
            <a:bodyPr lIns="18288" tIns="18288" rIns="18288" bIns="18288" anchor="ctr" anchorCtr="1"/>
            <a:lstStyle/>
            <a:p>
              <a:pPr algn="ctr">
                <a:lnSpc>
                  <a:spcPct val="85000"/>
                </a:lnSpc>
                <a:spcBef>
                  <a:spcPct val="20000"/>
                </a:spcBef>
              </a:pPr>
              <a:endParaRPr lang="en-US" sz="1600" b="1">
                <a:solidFill>
                  <a:schemeClr val="bg1"/>
                </a:solidFill>
                <a:latin typeface="Century Gothic" panose="020B0502020202020204" pitchFamily="34" charset="0"/>
              </a:endParaRPr>
            </a:p>
          </p:txBody>
        </p:sp>
        <p:sp>
          <p:nvSpPr>
            <p:cNvPr id="39" name="Rounded Rectangle 61">
              <a:extLst>
                <a:ext uri="{FF2B5EF4-FFF2-40B4-BE49-F238E27FC236}">
                  <a16:creationId xmlns:a16="http://schemas.microsoft.com/office/drawing/2014/main" id="{57DF6AC6-EEAD-F3D6-71A5-792E02BC7A02}"/>
                </a:ext>
              </a:extLst>
            </p:cNvPr>
            <p:cNvSpPr/>
            <p:nvPr/>
          </p:nvSpPr>
          <p:spPr>
            <a:xfrm>
              <a:off x="1421674" y="1931126"/>
              <a:ext cx="1737360" cy="152400"/>
            </a:xfrm>
            <a:prstGeom prst="roundRect">
              <a:avLst>
                <a:gd name="adj" fmla="val 48717"/>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85000"/>
                </a:lnSpc>
                <a:spcBef>
                  <a:spcPct val="20000"/>
                </a:spcBef>
              </a:pPr>
              <a:endParaRPr lang="en-US">
                <a:latin typeface="Century Gothic" panose="020B0502020202020204" pitchFamily="34" charset="0"/>
              </a:endParaRPr>
            </a:p>
          </p:txBody>
        </p:sp>
      </p:grpSp>
      <p:sp>
        <p:nvSpPr>
          <p:cNvPr id="46" name="TextBox 45">
            <a:extLst>
              <a:ext uri="{FF2B5EF4-FFF2-40B4-BE49-F238E27FC236}">
                <a16:creationId xmlns:a16="http://schemas.microsoft.com/office/drawing/2014/main" id="{C7976CD2-2C6F-10C1-BA68-BDCC381D31D2}"/>
              </a:ext>
            </a:extLst>
          </p:cNvPr>
          <p:cNvSpPr txBox="1"/>
          <p:nvPr/>
        </p:nvSpPr>
        <p:spPr>
          <a:xfrm>
            <a:off x="3041584" y="2388730"/>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4232053449"/>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EB12825-F157-4827-6D34-AA3A3281862D}"/>
              </a:ext>
            </a:extLst>
          </p:cNvPr>
          <p:cNvPicPr>
            <a:picLocks noChangeAspect="1"/>
          </p:cNvPicPr>
          <p:nvPr/>
        </p:nvPicPr>
        <p:blipFill>
          <a:blip r:embed="rId4"/>
          <a:srcRect t="2942" r="3196"/>
          <a:stretch/>
        </p:blipFill>
        <p:spPr>
          <a:xfrm>
            <a:off x="77013" y="994788"/>
            <a:ext cx="10743387" cy="4863436"/>
          </a:xfrm>
          <a:prstGeom prst="rect">
            <a:avLst/>
          </a:prstGeom>
        </p:spPr>
      </p:pic>
      <p:pic>
        <p:nvPicPr>
          <p:cNvPr id="4" name="Picture 3">
            <a:extLst>
              <a:ext uri="{FF2B5EF4-FFF2-40B4-BE49-F238E27FC236}">
                <a16:creationId xmlns:a16="http://schemas.microsoft.com/office/drawing/2014/main" id="{9ADBB939-F120-A1CA-2A1D-92C29E991373}"/>
              </a:ext>
            </a:extLst>
          </p:cNvPr>
          <p:cNvPicPr>
            <a:picLocks noChangeAspect="1"/>
          </p:cNvPicPr>
          <p:nvPr/>
        </p:nvPicPr>
        <p:blipFill>
          <a:blip r:embed="rId5"/>
          <a:srcRect l="76383" t="7576" b="78093"/>
          <a:stretch/>
        </p:blipFill>
        <p:spPr>
          <a:xfrm>
            <a:off x="9516492" y="121371"/>
            <a:ext cx="2583166" cy="949617"/>
          </a:xfrm>
          <a:prstGeom prst="rect">
            <a:avLst/>
          </a:prstGeom>
        </p:spPr>
      </p:pic>
      <p:sp>
        <p:nvSpPr>
          <p:cNvPr id="2" name="Title 1">
            <a:extLst>
              <a:ext uri="{FF2B5EF4-FFF2-40B4-BE49-F238E27FC236}">
                <a16:creationId xmlns:a16="http://schemas.microsoft.com/office/drawing/2014/main" id="{30761E5B-27FF-33A6-80EC-FC0741303A51}"/>
              </a:ext>
            </a:extLst>
          </p:cNvPr>
          <p:cNvSpPr>
            <a:spLocks noGrp="1"/>
          </p:cNvSpPr>
          <p:nvPr>
            <p:ph type="title"/>
          </p:nvPr>
        </p:nvSpPr>
        <p:spPr>
          <a:xfrm>
            <a:off x="598503" y="193906"/>
            <a:ext cx="10515600" cy="487131"/>
          </a:xfrm>
        </p:spPr>
        <p:txBody>
          <a:bodyPr>
            <a:normAutofit/>
          </a:bodyPr>
          <a:lstStyle/>
          <a:p>
            <a:r>
              <a:rPr lang="en-US" sz="2800" dirty="0"/>
              <a:t>GreenCircle Certified Database Site Map</a:t>
            </a:r>
          </a:p>
        </p:txBody>
      </p:sp>
      <p:sp>
        <p:nvSpPr>
          <p:cNvPr id="7" name="Date Placeholder 6">
            <a:extLst>
              <a:ext uri="{FF2B5EF4-FFF2-40B4-BE49-F238E27FC236}">
                <a16:creationId xmlns:a16="http://schemas.microsoft.com/office/drawing/2014/main" id="{FA09F5C0-52DA-DF94-2FBE-5D1E855C488E}"/>
              </a:ext>
            </a:extLst>
          </p:cNvPr>
          <p:cNvSpPr>
            <a:spLocks noGrp="1"/>
          </p:cNvSpPr>
          <p:nvPr>
            <p:ph type="dt" sz="half" idx="10"/>
          </p:nvPr>
        </p:nvSpPr>
        <p:spPr>
          <a:xfrm>
            <a:off x="838200" y="6356350"/>
            <a:ext cx="2743200" cy="365125"/>
          </a:xfrm>
        </p:spPr>
        <p:txBody>
          <a:bodyPr anchor="ctr">
            <a:normAutofit/>
          </a:bodyPr>
          <a:lstStyle/>
          <a:p>
            <a:pPr>
              <a:spcAft>
                <a:spcPts val="600"/>
              </a:spcAft>
            </a:pPr>
            <a:fld id="{1F040F15-3124-4DA1-BD1D-A4F020C7C5A7}" type="datetime1">
              <a:rPr lang="en-US" smtClean="0"/>
              <a:pPr>
                <a:spcAft>
                  <a:spcPts val="600"/>
                </a:spcAft>
              </a:pPr>
              <a:t>6/21/2025</a:t>
            </a:fld>
            <a:endParaRPr lang="en-US"/>
          </a:p>
        </p:txBody>
      </p:sp>
      <p:sp>
        <p:nvSpPr>
          <p:cNvPr id="8" name="Slide Number Placeholder 7">
            <a:extLst>
              <a:ext uri="{FF2B5EF4-FFF2-40B4-BE49-F238E27FC236}">
                <a16:creationId xmlns:a16="http://schemas.microsoft.com/office/drawing/2014/main" id="{5C24D69F-4E32-59D8-62AB-5F97C38E1DB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a:t>
            </a:fld>
            <a:endParaRPr lang="en-US"/>
          </a:p>
        </p:txBody>
      </p:sp>
      <p:sp>
        <p:nvSpPr>
          <p:cNvPr id="22" name="TextBox 21">
            <a:extLst>
              <a:ext uri="{FF2B5EF4-FFF2-40B4-BE49-F238E27FC236}">
                <a16:creationId xmlns:a16="http://schemas.microsoft.com/office/drawing/2014/main" id="{A12E4D06-E6D9-C763-0B86-D938D124541E}"/>
              </a:ext>
            </a:extLst>
          </p:cNvPr>
          <p:cNvSpPr txBox="1"/>
          <p:nvPr/>
        </p:nvSpPr>
        <p:spPr>
          <a:xfrm>
            <a:off x="404037" y="5719928"/>
            <a:ext cx="4848448" cy="938719"/>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Assumptions:</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Certificate List 1.0 is a different page than Certificates 3.0.</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Admin will have the ability to Add, Edit or Delete a Certificate, Company, Products,  Users, Certificate Type, Product Types and Tags. </a:t>
            </a:r>
          </a:p>
        </p:txBody>
      </p:sp>
      <p:sp>
        <p:nvSpPr>
          <p:cNvPr id="24" name="TextBox 23">
            <a:extLst>
              <a:ext uri="{FF2B5EF4-FFF2-40B4-BE49-F238E27FC236}">
                <a16:creationId xmlns:a16="http://schemas.microsoft.com/office/drawing/2014/main" id="{8AD6F484-B1DD-E163-3259-5895CE3F6EAE}"/>
              </a:ext>
            </a:extLst>
          </p:cNvPr>
          <p:cNvSpPr txBox="1"/>
          <p:nvPr/>
        </p:nvSpPr>
        <p:spPr>
          <a:xfrm>
            <a:off x="8236689" y="5193997"/>
            <a:ext cx="3955311" cy="1631216"/>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Notes: </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CRUD: [Create, Read, Update, Delete] – Wireframes include the details of the screens.</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Notifications &amp; Alerts: Color-coded: Green for success, Red for errors, Yellow for warnings, Blue/gray for info)</a:t>
            </a:r>
          </a:p>
          <a:p>
            <a:pPr marL="285750" marR="0" indent="-285750" algn="l" rtl="0">
              <a:buFont typeface="Arial" panose="020B0604020202020204" pitchFamily="34" charset="0"/>
              <a:buChar char="•"/>
            </a:pPr>
            <a:r>
              <a:rPr lang="en-US" sz="1100" dirty="0">
                <a:latin typeface="Century Gothic" panose="020B0502020202020204" pitchFamily="34" charset="0"/>
              </a:rPr>
              <a:t>Sign-up Registration will be included but hidden and disabled for all users except the admin.</a:t>
            </a:r>
            <a:endParaRPr lang="en-US" sz="1100" b="0" i="0" u="none" strike="noStrike" baseline="0" dirty="0">
              <a:latin typeface="Century Gothic" panose="020B0502020202020204" pitchFamily="34" charset="0"/>
            </a:endParaRPr>
          </a:p>
          <a:p>
            <a:pPr marL="285750" marR="0" indent="-285750" algn="l" rtl="0">
              <a:buFont typeface="Arial" panose="020B0604020202020204" pitchFamily="34" charset="0"/>
              <a:buChar char="•"/>
            </a:pPr>
            <a:endParaRPr lang="en-US" sz="1200" dirty="0">
              <a:latin typeface="Century Gothic" panose="020B0502020202020204" pitchFamily="34" charset="0"/>
            </a:endParaRPr>
          </a:p>
        </p:txBody>
      </p:sp>
      <p:sp>
        <p:nvSpPr>
          <p:cNvPr id="3" name="TextBox 2">
            <a:extLst>
              <a:ext uri="{FF2B5EF4-FFF2-40B4-BE49-F238E27FC236}">
                <a16:creationId xmlns:a16="http://schemas.microsoft.com/office/drawing/2014/main" id="{84D5E982-1727-A32C-ACB5-2AAE9235A655}"/>
              </a:ext>
            </a:extLst>
          </p:cNvPr>
          <p:cNvSpPr txBox="1"/>
          <p:nvPr/>
        </p:nvSpPr>
        <p:spPr>
          <a:xfrm>
            <a:off x="3041584" y="2388730"/>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1482514581"/>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7D71-E324-FA19-A0EE-B96ADA257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17F4E-A12C-847F-590F-C3022D2E2BDC}"/>
              </a:ext>
            </a:extLst>
          </p:cNvPr>
          <p:cNvSpPr>
            <a:spLocks noGrp="1"/>
          </p:cNvSpPr>
          <p:nvPr>
            <p:ph type="ctrTitle"/>
          </p:nvPr>
        </p:nvSpPr>
        <p:spPr>
          <a:xfrm>
            <a:off x="1524000" y="2351686"/>
            <a:ext cx="9144000" cy="2387600"/>
          </a:xfrm>
        </p:spPr>
        <p:txBody>
          <a:bodyPr/>
          <a:lstStyle/>
          <a:p>
            <a:r>
              <a:rPr lang="en-US"/>
              <a:t>User Stories</a:t>
            </a:r>
          </a:p>
        </p:txBody>
      </p:sp>
      <p:sp>
        <p:nvSpPr>
          <p:cNvPr id="3" name="Subtitle 2">
            <a:extLst>
              <a:ext uri="{FF2B5EF4-FFF2-40B4-BE49-F238E27FC236}">
                <a16:creationId xmlns:a16="http://schemas.microsoft.com/office/drawing/2014/main" id="{6495D67B-CE12-87AF-09DE-1B08F4A1517C}"/>
              </a:ext>
            </a:extLst>
          </p:cNvPr>
          <p:cNvSpPr>
            <a:spLocks noGrp="1"/>
          </p:cNvSpPr>
          <p:nvPr>
            <p:ph type="subTitle" idx="1"/>
          </p:nvPr>
        </p:nvSpPr>
        <p:spPr>
          <a:xfrm>
            <a:off x="1524000" y="4123037"/>
            <a:ext cx="9144000" cy="1655762"/>
          </a:xfrm>
        </p:spPr>
        <p:txBody>
          <a:bodyPr/>
          <a:lstStyle/>
          <a:p>
            <a:r>
              <a:rPr lang="en-US"/>
              <a:t> </a:t>
            </a:r>
          </a:p>
        </p:txBody>
      </p:sp>
      <p:sp>
        <p:nvSpPr>
          <p:cNvPr id="8" name="Date Placeholder 7">
            <a:extLst>
              <a:ext uri="{FF2B5EF4-FFF2-40B4-BE49-F238E27FC236}">
                <a16:creationId xmlns:a16="http://schemas.microsoft.com/office/drawing/2014/main" id="{EC4413B6-425E-4BE3-9EF4-82F7D3FC2A89}"/>
              </a:ext>
            </a:extLst>
          </p:cNvPr>
          <p:cNvSpPr>
            <a:spLocks noGrp="1"/>
          </p:cNvSpPr>
          <p:nvPr>
            <p:ph type="dt" sz="half" idx="10"/>
          </p:nvPr>
        </p:nvSpPr>
        <p:spPr/>
        <p:txBody>
          <a:bodyPr/>
          <a:lstStyle/>
          <a:p>
            <a:fld id="{5948895C-732D-4B88-B65C-5D83E3577007}" type="datetime1">
              <a:rPr lang="en-US" smtClean="0"/>
              <a:t>6/21/2025</a:t>
            </a:fld>
            <a:endParaRPr lang="en-US"/>
          </a:p>
        </p:txBody>
      </p:sp>
      <p:sp>
        <p:nvSpPr>
          <p:cNvPr id="9" name="Slide Number Placeholder 8">
            <a:extLst>
              <a:ext uri="{FF2B5EF4-FFF2-40B4-BE49-F238E27FC236}">
                <a16:creationId xmlns:a16="http://schemas.microsoft.com/office/drawing/2014/main" id="{6A79BD37-18B9-C71D-8CE5-CB96D3B5781B}"/>
              </a:ext>
            </a:extLst>
          </p:cNvPr>
          <p:cNvSpPr>
            <a:spLocks noGrp="1"/>
          </p:cNvSpPr>
          <p:nvPr>
            <p:ph type="sldNum" sz="quarter" idx="12"/>
          </p:nvPr>
        </p:nvSpPr>
        <p:spPr/>
        <p:txBody>
          <a:bodyPr/>
          <a:lstStyle/>
          <a:p>
            <a:fld id="{330EA680-D336-4FF7-8B7A-9848BB0A1C32}" type="slidenum">
              <a:rPr lang="en-US" smtClean="0"/>
              <a:t>4</a:t>
            </a:fld>
            <a:endParaRPr lang="en-US"/>
          </a:p>
        </p:txBody>
      </p:sp>
      <p:pic>
        <p:nvPicPr>
          <p:cNvPr id="10" name="Picture 9" descr="GreenCircle Certified">
            <a:extLst>
              <a:ext uri="{FF2B5EF4-FFF2-40B4-BE49-F238E27FC236}">
                <a16:creationId xmlns:a16="http://schemas.microsoft.com/office/drawing/2014/main" id="{303C2992-8F9E-BF56-E6C0-2A326826EF55}"/>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2192276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6374-B8A5-5DC4-DFFA-0DE84C0CF22B}"/>
              </a:ext>
            </a:extLst>
          </p:cNvPr>
          <p:cNvSpPr>
            <a:spLocks noGrp="1"/>
          </p:cNvSpPr>
          <p:nvPr>
            <p:ph type="title"/>
          </p:nvPr>
        </p:nvSpPr>
        <p:spPr>
          <a:xfrm>
            <a:off x="598503" y="193906"/>
            <a:ext cx="10515600" cy="487131"/>
          </a:xfrm>
        </p:spPr>
        <p:txBody>
          <a:bodyPr>
            <a:normAutofit/>
          </a:bodyPr>
          <a:lstStyle/>
          <a:p>
            <a:r>
              <a:rPr lang="en-US" sz="2800" dirty="0"/>
              <a:t>GCC: User Roles</a:t>
            </a:r>
          </a:p>
        </p:txBody>
      </p:sp>
      <p:sp>
        <p:nvSpPr>
          <p:cNvPr id="6" name="Date Placeholder 5">
            <a:extLst>
              <a:ext uri="{FF2B5EF4-FFF2-40B4-BE49-F238E27FC236}">
                <a16:creationId xmlns:a16="http://schemas.microsoft.com/office/drawing/2014/main" id="{CC603D41-1D07-44B8-98B8-1D2FAF9B2D29}"/>
              </a:ext>
            </a:extLst>
          </p:cNvPr>
          <p:cNvSpPr>
            <a:spLocks noGrp="1"/>
          </p:cNvSpPr>
          <p:nvPr>
            <p:ph type="dt" sz="half" idx="10"/>
          </p:nvPr>
        </p:nvSpPr>
        <p:spPr>
          <a:xfrm>
            <a:off x="838200" y="6356350"/>
            <a:ext cx="2743200" cy="365125"/>
          </a:xfrm>
        </p:spPr>
        <p:txBody>
          <a:bodyPr anchor="ctr">
            <a:normAutofit/>
          </a:bodyPr>
          <a:lstStyle/>
          <a:p>
            <a:pPr>
              <a:spcAft>
                <a:spcPts val="600"/>
              </a:spcAft>
            </a:pPr>
            <a:fld id="{9C14022A-3C70-4A2F-B612-DD3206EDC051}" type="datetime1">
              <a:rPr lang="en-US" smtClean="0"/>
              <a:pPr>
                <a:spcAft>
                  <a:spcPts val="600"/>
                </a:spcAft>
              </a:pPr>
              <a:t>6/21/2025</a:t>
            </a:fld>
            <a:endParaRPr lang="en-US"/>
          </a:p>
        </p:txBody>
      </p:sp>
      <p:sp>
        <p:nvSpPr>
          <p:cNvPr id="7" name="Slide Number Placeholder 6">
            <a:extLst>
              <a:ext uri="{FF2B5EF4-FFF2-40B4-BE49-F238E27FC236}">
                <a16:creationId xmlns:a16="http://schemas.microsoft.com/office/drawing/2014/main" id="{5C1383DD-AB33-75C0-D989-99C89E3BB60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a:t>
            </a:fld>
            <a:endParaRPr lang="en-US"/>
          </a:p>
        </p:txBody>
      </p:sp>
      <p:grpSp>
        <p:nvGrpSpPr>
          <p:cNvPr id="5" name="Group 4">
            <a:extLst>
              <a:ext uri="{FF2B5EF4-FFF2-40B4-BE49-F238E27FC236}">
                <a16:creationId xmlns:a16="http://schemas.microsoft.com/office/drawing/2014/main" id="{B5A7A362-CBF9-21D4-D089-F627C7F69B23}"/>
              </a:ext>
            </a:extLst>
          </p:cNvPr>
          <p:cNvGrpSpPr/>
          <p:nvPr/>
        </p:nvGrpSpPr>
        <p:grpSpPr>
          <a:xfrm>
            <a:off x="874018" y="772931"/>
            <a:ext cx="10387549" cy="5452534"/>
            <a:chOff x="621346" y="772930"/>
            <a:chExt cx="10719104" cy="5626571"/>
          </a:xfrm>
        </p:grpSpPr>
        <p:pic>
          <p:nvPicPr>
            <p:cNvPr id="4" name="Picture 3">
              <a:extLst>
                <a:ext uri="{FF2B5EF4-FFF2-40B4-BE49-F238E27FC236}">
                  <a16:creationId xmlns:a16="http://schemas.microsoft.com/office/drawing/2014/main" id="{6AD8C2DA-F61C-7485-F372-3BB7A9B04FF4}"/>
                </a:ext>
              </a:extLst>
            </p:cNvPr>
            <p:cNvPicPr>
              <a:picLocks noChangeAspect="1"/>
            </p:cNvPicPr>
            <p:nvPr/>
          </p:nvPicPr>
          <p:blipFill>
            <a:blip r:embed="rId4"/>
            <a:srcRect l="1" t="14671" r="-2" b="7121"/>
            <a:stretch/>
          </p:blipFill>
          <p:spPr>
            <a:xfrm>
              <a:off x="621346" y="1704923"/>
              <a:ext cx="10719104" cy="4694578"/>
            </a:xfrm>
            <a:prstGeom prst="rect">
              <a:avLst/>
            </a:prstGeom>
            <a:noFill/>
          </p:spPr>
        </p:pic>
        <p:pic>
          <p:nvPicPr>
            <p:cNvPr id="3" name="Picture 2">
              <a:extLst>
                <a:ext uri="{FF2B5EF4-FFF2-40B4-BE49-F238E27FC236}">
                  <a16:creationId xmlns:a16="http://schemas.microsoft.com/office/drawing/2014/main" id="{CA768D09-C2D9-CEFE-1E54-F38C2BDCDD3F}"/>
                </a:ext>
              </a:extLst>
            </p:cNvPr>
            <p:cNvPicPr>
              <a:picLocks noChangeAspect="1"/>
            </p:cNvPicPr>
            <p:nvPr/>
          </p:nvPicPr>
          <p:blipFill>
            <a:blip r:embed="rId5"/>
            <a:srcRect b="83911"/>
            <a:stretch/>
          </p:blipFill>
          <p:spPr>
            <a:xfrm>
              <a:off x="659218" y="772930"/>
              <a:ext cx="10674032" cy="872989"/>
            </a:xfrm>
            <a:prstGeom prst="rect">
              <a:avLst/>
            </a:prstGeom>
          </p:spPr>
        </p:pic>
      </p:grpSp>
    </p:spTree>
    <p:extLst>
      <p:ext uri="{BB962C8B-B14F-4D97-AF65-F5344CB8AC3E}">
        <p14:creationId xmlns:p14="http://schemas.microsoft.com/office/powerpoint/2010/main" val="3746237643"/>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CD9DF-77D9-154A-933C-8F26A1E504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6D7BE7-D40B-8DCB-C605-F726658A3CC6}"/>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browse publicly available active certifications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certifications without needing to log in so that I can quickly find information.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only non-confidential certifications so that I do not access restricted data.</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Search &amp; Filtering</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certificate number, certificate type, company, country or product so that I can verify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filter certifications by product, product type</a:t>
            </a:r>
            <a:r>
              <a:rPr lang="en-AU" sz="1600" dirty="0">
                <a:latin typeface="Arial" panose="020B0604020202020204" pitchFamily="34" charset="0"/>
                <a:ea typeface="Calibri" panose="020F0502020204030204" pitchFamily="34" charset="0"/>
              </a:rPr>
              <a:t> </a:t>
            </a:r>
            <a:r>
              <a:rPr lang="en-AU" sz="1600" dirty="0">
                <a:effectLst/>
                <a:latin typeface="Arial" panose="020B0604020202020204" pitchFamily="34" charset="0"/>
                <a:ea typeface="Calibri" panose="020F0502020204030204" pitchFamily="34" charset="0"/>
              </a:rPr>
              <a:t>/ category, and product subcategory so that I can narrow my search.</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the most recently issued certifications and those with upcoming expiration dates.</a:t>
            </a:r>
            <a:endParaRPr lang="en-US" sz="16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Viewing &amp; Downloading Certifications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details of a certification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a:t>
            </a:r>
            <a:r>
              <a:rPr lang="en-AU" sz="1600" dirty="0">
                <a:latin typeface="Arial" panose="020B0604020202020204" pitchFamily="34" charset="0"/>
                <a:ea typeface="Calibri" panose="020F0502020204030204" pitchFamily="34" charset="0"/>
              </a:rPr>
              <a:t> view and</a:t>
            </a:r>
            <a:r>
              <a:rPr lang="en-AU" sz="1600" dirty="0">
                <a:effectLst/>
                <a:latin typeface="Arial" panose="020B0604020202020204" pitchFamily="34" charset="0"/>
                <a:ea typeface="Calibri" panose="020F0502020204030204" pitchFamily="34" charset="0"/>
              </a:rPr>
              <a:t> download single certifications so that I can reference them offline.</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BACB20B2-CB92-0086-C103-CE8986B6CECE}"/>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1B0AD111-BAB9-99FF-C1FA-3C9AD5238CAD}"/>
              </a:ext>
            </a:extLst>
          </p:cNvPr>
          <p:cNvSpPr>
            <a:spLocks noGrp="1"/>
          </p:cNvSpPr>
          <p:nvPr>
            <p:ph type="sldNum" sz="quarter" idx="12"/>
          </p:nvPr>
        </p:nvSpPr>
        <p:spPr/>
        <p:txBody>
          <a:bodyPr/>
          <a:lstStyle/>
          <a:p>
            <a:fld id="{330EA680-D336-4FF7-8B7A-9848BB0A1C32}" type="slidenum">
              <a:rPr lang="en-US" smtClean="0"/>
              <a:t>6</a:t>
            </a:fld>
            <a:endParaRPr lang="en-US" dirty="0"/>
          </a:p>
        </p:txBody>
      </p:sp>
      <p:sp>
        <p:nvSpPr>
          <p:cNvPr id="6" name="Title 5">
            <a:extLst>
              <a:ext uri="{FF2B5EF4-FFF2-40B4-BE49-F238E27FC236}">
                <a16:creationId xmlns:a16="http://schemas.microsoft.com/office/drawing/2014/main" id="{1454101A-9834-E0FF-B646-3EA9B7A6CEF8}"/>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2383232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0C37-076F-917E-ECE0-570A40FCE9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4F1EC3-5BC4-1AEE-5EB9-1E07300BC4EA}"/>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tags assigned to certifications so that I can understand additional certification classifications.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tag so that I can find related certificates.</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600" b="1"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only publicly available information so that confidential data remains protected.</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20BE3E93-EB52-3C81-4164-BC15C3F7C5CF}"/>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05647AD1-9872-D34A-3B15-78C198C6D8C5}"/>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6" name="Title 5">
            <a:extLst>
              <a:ext uri="{FF2B5EF4-FFF2-40B4-BE49-F238E27FC236}">
                <a16:creationId xmlns:a16="http://schemas.microsoft.com/office/drawing/2014/main" id="{D1FF4230-1973-92CC-7C4F-1AB6314DA657}"/>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4252886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1AAB-E966-05F3-12B5-1DE9393A07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278B6C-8D4D-02BA-D79F-E94EA2B0E734}"/>
              </a:ext>
            </a:extLst>
          </p:cNvPr>
          <p:cNvSpPr>
            <a:spLocks noGrp="1"/>
          </p:cNvSpPr>
          <p:nvPr>
            <p:ph sz="half" idx="1"/>
          </p:nvPr>
        </p:nvSpPr>
        <p:spPr>
          <a:xfrm>
            <a:off x="598504" y="782425"/>
            <a:ext cx="10874026" cy="5394538"/>
          </a:xfrm>
        </p:spPr>
        <p:txBody>
          <a:bodyPr>
            <a:normAutofit lnSpcReduction="10000"/>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company's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company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so that my access is restricted to my organization.</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company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sort certifications by expiration date so that I can prioritize renewals.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company's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9AA47E39-7A8E-343D-DDA7-E63EA9157D49}"/>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135E0214-2322-0B49-40B6-B92BFF397CC1}"/>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6" name="Title 5">
            <a:extLst>
              <a:ext uri="{FF2B5EF4-FFF2-40B4-BE49-F238E27FC236}">
                <a16:creationId xmlns:a16="http://schemas.microsoft.com/office/drawing/2014/main" id="{FADE94E8-1645-6359-4F4B-46E9D365C282}"/>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3457284407"/>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0C1C2-CE0B-0391-10B5-3ED889DBAF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ABAA6E-0BAA-4F2E-34AE-B10B4779CBF5}"/>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ensure timely renewals.</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company's data so that I do not see competitors'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D367DDA7-4610-6FFD-539B-F1A2EBAB8099}"/>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8FFF1D94-0171-65B1-9464-46864DFB275A}"/>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6" name="Title 5">
            <a:extLst>
              <a:ext uri="{FF2B5EF4-FFF2-40B4-BE49-F238E27FC236}">
                <a16:creationId xmlns:a16="http://schemas.microsoft.com/office/drawing/2014/main" id="{30D14B2B-0E3F-BBE3-6938-9D88EC537E8A}"/>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470559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060A-3F7C-6AF9-A2A7-70972A444B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569786-0B90-B76C-5861-9066EF16D50B}"/>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program's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or programs so that my access is restricted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program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program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441BBF03-7081-4811-8739-E40FD6D0ED5F}"/>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6914171E-E7BE-F3FE-7C70-336918BF6A63}"/>
              </a:ext>
            </a:extLst>
          </p:cNvPr>
          <p:cNvSpPr>
            <a:spLocks noGrp="1"/>
          </p:cNvSpPr>
          <p:nvPr>
            <p:ph type="sldNum" sz="quarter" idx="12"/>
          </p:nvPr>
        </p:nvSpPr>
        <p:spPr/>
        <p:txBody>
          <a:bodyPr/>
          <a:lstStyle/>
          <a:p>
            <a:fld id="{330EA680-D336-4FF7-8B7A-9848BB0A1C32}" type="slidenum">
              <a:rPr lang="en-US" smtClean="0"/>
              <a:t>10</a:t>
            </a:fld>
            <a:endParaRPr lang="en-US"/>
          </a:p>
        </p:txBody>
      </p:sp>
      <p:sp>
        <p:nvSpPr>
          <p:cNvPr id="6" name="Title 5">
            <a:extLst>
              <a:ext uri="{FF2B5EF4-FFF2-40B4-BE49-F238E27FC236}">
                <a16:creationId xmlns:a16="http://schemas.microsoft.com/office/drawing/2014/main" id="{00925039-4F80-0C63-4A13-8736BF035062}"/>
              </a:ext>
            </a:extLst>
          </p:cNvPr>
          <p:cNvSpPr>
            <a:spLocks noGrp="1"/>
          </p:cNvSpPr>
          <p:nvPr>
            <p:ph type="title"/>
          </p:nvPr>
        </p:nvSpPr>
        <p:spPr/>
        <p:txBody>
          <a:bodyPr/>
          <a:lstStyle/>
          <a:p>
            <a:r>
              <a:rPr lang="en-US" sz="2800" dirty="0"/>
              <a:t>User Stories – External User (Partner)</a:t>
            </a:r>
          </a:p>
        </p:txBody>
      </p:sp>
    </p:spTree>
    <p:extLst>
      <p:ext uri="{BB962C8B-B14F-4D97-AF65-F5344CB8AC3E}">
        <p14:creationId xmlns:p14="http://schemas.microsoft.com/office/powerpoint/2010/main" val="2331263732"/>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B900C-2ECB-B507-81F3-788BB3732D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BDB0AC-A599-E052-2E6C-CA1640F1B02D}"/>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validate certification period.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program’s data so that I do not see competitors’ or restricted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p>
          <a:p>
            <a:pPr marL="34290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request additional access from an admin if needed so that I can view more relevant certifications and/or API configuration.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C114F74D-2AAF-FDE1-F908-13DEAE530EF6}"/>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002CAB5B-2E97-4A42-B0A7-03E217378824}"/>
              </a:ext>
            </a:extLst>
          </p:cNvPr>
          <p:cNvSpPr>
            <a:spLocks noGrp="1"/>
          </p:cNvSpPr>
          <p:nvPr>
            <p:ph type="sldNum" sz="quarter" idx="12"/>
          </p:nvPr>
        </p:nvSpPr>
        <p:spPr/>
        <p:txBody>
          <a:bodyPr/>
          <a:lstStyle/>
          <a:p>
            <a:fld id="{330EA680-D336-4FF7-8B7A-9848BB0A1C32}" type="slidenum">
              <a:rPr lang="en-US" smtClean="0"/>
              <a:t>11</a:t>
            </a:fld>
            <a:endParaRPr lang="en-US"/>
          </a:p>
        </p:txBody>
      </p:sp>
      <p:sp>
        <p:nvSpPr>
          <p:cNvPr id="6" name="Title 5">
            <a:extLst>
              <a:ext uri="{FF2B5EF4-FFF2-40B4-BE49-F238E27FC236}">
                <a16:creationId xmlns:a16="http://schemas.microsoft.com/office/drawing/2014/main" id="{61CF5A4D-FC37-5CA1-782E-7C4CFCFC84B0}"/>
              </a:ext>
            </a:extLst>
          </p:cNvPr>
          <p:cNvSpPr>
            <a:spLocks noGrp="1"/>
          </p:cNvSpPr>
          <p:nvPr>
            <p:ph type="title"/>
          </p:nvPr>
        </p:nvSpPr>
        <p:spPr/>
        <p:txBody>
          <a:bodyPr/>
          <a:lstStyle/>
          <a:p>
            <a:r>
              <a:rPr lang="en-US" sz="2800" dirty="0"/>
              <a:t>User Stories – External User (Partner)</a:t>
            </a:r>
          </a:p>
        </p:txBody>
      </p:sp>
    </p:spTree>
    <p:extLst>
      <p:ext uri="{BB962C8B-B14F-4D97-AF65-F5344CB8AC3E}">
        <p14:creationId xmlns:p14="http://schemas.microsoft.com/office/powerpoint/2010/main" val="1214815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F5DE-7852-A2C8-C5F1-880276F617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B06BB6-DB6D-61A5-8CB1-99EDB77DE949}"/>
              </a:ext>
            </a:extLst>
          </p:cNvPr>
          <p:cNvSpPr>
            <a:spLocks noGrp="1"/>
          </p:cNvSpPr>
          <p:nvPr>
            <p:ph sz="half" idx="1"/>
          </p:nvPr>
        </p:nvSpPr>
        <p:spPr>
          <a:xfrm>
            <a:off x="598504" y="782425"/>
            <a:ext cx="10874026" cy="5573925"/>
          </a:xfrm>
        </p:spPr>
        <p:txBody>
          <a:bodyPr>
            <a:noAutofit/>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log in securely so that I can access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see all certifications so that I can manage records effectively.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my access restricted to only my assigned role so that I do not see unauthorized data.</a:t>
            </a:r>
          </a:p>
          <a:p>
            <a:pPr marL="34290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dashboard reports so that I can track data and trends.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filter certifications by all fields so that I can generate reports and narrow by results based on my search needs.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sort certifications by modification date so that I can easily find a recent certificate that may need additional edits.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Viewing &amp; Downloading Certifications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detailed certification records so that I can ensure compliance accuracy.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download certification data in bulk so that I can conduct offline analysis.</a:t>
            </a:r>
          </a:p>
          <a:p>
            <a:pPr marL="342900" indent="-342900">
              <a:lnSpc>
                <a:spcPct val="107000"/>
              </a:lnSpc>
              <a:buClr>
                <a:srgbClr val="0481B6"/>
              </a:buClr>
              <a:buSzPts val="1400"/>
              <a:buFont typeface="Wingdings" panose="05000000000000000000" pitchFamily="2" charset="2"/>
              <a:buChar char=""/>
            </a:pPr>
            <a:r>
              <a:rPr lang="en-US" sz="1400" dirty="0">
                <a:effectLst/>
                <a:latin typeface="Arial" panose="020B0604020202020204" pitchFamily="34" charset="0"/>
                <a:ea typeface="Calibri" panose="020F0502020204030204" pitchFamily="34" charset="0"/>
              </a:rPr>
              <a:t>As an analyst, </a:t>
            </a:r>
            <a:r>
              <a:rPr lang="en-AU" sz="1400" dirty="0">
                <a:latin typeface="Arial" panose="020B0604020202020204" pitchFamily="34" charset="0"/>
                <a:ea typeface="Calibri" panose="020F0502020204030204" pitchFamily="34" charset="0"/>
              </a:rPr>
              <a:t>, I want to see the history of modifications for a certification so that I can track changes.</a:t>
            </a:r>
            <a:endParaRPr lang="en-US" sz="1400" dirty="0">
              <a:effectLst/>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analyst, I want to download multiple certifications based on search criteria to view or save in bulk.</a:t>
            </a:r>
            <a:endParaRPr lang="en-US" sz="1400" dirty="0">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US" sz="1400" dirty="0">
                <a:latin typeface="Arial" panose="020B0604020202020204" pitchFamily="34" charset="0"/>
                <a:ea typeface="Calibri" panose="020F0502020204030204" pitchFamily="34" charset="0"/>
              </a:rPr>
              <a:t>As an analyst, I want to be able to add and edit certificates, cert status, products, and companies.</a:t>
            </a:r>
          </a:p>
        </p:txBody>
      </p:sp>
      <p:sp>
        <p:nvSpPr>
          <p:cNvPr id="4" name="Date Placeholder 3">
            <a:extLst>
              <a:ext uri="{FF2B5EF4-FFF2-40B4-BE49-F238E27FC236}">
                <a16:creationId xmlns:a16="http://schemas.microsoft.com/office/drawing/2014/main" id="{993811B2-6A57-DB2B-51EC-30F84ED77F03}"/>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E40229D6-8D02-0848-03BE-39DF898C6009}"/>
              </a:ext>
            </a:extLst>
          </p:cNvPr>
          <p:cNvSpPr>
            <a:spLocks noGrp="1"/>
          </p:cNvSpPr>
          <p:nvPr>
            <p:ph type="sldNum" sz="quarter" idx="12"/>
          </p:nvPr>
        </p:nvSpPr>
        <p:spPr/>
        <p:txBody>
          <a:bodyPr/>
          <a:lstStyle/>
          <a:p>
            <a:fld id="{330EA680-D336-4FF7-8B7A-9848BB0A1C32}" type="slidenum">
              <a:rPr lang="en-US" smtClean="0"/>
              <a:t>12</a:t>
            </a:fld>
            <a:endParaRPr lang="en-US"/>
          </a:p>
        </p:txBody>
      </p:sp>
      <p:sp>
        <p:nvSpPr>
          <p:cNvPr id="6" name="Title 5">
            <a:extLst>
              <a:ext uri="{FF2B5EF4-FFF2-40B4-BE49-F238E27FC236}">
                <a16:creationId xmlns:a16="http://schemas.microsoft.com/office/drawing/2014/main" id="{53D88DB8-3FD9-FB03-D585-5A3AB87DAB05}"/>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349669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CA4F-1775-C5CB-DE32-AC6DF9B644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A1754-BA92-E557-406F-FE04905DDB91}"/>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assign tags to certifications so that I can classify them effectively.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edit or remove assigned tags so that I can keep records up to date.</a:t>
            </a:r>
          </a:p>
          <a:p>
            <a:pPr marL="342900" marR="0" lvl="0" indent="-342900">
              <a:lnSpc>
                <a:spcPct val="107000"/>
              </a:lnSpc>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my access to be restricted based on admin settings so that I only see relevant data and don’t make unintended changes.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track user activity logs so that I can review who made modifications to records.</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15FB6A24-3ED1-1D07-328C-E4A404DCDBA3}"/>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E44FB78E-8DAE-33B7-399B-50296822233B}"/>
              </a:ext>
            </a:extLst>
          </p:cNvPr>
          <p:cNvSpPr>
            <a:spLocks noGrp="1"/>
          </p:cNvSpPr>
          <p:nvPr>
            <p:ph type="sldNum" sz="quarter" idx="12"/>
          </p:nvPr>
        </p:nvSpPr>
        <p:spPr/>
        <p:txBody>
          <a:bodyPr/>
          <a:lstStyle/>
          <a:p>
            <a:fld id="{330EA680-D336-4FF7-8B7A-9848BB0A1C32}" type="slidenum">
              <a:rPr lang="en-US" smtClean="0"/>
              <a:t>13</a:t>
            </a:fld>
            <a:endParaRPr lang="en-US"/>
          </a:p>
        </p:txBody>
      </p:sp>
      <p:sp>
        <p:nvSpPr>
          <p:cNvPr id="6" name="Title 5">
            <a:extLst>
              <a:ext uri="{FF2B5EF4-FFF2-40B4-BE49-F238E27FC236}">
                <a16:creationId xmlns:a16="http://schemas.microsoft.com/office/drawing/2014/main" id="{68A19E38-8FFE-450B-EFD6-A5A82FC439BA}"/>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2700032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97E4-C407-F353-B258-E963708B0D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CCD32C-5ACE-C071-9790-C4849E18E0B7}"/>
              </a:ext>
            </a:extLst>
          </p:cNvPr>
          <p:cNvSpPr>
            <a:spLocks noGrp="1"/>
          </p:cNvSpPr>
          <p:nvPr>
            <p:ph sz="half" idx="1"/>
          </p:nvPr>
        </p:nvSpPr>
        <p:spPr>
          <a:xfrm>
            <a:off x="598504" y="782425"/>
            <a:ext cx="10874026" cy="5394538"/>
          </a:xfrm>
        </p:spPr>
        <p:txBody>
          <a:bodyPr>
            <a:normAutofit fontScale="85000" lnSpcReduction="10000"/>
          </a:bodyPr>
          <a:lstStyle/>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Access &amp; Visibility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manage user roles and permissions so that I can control access levels.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view all certifications across all companies so that I can oversee compliance.</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create, edit, and delete user accounts so that I can manage system access.</a:t>
            </a: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Search &amp; Filtering</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search certifications across all companies so that I can manage records efficiently.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filter any of the certificate fields so that I can oversee compliance trends.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sort certifications by the last modified date so that I can track updates.</a:t>
            </a:r>
          </a:p>
          <a:p>
            <a:pPr marL="342900" indent="-342900">
              <a:lnSpc>
                <a:spcPct val="107000"/>
              </a:lnSpc>
              <a:buClr>
                <a:srgbClr val="0481B6"/>
              </a:buClr>
              <a:buSzPts val="1400"/>
              <a:buFont typeface="Wingdings" panose="05000000000000000000" pitchFamily="2" charset="2"/>
              <a:buChar char=""/>
            </a:pPr>
            <a:r>
              <a:rPr lang="en-AU" sz="2000" dirty="0">
                <a:effectLst/>
                <a:latin typeface="Arial" panose="020B0604020202020204" pitchFamily="34" charset="0"/>
                <a:ea typeface="Calibri" panose="020F0502020204030204" pitchFamily="34" charset="0"/>
              </a:rPr>
              <a:t>As an admin, I want to be able to set the certificate status (active, expired, pending).</a:t>
            </a:r>
            <a:endParaRPr lang="en-US" sz="20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Viewing &amp; Downloading Certifications</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view detailed certification records across the entire platform so that I can manage data integrity.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export all certification data so that I can generate system-wide reports.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track certification history and changes so that I can audit modifications.</a:t>
            </a:r>
            <a:endParaRPr lang="en-US" sz="2000" b="1" dirty="0">
              <a:latin typeface="Arial" panose="020B0604020202020204" pitchFamily="34" charset="0"/>
              <a:ea typeface="Calibri" panose="020F0502020204030204" pitchFamily="34" charset="0"/>
            </a:endParaRPr>
          </a:p>
          <a:p>
            <a:endParaRPr lang="en-US" dirty="0"/>
          </a:p>
        </p:txBody>
      </p:sp>
      <p:sp>
        <p:nvSpPr>
          <p:cNvPr id="4" name="Date Placeholder 3">
            <a:extLst>
              <a:ext uri="{FF2B5EF4-FFF2-40B4-BE49-F238E27FC236}">
                <a16:creationId xmlns:a16="http://schemas.microsoft.com/office/drawing/2014/main" id="{33050EA7-C6D9-C7FC-E234-16A3AE5F341C}"/>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77751E91-B12A-F278-A146-F573AE03FF3D}"/>
              </a:ext>
            </a:extLst>
          </p:cNvPr>
          <p:cNvSpPr>
            <a:spLocks noGrp="1"/>
          </p:cNvSpPr>
          <p:nvPr>
            <p:ph type="sldNum" sz="quarter" idx="12"/>
          </p:nvPr>
        </p:nvSpPr>
        <p:spPr/>
        <p:txBody>
          <a:bodyPr/>
          <a:lstStyle/>
          <a:p>
            <a:fld id="{330EA680-D336-4FF7-8B7A-9848BB0A1C32}" type="slidenum">
              <a:rPr lang="en-US" smtClean="0"/>
              <a:t>14</a:t>
            </a:fld>
            <a:endParaRPr lang="en-US"/>
          </a:p>
        </p:txBody>
      </p:sp>
      <p:sp>
        <p:nvSpPr>
          <p:cNvPr id="6" name="Title 5">
            <a:extLst>
              <a:ext uri="{FF2B5EF4-FFF2-40B4-BE49-F238E27FC236}">
                <a16:creationId xmlns:a16="http://schemas.microsoft.com/office/drawing/2014/main" id="{2D41D6E8-A656-363B-9155-DEAF8DFBEEB7}"/>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278121783"/>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F71AB4-F97A-4195-EB35-371ADC8DAC8D}"/>
              </a:ext>
            </a:extLst>
          </p:cNvPr>
          <p:cNvSpPr>
            <a:spLocks noGrp="1"/>
          </p:cNvSpPr>
          <p:nvPr>
            <p:ph sz="half" idx="1"/>
          </p:nvPr>
        </p:nvSpPr>
        <p:spPr>
          <a:xfrm>
            <a:off x="598504" y="782425"/>
            <a:ext cx="10874026" cy="5394538"/>
          </a:xfrm>
        </p:spPr>
        <p:txBody>
          <a:bodyPr>
            <a:normAutofit fontScale="70000" lnSpcReduction="20000"/>
          </a:bodyPr>
          <a:lstStyle/>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Tagging &amp; Classification</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create, edit, and remove tags so that I can organize certifications effectively.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standardize tags across the platform so that users have consistent classification options.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I’m the only role that has the ability to edit product categories, product types and subcategories, certification types, CSF attributes. </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have the ability to add new fields. </a:t>
            </a:r>
          </a:p>
          <a:p>
            <a:pPr marL="0" marR="0" lvl="0" indent="0">
              <a:lnSpc>
                <a:spcPct val="107000"/>
              </a:lnSpc>
              <a:buClr>
                <a:srgbClr val="0481B6"/>
              </a:buClr>
              <a:buSzPts val="1400"/>
              <a:buNone/>
            </a:pPr>
            <a:endParaRPr lang="en-US" sz="2000" dirty="0">
              <a:solidFill>
                <a:srgbClr val="FF0000"/>
              </a:solidFill>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Data Access &amp; Security</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enforce multi-factor authentication so that system security is enhanced.</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track user activity logs so that I can monitor system usage.</a:t>
            </a:r>
          </a:p>
          <a:p>
            <a:pPr marL="342900" marR="0" lvl="0" indent="-342900">
              <a:lnSpc>
                <a:spcPct val="107000"/>
              </a:lnSpc>
              <a:buClr>
                <a:srgbClr val="0481B6"/>
              </a:buClr>
              <a:buSzPts val="1400"/>
              <a:buFont typeface="Wingdings" panose="05000000000000000000" pitchFamily="2" charset="2"/>
              <a:buChar char=""/>
            </a:pPr>
            <a:r>
              <a:rPr lang="en-US" sz="2000" dirty="0">
                <a:latin typeface="Arial" panose="020B0604020202020204" pitchFamily="34" charset="0"/>
                <a:ea typeface="Calibri" panose="020F0502020204030204" pitchFamily="34" charset="0"/>
              </a:rPr>
              <a:t>As an admin, I want the ability to add a new field to certificates.</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restrict access to certain certifications so that only authorized users can view them.</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integrate API connections with third-party platforms so that external vendors can securely access data.</a:t>
            </a:r>
          </a:p>
          <a:p>
            <a:pPr marL="342900" marR="0" lvl="0" indent="-342900">
              <a:lnSpc>
                <a:spcPct val="107000"/>
              </a:lnSpc>
              <a:spcAft>
                <a:spcPts val="1400"/>
              </a:spcAft>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a:t>
            </a:r>
            <a:r>
              <a:rPr lang="en-US" sz="2000" dirty="0">
                <a:latin typeface="Arial" panose="020B0604020202020204" pitchFamily="34" charset="0"/>
                <a:ea typeface="Calibri" panose="020F0502020204030204" pitchFamily="34" charset="0"/>
              </a:rPr>
              <a:t>I want the ability to add, update or delete data for product types, certificate types, partners, CSF Attributes, etc. </a:t>
            </a:r>
            <a:r>
              <a:rPr lang="en-US" sz="2000" dirty="0">
                <a:solidFill>
                  <a:srgbClr val="FF0000"/>
                </a:solidFill>
                <a:latin typeface="Arial" panose="020B0604020202020204" pitchFamily="34" charset="0"/>
                <a:ea typeface="Calibri" panose="020F0502020204030204" pitchFamily="34" charset="0"/>
              </a:rPr>
              <a:t>(TODO: list all CRUD fields.)</a:t>
            </a:r>
          </a:p>
          <a:p>
            <a:pPr marL="342900" marR="0" lvl="0" indent="-342900">
              <a:lnSpc>
                <a:spcPct val="107000"/>
              </a:lnSpc>
              <a:spcAft>
                <a:spcPts val="1400"/>
              </a:spcAft>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the system back-end to manage what appears in the public database based on active status. </a:t>
            </a:r>
          </a:p>
          <a:p>
            <a:pPr marL="342900" marR="0" lvl="0" indent="-342900">
              <a:lnSpc>
                <a:spcPct val="107000"/>
              </a:lnSpc>
              <a:spcAft>
                <a:spcPts val="1400"/>
              </a:spcAft>
              <a:buClr>
                <a:srgbClr val="0481B6"/>
              </a:buClr>
              <a:buSzPts val="1400"/>
              <a:buFont typeface="Wingdings" panose="05000000000000000000" pitchFamily="2" charset="2"/>
              <a:buChar char=""/>
            </a:pPr>
            <a:r>
              <a:rPr lang="en-US" sz="2000" dirty="0">
                <a:latin typeface="Arial" panose="020B0604020202020204" pitchFamily="34" charset="0"/>
                <a:ea typeface="Calibri" panose="020F0502020204030204" pitchFamily="34" charset="0"/>
              </a:rPr>
              <a:t>As an admin, I want the system back-end to handle certificate numbering with manual override option available if needed. </a:t>
            </a:r>
            <a:endParaRPr lang="en-US" sz="20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4E958588-7F1D-CA08-2CFA-F1B30EF3837D}"/>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2852801E-8C77-2FB4-497E-3C6329FBA3B6}"/>
              </a:ext>
            </a:extLst>
          </p:cNvPr>
          <p:cNvSpPr>
            <a:spLocks noGrp="1"/>
          </p:cNvSpPr>
          <p:nvPr>
            <p:ph type="sldNum" sz="quarter" idx="12"/>
          </p:nvPr>
        </p:nvSpPr>
        <p:spPr/>
        <p:txBody>
          <a:bodyPr/>
          <a:lstStyle/>
          <a:p>
            <a:fld id="{330EA680-D336-4FF7-8B7A-9848BB0A1C32}" type="slidenum">
              <a:rPr lang="en-US" smtClean="0"/>
              <a:t>15</a:t>
            </a:fld>
            <a:endParaRPr lang="en-US" dirty="0"/>
          </a:p>
        </p:txBody>
      </p:sp>
      <p:sp>
        <p:nvSpPr>
          <p:cNvPr id="6" name="Title 5">
            <a:extLst>
              <a:ext uri="{FF2B5EF4-FFF2-40B4-BE49-F238E27FC236}">
                <a16:creationId xmlns:a16="http://schemas.microsoft.com/office/drawing/2014/main" id="{9CBCE4DB-D560-508A-3520-CAD5283A0E15}"/>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811411981"/>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FB491-ED07-2B1F-0971-EC0F1C67A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D0584-2928-2814-84ED-C33795300D16}"/>
              </a:ext>
            </a:extLst>
          </p:cNvPr>
          <p:cNvSpPr>
            <a:spLocks noGrp="1"/>
          </p:cNvSpPr>
          <p:nvPr>
            <p:ph type="ctrTitle"/>
          </p:nvPr>
        </p:nvSpPr>
        <p:spPr>
          <a:xfrm>
            <a:off x="1523999" y="3307311"/>
            <a:ext cx="9144000" cy="2387600"/>
          </a:xfrm>
        </p:spPr>
        <p:txBody>
          <a:bodyPr anchor="ctr"/>
          <a:lstStyle/>
          <a:p>
            <a:r>
              <a:rPr lang="en-US" dirty="0"/>
              <a:t>Login &amp; Notification Screens</a:t>
            </a:r>
          </a:p>
        </p:txBody>
      </p:sp>
      <p:sp>
        <p:nvSpPr>
          <p:cNvPr id="8" name="Date Placeholder 7">
            <a:extLst>
              <a:ext uri="{FF2B5EF4-FFF2-40B4-BE49-F238E27FC236}">
                <a16:creationId xmlns:a16="http://schemas.microsoft.com/office/drawing/2014/main" id="{B9570C7E-74F9-41FC-1ADE-66DF05982498}"/>
              </a:ext>
            </a:extLst>
          </p:cNvPr>
          <p:cNvSpPr>
            <a:spLocks noGrp="1"/>
          </p:cNvSpPr>
          <p:nvPr>
            <p:ph type="dt" sz="half" idx="10"/>
          </p:nvPr>
        </p:nvSpPr>
        <p:spPr/>
        <p:txBody>
          <a:bodyPr/>
          <a:lstStyle/>
          <a:p>
            <a:fld id="{5948895C-732D-4B88-B65C-5D83E3577007}" type="datetime1">
              <a:rPr lang="en-US" smtClean="0"/>
              <a:t>6/21/2025</a:t>
            </a:fld>
            <a:endParaRPr lang="en-US"/>
          </a:p>
        </p:txBody>
      </p:sp>
      <p:sp>
        <p:nvSpPr>
          <p:cNvPr id="9" name="Slide Number Placeholder 8">
            <a:extLst>
              <a:ext uri="{FF2B5EF4-FFF2-40B4-BE49-F238E27FC236}">
                <a16:creationId xmlns:a16="http://schemas.microsoft.com/office/drawing/2014/main" id="{6361681B-05D1-39AB-F96A-6266016D8B10}"/>
              </a:ext>
            </a:extLst>
          </p:cNvPr>
          <p:cNvSpPr>
            <a:spLocks noGrp="1"/>
          </p:cNvSpPr>
          <p:nvPr>
            <p:ph type="sldNum" sz="quarter" idx="12"/>
          </p:nvPr>
        </p:nvSpPr>
        <p:spPr/>
        <p:txBody>
          <a:bodyPr/>
          <a:lstStyle/>
          <a:p>
            <a:fld id="{330EA680-D336-4FF7-8B7A-9848BB0A1C32}" type="slidenum">
              <a:rPr lang="en-US" smtClean="0"/>
              <a:t>16</a:t>
            </a:fld>
            <a:endParaRPr lang="en-US"/>
          </a:p>
        </p:txBody>
      </p:sp>
      <p:pic>
        <p:nvPicPr>
          <p:cNvPr id="10" name="Picture 9" descr="GreenCircle Certified">
            <a:extLst>
              <a:ext uri="{FF2B5EF4-FFF2-40B4-BE49-F238E27FC236}">
                <a16:creationId xmlns:a16="http://schemas.microsoft.com/office/drawing/2014/main" id="{8BC9D880-2D06-69C6-D719-F105A09FA694}"/>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3070947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5BE13-ACB5-F2EF-004D-B6DD3E00FF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DA7C7-05F3-A186-E384-E5461247BBE0}"/>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DB3372E0-F756-17DE-9494-AFA228D0E56C}"/>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6/21/2025</a:t>
            </a:fld>
            <a:endParaRPr lang="en-US"/>
          </a:p>
        </p:txBody>
      </p:sp>
      <p:sp>
        <p:nvSpPr>
          <p:cNvPr id="4" name="Slide Number Placeholder 3">
            <a:extLst>
              <a:ext uri="{FF2B5EF4-FFF2-40B4-BE49-F238E27FC236}">
                <a16:creationId xmlns:a16="http://schemas.microsoft.com/office/drawing/2014/main" id="{37A4AA56-028D-257B-73D5-FE61D950876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17</a:t>
            </a:fld>
            <a:endParaRPr lang="en-US"/>
          </a:p>
        </p:txBody>
      </p:sp>
      <p:sp>
        <p:nvSpPr>
          <p:cNvPr id="6" name="TextBox 5">
            <a:extLst>
              <a:ext uri="{FF2B5EF4-FFF2-40B4-BE49-F238E27FC236}">
                <a16:creationId xmlns:a16="http://schemas.microsoft.com/office/drawing/2014/main" id="{A179212A-AF8C-3E2F-0BF4-680D491DD102}"/>
              </a:ext>
            </a:extLst>
          </p:cNvPr>
          <p:cNvSpPr txBox="1"/>
          <p:nvPr/>
        </p:nvSpPr>
        <p:spPr>
          <a:xfrm>
            <a:off x="5427305" y="4661306"/>
            <a:ext cx="6148747" cy="2031325"/>
          </a:xfrm>
          <a:prstGeom prst="rect">
            <a:avLst/>
          </a:prstGeom>
          <a:solidFill>
            <a:schemeClr val="bg1"/>
          </a:solidFill>
        </p:spPr>
        <p:txBody>
          <a:bodyPr wrap="square">
            <a:spAutoFit/>
          </a:bodyPr>
          <a:lstStyle/>
          <a:p>
            <a:pPr>
              <a:buNone/>
            </a:pPr>
            <a:r>
              <a:rPr lang="en-US" sz="1400" dirty="0">
                <a:latin typeface="Century Gothic" panose="020B0502020202020204" pitchFamily="34" charset="0"/>
              </a:rPr>
              <a:t>Notes: </a:t>
            </a:r>
          </a:p>
          <a:p>
            <a:pPr marL="171450" indent="-171450">
              <a:buFont typeface="Arial" panose="020B0604020202020204" pitchFamily="34" charset="0"/>
              <a:buChar char="•"/>
            </a:pPr>
            <a:r>
              <a:rPr lang="en-US" sz="14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4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400" dirty="0">
                <a:latin typeface="Century Gothic" panose="020B0502020202020204" pitchFamily="34" charset="0"/>
              </a:rPr>
              <a:t>Color-coded:</a:t>
            </a:r>
          </a:p>
          <a:p>
            <a:pPr marL="628650" lvl="1" indent="-171450">
              <a:buFont typeface="Arial" panose="020B0604020202020204" pitchFamily="34" charset="0"/>
              <a:buChar char="•"/>
            </a:pPr>
            <a:r>
              <a:rPr lang="en-US" sz="1400" dirty="0">
                <a:latin typeface="Century Gothic" panose="020B0502020202020204" pitchFamily="34" charset="0"/>
              </a:rPr>
              <a:t>Green for success</a:t>
            </a:r>
          </a:p>
          <a:p>
            <a:pPr marL="628650" lvl="1" indent="-171450">
              <a:buFont typeface="Arial" panose="020B0604020202020204" pitchFamily="34" charset="0"/>
              <a:buChar char="•"/>
            </a:pPr>
            <a:r>
              <a:rPr lang="en-US" sz="1400" dirty="0">
                <a:latin typeface="Century Gothic" panose="020B0502020202020204" pitchFamily="34" charset="0"/>
              </a:rPr>
              <a:t>Red for errors</a:t>
            </a:r>
          </a:p>
          <a:p>
            <a:pPr marL="628650" lvl="1" indent="-171450">
              <a:buFont typeface="Arial" panose="020B0604020202020204" pitchFamily="34" charset="0"/>
              <a:buChar char="•"/>
            </a:pPr>
            <a:r>
              <a:rPr lang="en-US" sz="1400" dirty="0">
                <a:latin typeface="Century Gothic" panose="020B0502020202020204" pitchFamily="34" charset="0"/>
              </a:rPr>
              <a:t>Yellow for warnings on toast messages. </a:t>
            </a:r>
          </a:p>
          <a:p>
            <a:pPr marL="628650" lvl="1" indent="-171450">
              <a:buFont typeface="Arial" panose="020B0604020202020204" pitchFamily="34" charset="0"/>
              <a:buChar char="•"/>
            </a:pPr>
            <a:r>
              <a:rPr lang="en-US" sz="1400" dirty="0">
                <a:latin typeface="Century Gothic" panose="020B0502020202020204" pitchFamily="34" charset="0"/>
              </a:rPr>
              <a:t>Blue/gray for info(navy blue)</a:t>
            </a:r>
          </a:p>
        </p:txBody>
      </p:sp>
      <p:pic>
        <p:nvPicPr>
          <p:cNvPr id="10" name="Picture 9">
            <a:extLst>
              <a:ext uri="{FF2B5EF4-FFF2-40B4-BE49-F238E27FC236}">
                <a16:creationId xmlns:a16="http://schemas.microsoft.com/office/drawing/2014/main" id="{2A1FA5AD-346F-504D-4CF3-40A298B34EED}"/>
              </a:ext>
            </a:extLst>
          </p:cNvPr>
          <p:cNvPicPr>
            <a:picLocks noChangeAspect="1"/>
          </p:cNvPicPr>
          <p:nvPr/>
        </p:nvPicPr>
        <p:blipFill>
          <a:blip r:embed="rId3"/>
          <a:stretch>
            <a:fillRect/>
          </a:stretch>
        </p:blipFill>
        <p:spPr>
          <a:xfrm>
            <a:off x="491769" y="740450"/>
            <a:ext cx="4592697" cy="5615900"/>
          </a:xfrm>
          <a:prstGeom prst="rect">
            <a:avLst/>
          </a:prstGeom>
        </p:spPr>
      </p:pic>
      <p:pic>
        <p:nvPicPr>
          <p:cNvPr id="7" name="Picture 6">
            <a:extLst>
              <a:ext uri="{FF2B5EF4-FFF2-40B4-BE49-F238E27FC236}">
                <a16:creationId xmlns:a16="http://schemas.microsoft.com/office/drawing/2014/main" id="{40B733F5-82DE-926B-6E1E-A04FEB7795BF}"/>
              </a:ext>
            </a:extLst>
          </p:cNvPr>
          <p:cNvPicPr>
            <a:picLocks noChangeAspect="1"/>
          </p:cNvPicPr>
          <p:nvPr/>
        </p:nvPicPr>
        <p:blipFill>
          <a:blip r:embed="rId4"/>
          <a:stretch>
            <a:fillRect/>
          </a:stretch>
        </p:blipFill>
        <p:spPr>
          <a:xfrm>
            <a:off x="5427305" y="740450"/>
            <a:ext cx="4390464" cy="3920856"/>
          </a:xfrm>
          <a:prstGeom prst="rect">
            <a:avLst/>
          </a:prstGeom>
        </p:spPr>
      </p:pic>
    </p:spTree>
    <p:extLst>
      <p:ext uri="{BB962C8B-B14F-4D97-AF65-F5344CB8AC3E}">
        <p14:creationId xmlns:p14="http://schemas.microsoft.com/office/powerpoint/2010/main" val="4092271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C68F1-89EA-34EA-A857-27A311141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853A1-B4A4-3435-EEB7-FE4E03BFE48E}"/>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FA03C458-CD3B-A228-EC32-4D2F4CEBC7CD}"/>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6/21/2025</a:t>
            </a:fld>
            <a:endParaRPr lang="en-US"/>
          </a:p>
        </p:txBody>
      </p:sp>
      <p:sp>
        <p:nvSpPr>
          <p:cNvPr id="4" name="Slide Number Placeholder 3">
            <a:extLst>
              <a:ext uri="{FF2B5EF4-FFF2-40B4-BE49-F238E27FC236}">
                <a16:creationId xmlns:a16="http://schemas.microsoft.com/office/drawing/2014/main" id="{4926E3A7-BD26-FF5A-336D-1FAFB4B63B2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18</a:t>
            </a:fld>
            <a:endParaRPr lang="en-US"/>
          </a:p>
        </p:txBody>
      </p:sp>
      <p:sp>
        <p:nvSpPr>
          <p:cNvPr id="6" name="TextBox 5">
            <a:extLst>
              <a:ext uri="{FF2B5EF4-FFF2-40B4-BE49-F238E27FC236}">
                <a16:creationId xmlns:a16="http://schemas.microsoft.com/office/drawing/2014/main" id="{D4608E96-635A-2C56-442A-9898A3D8FE56}"/>
              </a:ext>
            </a:extLst>
          </p:cNvPr>
          <p:cNvSpPr txBox="1"/>
          <p:nvPr/>
        </p:nvSpPr>
        <p:spPr>
          <a:xfrm>
            <a:off x="8721779" y="929754"/>
            <a:ext cx="3195548" cy="3539430"/>
          </a:xfrm>
          <a:prstGeom prst="rect">
            <a:avLst/>
          </a:prstGeom>
          <a:solidFill>
            <a:schemeClr val="bg1"/>
          </a:solidFill>
        </p:spPr>
        <p:txBody>
          <a:bodyPr wrap="square">
            <a:spAutoFit/>
          </a:bodyPr>
          <a:lstStyle/>
          <a:p>
            <a:pPr>
              <a:buNone/>
            </a:pPr>
            <a:r>
              <a:rPr lang="en-US" sz="1400" dirty="0">
                <a:latin typeface="Century Gothic" panose="020B0502020202020204" pitchFamily="34" charset="0"/>
              </a:rPr>
              <a:t>Notes: </a:t>
            </a:r>
          </a:p>
          <a:p>
            <a:pPr marL="171450" indent="-171450">
              <a:buFont typeface="Arial" panose="020B0604020202020204" pitchFamily="34" charset="0"/>
              <a:buChar char="•"/>
            </a:pPr>
            <a:r>
              <a:rPr lang="en-US" sz="14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4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400" dirty="0">
                <a:latin typeface="Century Gothic" panose="020B0502020202020204" pitchFamily="34" charset="0"/>
              </a:rPr>
              <a:t>Color-coded:</a:t>
            </a:r>
          </a:p>
          <a:p>
            <a:pPr marL="628650" lvl="1" indent="-171450">
              <a:buFont typeface="Arial" panose="020B0604020202020204" pitchFamily="34" charset="0"/>
              <a:buChar char="•"/>
            </a:pPr>
            <a:r>
              <a:rPr lang="en-US" sz="1400" dirty="0">
                <a:latin typeface="Century Gothic" panose="020B0502020202020204" pitchFamily="34" charset="0"/>
              </a:rPr>
              <a:t>Green for success</a:t>
            </a:r>
          </a:p>
          <a:p>
            <a:pPr marL="628650" lvl="1" indent="-171450">
              <a:buFont typeface="Arial" panose="020B0604020202020204" pitchFamily="34" charset="0"/>
              <a:buChar char="•"/>
            </a:pPr>
            <a:r>
              <a:rPr lang="en-US" sz="1400" dirty="0">
                <a:latin typeface="Century Gothic" panose="020B0502020202020204" pitchFamily="34" charset="0"/>
              </a:rPr>
              <a:t>Red for errors</a:t>
            </a:r>
          </a:p>
          <a:p>
            <a:pPr marL="628650" lvl="1" indent="-171450">
              <a:buFont typeface="Arial" panose="020B0604020202020204" pitchFamily="34" charset="0"/>
              <a:buChar char="•"/>
            </a:pPr>
            <a:r>
              <a:rPr lang="en-US" sz="1400" dirty="0">
                <a:latin typeface="Century Gothic" panose="020B0502020202020204" pitchFamily="34" charset="0"/>
              </a:rPr>
              <a:t>Yellow for warnings</a:t>
            </a:r>
          </a:p>
          <a:p>
            <a:pPr marL="628650" lvl="1" indent="-171450">
              <a:buFont typeface="Arial" panose="020B0604020202020204" pitchFamily="34" charset="0"/>
              <a:buChar char="•"/>
            </a:pPr>
            <a:r>
              <a:rPr lang="en-US" sz="1400" dirty="0">
                <a:latin typeface="Century Gothic" panose="020B0502020202020204" pitchFamily="34" charset="0"/>
              </a:rPr>
              <a:t>Blue/gray for info(navy blue)</a:t>
            </a: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p:txBody>
      </p:sp>
      <p:pic>
        <p:nvPicPr>
          <p:cNvPr id="7" name="Picture 6">
            <a:extLst>
              <a:ext uri="{FF2B5EF4-FFF2-40B4-BE49-F238E27FC236}">
                <a16:creationId xmlns:a16="http://schemas.microsoft.com/office/drawing/2014/main" id="{CC7D24B9-56C9-712F-9004-F7522596AA8E}"/>
              </a:ext>
            </a:extLst>
          </p:cNvPr>
          <p:cNvPicPr>
            <a:picLocks noChangeAspect="1"/>
          </p:cNvPicPr>
          <p:nvPr/>
        </p:nvPicPr>
        <p:blipFill>
          <a:blip r:embed="rId3"/>
          <a:stretch>
            <a:fillRect/>
          </a:stretch>
        </p:blipFill>
        <p:spPr>
          <a:xfrm>
            <a:off x="496663" y="771429"/>
            <a:ext cx="4648094" cy="5892665"/>
          </a:xfrm>
          <a:prstGeom prst="rect">
            <a:avLst/>
          </a:prstGeom>
        </p:spPr>
      </p:pic>
    </p:spTree>
    <p:extLst>
      <p:ext uri="{BB962C8B-B14F-4D97-AF65-F5344CB8AC3E}">
        <p14:creationId xmlns:p14="http://schemas.microsoft.com/office/powerpoint/2010/main" val="26432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EDED9-6553-F839-5BB8-ECE530EFD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86C03-7E70-39C1-D8A3-6327446F23B4}"/>
              </a:ext>
            </a:extLst>
          </p:cNvPr>
          <p:cNvSpPr>
            <a:spLocks noGrp="1"/>
          </p:cNvSpPr>
          <p:nvPr>
            <p:ph type="title"/>
          </p:nvPr>
        </p:nvSpPr>
        <p:spPr>
          <a:xfrm>
            <a:off x="598503" y="193906"/>
            <a:ext cx="10515600" cy="487131"/>
          </a:xfrm>
        </p:spPr>
        <p:txBody>
          <a:bodyPr>
            <a:normAutofit/>
          </a:bodyPr>
          <a:lstStyle/>
          <a:p>
            <a:r>
              <a:rPr lang="en-US" sz="2800" dirty="0"/>
              <a:t>Wireframe Notes – 6.1 – Login</a:t>
            </a:r>
          </a:p>
        </p:txBody>
      </p:sp>
      <p:sp>
        <p:nvSpPr>
          <p:cNvPr id="4" name="Date Placeholder 3">
            <a:extLst>
              <a:ext uri="{FF2B5EF4-FFF2-40B4-BE49-F238E27FC236}">
                <a16:creationId xmlns:a16="http://schemas.microsoft.com/office/drawing/2014/main" id="{7CEA786A-3A51-C83C-6A99-7F9D5D202F7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F24EE21D-0ADF-CF2A-1B5C-EED77B63B11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19</a:t>
            </a:fld>
            <a:endParaRPr lang="en-US"/>
          </a:p>
        </p:txBody>
      </p:sp>
      <p:sp>
        <p:nvSpPr>
          <p:cNvPr id="7" name="TextBox 6">
            <a:extLst>
              <a:ext uri="{FF2B5EF4-FFF2-40B4-BE49-F238E27FC236}">
                <a16:creationId xmlns:a16="http://schemas.microsoft.com/office/drawing/2014/main" id="{1A4233D7-8F36-0C85-2459-7162568D352C}"/>
              </a:ext>
            </a:extLst>
          </p:cNvPr>
          <p:cNvSpPr txBox="1"/>
          <p:nvPr/>
        </p:nvSpPr>
        <p:spPr>
          <a:xfrm>
            <a:off x="7918597" y="936241"/>
            <a:ext cx="3989868" cy="1169551"/>
          </a:xfrm>
          <a:prstGeom prst="rect">
            <a:avLst/>
          </a:prstGeom>
          <a:noFill/>
        </p:spPr>
        <p:txBody>
          <a:bodyPr wrap="square">
            <a:spAutoFit/>
          </a:bodyPr>
          <a:lstStyle/>
          <a:p>
            <a:pPr>
              <a:buNone/>
            </a:pPr>
            <a:r>
              <a:rPr lang="en-US" sz="1400" b="1" dirty="0">
                <a:latin typeface="Century Gothic" panose="020B0502020202020204" pitchFamily="34" charset="0"/>
              </a:rPr>
              <a:t>Login Screen</a:t>
            </a:r>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Username/Email and Password fields</a:t>
            </a:r>
          </a:p>
          <a:p>
            <a:pPr>
              <a:buFont typeface="Arial" panose="020B0604020202020204" pitchFamily="34" charset="0"/>
              <a:buChar char="•"/>
            </a:pPr>
            <a:r>
              <a:rPr lang="en-US" sz="1400" dirty="0">
                <a:latin typeface="Century Gothic" panose="020B0502020202020204" pitchFamily="34" charset="0"/>
              </a:rPr>
              <a:t>Login button</a:t>
            </a:r>
          </a:p>
          <a:p>
            <a:pPr>
              <a:buFont typeface="Arial" panose="020B0604020202020204" pitchFamily="34" charset="0"/>
              <a:buChar char="•"/>
            </a:pPr>
            <a:r>
              <a:rPr lang="en-US" sz="1400" dirty="0">
                <a:latin typeface="Century Gothic" panose="020B0502020202020204" pitchFamily="34" charset="0"/>
              </a:rPr>
              <a:t>"Forgot Password" link</a:t>
            </a:r>
          </a:p>
          <a:p>
            <a:endParaRPr lang="en-US" sz="1400" dirty="0">
              <a:latin typeface="Century Gothic" panose="020B0502020202020204" pitchFamily="34" charset="0"/>
            </a:endParaRPr>
          </a:p>
        </p:txBody>
      </p:sp>
      <p:pic>
        <p:nvPicPr>
          <p:cNvPr id="8" name="Picture 7">
            <a:extLst>
              <a:ext uri="{FF2B5EF4-FFF2-40B4-BE49-F238E27FC236}">
                <a16:creationId xmlns:a16="http://schemas.microsoft.com/office/drawing/2014/main" id="{BDF1FC05-C05D-D736-6D21-9A7C75E913B9}"/>
              </a:ext>
            </a:extLst>
          </p:cNvPr>
          <p:cNvPicPr>
            <a:picLocks noChangeAspect="1"/>
          </p:cNvPicPr>
          <p:nvPr/>
        </p:nvPicPr>
        <p:blipFill>
          <a:blip r:embed="rId3"/>
          <a:stretch>
            <a:fillRect/>
          </a:stretch>
        </p:blipFill>
        <p:spPr>
          <a:xfrm>
            <a:off x="672043" y="936241"/>
            <a:ext cx="4610743" cy="2924583"/>
          </a:xfrm>
          <a:prstGeom prst="rect">
            <a:avLst/>
          </a:prstGeom>
        </p:spPr>
      </p:pic>
    </p:spTree>
    <p:extLst>
      <p:ext uri="{BB962C8B-B14F-4D97-AF65-F5344CB8AC3E}">
        <p14:creationId xmlns:p14="http://schemas.microsoft.com/office/powerpoint/2010/main" val="1211089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775A-0F23-CDC1-1312-69EB2F118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65BE3-4C59-9685-1D62-3E5D0AC05F93}"/>
              </a:ext>
            </a:extLst>
          </p:cNvPr>
          <p:cNvSpPr>
            <a:spLocks noGrp="1"/>
          </p:cNvSpPr>
          <p:nvPr>
            <p:ph type="title"/>
          </p:nvPr>
        </p:nvSpPr>
        <p:spPr>
          <a:xfrm>
            <a:off x="598503" y="193906"/>
            <a:ext cx="10515600" cy="487131"/>
          </a:xfrm>
        </p:spPr>
        <p:txBody>
          <a:bodyPr>
            <a:normAutofit/>
          </a:bodyPr>
          <a:lstStyle/>
          <a:p>
            <a:r>
              <a:rPr lang="en-US" sz="2800" dirty="0"/>
              <a:t>Wireframe Notes – 6.2 – Forgot Password</a:t>
            </a:r>
          </a:p>
        </p:txBody>
      </p:sp>
      <p:sp>
        <p:nvSpPr>
          <p:cNvPr id="4" name="Date Placeholder 3">
            <a:extLst>
              <a:ext uri="{FF2B5EF4-FFF2-40B4-BE49-F238E27FC236}">
                <a16:creationId xmlns:a16="http://schemas.microsoft.com/office/drawing/2014/main" id="{F3FBA27D-A21D-1FE8-BBFB-04F5983031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4591D889-0599-4C31-4E9B-72228748E26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20</a:t>
            </a:fld>
            <a:endParaRPr lang="en-US"/>
          </a:p>
        </p:txBody>
      </p:sp>
      <p:sp>
        <p:nvSpPr>
          <p:cNvPr id="6" name="TextBox 5">
            <a:extLst>
              <a:ext uri="{FF2B5EF4-FFF2-40B4-BE49-F238E27FC236}">
                <a16:creationId xmlns:a16="http://schemas.microsoft.com/office/drawing/2014/main" id="{A630E09E-DC36-13B0-94EE-4F4834604C80}"/>
              </a:ext>
            </a:extLst>
          </p:cNvPr>
          <p:cNvSpPr txBox="1"/>
          <p:nvPr/>
        </p:nvSpPr>
        <p:spPr>
          <a:xfrm>
            <a:off x="8514021" y="968138"/>
            <a:ext cx="3458240" cy="738664"/>
          </a:xfrm>
          <a:prstGeom prst="rect">
            <a:avLst/>
          </a:prstGeom>
          <a:noFill/>
        </p:spPr>
        <p:txBody>
          <a:bodyPr wrap="square">
            <a:spAutoFit/>
          </a:bodyPr>
          <a:lstStyle/>
          <a:p>
            <a:pPr>
              <a:buNone/>
            </a:pPr>
            <a:r>
              <a:rPr lang="en-US" sz="1400" b="1" dirty="0">
                <a:latin typeface="Century Gothic" panose="020B0502020202020204" pitchFamily="34" charset="0"/>
              </a:rPr>
              <a:t>Forgot Password Screen</a:t>
            </a:r>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Input: Email</a:t>
            </a:r>
          </a:p>
          <a:p>
            <a:pPr>
              <a:buFont typeface="Arial" panose="020B0604020202020204" pitchFamily="34" charset="0"/>
              <a:buChar char="•"/>
            </a:pPr>
            <a:r>
              <a:rPr lang="en-US" sz="1400" dirty="0">
                <a:latin typeface="Century Gothic" panose="020B0502020202020204" pitchFamily="34" charset="0"/>
              </a:rPr>
              <a:t>Submit button</a:t>
            </a:r>
          </a:p>
        </p:txBody>
      </p:sp>
      <p:pic>
        <p:nvPicPr>
          <p:cNvPr id="10" name="Picture 9">
            <a:extLst>
              <a:ext uri="{FF2B5EF4-FFF2-40B4-BE49-F238E27FC236}">
                <a16:creationId xmlns:a16="http://schemas.microsoft.com/office/drawing/2014/main" id="{E0AA9A73-2A05-6F60-7A94-759B7251333C}"/>
              </a:ext>
            </a:extLst>
          </p:cNvPr>
          <p:cNvPicPr>
            <a:picLocks noChangeAspect="1"/>
          </p:cNvPicPr>
          <p:nvPr/>
        </p:nvPicPr>
        <p:blipFill>
          <a:blip r:embed="rId3"/>
          <a:stretch>
            <a:fillRect/>
          </a:stretch>
        </p:blipFill>
        <p:spPr>
          <a:xfrm>
            <a:off x="681668" y="837881"/>
            <a:ext cx="4610743" cy="2410161"/>
          </a:xfrm>
          <a:prstGeom prst="rect">
            <a:avLst/>
          </a:prstGeom>
        </p:spPr>
      </p:pic>
    </p:spTree>
    <p:extLst>
      <p:ext uri="{BB962C8B-B14F-4D97-AF65-F5344CB8AC3E}">
        <p14:creationId xmlns:p14="http://schemas.microsoft.com/office/powerpoint/2010/main" val="3249715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70FA5-7257-88DA-A859-41BE2A212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FBB03-E4FD-5ACB-17E3-4D5C3FA15D56}"/>
              </a:ext>
            </a:extLst>
          </p:cNvPr>
          <p:cNvSpPr>
            <a:spLocks noGrp="1"/>
          </p:cNvSpPr>
          <p:nvPr>
            <p:ph type="title"/>
          </p:nvPr>
        </p:nvSpPr>
        <p:spPr>
          <a:xfrm>
            <a:off x="598503" y="193906"/>
            <a:ext cx="10515600" cy="487131"/>
          </a:xfrm>
        </p:spPr>
        <p:txBody>
          <a:bodyPr>
            <a:normAutofit/>
          </a:bodyPr>
          <a:lstStyle/>
          <a:p>
            <a:r>
              <a:rPr lang="en-US" sz="2800" dirty="0"/>
              <a:t>Wireframe Notes – 6.3 – Password Reset Confirmation</a:t>
            </a:r>
          </a:p>
        </p:txBody>
      </p:sp>
      <p:sp>
        <p:nvSpPr>
          <p:cNvPr id="4" name="Date Placeholder 3">
            <a:extLst>
              <a:ext uri="{FF2B5EF4-FFF2-40B4-BE49-F238E27FC236}">
                <a16:creationId xmlns:a16="http://schemas.microsoft.com/office/drawing/2014/main" id="{48747B52-8D18-DF07-56D2-267FC14B136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F4A90F56-C4AD-BDF6-C1FE-8B40E1D70664}"/>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21</a:t>
            </a:fld>
            <a:endParaRPr lang="en-US"/>
          </a:p>
        </p:txBody>
      </p:sp>
      <p:sp>
        <p:nvSpPr>
          <p:cNvPr id="3" name="TextBox 2">
            <a:extLst>
              <a:ext uri="{FF2B5EF4-FFF2-40B4-BE49-F238E27FC236}">
                <a16:creationId xmlns:a16="http://schemas.microsoft.com/office/drawing/2014/main" id="{36CB1713-A41A-8206-B541-9F2A88B3FD1E}"/>
              </a:ext>
            </a:extLst>
          </p:cNvPr>
          <p:cNvSpPr txBox="1"/>
          <p:nvPr/>
        </p:nvSpPr>
        <p:spPr>
          <a:xfrm>
            <a:off x="8514021" y="968138"/>
            <a:ext cx="3458240" cy="1600438"/>
          </a:xfrm>
          <a:prstGeom prst="rect">
            <a:avLst/>
          </a:prstGeom>
          <a:noFill/>
        </p:spPr>
        <p:txBody>
          <a:bodyPr wrap="square">
            <a:spAutoFit/>
          </a:bodyPr>
          <a:lstStyle/>
          <a:p>
            <a:pPr>
              <a:buNone/>
            </a:pPr>
            <a:r>
              <a:rPr lang="en-US" sz="1400" b="1" dirty="0"/>
              <a:t>Password Reset Confirmation Screen (Email Sent)</a:t>
            </a:r>
            <a:endParaRPr lang="en-US" sz="1400" dirty="0"/>
          </a:p>
          <a:p>
            <a:pPr>
              <a:buFont typeface="Arial" panose="020B0604020202020204" pitchFamily="34" charset="0"/>
              <a:buChar char="•"/>
            </a:pPr>
            <a:r>
              <a:rPr lang="en-US" sz="1400" dirty="0"/>
              <a:t>Confirmation that an email was sent</a:t>
            </a:r>
          </a:p>
          <a:p>
            <a:pPr>
              <a:buFont typeface="Arial" panose="020B0604020202020204" pitchFamily="34" charset="0"/>
              <a:buChar char="•"/>
            </a:pPr>
            <a:r>
              <a:rPr lang="en-US" sz="1400" dirty="0"/>
              <a:t>Option to resend</a:t>
            </a:r>
          </a:p>
          <a:p>
            <a:pPr>
              <a:buFont typeface="Arial" panose="020B0604020202020204" pitchFamily="34" charset="0"/>
              <a:buChar char="•"/>
            </a:pPr>
            <a:r>
              <a:rPr lang="en-US" sz="1400" dirty="0"/>
              <a:t>Option to go back to Login</a:t>
            </a:r>
          </a:p>
          <a:p>
            <a:pPr>
              <a:buFont typeface="Arial" panose="020B0604020202020204" pitchFamily="34" charset="0"/>
              <a:buChar char="•"/>
            </a:pPr>
            <a:endParaRPr lang="en-US" sz="1400" dirty="0"/>
          </a:p>
          <a:p>
            <a:pPr>
              <a:buFont typeface="Arial" panose="020B0604020202020204" pitchFamily="34" charset="0"/>
              <a:buChar char="•"/>
            </a:pPr>
            <a:endParaRPr lang="en-US" sz="1400" dirty="0"/>
          </a:p>
        </p:txBody>
      </p:sp>
      <p:pic>
        <p:nvPicPr>
          <p:cNvPr id="7" name="Picture 6">
            <a:extLst>
              <a:ext uri="{FF2B5EF4-FFF2-40B4-BE49-F238E27FC236}">
                <a16:creationId xmlns:a16="http://schemas.microsoft.com/office/drawing/2014/main" id="{2F4EA04D-B09F-ED86-E273-5059DB04D170}"/>
              </a:ext>
            </a:extLst>
          </p:cNvPr>
          <p:cNvPicPr>
            <a:picLocks noChangeAspect="1"/>
          </p:cNvPicPr>
          <p:nvPr/>
        </p:nvPicPr>
        <p:blipFill>
          <a:blip r:embed="rId3"/>
          <a:stretch>
            <a:fillRect/>
          </a:stretch>
        </p:blipFill>
        <p:spPr>
          <a:xfrm>
            <a:off x="598503" y="968138"/>
            <a:ext cx="4515480" cy="2238687"/>
          </a:xfrm>
          <a:prstGeom prst="rect">
            <a:avLst/>
          </a:prstGeom>
        </p:spPr>
      </p:pic>
    </p:spTree>
    <p:extLst>
      <p:ext uri="{BB962C8B-B14F-4D97-AF65-F5344CB8AC3E}">
        <p14:creationId xmlns:p14="http://schemas.microsoft.com/office/powerpoint/2010/main" val="1333759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8969A-D813-F197-6971-1EC8C4ED0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9ABE5-8361-5026-B68D-2A7A27AC46E3}"/>
              </a:ext>
            </a:extLst>
          </p:cNvPr>
          <p:cNvSpPr>
            <a:spLocks noGrp="1"/>
          </p:cNvSpPr>
          <p:nvPr>
            <p:ph type="title"/>
          </p:nvPr>
        </p:nvSpPr>
        <p:spPr>
          <a:xfrm>
            <a:off x="598503" y="193906"/>
            <a:ext cx="10515600" cy="487131"/>
          </a:xfrm>
        </p:spPr>
        <p:txBody>
          <a:bodyPr>
            <a:normAutofit/>
          </a:bodyPr>
          <a:lstStyle/>
          <a:p>
            <a:r>
              <a:rPr lang="en-US" sz="2800" dirty="0"/>
              <a:t>Wireframe Notes – 6.4 – Reset Password</a:t>
            </a:r>
          </a:p>
        </p:txBody>
      </p:sp>
      <p:sp>
        <p:nvSpPr>
          <p:cNvPr id="4" name="Date Placeholder 3">
            <a:extLst>
              <a:ext uri="{FF2B5EF4-FFF2-40B4-BE49-F238E27FC236}">
                <a16:creationId xmlns:a16="http://schemas.microsoft.com/office/drawing/2014/main" id="{082AECFB-0FA5-F12D-50BE-4504401D36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3B58D630-E51E-3B8F-A8CA-256A6AA9B3CD}"/>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22</a:t>
            </a:fld>
            <a:endParaRPr lang="en-US"/>
          </a:p>
        </p:txBody>
      </p:sp>
      <p:sp>
        <p:nvSpPr>
          <p:cNvPr id="3" name="TextBox 2">
            <a:extLst>
              <a:ext uri="{FF2B5EF4-FFF2-40B4-BE49-F238E27FC236}">
                <a16:creationId xmlns:a16="http://schemas.microsoft.com/office/drawing/2014/main" id="{804476BA-D980-3EA9-C870-340107DC01B2}"/>
              </a:ext>
            </a:extLst>
          </p:cNvPr>
          <p:cNvSpPr txBox="1"/>
          <p:nvPr/>
        </p:nvSpPr>
        <p:spPr>
          <a:xfrm>
            <a:off x="8514021" y="968138"/>
            <a:ext cx="3458240" cy="1169551"/>
          </a:xfrm>
          <a:prstGeom prst="rect">
            <a:avLst/>
          </a:prstGeom>
          <a:noFill/>
        </p:spPr>
        <p:txBody>
          <a:bodyPr wrap="square">
            <a:spAutoFit/>
          </a:bodyPr>
          <a:lstStyle/>
          <a:p>
            <a:pPr>
              <a:buNone/>
            </a:pPr>
            <a:r>
              <a:rPr lang="en-US" sz="1400" b="1" dirty="0"/>
              <a:t>Reset Password Screen</a:t>
            </a:r>
            <a:endParaRPr lang="en-US" sz="1400" dirty="0"/>
          </a:p>
          <a:p>
            <a:pPr>
              <a:buFont typeface="Arial" panose="020B0604020202020204" pitchFamily="34" charset="0"/>
              <a:buChar char="•"/>
            </a:pPr>
            <a:r>
              <a:rPr lang="en-US" sz="1400" dirty="0"/>
              <a:t>Accessed via email link (usually with token)</a:t>
            </a:r>
          </a:p>
          <a:p>
            <a:pPr>
              <a:buFont typeface="Arial" panose="020B0604020202020204" pitchFamily="34" charset="0"/>
              <a:buChar char="•"/>
            </a:pPr>
            <a:r>
              <a:rPr lang="en-US" sz="1400" dirty="0"/>
              <a:t>New Password + Confirm Password</a:t>
            </a:r>
          </a:p>
          <a:p>
            <a:pPr>
              <a:buFont typeface="Arial" panose="020B0604020202020204" pitchFamily="34" charset="0"/>
              <a:buChar char="•"/>
            </a:pPr>
            <a:r>
              <a:rPr lang="en-US" sz="1400" dirty="0"/>
              <a:t>Submit button</a:t>
            </a:r>
          </a:p>
        </p:txBody>
      </p:sp>
      <p:pic>
        <p:nvPicPr>
          <p:cNvPr id="8" name="Picture 7">
            <a:extLst>
              <a:ext uri="{FF2B5EF4-FFF2-40B4-BE49-F238E27FC236}">
                <a16:creationId xmlns:a16="http://schemas.microsoft.com/office/drawing/2014/main" id="{8916A999-6D66-5B40-8FA3-4A4C2B16BE3C}"/>
              </a:ext>
            </a:extLst>
          </p:cNvPr>
          <p:cNvPicPr>
            <a:picLocks noChangeAspect="1"/>
          </p:cNvPicPr>
          <p:nvPr/>
        </p:nvPicPr>
        <p:blipFill>
          <a:blip r:embed="rId3"/>
          <a:stretch>
            <a:fillRect/>
          </a:stretch>
        </p:blipFill>
        <p:spPr>
          <a:xfrm>
            <a:off x="598503" y="932608"/>
            <a:ext cx="4505954" cy="2410161"/>
          </a:xfrm>
          <a:prstGeom prst="rect">
            <a:avLst/>
          </a:prstGeom>
        </p:spPr>
      </p:pic>
    </p:spTree>
    <p:extLst>
      <p:ext uri="{BB962C8B-B14F-4D97-AF65-F5344CB8AC3E}">
        <p14:creationId xmlns:p14="http://schemas.microsoft.com/office/powerpoint/2010/main" val="3532450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49C-D341-CEE7-D8DE-6DEAEB303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3E9A2-37F6-32DB-A950-1CFE2A84CF2D}"/>
              </a:ext>
            </a:extLst>
          </p:cNvPr>
          <p:cNvSpPr>
            <a:spLocks noGrp="1"/>
          </p:cNvSpPr>
          <p:nvPr>
            <p:ph type="title"/>
          </p:nvPr>
        </p:nvSpPr>
        <p:spPr>
          <a:xfrm>
            <a:off x="598503" y="193906"/>
            <a:ext cx="10515600" cy="487131"/>
          </a:xfrm>
        </p:spPr>
        <p:txBody>
          <a:bodyPr>
            <a:normAutofit/>
          </a:bodyPr>
          <a:lstStyle/>
          <a:p>
            <a:r>
              <a:rPr lang="en-US" sz="2800" dirty="0"/>
              <a:t>Wireframe Notes – 6.5 – Password Reset Successful</a:t>
            </a:r>
          </a:p>
        </p:txBody>
      </p:sp>
      <p:sp>
        <p:nvSpPr>
          <p:cNvPr id="4" name="Date Placeholder 3">
            <a:extLst>
              <a:ext uri="{FF2B5EF4-FFF2-40B4-BE49-F238E27FC236}">
                <a16:creationId xmlns:a16="http://schemas.microsoft.com/office/drawing/2014/main" id="{5D2CB3E1-23C0-D65D-CF90-2CD3A0D9249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42FADA60-5553-58AD-BB94-46CAB33F99A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23</a:t>
            </a:fld>
            <a:endParaRPr lang="en-US"/>
          </a:p>
        </p:txBody>
      </p:sp>
      <p:sp>
        <p:nvSpPr>
          <p:cNvPr id="3" name="TextBox 2">
            <a:extLst>
              <a:ext uri="{FF2B5EF4-FFF2-40B4-BE49-F238E27FC236}">
                <a16:creationId xmlns:a16="http://schemas.microsoft.com/office/drawing/2014/main" id="{580789C9-36BA-7B77-BBD6-EFF37F1AC8FD}"/>
              </a:ext>
            </a:extLst>
          </p:cNvPr>
          <p:cNvSpPr txBox="1"/>
          <p:nvPr/>
        </p:nvSpPr>
        <p:spPr>
          <a:xfrm>
            <a:off x="8514021" y="968138"/>
            <a:ext cx="3458240" cy="738664"/>
          </a:xfrm>
          <a:prstGeom prst="rect">
            <a:avLst/>
          </a:prstGeom>
          <a:noFill/>
        </p:spPr>
        <p:txBody>
          <a:bodyPr wrap="square">
            <a:spAutoFit/>
          </a:bodyPr>
          <a:lstStyle/>
          <a:p>
            <a:pPr>
              <a:buNone/>
            </a:pPr>
            <a:r>
              <a:rPr lang="en-US" sz="1400" b="1" dirty="0"/>
              <a:t>Password Reset Success Screen</a:t>
            </a:r>
            <a:endParaRPr lang="en-US" sz="1400" dirty="0"/>
          </a:p>
          <a:p>
            <a:pPr>
              <a:buFont typeface="Arial" panose="020B0604020202020204" pitchFamily="34" charset="0"/>
              <a:buChar char="•"/>
            </a:pPr>
            <a:r>
              <a:rPr lang="en-US" sz="1400" dirty="0"/>
              <a:t>Message: "Your password has been reset"</a:t>
            </a:r>
          </a:p>
          <a:p>
            <a:pPr>
              <a:buFont typeface="Arial" panose="020B0604020202020204" pitchFamily="34" charset="0"/>
              <a:buChar char="•"/>
            </a:pPr>
            <a:r>
              <a:rPr lang="en-US" sz="1400" dirty="0"/>
              <a:t>Button to go back to Login</a:t>
            </a:r>
          </a:p>
        </p:txBody>
      </p:sp>
      <p:pic>
        <p:nvPicPr>
          <p:cNvPr id="7" name="Picture 6">
            <a:extLst>
              <a:ext uri="{FF2B5EF4-FFF2-40B4-BE49-F238E27FC236}">
                <a16:creationId xmlns:a16="http://schemas.microsoft.com/office/drawing/2014/main" id="{4990862A-D2F5-9B81-8B88-DC408789A0D2}"/>
              </a:ext>
            </a:extLst>
          </p:cNvPr>
          <p:cNvPicPr>
            <a:picLocks noChangeAspect="1"/>
          </p:cNvPicPr>
          <p:nvPr/>
        </p:nvPicPr>
        <p:blipFill>
          <a:blip r:embed="rId3"/>
          <a:stretch>
            <a:fillRect/>
          </a:stretch>
        </p:blipFill>
        <p:spPr>
          <a:xfrm>
            <a:off x="838200" y="882449"/>
            <a:ext cx="4496427" cy="1971950"/>
          </a:xfrm>
          <a:prstGeom prst="rect">
            <a:avLst/>
          </a:prstGeom>
        </p:spPr>
      </p:pic>
    </p:spTree>
    <p:extLst>
      <p:ext uri="{BB962C8B-B14F-4D97-AF65-F5344CB8AC3E}">
        <p14:creationId xmlns:p14="http://schemas.microsoft.com/office/powerpoint/2010/main" val="3543505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645C6-8F13-69EE-0B35-0EEA109FC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9BBAF-8017-EBD2-798F-23792A8908C7}"/>
              </a:ext>
            </a:extLst>
          </p:cNvPr>
          <p:cNvSpPr>
            <a:spLocks noGrp="1"/>
          </p:cNvSpPr>
          <p:nvPr>
            <p:ph type="title"/>
          </p:nvPr>
        </p:nvSpPr>
        <p:spPr>
          <a:xfrm>
            <a:off x="598503" y="193906"/>
            <a:ext cx="10515600" cy="487131"/>
          </a:xfrm>
        </p:spPr>
        <p:txBody>
          <a:bodyPr>
            <a:normAutofit/>
          </a:bodyPr>
          <a:lstStyle/>
          <a:p>
            <a:r>
              <a:rPr lang="en-US" sz="2800" dirty="0"/>
              <a:t>Wireframe Notes – 6.6 – 2FA Authenticate OTP</a:t>
            </a:r>
          </a:p>
        </p:txBody>
      </p:sp>
      <p:sp>
        <p:nvSpPr>
          <p:cNvPr id="4" name="Date Placeholder 3">
            <a:extLst>
              <a:ext uri="{FF2B5EF4-FFF2-40B4-BE49-F238E27FC236}">
                <a16:creationId xmlns:a16="http://schemas.microsoft.com/office/drawing/2014/main" id="{8F0A4A2B-663D-E776-C35C-6E76A65855E6}"/>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6DCE38E2-182E-9985-4757-1991C1CFBD9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24</a:t>
            </a:fld>
            <a:endParaRPr lang="en-US"/>
          </a:p>
        </p:txBody>
      </p:sp>
      <p:sp>
        <p:nvSpPr>
          <p:cNvPr id="3" name="TextBox 2">
            <a:extLst>
              <a:ext uri="{FF2B5EF4-FFF2-40B4-BE49-F238E27FC236}">
                <a16:creationId xmlns:a16="http://schemas.microsoft.com/office/drawing/2014/main" id="{403E0022-AE14-FB52-2A3A-9136DAE524FB}"/>
              </a:ext>
            </a:extLst>
          </p:cNvPr>
          <p:cNvSpPr txBox="1"/>
          <p:nvPr/>
        </p:nvSpPr>
        <p:spPr>
          <a:xfrm>
            <a:off x="8514021" y="968138"/>
            <a:ext cx="3458240" cy="954107"/>
          </a:xfrm>
          <a:prstGeom prst="rect">
            <a:avLst/>
          </a:prstGeom>
          <a:noFill/>
        </p:spPr>
        <p:txBody>
          <a:bodyPr wrap="square">
            <a:spAutoFit/>
          </a:bodyPr>
          <a:lstStyle/>
          <a:p>
            <a:pPr>
              <a:buNone/>
            </a:pPr>
            <a:r>
              <a:rPr lang="en-US" sz="1400" b="1" dirty="0"/>
              <a:t>Two-Factor Authentication (2FA) Screen</a:t>
            </a:r>
            <a:endParaRPr lang="en-US" sz="1400" dirty="0"/>
          </a:p>
          <a:p>
            <a:pPr>
              <a:buFont typeface="Arial" panose="020B0604020202020204" pitchFamily="34" charset="0"/>
              <a:buChar char="•"/>
            </a:pPr>
            <a:r>
              <a:rPr lang="en-US" sz="1400" dirty="0"/>
              <a:t>Prompt for OTP or code from authenticator app</a:t>
            </a:r>
          </a:p>
          <a:p>
            <a:pPr>
              <a:buFont typeface="Arial" panose="020B0604020202020204" pitchFamily="34" charset="0"/>
              <a:buChar char="•"/>
            </a:pPr>
            <a:r>
              <a:rPr lang="en-US" sz="1400" dirty="0"/>
              <a:t>Backup methods (e.g., SMS, email)</a:t>
            </a:r>
          </a:p>
        </p:txBody>
      </p:sp>
      <p:pic>
        <p:nvPicPr>
          <p:cNvPr id="8" name="Picture 7">
            <a:extLst>
              <a:ext uri="{FF2B5EF4-FFF2-40B4-BE49-F238E27FC236}">
                <a16:creationId xmlns:a16="http://schemas.microsoft.com/office/drawing/2014/main" id="{0D3638EE-2D8A-BE4C-AE18-8EE47095D3D6}"/>
              </a:ext>
            </a:extLst>
          </p:cNvPr>
          <p:cNvPicPr>
            <a:picLocks noChangeAspect="1"/>
          </p:cNvPicPr>
          <p:nvPr/>
        </p:nvPicPr>
        <p:blipFill>
          <a:blip r:embed="rId3"/>
          <a:stretch>
            <a:fillRect/>
          </a:stretch>
        </p:blipFill>
        <p:spPr>
          <a:xfrm>
            <a:off x="679945" y="968138"/>
            <a:ext cx="4401164" cy="2362530"/>
          </a:xfrm>
          <a:prstGeom prst="rect">
            <a:avLst/>
          </a:prstGeom>
        </p:spPr>
      </p:pic>
    </p:spTree>
    <p:extLst>
      <p:ext uri="{BB962C8B-B14F-4D97-AF65-F5344CB8AC3E}">
        <p14:creationId xmlns:p14="http://schemas.microsoft.com/office/powerpoint/2010/main" val="2920801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0200-DBFC-860A-4A06-3CE37E372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8BD88-09DD-2B84-3907-3A0AFAC1DE9F}"/>
              </a:ext>
            </a:extLst>
          </p:cNvPr>
          <p:cNvSpPr>
            <a:spLocks noGrp="1"/>
          </p:cNvSpPr>
          <p:nvPr>
            <p:ph type="title"/>
          </p:nvPr>
        </p:nvSpPr>
        <p:spPr>
          <a:xfrm>
            <a:off x="598503" y="193906"/>
            <a:ext cx="10515600" cy="487131"/>
          </a:xfrm>
        </p:spPr>
        <p:txBody>
          <a:bodyPr>
            <a:normAutofit/>
          </a:bodyPr>
          <a:lstStyle/>
          <a:p>
            <a:r>
              <a:rPr lang="en-US" sz="2800" dirty="0"/>
              <a:t>Wireframe Notes – 6.7 – Sign-up Registration (out of Scope)</a:t>
            </a:r>
          </a:p>
        </p:txBody>
      </p:sp>
      <p:sp>
        <p:nvSpPr>
          <p:cNvPr id="4" name="Date Placeholder 3">
            <a:extLst>
              <a:ext uri="{FF2B5EF4-FFF2-40B4-BE49-F238E27FC236}">
                <a16:creationId xmlns:a16="http://schemas.microsoft.com/office/drawing/2014/main" id="{4C0AD5E1-7DFF-7B7C-53CD-6CE0DFA0865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395A9318-6419-BA9D-8361-9FCF05F12B3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25</a:t>
            </a:fld>
            <a:endParaRPr lang="en-US"/>
          </a:p>
        </p:txBody>
      </p:sp>
      <p:sp>
        <p:nvSpPr>
          <p:cNvPr id="3" name="TextBox 2">
            <a:extLst>
              <a:ext uri="{FF2B5EF4-FFF2-40B4-BE49-F238E27FC236}">
                <a16:creationId xmlns:a16="http://schemas.microsoft.com/office/drawing/2014/main" id="{54072F0D-7A69-CF33-9683-876C1CC707E8}"/>
              </a:ext>
            </a:extLst>
          </p:cNvPr>
          <p:cNvSpPr txBox="1"/>
          <p:nvPr/>
        </p:nvSpPr>
        <p:spPr>
          <a:xfrm>
            <a:off x="9267159" y="867313"/>
            <a:ext cx="2743201" cy="4339650"/>
          </a:xfrm>
          <a:prstGeom prst="rect">
            <a:avLst/>
          </a:prstGeom>
          <a:noFill/>
        </p:spPr>
        <p:txBody>
          <a:bodyPr wrap="square">
            <a:spAutoFit/>
          </a:bodyPr>
          <a:lstStyle/>
          <a:p>
            <a:pPr>
              <a:buNone/>
            </a:pPr>
            <a:r>
              <a:rPr lang="en-US" sz="1200" dirty="0">
                <a:latin typeface="Century Gothic" panose="020B0502020202020204" pitchFamily="34" charset="0"/>
              </a:rPr>
              <a:t>Sign Up / Registration Screen (Disabled/Hidden)</a:t>
            </a:r>
          </a:p>
          <a:p>
            <a:pPr>
              <a:buFont typeface="Arial" panose="020B0604020202020204" pitchFamily="34" charset="0"/>
              <a:buChar char="•"/>
            </a:pPr>
            <a:r>
              <a:rPr lang="en-US" sz="1200" dirty="0">
                <a:latin typeface="Century Gothic" panose="020B0502020202020204" pitchFamily="34" charset="0"/>
              </a:rPr>
              <a:t>If account creation is allowed in the future</a:t>
            </a:r>
          </a:p>
          <a:p>
            <a:endParaRPr lang="en-US" sz="1200" dirty="0">
              <a:latin typeface="Century Gothic" panose="020B0502020202020204" pitchFamily="34" charset="0"/>
            </a:endParaRPr>
          </a:p>
          <a:p>
            <a:pPr>
              <a:buFont typeface="Arial" panose="020B0604020202020204" pitchFamily="34" charset="0"/>
              <a:buChar char="•"/>
            </a:pPr>
            <a:r>
              <a:rPr lang="en-US" sz="1200" dirty="0">
                <a:latin typeface="Century Gothic" panose="020B0502020202020204" pitchFamily="34" charset="0"/>
              </a:rPr>
              <a:t>Additional Screens:</a:t>
            </a:r>
          </a:p>
          <a:p>
            <a:pPr>
              <a:buNone/>
            </a:pPr>
            <a:r>
              <a:rPr lang="en-US" sz="1200" dirty="0">
                <a:latin typeface="Century Gothic" panose="020B0502020202020204" pitchFamily="34" charset="0"/>
              </a:rPr>
              <a:t>Account Lock/Too Many Attempts Screen</a:t>
            </a:r>
          </a:p>
          <a:p>
            <a:pPr>
              <a:buFont typeface="Arial" panose="020B0604020202020204" pitchFamily="34" charset="0"/>
              <a:buChar char="•"/>
            </a:pPr>
            <a:r>
              <a:rPr lang="en-US" sz="1200" dirty="0">
                <a:latin typeface="Century Gothic" panose="020B0502020202020204" pitchFamily="34" charset="0"/>
              </a:rPr>
              <a:t>Inform user of lockout</a:t>
            </a:r>
          </a:p>
          <a:p>
            <a:pPr>
              <a:buFont typeface="Arial" panose="020B0604020202020204" pitchFamily="34" charset="0"/>
              <a:buChar char="•"/>
            </a:pPr>
            <a:r>
              <a:rPr lang="en-US" sz="1200" dirty="0">
                <a:latin typeface="Century Gothic" panose="020B0502020202020204" pitchFamily="34" charset="0"/>
              </a:rPr>
              <a:t>Time remaining or action to unlock (e.g., via email)</a:t>
            </a:r>
          </a:p>
          <a:p>
            <a:pPr>
              <a:buNone/>
            </a:pPr>
            <a:r>
              <a:rPr lang="en-US" sz="1200" dirty="0">
                <a:latin typeface="Century Gothic" panose="020B0502020202020204" pitchFamily="34" charset="0"/>
              </a:rPr>
              <a:t>Email Verification Screen (Post Sign-up)</a:t>
            </a:r>
          </a:p>
          <a:p>
            <a:pPr>
              <a:buFont typeface="Arial" panose="020B0604020202020204" pitchFamily="34" charset="0"/>
              <a:buChar char="•"/>
            </a:pPr>
            <a:r>
              <a:rPr lang="en-US" sz="1200" dirty="0">
                <a:latin typeface="Century Gothic" panose="020B0502020202020204" pitchFamily="34" charset="0"/>
              </a:rPr>
              <a:t>“Check your email to verify your account”</a:t>
            </a:r>
          </a:p>
          <a:p>
            <a:pPr>
              <a:buNone/>
            </a:pPr>
            <a:r>
              <a:rPr lang="en-US" sz="1200" dirty="0">
                <a:latin typeface="Century Gothic" panose="020B0502020202020204" pitchFamily="34" charset="0"/>
              </a:rPr>
              <a:t>Resend Verification Email Screen</a:t>
            </a:r>
          </a:p>
          <a:p>
            <a:pPr>
              <a:buFont typeface="Arial" panose="020B0604020202020204" pitchFamily="34" charset="0"/>
              <a:buChar char="•"/>
            </a:pPr>
            <a:r>
              <a:rPr lang="en-US" sz="1200" dirty="0">
                <a:latin typeface="Century Gothic" panose="020B0502020202020204" pitchFamily="34" charset="0"/>
              </a:rPr>
              <a:t>In case the user didn’t receive the initial verification</a:t>
            </a:r>
          </a:p>
          <a:p>
            <a:pPr>
              <a:buNone/>
            </a:pPr>
            <a:r>
              <a:rPr lang="en-US" sz="1200" dirty="0">
                <a:latin typeface="Century Gothic" panose="020B0502020202020204" pitchFamily="34" charset="0"/>
              </a:rPr>
              <a:t>Login Success Redirect / Dashboard Screen</a:t>
            </a:r>
          </a:p>
          <a:p>
            <a:pPr>
              <a:buFont typeface="Arial" panose="020B0604020202020204" pitchFamily="34" charset="0"/>
              <a:buChar char="•"/>
            </a:pPr>
            <a:r>
              <a:rPr lang="en-US" sz="1200" dirty="0">
                <a:latin typeface="Century Gothic" panose="020B0502020202020204" pitchFamily="34" charset="0"/>
              </a:rPr>
              <a:t>After login, redirect to home, dashboard, or intended page</a:t>
            </a:r>
          </a:p>
          <a:p>
            <a:pPr>
              <a:buFont typeface="Arial" panose="020B0604020202020204" pitchFamily="34" charset="0"/>
              <a:buChar char="•"/>
            </a:pPr>
            <a:endParaRPr lang="en-US" sz="1200" dirty="0">
              <a:latin typeface="Century Gothic" panose="020B0502020202020204" pitchFamily="34" charset="0"/>
            </a:endParaRPr>
          </a:p>
        </p:txBody>
      </p:sp>
      <p:pic>
        <p:nvPicPr>
          <p:cNvPr id="7" name="Picture 6">
            <a:extLst>
              <a:ext uri="{FF2B5EF4-FFF2-40B4-BE49-F238E27FC236}">
                <a16:creationId xmlns:a16="http://schemas.microsoft.com/office/drawing/2014/main" id="{5F47A494-4B85-68C1-67CD-481614C0BD99}"/>
              </a:ext>
            </a:extLst>
          </p:cNvPr>
          <p:cNvPicPr>
            <a:picLocks noChangeAspect="1"/>
          </p:cNvPicPr>
          <p:nvPr/>
        </p:nvPicPr>
        <p:blipFill>
          <a:blip r:embed="rId3"/>
          <a:stretch>
            <a:fillRect/>
          </a:stretch>
        </p:blipFill>
        <p:spPr>
          <a:xfrm>
            <a:off x="5104913" y="914105"/>
            <a:ext cx="4114158" cy="5373954"/>
          </a:xfrm>
          <a:prstGeom prst="rect">
            <a:avLst/>
          </a:prstGeom>
        </p:spPr>
      </p:pic>
      <p:pic>
        <p:nvPicPr>
          <p:cNvPr id="9" name="Picture 8">
            <a:extLst>
              <a:ext uri="{FF2B5EF4-FFF2-40B4-BE49-F238E27FC236}">
                <a16:creationId xmlns:a16="http://schemas.microsoft.com/office/drawing/2014/main" id="{85B4AE35-B7C1-2A0F-FC74-3F6B158C2878}"/>
              </a:ext>
            </a:extLst>
          </p:cNvPr>
          <p:cNvPicPr>
            <a:picLocks noChangeAspect="1"/>
          </p:cNvPicPr>
          <p:nvPr/>
        </p:nvPicPr>
        <p:blipFill>
          <a:blip r:embed="rId4"/>
          <a:stretch>
            <a:fillRect/>
          </a:stretch>
        </p:blipFill>
        <p:spPr>
          <a:xfrm>
            <a:off x="488569" y="965161"/>
            <a:ext cx="4496427" cy="4143953"/>
          </a:xfrm>
          <a:prstGeom prst="rect">
            <a:avLst/>
          </a:prstGeom>
        </p:spPr>
      </p:pic>
    </p:spTree>
    <p:extLst>
      <p:ext uri="{BB962C8B-B14F-4D97-AF65-F5344CB8AC3E}">
        <p14:creationId xmlns:p14="http://schemas.microsoft.com/office/powerpoint/2010/main" val="4266317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C4430-6003-1F53-F493-22BA5A2DA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61F2D-8802-6399-2D12-834453AE289D}"/>
              </a:ext>
            </a:extLst>
          </p:cNvPr>
          <p:cNvSpPr>
            <a:spLocks noGrp="1"/>
          </p:cNvSpPr>
          <p:nvPr>
            <p:ph type="ctrTitle"/>
          </p:nvPr>
        </p:nvSpPr>
        <p:spPr>
          <a:xfrm>
            <a:off x="1524000" y="2351686"/>
            <a:ext cx="9144000" cy="2387600"/>
          </a:xfrm>
        </p:spPr>
        <p:txBody>
          <a:bodyPr/>
          <a:lstStyle/>
          <a:p>
            <a:r>
              <a:rPr lang="en-US" dirty="0"/>
              <a:t>Wireframes</a:t>
            </a:r>
          </a:p>
        </p:txBody>
      </p:sp>
      <p:sp>
        <p:nvSpPr>
          <p:cNvPr id="8" name="Date Placeholder 7">
            <a:extLst>
              <a:ext uri="{FF2B5EF4-FFF2-40B4-BE49-F238E27FC236}">
                <a16:creationId xmlns:a16="http://schemas.microsoft.com/office/drawing/2014/main" id="{15557286-7C37-7115-A4E1-BD3A0AA6B49E}"/>
              </a:ext>
            </a:extLst>
          </p:cNvPr>
          <p:cNvSpPr>
            <a:spLocks noGrp="1"/>
          </p:cNvSpPr>
          <p:nvPr>
            <p:ph type="dt" sz="half" idx="10"/>
          </p:nvPr>
        </p:nvSpPr>
        <p:spPr/>
        <p:txBody>
          <a:bodyPr/>
          <a:lstStyle/>
          <a:p>
            <a:fld id="{5948895C-732D-4B88-B65C-5D83E3577007}" type="datetime1">
              <a:rPr lang="en-US" smtClean="0"/>
              <a:t>6/21/2025</a:t>
            </a:fld>
            <a:endParaRPr lang="en-US"/>
          </a:p>
        </p:txBody>
      </p:sp>
      <p:sp>
        <p:nvSpPr>
          <p:cNvPr id="9" name="Slide Number Placeholder 8">
            <a:extLst>
              <a:ext uri="{FF2B5EF4-FFF2-40B4-BE49-F238E27FC236}">
                <a16:creationId xmlns:a16="http://schemas.microsoft.com/office/drawing/2014/main" id="{276380D5-E588-9497-76C7-1334BCE2620F}"/>
              </a:ext>
            </a:extLst>
          </p:cNvPr>
          <p:cNvSpPr>
            <a:spLocks noGrp="1"/>
          </p:cNvSpPr>
          <p:nvPr>
            <p:ph type="sldNum" sz="quarter" idx="12"/>
          </p:nvPr>
        </p:nvSpPr>
        <p:spPr/>
        <p:txBody>
          <a:bodyPr/>
          <a:lstStyle/>
          <a:p>
            <a:fld id="{330EA680-D336-4FF7-8B7A-9848BB0A1C32}" type="slidenum">
              <a:rPr lang="en-US" smtClean="0"/>
              <a:t>26</a:t>
            </a:fld>
            <a:endParaRPr lang="en-US"/>
          </a:p>
        </p:txBody>
      </p:sp>
      <p:pic>
        <p:nvPicPr>
          <p:cNvPr id="10" name="Picture 9" descr="GreenCircle Certified">
            <a:extLst>
              <a:ext uri="{FF2B5EF4-FFF2-40B4-BE49-F238E27FC236}">
                <a16:creationId xmlns:a16="http://schemas.microsoft.com/office/drawing/2014/main" id="{D03AA94E-9664-4D24-99F6-353E26C7C986}"/>
              </a:ext>
            </a:extLst>
          </p:cNvPr>
          <p:cNvPicPr>
            <a:picLocks noChangeAspect="1"/>
          </p:cNvPicPr>
          <p:nvPr/>
        </p:nvPicPr>
        <p:blipFill>
          <a:blip r:embed="rId4"/>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943738598"/>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50256-B405-D059-3211-7254434BABFB}"/>
              </a:ext>
            </a:extLst>
          </p:cNvPr>
          <p:cNvSpPr>
            <a:spLocks noGrp="1"/>
          </p:cNvSpPr>
          <p:nvPr>
            <p:ph type="title"/>
          </p:nvPr>
        </p:nvSpPr>
        <p:spPr/>
        <p:txBody>
          <a:bodyPr/>
          <a:lstStyle/>
          <a:p>
            <a:r>
              <a:rPr lang="en-US" sz="2800" dirty="0"/>
              <a:t>Wireframe Notes – 1.0 - Certificate List (Public Page)</a:t>
            </a:r>
          </a:p>
        </p:txBody>
      </p:sp>
      <p:sp>
        <p:nvSpPr>
          <p:cNvPr id="4" name="Date Placeholder 3">
            <a:extLst>
              <a:ext uri="{FF2B5EF4-FFF2-40B4-BE49-F238E27FC236}">
                <a16:creationId xmlns:a16="http://schemas.microsoft.com/office/drawing/2014/main" id="{A92C4DD3-327A-E238-F660-DAF1722A3574}"/>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26A8C9CF-93E8-E48B-F0E7-77A04676F585}"/>
              </a:ext>
            </a:extLst>
          </p:cNvPr>
          <p:cNvSpPr>
            <a:spLocks noGrp="1"/>
          </p:cNvSpPr>
          <p:nvPr>
            <p:ph type="sldNum" sz="quarter" idx="12"/>
          </p:nvPr>
        </p:nvSpPr>
        <p:spPr/>
        <p:txBody>
          <a:bodyPr/>
          <a:lstStyle/>
          <a:p>
            <a:fld id="{330EA680-D336-4FF7-8B7A-9848BB0A1C32}" type="slidenum">
              <a:rPr lang="en-US" smtClean="0"/>
              <a:t>27</a:t>
            </a:fld>
            <a:endParaRPr lang="en-US"/>
          </a:p>
        </p:txBody>
      </p:sp>
      <p:sp>
        <p:nvSpPr>
          <p:cNvPr id="15" name="TextBox 14">
            <a:extLst>
              <a:ext uri="{FF2B5EF4-FFF2-40B4-BE49-F238E27FC236}">
                <a16:creationId xmlns:a16="http://schemas.microsoft.com/office/drawing/2014/main" id="{DC7CA857-7E16-B015-E8FA-243C98A9F741}"/>
              </a:ext>
            </a:extLst>
          </p:cNvPr>
          <p:cNvSpPr txBox="1"/>
          <p:nvPr/>
        </p:nvSpPr>
        <p:spPr>
          <a:xfrm>
            <a:off x="10380216" y="887204"/>
            <a:ext cx="1811784" cy="1754326"/>
          </a:xfrm>
          <a:prstGeom prst="rect">
            <a:avLst/>
          </a:prstGeom>
          <a:noFill/>
        </p:spPr>
        <p:txBody>
          <a:bodyPr wrap="square">
            <a:spAutoFit/>
          </a:bodyPr>
          <a:lstStyle/>
          <a:p>
            <a:r>
              <a:rPr lang="en-US" sz="1200" b="1" dirty="0">
                <a:latin typeface="Century Gothic" panose="020B0502020202020204" pitchFamily="34" charset="0"/>
              </a:rPr>
              <a:t>Fields not included on Tile:</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Company Contact Email/URL </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Product Category</a:t>
            </a:r>
          </a:p>
          <a:p>
            <a:pPr marL="285750" indent="-285750">
              <a:buFont typeface="Arial" panose="020B0604020202020204" pitchFamily="34" charset="0"/>
              <a:buChar char="•"/>
            </a:pPr>
            <a:r>
              <a:rPr lang="en-US" sz="1200" dirty="0">
                <a:solidFill>
                  <a:srgbClr val="000000"/>
                </a:solidFill>
                <a:latin typeface="Century Gothic" panose="020B0502020202020204" pitchFamily="34" charset="0"/>
              </a:rPr>
              <a:t>Product Subcategory</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Tags</a:t>
            </a:r>
          </a:p>
        </p:txBody>
      </p:sp>
      <p:pic>
        <p:nvPicPr>
          <p:cNvPr id="7" name="Picture 6">
            <a:extLst>
              <a:ext uri="{FF2B5EF4-FFF2-40B4-BE49-F238E27FC236}">
                <a16:creationId xmlns:a16="http://schemas.microsoft.com/office/drawing/2014/main" id="{6166275B-9C94-6797-2445-9F159374FF86}"/>
              </a:ext>
            </a:extLst>
          </p:cNvPr>
          <p:cNvPicPr>
            <a:picLocks noChangeAspect="1"/>
          </p:cNvPicPr>
          <p:nvPr/>
        </p:nvPicPr>
        <p:blipFill>
          <a:blip r:embed="rId4"/>
          <a:stretch>
            <a:fillRect/>
          </a:stretch>
        </p:blipFill>
        <p:spPr>
          <a:xfrm>
            <a:off x="270365" y="681037"/>
            <a:ext cx="9990166" cy="5860897"/>
          </a:xfrm>
          <a:prstGeom prst="rect">
            <a:avLst/>
          </a:prstGeom>
        </p:spPr>
      </p:pic>
    </p:spTree>
    <p:extLst>
      <p:ext uri="{BB962C8B-B14F-4D97-AF65-F5344CB8AC3E}">
        <p14:creationId xmlns:p14="http://schemas.microsoft.com/office/powerpoint/2010/main" val="3647497128"/>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EE01-7B29-ED1E-7644-9A63EBC41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7AE14-B49D-C29F-4C86-FEEF3DB82812}"/>
              </a:ext>
            </a:extLst>
          </p:cNvPr>
          <p:cNvSpPr>
            <a:spLocks noGrp="1"/>
          </p:cNvSpPr>
          <p:nvPr>
            <p:ph type="title"/>
          </p:nvPr>
        </p:nvSpPr>
        <p:spPr>
          <a:xfrm>
            <a:off x="598503" y="193906"/>
            <a:ext cx="11433076" cy="487131"/>
          </a:xfrm>
        </p:spPr>
        <p:txBody>
          <a:bodyPr/>
          <a:lstStyle/>
          <a:p>
            <a:r>
              <a:rPr lang="en-US" sz="2800" dirty="0"/>
              <a:t>Wireframe Notes – 1.0 - Certificate List (Public Page) – Alt View 1</a:t>
            </a:r>
          </a:p>
        </p:txBody>
      </p:sp>
      <p:sp>
        <p:nvSpPr>
          <p:cNvPr id="4" name="Date Placeholder 3">
            <a:extLst>
              <a:ext uri="{FF2B5EF4-FFF2-40B4-BE49-F238E27FC236}">
                <a16:creationId xmlns:a16="http://schemas.microsoft.com/office/drawing/2014/main" id="{249AA1F1-6C03-D6F2-9761-0C42ED4867BB}"/>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1A00F7FE-3354-FEAC-1FEF-47889C73FF67}"/>
              </a:ext>
            </a:extLst>
          </p:cNvPr>
          <p:cNvSpPr>
            <a:spLocks noGrp="1"/>
          </p:cNvSpPr>
          <p:nvPr>
            <p:ph type="sldNum" sz="quarter" idx="12"/>
          </p:nvPr>
        </p:nvSpPr>
        <p:spPr/>
        <p:txBody>
          <a:bodyPr/>
          <a:lstStyle/>
          <a:p>
            <a:fld id="{330EA680-D336-4FF7-8B7A-9848BB0A1C32}" type="slidenum">
              <a:rPr lang="en-US" smtClean="0"/>
              <a:t>28</a:t>
            </a:fld>
            <a:endParaRPr lang="en-US"/>
          </a:p>
        </p:txBody>
      </p:sp>
      <p:sp>
        <p:nvSpPr>
          <p:cNvPr id="15" name="TextBox 14">
            <a:extLst>
              <a:ext uri="{FF2B5EF4-FFF2-40B4-BE49-F238E27FC236}">
                <a16:creationId xmlns:a16="http://schemas.microsoft.com/office/drawing/2014/main" id="{91BE873F-36EA-D363-9ECE-77A911E522B5}"/>
              </a:ext>
            </a:extLst>
          </p:cNvPr>
          <p:cNvSpPr txBox="1"/>
          <p:nvPr/>
        </p:nvSpPr>
        <p:spPr>
          <a:xfrm>
            <a:off x="10380216" y="887204"/>
            <a:ext cx="1811784" cy="1754326"/>
          </a:xfrm>
          <a:prstGeom prst="rect">
            <a:avLst/>
          </a:prstGeom>
          <a:noFill/>
        </p:spPr>
        <p:txBody>
          <a:bodyPr wrap="square">
            <a:spAutoFit/>
          </a:bodyPr>
          <a:lstStyle/>
          <a:p>
            <a:r>
              <a:rPr lang="en-US" sz="1200" b="1" dirty="0">
                <a:latin typeface="Century Gothic" panose="020B0502020202020204" pitchFamily="34" charset="0"/>
              </a:rPr>
              <a:t>Fields not included on Tile:</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Company Contact Email/URL </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Product Category</a:t>
            </a:r>
          </a:p>
          <a:p>
            <a:pPr marL="285750" indent="-285750">
              <a:buFont typeface="Arial" panose="020B0604020202020204" pitchFamily="34" charset="0"/>
              <a:buChar char="•"/>
            </a:pPr>
            <a:r>
              <a:rPr lang="en-US" sz="1200" dirty="0">
                <a:solidFill>
                  <a:srgbClr val="000000"/>
                </a:solidFill>
                <a:latin typeface="Century Gothic" panose="020B0502020202020204" pitchFamily="34" charset="0"/>
              </a:rPr>
              <a:t>Product Subcategory</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Tags</a:t>
            </a:r>
          </a:p>
        </p:txBody>
      </p:sp>
      <p:pic>
        <p:nvPicPr>
          <p:cNvPr id="3" name="Picture 2">
            <a:extLst>
              <a:ext uri="{FF2B5EF4-FFF2-40B4-BE49-F238E27FC236}">
                <a16:creationId xmlns:a16="http://schemas.microsoft.com/office/drawing/2014/main" id="{4C63B7F5-6D2D-A719-8B02-107CC67E4D77}"/>
              </a:ext>
            </a:extLst>
          </p:cNvPr>
          <p:cNvPicPr>
            <a:picLocks noChangeAspect="1"/>
          </p:cNvPicPr>
          <p:nvPr/>
        </p:nvPicPr>
        <p:blipFill>
          <a:blip r:embed="rId4"/>
          <a:srcRect l="-4991" t="5370" r="-72" b="-10248"/>
          <a:stretch>
            <a:fillRect/>
          </a:stretch>
        </p:blipFill>
        <p:spPr>
          <a:xfrm>
            <a:off x="2069612" y="681037"/>
            <a:ext cx="6685989" cy="6845919"/>
          </a:xfrm>
          <a:prstGeom prst="rect">
            <a:avLst/>
          </a:prstGeom>
        </p:spPr>
      </p:pic>
      <p:sp>
        <p:nvSpPr>
          <p:cNvPr id="7" name="TextBox 6">
            <a:extLst>
              <a:ext uri="{FF2B5EF4-FFF2-40B4-BE49-F238E27FC236}">
                <a16:creationId xmlns:a16="http://schemas.microsoft.com/office/drawing/2014/main" id="{714C56C7-EF7C-1EA9-E87B-E11B225D69D6}"/>
              </a:ext>
            </a:extLst>
          </p:cNvPr>
          <p:cNvSpPr txBox="1"/>
          <p:nvPr/>
        </p:nvSpPr>
        <p:spPr>
          <a:xfrm>
            <a:off x="8856847" y="5067566"/>
            <a:ext cx="3335153" cy="738664"/>
          </a:xfrm>
          <a:prstGeom prst="rect">
            <a:avLst/>
          </a:prstGeom>
          <a:noFill/>
        </p:spPr>
        <p:txBody>
          <a:bodyPr wrap="square">
            <a:spAutoFit/>
          </a:bodyPr>
          <a:lstStyle/>
          <a:p>
            <a:pPr marL="285750" indent="-285750">
              <a:buFont typeface="Arial" panose="020B0604020202020204" pitchFamily="34" charset="0"/>
              <a:buChar char="•"/>
            </a:pPr>
            <a:r>
              <a:rPr lang="en-US" sz="1400" i="0" u="none" strike="noStrike" baseline="0" dirty="0">
                <a:latin typeface="Century Gothic" panose="020B0502020202020204" pitchFamily="34" charset="0"/>
              </a:rPr>
              <a:t>Disclaimer is in the footer instead of the header an only visible on this page. </a:t>
            </a:r>
          </a:p>
        </p:txBody>
      </p:sp>
    </p:spTree>
    <p:extLst>
      <p:ext uri="{BB962C8B-B14F-4D97-AF65-F5344CB8AC3E}">
        <p14:creationId xmlns:p14="http://schemas.microsoft.com/office/powerpoint/2010/main" val="3645261291"/>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C355-FB88-A272-56D3-1E79D3E66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5C042-2DC0-5F23-195B-B82ED9184931}"/>
              </a:ext>
            </a:extLst>
          </p:cNvPr>
          <p:cNvSpPr>
            <a:spLocks noGrp="1"/>
          </p:cNvSpPr>
          <p:nvPr>
            <p:ph type="title"/>
          </p:nvPr>
        </p:nvSpPr>
        <p:spPr>
          <a:xfrm>
            <a:off x="598503" y="193906"/>
            <a:ext cx="11433076" cy="487131"/>
          </a:xfrm>
        </p:spPr>
        <p:txBody>
          <a:bodyPr/>
          <a:lstStyle/>
          <a:p>
            <a:r>
              <a:rPr lang="en-US" sz="2800" dirty="0"/>
              <a:t>Wireframe Notes – 1.0 - Certificate List (Public Page) – Alt View 2</a:t>
            </a:r>
          </a:p>
        </p:txBody>
      </p:sp>
      <p:sp>
        <p:nvSpPr>
          <p:cNvPr id="4" name="Date Placeholder 3">
            <a:extLst>
              <a:ext uri="{FF2B5EF4-FFF2-40B4-BE49-F238E27FC236}">
                <a16:creationId xmlns:a16="http://schemas.microsoft.com/office/drawing/2014/main" id="{492A14A5-17EB-8B44-E2A6-030EC559B9D7}"/>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5905A857-389F-D00E-1D8E-C33E6DBADFD6}"/>
              </a:ext>
            </a:extLst>
          </p:cNvPr>
          <p:cNvSpPr>
            <a:spLocks noGrp="1"/>
          </p:cNvSpPr>
          <p:nvPr>
            <p:ph type="sldNum" sz="quarter" idx="12"/>
          </p:nvPr>
        </p:nvSpPr>
        <p:spPr/>
        <p:txBody>
          <a:bodyPr/>
          <a:lstStyle/>
          <a:p>
            <a:fld id="{330EA680-D336-4FF7-8B7A-9848BB0A1C32}" type="slidenum">
              <a:rPr lang="en-US" smtClean="0"/>
              <a:t>29</a:t>
            </a:fld>
            <a:endParaRPr lang="en-US"/>
          </a:p>
        </p:txBody>
      </p:sp>
      <p:sp>
        <p:nvSpPr>
          <p:cNvPr id="15" name="TextBox 14">
            <a:extLst>
              <a:ext uri="{FF2B5EF4-FFF2-40B4-BE49-F238E27FC236}">
                <a16:creationId xmlns:a16="http://schemas.microsoft.com/office/drawing/2014/main" id="{85A66584-E74D-A173-9508-4B1329C3BE63}"/>
              </a:ext>
            </a:extLst>
          </p:cNvPr>
          <p:cNvSpPr txBox="1"/>
          <p:nvPr/>
        </p:nvSpPr>
        <p:spPr>
          <a:xfrm>
            <a:off x="10380216" y="887204"/>
            <a:ext cx="1811784" cy="1754326"/>
          </a:xfrm>
          <a:prstGeom prst="rect">
            <a:avLst/>
          </a:prstGeom>
          <a:noFill/>
        </p:spPr>
        <p:txBody>
          <a:bodyPr wrap="square">
            <a:spAutoFit/>
          </a:bodyPr>
          <a:lstStyle/>
          <a:p>
            <a:r>
              <a:rPr lang="en-US" sz="1200" b="1" dirty="0">
                <a:latin typeface="Century Gothic" panose="020B0502020202020204" pitchFamily="34" charset="0"/>
              </a:rPr>
              <a:t>Fields not included on Tile:</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Company Contact Email/URL </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Product Category</a:t>
            </a:r>
          </a:p>
          <a:p>
            <a:pPr marL="285750" indent="-285750">
              <a:buFont typeface="Arial" panose="020B0604020202020204" pitchFamily="34" charset="0"/>
              <a:buChar char="•"/>
            </a:pPr>
            <a:r>
              <a:rPr lang="en-US" sz="1200" dirty="0">
                <a:solidFill>
                  <a:srgbClr val="000000"/>
                </a:solidFill>
                <a:latin typeface="Century Gothic" panose="020B0502020202020204" pitchFamily="34" charset="0"/>
              </a:rPr>
              <a:t>Product Subcategory</a:t>
            </a:r>
          </a:p>
          <a:p>
            <a:pPr marL="285750" indent="-285750">
              <a:buFont typeface="Arial" panose="020B0604020202020204" pitchFamily="34" charset="0"/>
              <a:buChar char="•"/>
            </a:pPr>
            <a:r>
              <a:rPr lang="en-US" sz="1200" b="0" i="0" u="none" strike="noStrike" baseline="0" dirty="0">
                <a:solidFill>
                  <a:srgbClr val="000000"/>
                </a:solidFill>
                <a:latin typeface="Century Gothic" panose="020B0502020202020204" pitchFamily="34" charset="0"/>
              </a:rPr>
              <a:t>Tags</a:t>
            </a:r>
          </a:p>
        </p:txBody>
      </p:sp>
    </p:spTree>
    <p:extLst>
      <p:ext uri="{BB962C8B-B14F-4D97-AF65-F5344CB8AC3E}">
        <p14:creationId xmlns:p14="http://schemas.microsoft.com/office/powerpoint/2010/main" val="603027040"/>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D1F55-D971-0CCC-98DF-87AD5D1CA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CC639-21BA-64EA-6DEC-280E1E0E5DC2}"/>
              </a:ext>
            </a:extLst>
          </p:cNvPr>
          <p:cNvSpPr>
            <a:spLocks noGrp="1"/>
          </p:cNvSpPr>
          <p:nvPr>
            <p:ph type="title"/>
          </p:nvPr>
        </p:nvSpPr>
        <p:spPr/>
        <p:txBody>
          <a:bodyPr/>
          <a:lstStyle/>
          <a:p>
            <a:r>
              <a:rPr lang="en-US" sz="2800"/>
              <a:t>Wireframe Notes – 1.0 - Certificate List (Public Page)</a:t>
            </a:r>
          </a:p>
        </p:txBody>
      </p:sp>
      <p:sp>
        <p:nvSpPr>
          <p:cNvPr id="3" name="Content Placeholder 2">
            <a:extLst>
              <a:ext uri="{FF2B5EF4-FFF2-40B4-BE49-F238E27FC236}">
                <a16:creationId xmlns:a16="http://schemas.microsoft.com/office/drawing/2014/main" id="{2C9363E6-30F2-E691-35EB-5F69D43BE164}"/>
              </a:ext>
            </a:extLst>
          </p:cNvPr>
          <p:cNvSpPr>
            <a:spLocks noGrp="1"/>
          </p:cNvSpPr>
          <p:nvPr>
            <p:ph idx="1"/>
          </p:nvPr>
        </p:nvSpPr>
        <p:spPr>
          <a:xfrm>
            <a:off x="598503" y="868054"/>
            <a:ext cx="10857773" cy="5139345"/>
          </a:xfrm>
        </p:spPr>
        <p:txBody>
          <a:bodyPr>
            <a:noAutofit/>
          </a:bodyPr>
          <a:lstStyle/>
          <a:p>
            <a:pPr marR="2000" algn="l" rtl="0">
              <a:buSzPts val="1200"/>
              <a:buFont typeface="Symbol" panose="05050102010706020507" pitchFamily="18" charset="2"/>
              <a:buChar char="·"/>
            </a:pPr>
            <a:r>
              <a:rPr lang="en-US" sz="1400" b="0" i="0" u="none" strike="noStrike" baseline="0" dirty="0"/>
              <a:t>This is the landing page (https://db.greencirclecertified.com/certificate) on the current website. </a:t>
            </a:r>
          </a:p>
          <a:p>
            <a:pPr marR="2000" algn="l" rtl="0">
              <a:buSzPts val="1200"/>
              <a:buFont typeface="Symbol" panose="05050102010706020507" pitchFamily="18" charset="2"/>
              <a:buChar char="·"/>
            </a:pPr>
            <a:r>
              <a:rPr lang="en-US" sz="1400" b="0" i="0" u="none" strike="noStrike" baseline="0" dirty="0"/>
              <a:t>Clicking anywhere on the tile of a certificate will take the user to the Certificate View, separate page that opens into a new window, that shows details about the selected certificate. </a:t>
            </a:r>
          </a:p>
          <a:p>
            <a:pPr marR="2000" algn="l" rtl="0">
              <a:buSzPts val="1200"/>
              <a:buFont typeface="Symbol" panose="05050102010706020507" pitchFamily="18" charset="2"/>
              <a:buChar char="·"/>
            </a:pPr>
            <a:r>
              <a:rPr lang="en-US" sz="1400" b="0" i="0" u="none" strike="noStrike" baseline="0" dirty="0"/>
              <a:t>Search bar, autocomplete suggestions, filters on search terms within results, mobile compatibility, and the ability to narrow down search results based on specific criteria within categories, allowing users to easily find specific content on a site. </a:t>
            </a:r>
          </a:p>
          <a:p>
            <a:pPr marR="2000" algn="l" rtl="0">
              <a:buSzPts val="1200"/>
              <a:buFont typeface="Symbol" panose="05050102010706020507" pitchFamily="18" charset="2"/>
              <a:buChar char="·"/>
            </a:pPr>
            <a:r>
              <a:rPr lang="en-US" sz="1400" b="0" i="0" u="none" strike="noStrike" baseline="0" dirty="0"/>
              <a:t>Ability to sort tiles on all Public database columns (Certificate #, Certification Type, Effective Date, Expiration Date, Company, </a:t>
            </a:r>
            <a:r>
              <a:rPr lang="en-US" sz="1400" b="0" i="0" u="none" strike="sngStrike" baseline="0" dirty="0"/>
              <a:t>Company Contact Email/URL</a:t>
            </a:r>
            <a:r>
              <a:rPr lang="en-US" sz="1400" b="0" i="0" u="none" strike="noStrike" baseline="0" dirty="0"/>
              <a:t>, Product Name, Product Category, Product Type, </a:t>
            </a:r>
            <a:r>
              <a:rPr lang="en-US" sz="1400" b="0" i="0" u="none" strike="sngStrike" baseline="0" dirty="0"/>
              <a:t>Product Type Subcategory</a:t>
            </a:r>
            <a:r>
              <a:rPr lang="en-US" sz="1400" b="0" i="0" u="none" strike="noStrike" baseline="0" dirty="0"/>
              <a:t>, Location, Country, </a:t>
            </a:r>
            <a:r>
              <a:rPr lang="en-US" sz="1400" b="0" i="0" u="none" strike="sngStrike" baseline="0" dirty="0"/>
              <a:t>External Tag</a:t>
            </a:r>
            <a:r>
              <a:rPr lang="en-US" sz="1400" b="0" i="0" u="none" strike="noStrike" baseline="0" dirty="0"/>
              <a:t>) (</a:t>
            </a:r>
            <a:r>
              <a:rPr lang="en-US" sz="1400" b="0" i="0" u="none" strike="noStrike" baseline="0" dirty="0" err="1"/>
              <a:t>Striked</a:t>
            </a:r>
            <a:r>
              <a:rPr lang="en-US" sz="1400" b="0" i="0" u="none" strike="noStrike" baseline="0" dirty="0"/>
              <a:t> out does not need sorting)</a:t>
            </a:r>
          </a:p>
          <a:p>
            <a:pPr marR="2000" algn="l" rtl="0">
              <a:buSzPts val="1200"/>
              <a:buFont typeface="Symbol" panose="05050102010706020507" pitchFamily="18" charset="2"/>
              <a:buChar char="·"/>
            </a:pPr>
            <a:r>
              <a:rPr lang="en-US" sz="1400" b="0" i="0" u="none" strike="noStrike" baseline="0" dirty="0"/>
              <a:t>Ability to filter by search categories</a:t>
            </a:r>
          </a:p>
          <a:p>
            <a:pPr marR="2000" algn="l" rtl="0">
              <a:buSzPts val="1200"/>
              <a:buFont typeface="Symbol" panose="05050102010706020507" pitchFamily="18" charset="2"/>
              <a:buChar char="·"/>
            </a:pPr>
            <a:r>
              <a:rPr lang="en-US" sz="1400" b="0" i="0" u="none" strike="noStrike" baseline="0" dirty="0"/>
              <a:t>All Public data fields to be displayed: Certificate #, Certification Type, Effective Date, Expiration Date, Company, Company Contact Email/URL, Product Name, Product Category, Product Type, Product Type Subcategory, Location, Country, External Tag</a:t>
            </a:r>
          </a:p>
          <a:p>
            <a:pPr marR="2000" algn="l" rtl="0">
              <a:buSzPts val="1200"/>
              <a:buFont typeface="Symbol" panose="05050102010706020507" pitchFamily="18" charset="2"/>
              <a:buChar char="·"/>
            </a:pPr>
            <a:r>
              <a:rPr lang="en-US" sz="1400" dirty="0"/>
              <a:t>Need to make sure a unique URL can be created based on search criteria so clients can directly link to DB with just listing of their certifications (SCS does this as you add search criteria). Unique URL per Certification View for direct cert access. </a:t>
            </a:r>
            <a:endParaRPr lang="en-US" sz="1400" b="0" i="0" u="none" strike="noStrike" baseline="0" dirty="0"/>
          </a:p>
          <a:p>
            <a:pPr marR="2000" algn="l" rtl="0">
              <a:buSzPts val="1200"/>
              <a:buFont typeface="Symbol" panose="05050102010706020507" pitchFamily="18" charset="2"/>
              <a:buChar char="·"/>
            </a:pPr>
            <a:r>
              <a:rPr lang="en-US" sz="1400" b="0" i="0" u="none" strike="noStrike" baseline="0" dirty="0"/>
              <a:t>Ability to view # Results</a:t>
            </a:r>
          </a:p>
          <a:p>
            <a:pPr marR="2000" algn="l" rtl="0">
              <a:buSzPts val="1200"/>
              <a:buFont typeface="Symbol" panose="05050102010706020507" pitchFamily="18" charset="2"/>
              <a:buChar char="·"/>
            </a:pPr>
            <a:r>
              <a:rPr lang="en-US" sz="1400" b="0" i="0" u="none" strike="noStrike" baseline="0" dirty="0"/>
              <a:t>Ability to Clear filters</a:t>
            </a:r>
          </a:p>
          <a:p>
            <a:pPr marR="2000" algn="l" rtl="0">
              <a:buSzPts val="1200"/>
              <a:buFont typeface="Symbol" panose="05050102010706020507" pitchFamily="18" charset="2"/>
              <a:buChar char="·"/>
            </a:pPr>
            <a:r>
              <a:rPr lang="en-US" sz="1400" dirty="0"/>
              <a:t>Certification download capability. Ability to download certificate directly from tile via download icon. </a:t>
            </a:r>
          </a:p>
          <a:p>
            <a:pPr marR="2000" algn="l" rtl="0">
              <a:buSzPts val="1200"/>
              <a:buFont typeface="Symbol" panose="05050102010706020507" pitchFamily="18" charset="2"/>
              <a:buChar char="·"/>
            </a:pPr>
            <a:r>
              <a:rPr lang="en-US" sz="1400" b="0" i="0" u="none" strike="noStrike" baseline="0" dirty="0"/>
              <a:t>*Wishlist: The ability to load the table as a user scrolls Lazy loading, rather than have the page control. </a:t>
            </a:r>
            <a:endParaRPr lang="en-US" sz="1400" dirty="0"/>
          </a:p>
        </p:txBody>
      </p:sp>
      <p:sp>
        <p:nvSpPr>
          <p:cNvPr id="4" name="Date Placeholder 3">
            <a:extLst>
              <a:ext uri="{FF2B5EF4-FFF2-40B4-BE49-F238E27FC236}">
                <a16:creationId xmlns:a16="http://schemas.microsoft.com/office/drawing/2014/main" id="{55A8439C-5E4B-2634-BA6D-692023AA54D2}"/>
              </a:ext>
            </a:extLst>
          </p:cNvPr>
          <p:cNvSpPr>
            <a:spLocks noGrp="1"/>
          </p:cNvSpPr>
          <p:nvPr>
            <p:ph type="dt" sz="half" idx="10"/>
          </p:nvPr>
        </p:nvSpPr>
        <p:spPr/>
        <p:txBody>
          <a:bodyPr/>
          <a:lstStyle/>
          <a:p>
            <a:fld id="{FAAB834C-2F9F-4134-A8A6-8D28F07BEAB5}" type="datetime1">
              <a:rPr lang="en-US" smtClean="0"/>
              <a:t>6/21/2025</a:t>
            </a:fld>
            <a:endParaRPr lang="en-US" dirty="0"/>
          </a:p>
        </p:txBody>
      </p:sp>
      <p:sp>
        <p:nvSpPr>
          <p:cNvPr id="5" name="Slide Number Placeholder 4">
            <a:extLst>
              <a:ext uri="{FF2B5EF4-FFF2-40B4-BE49-F238E27FC236}">
                <a16:creationId xmlns:a16="http://schemas.microsoft.com/office/drawing/2014/main" id="{43021164-2771-7367-6CBB-3DB8BC59DBD7}"/>
              </a:ext>
            </a:extLst>
          </p:cNvPr>
          <p:cNvSpPr>
            <a:spLocks noGrp="1"/>
          </p:cNvSpPr>
          <p:nvPr>
            <p:ph type="sldNum" sz="quarter" idx="12"/>
          </p:nvPr>
        </p:nvSpPr>
        <p:spPr/>
        <p:txBody>
          <a:bodyPr/>
          <a:lstStyle/>
          <a:p>
            <a:fld id="{330EA680-D336-4FF7-8B7A-9848BB0A1C32}" type="slidenum">
              <a:rPr lang="en-US" smtClean="0"/>
              <a:t>30</a:t>
            </a:fld>
            <a:endParaRPr lang="en-US"/>
          </a:p>
        </p:txBody>
      </p:sp>
    </p:spTree>
    <p:extLst>
      <p:ext uri="{BB962C8B-B14F-4D97-AF65-F5344CB8AC3E}">
        <p14:creationId xmlns:p14="http://schemas.microsoft.com/office/powerpoint/2010/main" val="340608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28DA6-6EEC-C96A-30FD-14BE630A9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90FAC-328A-A34F-9D86-21B0B9A8A064}"/>
              </a:ext>
            </a:extLst>
          </p:cNvPr>
          <p:cNvSpPr>
            <a:spLocks noGrp="1"/>
          </p:cNvSpPr>
          <p:nvPr>
            <p:ph type="title"/>
          </p:nvPr>
        </p:nvSpPr>
        <p:spPr>
          <a:xfrm>
            <a:off x="598503" y="193906"/>
            <a:ext cx="10515600" cy="487131"/>
          </a:xfrm>
        </p:spPr>
        <p:txBody>
          <a:bodyPr>
            <a:normAutofit/>
          </a:bodyPr>
          <a:lstStyle/>
          <a:p>
            <a:r>
              <a:rPr lang="en-US" sz="2800" dirty="0"/>
              <a:t>Wireframe Notes – 1.1 – Single Certificate View </a:t>
            </a:r>
          </a:p>
        </p:txBody>
      </p:sp>
      <p:sp>
        <p:nvSpPr>
          <p:cNvPr id="4" name="Date Placeholder 3">
            <a:extLst>
              <a:ext uri="{FF2B5EF4-FFF2-40B4-BE49-F238E27FC236}">
                <a16:creationId xmlns:a16="http://schemas.microsoft.com/office/drawing/2014/main" id="{66B09BDE-E8A8-D379-47E8-710C4316462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80DBAD81-93E4-48CD-4AEC-66F8CE81CF5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31</a:t>
            </a:fld>
            <a:endParaRPr lang="en-US"/>
          </a:p>
        </p:txBody>
      </p:sp>
      <p:sp>
        <p:nvSpPr>
          <p:cNvPr id="11" name="TextBox 10">
            <a:extLst>
              <a:ext uri="{FF2B5EF4-FFF2-40B4-BE49-F238E27FC236}">
                <a16:creationId xmlns:a16="http://schemas.microsoft.com/office/drawing/2014/main" id="{1323AC92-48B1-AED7-C218-A1161F60363D}"/>
              </a:ext>
            </a:extLst>
          </p:cNvPr>
          <p:cNvSpPr txBox="1"/>
          <p:nvPr/>
        </p:nvSpPr>
        <p:spPr>
          <a:xfrm>
            <a:off x="7959634" y="993817"/>
            <a:ext cx="4070440" cy="3970318"/>
          </a:xfrm>
          <a:prstGeom prst="rect">
            <a:avLst/>
          </a:prstGeom>
          <a:noFill/>
        </p:spPr>
        <p:txBody>
          <a:bodyPr wrap="square">
            <a:spAutoFit/>
          </a:bodyPr>
          <a:lstStyle/>
          <a:p>
            <a:pPr marR="2000" algn="l" rtl="0">
              <a:buSzPts val="1200"/>
            </a:pPr>
            <a:r>
              <a:rPr lang="en-US" sz="1400" b="1" i="0" u="none" strike="noStrike" baseline="0" dirty="0">
                <a:solidFill>
                  <a:srgbClr val="606771"/>
                </a:solidFill>
                <a:latin typeface="Segoe UI" panose="020B0502040204020203" pitchFamily="34" charset="0"/>
              </a:rPr>
              <a:t>Notes:</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Single Cert View for Public Users.</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view all Public data fields for the selected Single Certificate.</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Opens in a new tab.</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Download the Certificate.</a:t>
            </a:r>
          </a:p>
          <a:p>
            <a:pPr marL="285750" marR="2000" indent="-285750" algn="l" rtl="0">
              <a:buFont typeface="Arial" panose="020B0604020202020204" pitchFamily="34" charset="0"/>
              <a:buChar char="•"/>
            </a:pPr>
            <a:r>
              <a:rPr lang="en-US" sz="1400" dirty="0">
                <a:solidFill>
                  <a:srgbClr val="606771"/>
                </a:solidFill>
                <a:latin typeface="Segoe UI" panose="020B0502040204020203" pitchFamily="34" charset="0"/>
              </a:rPr>
              <a:t>Certificate view will load into a new tab.</a:t>
            </a: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R="2000" algn="l" rtl="0"/>
            <a:r>
              <a:rPr lang="en-US" sz="1400" b="1" dirty="0">
                <a:solidFill>
                  <a:srgbClr val="FF0000"/>
                </a:solidFill>
                <a:latin typeface="Segoe UI" panose="020B0502040204020203" pitchFamily="34" charset="0"/>
              </a:rPr>
              <a:t>TODO: Move location and country under Certification details. </a:t>
            </a:r>
            <a:br>
              <a:rPr lang="en-US" sz="1400" b="1" dirty="0">
                <a:solidFill>
                  <a:srgbClr val="FF0000"/>
                </a:solidFill>
                <a:latin typeface="Segoe UI" panose="020B0502040204020203" pitchFamily="34" charset="0"/>
              </a:rPr>
            </a:br>
            <a:br>
              <a:rPr lang="en-US" sz="1400" b="1" dirty="0">
                <a:solidFill>
                  <a:srgbClr val="FF0000"/>
                </a:solidFill>
                <a:latin typeface="Segoe UI" panose="020B0502040204020203" pitchFamily="34" charset="0"/>
              </a:rPr>
            </a:br>
            <a:r>
              <a:rPr lang="en-US" sz="1400" b="1" dirty="0">
                <a:solidFill>
                  <a:srgbClr val="FF0000"/>
                </a:solidFill>
                <a:latin typeface="Segoe UI" panose="020B0502040204020203" pitchFamily="34" charset="0"/>
              </a:rPr>
              <a:t>Add Company URL under Company Contact. </a:t>
            </a:r>
          </a:p>
          <a:p>
            <a:pPr marR="2000" algn="l" rtl="0"/>
            <a:endParaRPr lang="en-US" sz="1400" b="1" dirty="0">
              <a:solidFill>
                <a:srgbClr val="FF0000"/>
              </a:solidFill>
              <a:latin typeface="Segoe UI" panose="020B0502040204020203" pitchFamily="34" charset="0"/>
            </a:endParaRPr>
          </a:p>
          <a:p>
            <a:pPr marR="2000" algn="l" rtl="0"/>
            <a:r>
              <a:rPr lang="en-US" sz="1400" b="1" dirty="0">
                <a:solidFill>
                  <a:srgbClr val="FF0000"/>
                </a:solidFill>
                <a:latin typeface="Segoe UI" panose="020B0502040204020203" pitchFamily="34" charset="0"/>
              </a:rPr>
              <a:t>Provide mobile view of Screen. </a:t>
            </a:r>
            <a:endParaRPr lang="en-US" sz="1400" b="1" dirty="0">
              <a:solidFill>
                <a:srgbClr val="FF0000"/>
              </a:solidFill>
            </a:endParaRPr>
          </a:p>
        </p:txBody>
      </p:sp>
      <p:grpSp>
        <p:nvGrpSpPr>
          <p:cNvPr id="15" name="Group 14">
            <a:extLst>
              <a:ext uri="{FF2B5EF4-FFF2-40B4-BE49-F238E27FC236}">
                <a16:creationId xmlns:a16="http://schemas.microsoft.com/office/drawing/2014/main" id="{FA7B71C5-3AF6-EE33-1B06-65754266C306}"/>
              </a:ext>
            </a:extLst>
          </p:cNvPr>
          <p:cNvGrpSpPr/>
          <p:nvPr/>
        </p:nvGrpSpPr>
        <p:grpSpPr>
          <a:xfrm>
            <a:off x="598503" y="681038"/>
            <a:ext cx="6961246" cy="6010730"/>
            <a:chOff x="598503" y="681038"/>
            <a:chExt cx="6961246" cy="6010730"/>
          </a:xfrm>
        </p:grpSpPr>
        <p:grpSp>
          <p:nvGrpSpPr>
            <p:cNvPr id="12" name="Group 11">
              <a:extLst>
                <a:ext uri="{FF2B5EF4-FFF2-40B4-BE49-F238E27FC236}">
                  <a16:creationId xmlns:a16="http://schemas.microsoft.com/office/drawing/2014/main" id="{0B32FFF2-F0D7-BDCD-FF20-9F4E6207AC22}"/>
                </a:ext>
              </a:extLst>
            </p:cNvPr>
            <p:cNvGrpSpPr/>
            <p:nvPr/>
          </p:nvGrpSpPr>
          <p:grpSpPr>
            <a:xfrm>
              <a:off x="598503" y="681038"/>
              <a:ext cx="6961246" cy="6010730"/>
              <a:chOff x="427728" y="227234"/>
              <a:chExt cx="8449338" cy="7295631"/>
            </a:xfrm>
          </p:grpSpPr>
          <p:pic>
            <p:nvPicPr>
              <p:cNvPr id="7" name="Picture 6">
                <a:extLst>
                  <a:ext uri="{FF2B5EF4-FFF2-40B4-BE49-F238E27FC236}">
                    <a16:creationId xmlns:a16="http://schemas.microsoft.com/office/drawing/2014/main" id="{914728E2-6D18-1E1C-89EF-D16E1391A1FD}"/>
                  </a:ext>
                </a:extLst>
              </p:cNvPr>
              <p:cNvPicPr>
                <a:picLocks noChangeAspect="1"/>
              </p:cNvPicPr>
              <p:nvPr/>
            </p:nvPicPr>
            <p:blipFill>
              <a:blip r:embed="rId3"/>
              <a:stretch>
                <a:fillRect/>
              </a:stretch>
            </p:blipFill>
            <p:spPr>
              <a:xfrm>
                <a:off x="430336" y="1212785"/>
                <a:ext cx="8446730" cy="6043781"/>
              </a:xfrm>
              <a:prstGeom prst="rect">
                <a:avLst/>
              </a:prstGeom>
            </p:spPr>
          </p:pic>
          <p:grpSp>
            <p:nvGrpSpPr>
              <p:cNvPr id="10" name="Group 9">
                <a:extLst>
                  <a:ext uri="{FF2B5EF4-FFF2-40B4-BE49-F238E27FC236}">
                    <a16:creationId xmlns:a16="http://schemas.microsoft.com/office/drawing/2014/main" id="{30972311-B91C-1D9B-074B-267BEA25BB90}"/>
                  </a:ext>
                </a:extLst>
              </p:cNvPr>
              <p:cNvGrpSpPr/>
              <p:nvPr/>
            </p:nvGrpSpPr>
            <p:grpSpPr>
              <a:xfrm>
                <a:off x="427728" y="227234"/>
                <a:ext cx="8449338" cy="7295631"/>
                <a:chOff x="427728" y="227234"/>
                <a:chExt cx="8449338" cy="7295631"/>
              </a:xfrm>
            </p:grpSpPr>
            <p:pic>
              <p:nvPicPr>
                <p:cNvPr id="3" name="Picture 2">
                  <a:extLst>
                    <a:ext uri="{FF2B5EF4-FFF2-40B4-BE49-F238E27FC236}">
                      <a16:creationId xmlns:a16="http://schemas.microsoft.com/office/drawing/2014/main" id="{1D89B596-2806-3CFC-6941-785BC7DFE34C}"/>
                    </a:ext>
                  </a:extLst>
                </p:cNvPr>
                <p:cNvPicPr>
                  <a:picLocks noChangeAspect="1"/>
                </p:cNvPicPr>
                <p:nvPr/>
              </p:nvPicPr>
              <p:blipFill>
                <a:blip r:embed="rId4"/>
                <a:srcRect b="84559"/>
                <a:stretch/>
              </p:blipFill>
              <p:spPr>
                <a:xfrm>
                  <a:off x="430336" y="227234"/>
                  <a:ext cx="8446730" cy="1023884"/>
                </a:xfrm>
                <a:prstGeom prst="rect">
                  <a:avLst/>
                </a:prstGeom>
              </p:spPr>
            </p:pic>
            <p:pic>
              <p:nvPicPr>
                <p:cNvPr id="8" name="Picture 7">
                  <a:extLst>
                    <a:ext uri="{FF2B5EF4-FFF2-40B4-BE49-F238E27FC236}">
                      <a16:creationId xmlns:a16="http://schemas.microsoft.com/office/drawing/2014/main" id="{ACE8D26D-281F-FC88-915D-E12930F05988}"/>
                    </a:ext>
                  </a:extLst>
                </p:cNvPr>
                <p:cNvPicPr>
                  <a:picLocks noChangeAspect="1"/>
                </p:cNvPicPr>
                <p:nvPr/>
              </p:nvPicPr>
              <p:blipFill>
                <a:blip r:embed="rId4"/>
                <a:srcRect l="64207" t="34194" r="4959" b="33145"/>
                <a:stretch/>
              </p:blipFill>
              <p:spPr>
                <a:xfrm>
                  <a:off x="5580855" y="2626569"/>
                  <a:ext cx="3132333" cy="2604650"/>
                </a:xfrm>
                <a:prstGeom prst="rect">
                  <a:avLst/>
                </a:prstGeom>
              </p:spPr>
            </p:pic>
            <p:pic>
              <p:nvPicPr>
                <p:cNvPr id="9" name="Picture 8">
                  <a:extLst>
                    <a:ext uri="{FF2B5EF4-FFF2-40B4-BE49-F238E27FC236}">
                      <a16:creationId xmlns:a16="http://schemas.microsoft.com/office/drawing/2014/main" id="{7AFA2267-5EEF-3A07-35BC-1FEABBFE165A}"/>
                    </a:ext>
                  </a:extLst>
                </p:cNvPr>
                <p:cNvPicPr>
                  <a:picLocks noChangeAspect="1"/>
                </p:cNvPicPr>
                <p:nvPr/>
              </p:nvPicPr>
              <p:blipFill>
                <a:blip r:embed="rId4"/>
                <a:srcRect t="91968"/>
                <a:stretch/>
              </p:blipFill>
              <p:spPr>
                <a:xfrm>
                  <a:off x="427728" y="6990267"/>
                  <a:ext cx="8446730" cy="532598"/>
                </a:xfrm>
                <a:prstGeom prst="rect">
                  <a:avLst/>
                </a:prstGeom>
              </p:spPr>
            </p:pic>
          </p:grpSp>
        </p:grpSp>
        <p:pic>
          <p:nvPicPr>
            <p:cNvPr id="14" name="Picture 13">
              <a:extLst>
                <a:ext uri="{FF2B5EF4-FFF2-40B4-BE49-F238E27FC236}">
                  <a16:creationId xmlns:a16="http://schemas.microsoft.com/office/drawing/2014/main" id="{6A657AE5-90EC-99B0-332E-3A386468BE78}"/>
                </a:ext>
              </a:extLst>
            </p:cNvPr>
            <p:cNvPicPr>
              <a:picLocks noChangeAspect="1"/>
            </p:cNvPicPr>
            <p:nvPr/>
          </p:nvPicPr>
          <p:blipFill>
            <a:blip r:embed="rId5"/>
            <a:stretch>
              <a:fillRect/>
            </a:stretch>
          </p:blipFill>
          <p:spPr>
            <a:xfrm>
              <a:off x="7215155" y="4886858"/>
              <a:ext cx="209579" cy="295316"/>
            </a:xfrm>
            <a:prstGeom prst="rect">
              <a:avLst/>
            </a:prstGeom>
          </p:spPr>
        </p:pic>
      </p:grpSp>
    </p:spTree>
    <p:extLst>
      <p:ext uri="{BB962C8B-B14F-4D97-AF65-F5344CB8AC3E}">
        <p14:creationId xmlns:p14="http://schemas.microsoft.com/office/powerpoint/2010/main" val="2179535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D75A5-185E-A21A-5750-2ABF19A87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FB6C9-DC01-7194-A2A4-5147A5BF39D9}"/>
              </a:ext>
            </a:extLst>
          </p:cNvPr>
          <p:cNvSpPr>
            <a:spLocks noGrp="1"/>
          </p:cNvSpPr>
          <p:nvPr>
            <p:ph type="title"/>
          </p:nvPr>
        </p:nvSpPr>
        <p:spPr>
          <a:xfrm>
            <a:off x="598503" y="193906"/>
            <a:ext cx="10515600" cy="487131"/>
          </a:xfrm>
        </p:spPr>
        <p:txBody>
          <a:bodyPr>
            <a:normAutofit fontScale="90000"/>
          </a:bodyPr>
          <a:lstStyle/>
          <a:p>
            <a:r>
              <a:rPr lang="en-US" sz="2800" dirty="0"/>
              <a:t>Wireframe Notes – 1.1 – Single </a:t>
            </a:r>
            <a:r>
              <a:rPr lang="en-US" sz="2800"/>
              <a:t>Certificate View (Mobile View) </a:t>
            </a:r>
            <a:endParaRPr lang="en-US" sz="2800" dirty="0"/>
          </a:p>
        </p:txBody>
      </p:sp>
      <p:sp>
        <p:nvSpPr>
          <p:cNvPr id="4" name="Date Placeholder 3">
            <a:extLst>
              <a:ext uri="{FF2B5EF4-FFF2-40B4-BE49-F238E27FC236}">
                <a16:creationId xmlns:a16="http://schemas.microsoft.com/office/drawing/2014/main" id="{EC980FC3-2D9C-A9DF-3343-984E19F9F44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D4798A86-2A60-527D-6FF7-B33A7922B5D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32</a:t>
            </a:fld>
            <a:endParaRPr lang="en-US"/>
          </a:p>
        </p:txBody>
      </p:sp>
      <p:sp>
        <p:nvSpPr>
          <p:cNvPr id="11" name="TextBox 10">
            <a:extLst>
              <a:ext uri="{FF2B5EF4-FFF2-40B4-BE49-F238E27FC236}">
                <a16:creationId xmlns:a16="http://schemas.microsoft.com/office/drawing/2014/main" id="{FBC8B7C1-351A-21A3-0BCF-F1CB5F809477}"/>
              </a:ext>
            </a:extLst>
          </p:cNvPr>
          <p:cNvSpPr txBox="1"/>
          <p:nvPr/>
        </p:nvSpPr>
        <p:spPr>
          <a:xfrm>
            <a:off x="7959634" y="993817"/>
            <a:ext cx="4070440" cy="3970318"/>
          </a:xfrm>
          <a:prstGeom prst="rect">
            <a:avLst/>
          </a:prstGeom>
          <a:noFill/>
        </p:spPr>
        <p:txBody>
          <a:bodyPr wrap="square">
            <a:spAutoFit/>
          </a:bodyPr>
          <a:lstStyle/>
          <a:p>
            <a:pPr marR="2000" algn="l" rtl="0">
              <a:buSzPts val="1200"/>
            </a:pPr>
            <a:r>
              <a:rPr lang="en-US" sz="1400" b="1" i="0" u="none" strike="noStrike" baseline="0" dirty="0">
                <a:solidFill>
                  <a:srgbClr val="606771"/>
                </a:solidFill>
                <a:latin typeface="Segoe UI" panose="020B0502040204020203" pitchFamily="34" charset="0"/>
              </a:rPr>
              <a:t>Notes:</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Single Cert View for Public Users.</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view all Public data fields for the selected Single Certificate.</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Opens in a new tab.</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Download the Certificate.</a:t>
            </a:r>
          </a:p>
          <a:p>
            <a:pPr marL="285750" marR="2000" indent="-285750" algn="l" rtl="0">
              <a:buFont typeface="Arial" panose="020B0604020202020204" pitchFamily="34" charset="0"/>
              <a:buChar char="•"/>
            </a:pPr>
            <a:r>
              <a:rPr lang="en-US" sz="1400" dirty="0">
                <a:solidFill>
                  <a:srgbClr val="606771"/>
                </a:solidFill>
                <a:latin typeface="Segoe UI" panose="020B0502040204020203" pitchFamily="34" charset="0"/>
              </a:rPr>
              <a:t>Certificate view will load into a new tab.</a:t>
            </a: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R="2000" algn="l" rtl="0"/>
            <a:r>
              <a:rPr lang="en-US" sz="1400" b="1" dirty="0">
                <a:solidFill>
                  <a:srgbClr val="FF0000"/>
                </a:solidFill>
                <a:latin typeface="Segoe UI" panose="020B0502040204020203" pitchFamily="34" charset="0"/>
              </a:rPr>
              <a:t>TODO: Move location and country under Certification details. </a:t>
            </a:r>
            <a:br>
              <a:rPr lang="en-US" sz="1400" b="1" dirty="0">
                <a:solidFill>
                  <a:srgbClr val="FF0000"/>
                </a:solidFill>
                <a:latin typeface="Segoe UI" panose="020B0502040204020203" pitchFamily="34" charset="0"/>
              </a:rPr>
            </a:br>
            <a:br>
              <a:rPr lang="en-US" sz="1400" b="1" dirty="0">
                <a:solidFill>
                  <a:srgbClr val="FF0000"/>
                </a:solidFill>
                <a:latin typeface="Segoe UI" panose="020B0502040204020203" pitchFamily="34" charset="0"/>
              </a:rPr>
            </a:br>
            <a:r>
              <a:rPr lang="en-US" sz="1400" b="1" dirty="0">
                <a:solidFill>
                  <a:srgbClr val="FF0000"/>
                </a:solidFill>
                <a:latin typeface="Segoe UI" panose="020B0502040204020203" pitchFamily="34" charset="0"/>
              </a:rPr>
              <a:t>Add Company URL under Company Contact. </a:t>
            </a:r>
          </a:p>
          <a:p>
            <a:pPr marR="2000" algn="l" rtl="0"/>
            <a:endParaRPr lang="en-US" sz="1400" b="1" dirty="0">
              <a:solidFill>
                <a:srgbClr val="FF0000"/>
              </a:solidFill>
              <a:latin typeface="Segoe UI" panose="020B0502040204020203" pitchFamily="34" charset="0"/>
            </a:endParaRPr>
          </a:p>
          <a:p>
            <a:pPr marR="2000" algn="l" rtl="0"/>
            <a:r>
              <a:rPr lang="en-US" sz="1400" b="1" dirty="0">
                <a:solidFill>
                  <a:srgbClr val="FF0000"/>
                </a:solidFill>
                <a:latin typeface="Segoe UI" panose="020B0502040204020203" pitchFamily="34" charset="0"/>
              </a:rPr>
              <a:t>Provide mobile view of Screen. </a:t>
            </a:r>
            <a:endParaRPr lang="en-US" sz="1400" b="1" dirty="0">
              <a:solidFill>
                <a:srgbClr val="FF0000"/>
              </a:solidFill>
            </a:endParaRPr>
          </a:p>
        </p:txBody>
      </p:sp>
      <p:grpSp>
        <p:nvGrpSpPr>
          <p:cNvPr id="15" name="Group 14">
            <a:extLst>
              <a:ext uri="{FF2B5EF4-FFF2-40B4-BE49-F238E27FC236}">
                <a16:creationId xmlns:a16="http://schemas.microsoft.com/office/drawing/2014/main" id="{67A6BF39-3C62-7D03-3612-B1824D1CE2D3}"/>
              </a:ext>
            </a:extLst>
          </p:cNvPr>
          <p:cNvGrpSpPr/>
          <p:nvPr/>
        </p:nvGrpSpPr>
        <p:grpSpPr>
          <a:xfrm>
            <a:off x="598503" y="681038"/>
            <a:ext cx="6961246" cy="6010730"/>
            <a:chOff x="598503" y="681038"/>
            <a:chExt cx="6961246" cy="6010730"/>
          </a:xfrm>
        </p:grpSpPr>
        <p:grpSp>
          <p:nvGrpSpPr>
            <p:cNvPr id="12" name="Group 11">
              <a:extLst>
                <a:ext uri="{FF2B5EF4-FFF2-40B4-BE49-F238E27FC236}">
                  <a16:creationId xmlns:a16="http://schemas.microsoft.com/office/drawing/2014/main" id="{6E4388C0-145B-3FE6-E0D9-0F9A474708F7}"/>
                </a:ext>
              </a:extLst>
            </p:cNvPr>
            <p:cNvGrpSpPr/>
            <p:nvPr/>
          </p:nvGrpSpPr>
          <p:grpSpPr>
            <a:xfrm>
              <a:off x="598503" y="681038"/>
              <a:ext cx="6961246" cy="6010730"/>
              <a:chOff x="427728" y="227234"/>
              <a:chExt cx="8449338" cy="7295631"/>
            </a:xfrm>
          </p:grpSpPr>
          <p:pic>
            <p:nvPicPr>
              <p:cNvPr id="7" name="Picture 6">
                <a:extLst>
                  <a:ext uri="{FF2B5EF4-FFF2-40B4-BE49-F238E27FC236}">
                    <a16:creationId xmlns:a16="http://schemas.microsoft.com/office/drawing/2014/main" id="{AFAE8E88-AA0B-795D-9E9A-73390FB5E42A}"/>
                  </a:ext>
                </a:extLst>
              </p:cNvPr>
              <p:cNvPicPr>
                <a:picLocks noChangeAspect="1"/>
              </p:cNvPicPr>
              <p:nvPr/>
            </p:nvPicPr>
            <p:blipFill>
              <a:blip r:embed="rId3"/>
              <a:stretch>
                <a:fillRect/>
              </a:stretch>
            </p:blipFill>
            <p:spPr>
              <a:xfrm>
                <a:off x="430336" y="1212785"/>
                <a:ext cx="8446730" cy="6043781"/>
              </a:xfrm>
              <a:prstGeom prst="rect">
                <a:avLst/>
              </a:prstGeom>
            </p:spPr>
          </p:pic>
          <p:grpSp>
            <p:nvGrpSpPr>
              <p:cNvPr id="10" name="Group 9">
                <a:extLst>
                  <a:ext uri="{FF2B5EF4-FFF2-40B4-BE49-F238E27FC236}">
                    <a16:creationId xmlns:a16="http://schemas.microsoft.com/office/drawing/2014/main" id="{17A14527-631C-FD20-09DC-C89AE5A50C12}"/>
                  </a:ext>
                </a:extLst>
              </p:cNvPr>
              <p:cNvGrpSpPr/>
              <p:nvPr/>
            </p:nvGrpSpPr>
            <p:grpSpPr>
              <a:xfrm>
                <a:off x="427728" y="227234"/>
                <a:ext cx="8449338" cy="7295631"/>
                <a:chOff x="427728" y="227234"/>
                <a:chExt cx="8449338" cy="7295631"/>
              </a:xfrm>
            </p:grpSpPr>
            <p:pic>
              <p:nvPicPr>
                <p:cNvPr id="3" name="Picture 2">
                  <a:extLst>
                    <a:ext uri="{FF2B5EF4-FFF2-40B4-BE49-F238E27FC236}">
                      <a16:creationId xmlns:a16="http://schemas.microsoft.com/office/drawing/2014/main" id="{B27FABAA-A8EE-54CA-3B1F-EC24BF1BD1D9}"/>
                    </a:ext>
                  </a:extLst>
                </p:cNvPr>
                <p:cNvPicPr>
                  <a:picLocks noChangeAspect="1"/>
                </p:cNvPicPr>
                <p:nvPr/>
              </p:nvPicPr>
              <p:blipFill>
                <a:blip r:embed="rId4"/>
                <a:srcRect b="84559"/>
                <a:stretch/>
              </p:blipFill>
              <p:spPr>
                <a:xfrm>
                  <a:off x="430336" y="227234"/>
                  <a:ext cx="8446730" cy="1023884"/>
                </a:xfrm>
                <a:prstGeom prst="rect">
                  <a:avLst/>
                </a:prstGeom>
              </p:spPr>
            </p:pic>
            <p:pic>
              <p:nvPicPr>
                <p:cNvPr id="8" name="Picture 7">
                  <a:extLst>
                    <a:ext uri="{FF2B5EF4-FFF2-40B4-BE49-F238E27FC236}">
                      <a16:creationId xmlns:a16="http://schemas.microsoft.com/office/drawing/2014/main" id="{1F4FBDD1-E4E6-68B1-9D4B-A9C6A6EF6253}"/>
                    </a:ext>
                  </a:extLst>
                </p:cNvPr>
                <p:cNvPicPr>
                  <a:picLocks noChangeAspect="1"/>
                </p:cNvPicPr>
                <p:nvPr/>
              </p:nvPicPr>
              <p:blipFill>
                <a:blip r:embed="rId4"/>
                <a:srcRect l="64207" t="34194" r="4959" b="33145"/>
                <a:stretch/>
              </p:blipFill>
              <p:spPr>
                <a:xfrm>
                  <a:off x="5580855" y="2626569"/>
                  <a:ext cx="3132333" cy="2604650"/>
                </a:xfrm>
                <a:prstGeom prst="rect">
                  <a:avLst/>
                </a:prstGeom>
              </p:spPr>
            </p:pic>
            <p:pic>
              <p:nvPicPr>
                <p:cNvPr id="9" name="Picture 8">
                  <a:extLst>
                    <a:ext uri="{FF2B5EF4-FFF2-40B4-BE49-F238E27FC236}">
                      <a16:creationId xmlns:a16="http://schemas.microsoft.com/office/drawing/2014/main" id="{52250747-71C7-4230-1E53-F0F15E18BAAF}"/>
                    </a:ext>
                  </a:extLst>
                </p:cNvPr>
                <p:cNvPicPr>
                  <a:picLocks noChangeAspect="1"/>
                </p:cNvPicPr>
                <p:nvPr/>
              </p:nvPicPr>
              <p:blipFill>
                <a:blip r:embed="rId4"/>
                <a:srcRect t="91968"/>
                <a:stretch/>
              </p:blipFill>
              <p:spPr>
                <a:xfrm>
                  <a:off x="427728" y="6990267"/>
                  <a:ext cx="8446730" cy="532598"/>
                </a:xfrm>
                <a:prstGeom prst="rect">
                  <a:avLst/>
                </a:prstGeom>
              </p:spPr>
            </p:pic>
          </p:grpSp>
        </p:grpSp>
        <p:pic>
          <p:nvPicPr>
            <p:cNvPr id="14" name="Picture 13">
              <a:extLst>
                <a:ext uri="{FF2B5EF4-FFF2-40B4-BE49-F238E27FC236}">
                  <a16:creationId xmlns:a16="http://schemas.microsoft.com/office/drawing/2014/main" id="{132EC318-1013-BFC9-C76F-30DC42844E9B}"/>
                </a:ext>
              </a:extLst>
            </p:cNvPr>
            <p:cNvPicPr>
              <a:picLocks noChangeAspect="1"/>
            </p:cNvPicPr>
            <p:nvPr/>
          </p:nvPicPr>
          <p:blipFill>
            <a:blip r:embed="rId5"/>
            <a:stretch>
              <a:fillRect/>
            </a:stretch>
          </p:blipFill>
          <p:spPr>
            <a:xfrm>
              <a:off x="7215155" y="4886858"/>
              <a:ext cx="209579" cy="295316"/>
            </a:xfrm>
            <a:prstGeom prst="rect">
              <a:avLst/>
            </a:prstGeom>
          </p:spPr>
        </p:pic>
      </p:grpSp>
    </p:spTree>
    <p:extLst>
      <p:ext uri="{BB962C8B-B14F-4D97-AF65-F5344CB8AC3E}">
        <p14:creationId xmlns:p14="http://schemas.microsoft.com/office/powerpoint/2010/main" val="3389145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533E-E2CB-007B-B105-8DD1E356E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8DD62-99AB-8943-D384-2386D5BE8E25}"/>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CBC3F163-90E9-CB3E-659E-17DABAD9C3A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F3FF73FD-D141-D7D6-34F0-52FDD020A94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33</a:t>
            </a:fld>
            <a:endParaRPr lang="en-US"/>
          </a:p>
        </p:txBody>
      </p:sp>
      <p:pic>
        <p:nvPicPr>
          <p:cNvPr id="7" name="Picture 6">
            <a:extLst>
              <a:ext uri="{FF2B5EF4-FFF2-40B4-BE49-F238E27FC236}">
                <a16:creationId xmlns:a16="http://schemas.microsoft.com/office/drawing/2014/main" id="{60377F89-FAB1-5857-ABDF-9500B96E0A1C}"/>
              </a:ext>
            </a:extLst>
          </p:cNvPr>
          <p:cNvPicPr>
            <a:picLocks noChangeAspect="1"/>
          </p:cNvPicPr>
          <p:nvPr/>
        </p:nvPicPr>
        <p:blipFill>
          <a:blip r:embed="rId3"/>
          <a:stretch>
            <a:fillRect/>
          </a:stretch>
        </p:blipFill>
        <p:spPr>
          <a:xfrm>
            <a:off x="451165" y="681037"/>
            <a:ext cx="7759385" cy="5973435"/>
          </a:xfrm>
          <a:prstGeom prst="rect">
            <a:avLst/>
          </a:prstGeom>
          <a:ln w="12700">
            <a:solidFill>
              <a:schemeClr val="tx1"/>
            </a:solidFill>
          </a:ln>
        </p:spPr>
      </p:pic>
      <p:sp>
        <p:nvSpPr>
          <p:cNvPr id="10" name="TextBox 9">
            <a:extLst>
              <a:ext uri="{FF2B5EF4-FFF2-40B4-BE49-F238E27FC236}">
                <a16:creationId xmlns:a16="http://schemas.microsoft.com/office/drawing/2014/main" id="{BAFD4C4A-82BD-8F64-F0A0-410C86099CBA}"/>
              </a:ext>
            </a:extLst>
          </p:cNvPr>
          <p:cNvSpPr txBox="1"/>
          <p:nvPr/>
        </p:nvSpPr>
        <p:spPr>
          <a:xfrm>
            <a:off x="8431100" y="802227"/>
            <a:ext cx="3493167" cy="5078313"/>
          </a:xfrm>
          <a:prstGeom prst="rect">
            <a:avLst/>
          </a:prstGeom>
          <a:noFill/>
        </p:spPr>
        <p:txBody>
          <a:bodyPr wrap="square">
            <a:spAutoFit/>
          </a:bodyPr>
          <a:lstStyle/>
          <a:p>
            <a:pPr marR="2000">
              <a:buSzPts val="1200"/>
            </a:pPr>
            <a:r>
              <a:rPr lang="en-US" sz="1200" b="1" dirty="0">
                <a:latin typeface="Century Gothic" panose="020B0502020202020204" pitchFamily="34" charset="0"/>
              </a:rPr>
              <a:t>Notes</a:t>
            </a:r>
            <a:r>
              <a:rPr lang="en-US" sz="1200" dirty="0">
                <a:latin typeface="Century Gothic" panose="020B0502020202020204" pitchFamily="34" charset="0"/>
              </a:rPr>
              <a:t>:</a:t>
            </a:r>
          </a:p>
          <a:p>
            <a:pPr marL="285750" marR="2000" indent="-285750">
              <a:buSzPts val="1200"/>
              <a:buFont typeface="Arial" panose="020B0604020202020204" pitchFamily="34" charset="0"/>
              <a:buChar char="•"/>
            </a:pPr>
            <a:r>
              <a:rPr lang="en-US" sz="1200" dirty="0">
                <a:latin typeface="Century Gothic" panose="020B0502020202020204" pitchFamily="34" charset="0"/>
              </a:rPr>
              <a:t>This is the dashboard reporting page for logged in GCC users (Analyst and Admins).</a:t>
            </a:r>
          </a:p>
          <a:p>
            <a:pPr marL="285750" marR="2000" indent="-285750">
              <a:buSzPts val="1200"/>
              <a:buFont typeface="Arial" panose="020B0604020202020204" pitchFamily="34" charset="0"/>
              <a:buChar char="•"/>
            </a:pPr>
            <a:r>
              <a:rPr lang="en-US" sz="1200" dirty="0">
                <a:latin typeface="Century Gothic" panose="020B0502020202020204" pitchFamily="34" charset="0"/>
              </a:rPr>
              <a:t>Containers represent the required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view designated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Prebuilt Lists to Excel.</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the selected metric to Excel.</a:t>
            </a:r>
          </a:p>
          <a:p>
            <a:pPr marL="285750" marR="2000" indent="-285750" algn="l" rtl="0">
              <a:buFont typeface="Arial" panose="020B0604020202020204" pitchFamily="34" charset="0"/>
              <a:buChar char="•"/>
            </a:pPr>
            <a:endParaRPr lang="en-US" sz="1200" dirty="0">
              <a:latin typeface="Century Gothic" panose="020B0502020202020204" pitchFamily="34" charset="0"/>
            </a:endParaRPr>
          </a:p>
          <a:p>
            <a:pPr marL="285750" marR="2000" indent="-285750" algn="l" rtl="0">
              <a:buFont typeface="Arial" panose="020B0604020202020204" pitchFamily="34" charset="0"/>
              <a:buChar char="•"/>
            </a:pPr>
            <a:endParaRPr lang="en-US" sz="1200" dirty="0">
              <a:latin typeface="Century Gothic" panose="020B0502020202020204" pitchFamily="34" charset="0"/>
            </a:endParaRPr>
          </a:p>
          <a:p>
            <a:pPr marL="285750" marR="2000" indent="-285750" algn="l" rtl="0">
              <a:buFont typeface="Arial" panose="020B0604020202020204" pitchFamily="34" charset="0"/>
              <a:buChar char="•"/>
            </a:pPr>
            <a:endParaRPr lang="en-US" sz="1200" dirty="0">
              <a:latin typeface="Century Gothic" panose="020B0502020202020204" pitchFamily="34" charset="0"/>
            </a:endParaRPr>
          </a:p>
          <a:p>
            <a:r>
              <a:rPr lang="en-US" sz="1200" b="1" dirty="0">
                <a:latin typeface="Century Gothic" panose="020B0502020202020204" pitchFamily="34" charset="0"/>
              </a:rPr>
              <a:t>Questions:</a:t>
            </a:r>
          </a:p>
          <a:p>
            <a:pPr marL="285750" indent="-285750">
              <a:buFont typeface="Arial" panose="020B0604020202020204" pitchFamily="34" charset="0"/>
              <a:buChar char="•"/>
            </a:pPr>
            <a:r>
              <a:rPr lang="en-US" sz="1200" dirty="0">
                <a:latin typeface="Century Gothic" panose="020B0502020202020204" pitchFamily="34" charset="0"/>
              </a:rPr>
              <a:t>Confirm navigation and layout</a:t>
            </a:r>
          </a:p>
          <a:p>
            <a:pPr marL="285750" indent="-285750">
              <a:buFont typeface="Arial" panose="020B0604020202020204" pitchFamily="34" charset="0"/>
              <a:buChar char="•"/>
            </a:pPr>
            <a:endParaRPr lang="en-US" sz="1200" b="0" i="0" u="none" strike="noStrike" baseline="0" dirty="0">
              <a:latin typeface="Century Gothic" panose="020B0502020202020204" pitchFamily="34" charset="0"/>
            </a:endParaRPr>
          </a:p>
          <a:p>
            <a:r>
              <a:rPr lang="en-US" sz="1200" b="1" dirty="0">
                <a:latin typeface="Century Gothic" panose="020B0502020202020204" pitchFamily="34" charset="0"/>
              </a:rPr>
              <a:t>Other</a:t>
            </a:r>
          </a:p>
          <a:p>
            <a:pPr marL="285750" indent="-285750">
              <a:buFont typeface="Arial" panose="020B0604020202020204" pitchFamily="34" charset="0"/>
              <a:buChar char="•"/>
            </a:pPr>
            <a:r>
              <a:rPr lang="en-US" sz="1200" b="0" i="0" u="none" strike="noStrike" baseline="0" dirty="0">
                <a:latin typeface="Century Gothic" panose="020B0502020202020204" pitchFamily="34" charset="0"/>
              </a:rPr>
              <a:t>Nice to have</a:t>
            </a:r>
            <a:r>
              <a:rPr lang="en-US" sz="1200" dirty="0">
                <a:latin typeface="Century Gothic" panose="020B0502020202020204" pitchFamily="34" charset="0"/>
              </a:rPr>
              <a:t>, not part of scope, would be to have the dashboard available for external users with there specific data. </a:t>
            </a:r>
          </a:p>
          <a:p>
            <a:pPr marL="285750" indent="-285750">
              <a:buFont typeface="Arial" panose="020B0604020202020204" pitchFamily="34" charset="0"/>
              <a:buChar char="•"/>
            </a:pPr>
            <a:endParaRPr lang="en-US" sz="1200" b="0" i="0" u="none" strike="noStrike" baseline="0" dirty="0">
              <a:latin typeface="Century Gothic" panose="020B0502020202020204" pitchFamily="34" charset="0"/>
            </a:endParaRPr>
          </a:p>
          <a:p>
            <a:pPr marL="285750" indent="-285750">
              <a:buFont typeface="Arial" panose="020B0604020202020204" pitchFamily="34" charset="0"/>
              <a:buChar char="•"/>
            </a:pPr>
            <a:r>
              <a:rPr lang="en-US" sz="1200" b="1" dirty="0">
                <a:solidFill>
                  <a:srgbClr val="FF0000"/>
                </a:solidFill>
                <a:latin typeface="Century Gothic" panose="020B0502020202020204" pitchFamily="34" charset="0"/>
              </a:rPr>
              <a:t>TODO: There is no check box to select a metric. Instead include a download icon in each box  and that will be how you download the data. </a:t>
            </a:r>
          </a:p>
          <a:p>
            <a:pPr marL="285750" indent="-285750">
              <a:buFont typeface="Arial" panose="020B0604020202020204" pitchFamily="34" charset="0"/>
              <a:buChar char="•"/>
            </a:pPr>
            <a:r>
              <a:rPr lang="en-US" sz="1200" b="1" i="0" u="none" strike="noStrike" baseline="0" dirty="0">
                <a:solidFill>
                  <a:srgbClr val="FF0000"/>
                </a:solidFill>
                <a:latin typeface="Century Gothic" panose="020B0502020202020204" pitchFamily="34" charset="0"/>
              </a:rPr>
              <a:t>Remove Export Selected Metric</a:t>
            </a:r>
          </a:p>
          <a:p>
            <a:pPr marL="285750" marR="2000" indent="-285750" algn="l" rtl="0">
              <a:buFont typeface="Arial" panose="020B0604020202020204" pitchFamily="34" charset="0"/>
              <a:buChar char="•"/>
            </a:pPr>
            <a:endParaRPr lang="en-US" sz="1200" dirty="0">
              <a:latin typeface="Century Gothic" panose="020B0502020202020204" pitchFamily="34" charset="0"/>
            </a:endParaRPr>
          </a:p>
        </p:txBody>
      </p:sp>
      <p:sp>
        <p:nvSpPr>
          <p:cNvPr id="3" name="TextBox 2">
            <a:extLst>
              <a:ext uri="{FF2B5EF4-FFF2-40B4-BE49-F238E27FC236}">
                <a16:creationId xmlns:a16="http://schemas.microsoft.com/office/drawing/2014/main" id="{A28373EB-5581-CCE9-ECA1-66E32E2853F3}"/>
              </a:ext>
            </a:extLst>
          </p:cNvPr>
          <p:cNvSpPr txBox="1"/>
          <p:nvPr/>
        </p:nvSpPr>
        <p:spPr>
          <a:xfrm>
            <a:off x="356135" y="1620559"/>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1274692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4CFB-95FF-9A0C-169B-4AC2A2673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25653-433B-5234-E898-2C23050C4A75}"/>
              </a:ext>
            </a:extLst>
          </p:cNvPr>
          <p:cNvSpPr>
            <a:spLocks noGrp="1"/>
          </p:cNvSpPr>
          <p:nvPr>
            <p:ph type="title"/>
          </p:nvPr>
        </p:nvSpPr>
        <p:spPr>
          <a:xfrm>
            <a:off x="598503" y="193906"/>
            <a:ext cx="10515600" cy="487131"/>
          </a:xfrm>
        </p:spPr>
        <p:txBody>
          <a:bodyPr>
            <a:normAutofit/>
          </a:bodyPr>
          <a:lstStyle/>
          <a:p>
            <a:r>
              <a:rPr lang="en-US" sz="2800" dirty="0"/>
              <a:t>Wireframe Notes – 3.0 – Certificate List (External)</a:t>
            </a:r>
          </a:p>
        </p:txBody>
      </p:sp>
      <p:sp>
        <p:nvSpPr>
          <p:cNvPr id="4" name="Date Placeholder 3">
            <a:extLst>
              <a:ext uri="{FF2B5EF4-FFF2-40B4-BE49-F238E27FC236}">
                <a16:creationId xmlns:a16="http://schemas.microsoft.com/office/drawing/2014/main" id="{C7651448-72A6-43CF-37AB-CC6E467406C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FB748E5B-1494-BD0E-4D8A-3AF79FA7812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34</a:t>
            </a:fld>
            <a:endParaRPr lang="en-US"/>
          </a:p>
        </p:txBody>
      </p:sp>
      <p:sp>
        <p:nvSpPr>
          <p:cNvPr id="8" name="TextBox 7">
            <a:extLst>
              <a:ext uri="{FF2B5EF4-FFF2-40B4-BE49-F238E27FC236}">
                <a16:creationId xmlns:a16="http://schemas.microsoft.com/office/drawing/2014/main" id="{849B7032-5B37-2B1C-D6B4-668EE36DD067}"/>
              </a:ext>
            </a:extLst>
          </p:cNvPr>
          <p:cNvSpPr txBox="1"/>
          <p:nvPr/>
        </p:nvSpPr>
        <p:spPr>
          <a:xfrm>
            <a:off x="8431100" y="646362"/>
            <a:ext cx="3493167" cy="5339923"/>
          </a:xfrm>
          <a:prstGeom prst="rect">
            <a:avLst/>
          </a:prstGeom>
          <a:noFill/>
        </p:spPr>
        <p:txBody>
          <a:bodyPr wrap="square">
            <a:spAutoFit/>
          </a:bodyPr>
          <a:lstStyle/>
          <a:p>
            <a:pPr marR="2000">
              <a:buSzPts val="1200"/>
            </a:pPr>
            <a:r>
              <a:rPr lang="en-US" sz="1100" b="1" dirty="0">
                <a:solidFill>
                  <a:srgbClr val="606771"/>
                </a:solidFill>
                <a:latin typeface="Century Gothic" panose="020B0502020202020204" pitchFamily="34" charset="0"/>
              </a:rPr>
              <a:t>Notes</a:t>
            </a:r>
            <a:r>
              <a:rPr lang="en-US" sz="1100" dirty="0">
                <a:solidFill>
                  <a:srgbClr val="606771"/>
                </a:solidFill>
                <a:latin typeface="Century Gothic" panose="020B0502020202020204" pitchFamily="34" charset="0"/>
              </a:rPr>
              <a:t>:</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Wireframe updated for infinite scrolling instead of pagination.</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Add Certificates will only be available for Analyst and Admin users. </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Edit/Delete Certificate will only be available for Analyst and Admin users.</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Ability to toggle between List and Tile views.</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The Tile view will display the same as 1.0 Certificate view. </a:t>
            </a:r>
          </a:p>
          <a:p>
            <a:pPr marL="285750" marR="2000" indent="-285750">
              <a:buSzPts val="1200"/>
              <a:buFont typeface="Arial" panose="020B0604020202020204" pitchFamily="34" charset="0"/>
              <a:buChar char="•"/>
            </a:pPr>
            <a:r>
              <a:rPr lang="en-US" sz="1100" dirty="0">
                <a:solidFill>
                  <a:srgbClr val="606771"/>
                </a:solidFill>
                <a:latin typeface="Century Gothic" panose="020B0502020202020204" pitchFamily="34" charset="0"/>
              </a:rPr>
              <a:t>List Sort by will allows users to sort on any column. </a:t>
            </a:r>
          </a:p>
          <a:p>
            <a:pPr marL="285750" marR="2000" indent="-285750">
              <a:buSzPts val="1200"/>
              <a:buFont typeface="Arial" panose="020B0604020202020204" pitchFamily="34" charset="0"/>
              <a:buChar char="•"/>
            </a:pPr>
            <a:r>
              <a:rPr lang="en-US" sz="1100" b="0" i="0" u="none" strike="noStrike" baseline="0" dirty="0">
                <a:solidFill>
                  <a:srgbClr val="606771"/>
                </a:solidFill>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100" b="1" i="0" u="none" strike="sngStrike" baseline="0" dirty="0">
                <a:solidFill>
                  <a:srgbClr val="606771"/>
                </a:solidFill>
                <a:latin typeface="Century Gothic" panose="020B0502020202020204" pitchFamily="34" charset="0"/>
              </a:rPr>
              <a:t>Certificate Upload, Record Created Date, Record Last Updated Date, Preview</a:t>
            </a:r>
          </a:p>
          <a:p>
            <a:pPr marL="285750" marR="2000" indent="-285750">
              <a:buSzPts val="1200"/>
              <a:buFont typeface="Arial" panose="020B0604020202020204" pitchFamily="34" charset="0"/>
              <a:buChar char="•"/>
            </a:pPr>
            <a:r>
              <a:rPr lang="en-US" sz="1100" b="0" i="0" u="none" strike="noStrike" baseline="0" dirty="0">
                <a:solidFill>
                  <a:srgbClr val="606771"/>
                </a:solidFill>
                <a:latin typeface="Century Gothic" panose="020B0502020202020204" pitchFamily="34" charset="0"/>
              </a:rPr>
              <a:t>2 types of External Users</a:t>
            </a:r>
          </a:p>
          <a:p>
            <a:pPr marL="742950" marR="2000" lvl="1" indent="-285750">
              <a:buSzPts val="1200"/>
              <a:buFont typeface="Arial" panose="020B0604020202020204" pitchFamily="34" charset="0"/>
              <a:buChar char="•"/>
            </a:pPr>
            <a:r>
              <a:rPr lang="en-US" sz="1100" b="0" i="0" u="none" strike="noStrike" baseline="0" dirty="0">
                <a:solidFill>
                  <a:srgbClr val="606771"/>
                </a:solidFill>
                <a:latin typeface="Century Gothic" panose="020B0502020202020204" pitchFamily="34" charset="0"/>
              </a:rPr>
              <a:t>Customers (accounted for here)</a:t>
            </a:r>
          </a:p>
          <a:p>
            <a:pPr marL="742950" marR="2000" lvl="1" indent="-285750">
              <a:buSzPts val="1200"/>
              <a:buFont typeface="Arial" panose="020B0604020202020204" pitchFamily="34" charset="0"/>
              <a:buChar char="•"/>
            </a:pPr>
            <a:r>
              <a:rPr lang="en-US" sz="1100" b="1" i="0" u="none" strike="noStrike" baseline="0" dirty="0">
                <a:solidFill>
                  <a:srgbClr val="FF0000"/>
                </a:solidFill>
                <a:latin typeface="Century Gothic" panose="020B0502020202020204" pitchFamily="34" charset="0"/>
              </a:rPr>
              <a:t>Partners (where they will have access across companies for products that are part of their program only – for example Amazon CPF clients/certs) (Need Clarification)</a:t>
            </a:r>
          </a:p>
          <a:p>
            <a:pPr marL="285750" marR="2000" indent="-285750">
              <a:buSzPts val="1200"/>
              <a:buFont typeface="Arial" panose="020B0604020202020204" pitchFamily="34" charset="0"/>
              <a:buChar char="•"/>
            </a:pPr>
            <a:r>
              <a:rPr lang="en-US" sz="1100" b="1" dirty="0">
                <a:solidFill>
                  <a:srgbClr val="FF0000"/>
                </a:solidFill>
                <a:latin typeface="Century Gothic" panose="020B0502020202020204" pitchFamily="34" charset="0"/>
              </a:rPr>
              <a:t>Defaults to List View</a:t>
            </a:r>
            <a:endParaRPr lang="en-US" sz="1100" b="1" i="0" u="none" strike="noStrike" baseline="0" dirty="0">
              <a:solidFill>
                <a:srgbClr val="FF0000"/>
              </a:solidFill>
              <a:latin typeface="Century Gothic" panose="020B0502020202020204" pitchFamily="34" charset="0"/>
            </a:endParaRPr>
          </a:p>
          <a:p>
            <a:pPr marL="285750" marR="2000" indent="-285750">
              <a:buSzPts val="1200"/>
              <a:buFont typeface="Arial" panose="020B0604020202020204" pitchFamily="34" charset="0"/>
              <a:buChar char="•"/>
            </a:pPr>
            <a:endParaRPr lang="en-US" sz="1100" dirty="0">
              <a:latin typeface="Century Gothic" panose="020B0502020202020204" pitchFamily="34" charset="0"/>
            </a:endParaRPr>
          </a:p>
        </p:txBody>
      </p:sp>
      <p:grpSp>
        <p:nvGrpSpPr>
          <p:cNvPr id="6" name="Group 5">
            <a:extLst>
              <a:ext uri="{FF2B5EF4-FFF2-40B4-BE49-F238E27FC236}">
                <a16:creationId xmlns:a16="http://schemas.microsoft.com/office/drawing/2014/main" id="{BE80DF7F-5E4C-D1AD-EA3F-A73BAA81495E}"/>
              </a:ext>
            </a:extLst>
          </p:cNvPr>
          <p:cNvGrpSpPr/>
          <p:nvPr/>
        </p:nvGrpSpPr>
        <p:grpSpPr>
          <a:xfrm>
            <a:off x="334991" y="679233"/>
            <a:ext cx="7856136" cy="4171433"/>
            <a:chOff x="334991" y="679233"/>
            <a:chExt cx="7856136" cy="4171433"/>
          </a:xfrm>
        </p:grpSpPr>
        <p:pic>
          <p:nvPicPr>
            <p:cNvPr id="7" name="Picture 6">
              <a:extLst>
                <a:ext uri="{FF2B5EF4-FFF2-40B4-BE49-F238E27FC236}">
                  <a16:creationId xmlns:a16="http://schemas.microsoft.com/office/drawing/2014/main" id="{63197A3F-293B-AFE9-19D1-755727824968}"/>
                </a:ext>
              </a:extLst>
            </p:cNvPr>
            <p:cNvPicPr>
              <a:picLocks noChangeAspect="1"/>
            </p:cNvPicPr>
            <p:nvPr/>
          </p:nvPicPr>
          <p:blipFill>
            <a:blip r:embed="rId3"/>
            <a:srcRect l="293" b="84816"/>
            <a:stretch/>
          </p:blipFill>
          <p:spPr>
            <a:xfrm>
              <a:off x="334991" y="679233"/>
              <a:ext cx="7817618" cy="910317"/>
            </a:xfrm>
            <a:prstGeom prst="rect">
              <a:avLst/>
            </a:prstGeom>
          </p:spPr>
        </p:pic>
        <p:pic>
          <p:nvPicPr>
            <p:cNvPr id="3" name="Picture 2">
              <a:extLst>
                <a:ext uri="{FF2B5EF4-FFF2-40B4-BE49-F238E27FC236}">
                  <a16:creationId xmlns:a16="http://schemas.microsoft.com/office/drawing/2014/main" id="{34967C4A-024E-A8CC-CCA5-AD15176548B3}"/>
                </a:ext>
              </a:extLst>
            </p:cNvPr>
            <p:cNvPicPr>
              <a:picLocks noChangeAspect="1"/>
            </p:cNvPicPr>
            <p:nvPr/>
          </p:nvPicPr>
          <p:blipFill>
            <a:blip r:embed="rId4"/>
            <a:srcRect t="7784"/>
            <a:stretch/>
          </p:blipFill>
          <p:spPr>
            <a:xfrm>
              <a:off x="334991" y="1706873"/>
              <a:ext cx="7856136" cy="3143793"/>
            </a:xfrm>
            <a:prstGeom prst="rect">
              <a:avLst/>
            </a:prstGeom>
          </p:spPr>
        </p:pic>
      </p:grpSp>
      <p:sp>
        <p:nvSpPr>
          <p:cNvPr id="10" name="TextBox 9">
            <a:extLst>
              <a:ext uri="{FF2B5EF4-FFF2-40B4-BE49-F238E27FC236}">
                <a16:creationId xmlns:a16="http://schemas.microsoft.com/office/drawing/2014/main" id="{0B20E155-C762-CCD9-63BB-478925ED9BBE}"/>
              </a:ext>
            </a:extLst>
          </p:cNvPr>
          <p:cNvSpPr txBox="1"/>
          <p:nvPr/>
        </p:nvSpPr>
        <p:spPr>
          <a:xfrm>
            <a:off x="1794244" y="4827961"/>
            <a:ext cx="6097772" cy="2123658"/>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Notes:</a:t>
            </a:r>
          </a:p>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Move actions to left side of table.  </a:t>
            </a:r>
          </a:p>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need to be able to see the Product listing for only ones under their program…with no editing capability. </a:t>
            </a:r>
          </a:p>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Can only see Internal tags if there assigned?(Was this a req?)</a:t>
            </a:r>
          </a:p>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Preview refers to the eye icon</a:t>
            </a:r>
          </a:p>
          <a:p>
            <a:pPr marL="742950" marR="2000" lvl="1" indent="-285750">
              <a:buSzPts val="1200"/>
              <a:buFont typeface="Arial" panose="020B0604020202020204" pitchFamily="34" charset="0"/>
              <a:buChar char="•"/>
            </a:pPr>
            <a:r>
              <a:rPr lang="en-US" sz="1100" dirty="0">
                <a:solidFill>
                  <a:srgbClr val="FF0000"/>
                </a:solidFill>
                <a:latin typeface="Century Gothic" panose="020B0502020202020204" pitchFamily="34" charset="0"/>
              </a:rPr>
              <a:t>Discuss: how would you handle where there are thousands of ASINs under a cert. </a:t>
            </a:r>
          </a:p>
          <a:p>
            <a:pPr marL="1200150" marR="2000" lvl="2" indent="-285750">
              <a:buSzPts val="1200"/>
              <a:buFont typeface="Arial" panose="020B0604020202020204" pitchFamily="34" charset="0"/>
              <a:buChar char="•"/>
            </a:pPr>
            <a:r>
              <a:rPr lang="en-US" sz="1100" b="1" dirty="0">
                <a:solidFill>
                  <a:srgbClr val="FF0000"/>
                </a:solidFill>
                <a:latin typeface="Century Gothic" panose="020B0502020202020204" pitchFamily="34" charset="0"/>
              </a:rPr>
              <a:t>May need to give Products page access to external users because listing here would not be realistic. In which case there would not be a column for this, UPC, etc. </a:t>
            </a:r>
          </a:p>
          <a:p>
            <a:pPr marL="742950" marR="2000" lvl="1" indent="-285750">
              <a:buSzPts val="1200"/>
              <a:buFont typeface="Arial" panose="020B0604020202020204" pitchFamily="34" charset="0"/>
              <a:buChar char="•"/>
            </a:pPr>
            <a:endParaRPr lang="en-US" sz="1100" i="0" u="none" strike="noStrike" baseline="0" dirty="0">
              <a:solidFill>
                <a:srgbClr val="FF0000"/>
              </a:solidFill>
              <a:latin typeface="Century Gothic" panose="020B0502020202020204" pitchFamily="34" charset="0"/>
            </a:endParaRPr>
          </a:p>
        </p:txBody>
      </p:sp>
      <p:sp>
        <p:nvSpPr>
          <p:cNvPr id="9" name="TextBox 8">
            <a:extLst>
              <a:ext uri="{FF2B5EF4-FFF2-40B4-BE49-F238E27FC236}">
                <a16:creationId xmlns:a16="http://schemas.microsoft.com/office/drawing/2014/main" id="{54F65E86-A2CA-8042-940D-5B07D3911C13}"/>
              </a:ext>
            </a:extLst>
          </p:cNvPr>
          <p:cNvSpPr txBox="1"/>
          <p:nvPr/>
        </p:nvSpPr>
        <p:spPr>
          <a:xfrm>
            <a:off x="3041584" y="2398355"/>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2157400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8363-1BC8-17A2-308A-3239DBE15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ABE33-15AB-F0BD-6BA7-7B06B3E560DB}"/>
              </a:ext>
            </a:extLst>
          </p:cNvPr>
          <p:cNvSpPr>
            <a:spLocks noGrp="1"/>
          </p:cNvSpPr>
          <p:nvPr>
            <p:ph type="title"/>
          </p:nvPr>
        </p:nvSpPr>
        <p:spPr/>
        <p:txBody>
          <a:bodyPr/>
          <a:lstStyle/>
          <a:p>
            <a:r>
              <a:rPr lang="en-US" sz="2800" dirty="0"/>
              <a:t>Wireframe Notes – 3.0 – Certificates List (External)</a:t>
            </a:r>
          </a:p>
        </p:txBody>
      </p:sp>
      <p:sp>
        <p:nvSpPr>
          <p:cNvPr id="3" name="Content Placeholder 2">
            <a:extLst>
              <a:ext uri="{FF2B5EF4-FFF2-40B4-BE49-F238E27FC236}">
                <a16:creationId xmlns:a16="http://schemas.microsoft.com/office/drawing/2014/main" id="{C958CCF9-4296-9E9E-0FD9-BBC67F43188D}"/>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Users.</a:t>
            </a:r>
          </a:p>
          <a:p>
            <a:pPr marR="2000" algn="l" rtl="0">
              <a:buSzPts val="1200"/>
              <a:buFont typeface="Symbol" panose="05050102010706020507" pitchFamily="18" charset="2"/>
              <a:buChar char="·"/>
            </a:pPr>
            <a:r>
              <a:rPr lang="en-US" sz="1400" b="0" i="0" u="none" strike="noStrike" baseline="0" dirty="0">
                <a:solidFill>
                  <a:srgbClr val="606771"/>
                </a:solidFill>
              </a:rPr>
              <a:t>Clicking anywhere on the row of a certificate will take the user to the Certificate List that shows details about the selected Certificate. </a:t>
            </a:r>
          </a:p>
          <a:p>
            <a:pPr marR="2000" algn="l" rtl="0">
              <a:buSzPts val="1200"/>
              <a:buFont typeface="Symbol" panose="05050102010706020507" pitchFamily="18" charset="2"/>
              <a:buChar char="·"/>
            </a:pPr>
            <a:r>
              <a:rPr lang="en-US" sz="1400" b="0" i="0" u="none" strike="noStrike" baseline="0" dirty="0">
                <a:solidFill>
                  <a:srgbClr val="606771"/>
                </a:solidFill>
              </a:rPr>
              <a:t>Ability to Sort on all columns.</a:t>
            </a:r>
          </a:p>
          <a:p>
            <a:pPr marR="2000" algn="l" rtl="0">
              <a:buSzPts val="1200"/>
              <a:buFont typeface="Symbol" panose="05050102010706020507" pitchFamily="18" charset="2"/>
              <a:buChar char="·"/>
            </a:pPr>
            <a:r>
              <a:rPr lang="en-US" sz="1400" b="0" i="0" u="none" strike="noStrike" baseline="0" dirty="0">
                <a:solidFill>
                  <a:srgbClr val="606771"/>
                </a:solidFill>
              </a:rPr>
              <a:t>Ability to Filter by designated Search Categories.</a:t>
            </a:r>
          </a:p>
          <a:p>
            <a:pPr marR="2000" algn="l" rtl="0">
              <a:buSzPts val="1200"/>
              <a:buFont typeface="Symbol" panose="05050102010706020507" pitchFamily="18" charset="2"/>
              <a:buChar char="·"/>
            </a:pPr>
            <a:r>
              <a:rPr lang="en-US" sz="1400" b="0" i="0" u="none" strike="noStrike" baseline="0" dirty="0">
                <a:solidFill>
                  <a:srgbClr val="606771"/>
                </a:solidFill>
              </a:rPr>
              <a:t>Ability to scroll horizontally and vertically to see additional data fields.</a:t>
            </a:r>
          </a:p>
          <a:p>
            <a:pPr marR="2000" algn="l" rtl="0">
              <a:buSzPts val="1200"/>
              <a:buFont typeface="Symbol" panose="05050102010706020507" pitchFamily="18" charset="2"/>
              <a:buChar char="·"/>
            </a:pPr>
            <a:r>
              <a:rPr lang="en-US" sz="1400" b="0" i="0" u="none" strike="noStrike" baseline="0" dirty="0">
                <a:solidFill>
                  <a:srgbClr val="606771"/>
                </a:solidFill>
              </a:rPr>
              <a:t>Ability to multiselect for Certificate Download.</a:t>
            </a:r>
          </a:p>
          <a:p>
            <a:pPr marR="2000" algn="l" rtl="0"/>
            <a:r>
              <a:rPr lang="en-US" sz="1400" dirty="0">
                <a:solidFill>
                  <a:srgbClr val="606771"/>
                </a:solidFill>
              </a:rPr>
              <a:t>Excel download - based on filters can export full or filtered list</a:t>
            </a:r>
          </a:p>
          <a:p>
            <a:pPr marR="2000" algn="l" rtl="0"/>
            <a:r>
              <a:rPr lang="en-US" sz="1400" dirty="0">
                <a:solidFill>
                  <a:srgbClr val="606771"/>
                </a:solidFill>
              </a:rPr>
              <a:t>Wishlist: The ability to load the table as a user scrolls Lazy </a:t>
            </a:r>
            <a:r>
              <a:rPr lang="en-US" sz="1400" b="0" i="0" u="none" strike="noStrike" baseline="0" dirty="0">
                <a:solidFill>
                  <a:schemeClr val="accent6">
                    <a:lumMod val="50000"/>
                  </a:schemeClr>
                </a:solidFill>
              </a:rPr>
              <a:t>loading, rather than have the page control.</a:t>
            </a:r>
            <a:endParaRPr lang="en-US" sz="1400" dirty="0"/>
          </a:p>
        </p:txBody>
      </p:sp>
      <p:sp>
        <p:nvSpPr>
          <p:cNvPr id="4" name="Date Placeholder 3">
            <a:extLst>
              <a:ext uri="{FF2B5EF4-FFF2-40B4-BE49-F238E27FC236}">
                <a16:creationId xmlns:a16="http://schemas.microsoft.com/office/drawing/2014/main" id="{10CAA500-1B5B-1ABC-4083-D57222A62554}"/>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5F89CA10-F307-4F1F-1925-1349F32328D7}"/>
              </a:ext>
            </a:extLst>
          </p:cNvPr>
          <p:cNvSpPr>
            <a:spLocks noGrp="1"/>
          </p:cNvSpPr>
          <p:nvPr>
            <p:ph type="sldNum" sz="quarter" idx="12"/>
          </p:nvPr>
        </p:nvSpPr>
        <p:spPr/>
        <p:txBody>
          <a:bodyPr/>
          <a:lstStyle/>
          <a:p>
            <a:fld id="{330EA680-D336-4FF7-8B7A-9848BB0A1C32}" type="slidenum">
              <a:rPr lang="en-US" smtClean="0"/>
              <a:t>35</a:t>
            </a:fld>
            <a:endParaRPr lang="en-US"/>
          </a:p>
        </p:txBody>
      </p:sp>
    </p:spTree>
    <p:extLst>
      <p:ext uri="{BB962C8B-B14F-4D97-AF65-F5344CB8AC3E}">
        <p14:creationId xmlns:p14="http://schemas.microsoft.com/office/powerpoint/2010/main" val="3264215488"/>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A973A-18A2-FCC0-93AC-E0D7F10FB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8173A-1A25-B7D4-DF5E-488E583DFA1F}"/>
              </a:ext>
            </a:extLst>
          </p:cNvPr>
          <p:cNvSpPr>
            <a:spLocks noGrp="1"/>
          </p:cNvSpPr>
          <p:nvPr>
            <p:ph type="title"/>
          </p:nvPr>
        </p:nvSpPr>
        <p:spPr>
          <a:xfrm>
            <a:off x="598503" y="193906"/>
            <a:ext cx="10515600" cy="487131"/>
          </a:xfrm>
        </p:spPr>
        <p:txBody>
          <a:bodyPr>
            <a:normAutofit/>
          </a:bodyPr>
          <a:lstStyle/>
          <a:p>
            <a:r>
              <a:rPr lang="en-US" sz="2800" dirty="0"/>
              <a:t>Wireframe Notes – 3.1 – External Single Certificate View</a:t>
            </a:r>
          </a:p>
        </p:txBody>
      </p:sp>
      <p:sp>
        <p:nvSpPr>
          <p:cNvPr id="4" name="Date Placeholder 3">
            <a:extLst>
              <a:ext uri="{FF2B5EF4-FFF2-40B4-BE49-F238E27FC236}">
                <a16:creationId xmlns:a16="http://schemas.microsoft.com/office/drawing/2014/main" id="{B528310E-80FB-3306-92F2-1EC43C06E82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90FAE7F1-F179-2FED-B777-E33AE940B83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36</a:t>
            </a:fld>
            <a:endParaRPr lang="en-US"/>
          </a:p>
        </p:txBody>
      </p:sp>
      <p:sp>
        <p:nvSpPr>
          <p:cNvPr id="6" name="TextBox 5">
            <a:extLst>
              <a:ext uri="{FF2B5EF4-FFF2-40B4-BE49-F238E27FC236}">
                <a16:creationId xmlns:a16="http://schemas.microsoft.com/office/drawing/2014/main" id="{0B0378F0-32BC-84F4-3A90-B85D25CF4CD0}"/>
              </a:ext>
            </a:extLst>
          </p:cNvPr>
          <p:cNvSpPr txBox="1"/>
          <p:nvPr/>
        </p:nvSpPr>
        <p:spPr>
          <a:xfrm>
            <a:off x="6923315" y="681037"/>
            <a:ext cx="4902644" cy="2492990"/>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200" b="1" i="0" u="none" strike="sngStrike" baseline="0" dirty="0">
                <a:solidFill>
                  <a:srgbClr val="606771"/>
                </a:solidFill>
                <a:latin typeface="Segoe UI" panose="020B0502040204020203" pitchFamily="34" charset="0"/>
              </a:rPr>
              <a:t>Certificate Upload, Record Created Date, Record Last Updated Date, Preview.</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Verification URL: displayed at bottom of page to enable </a:t>
            </a:r>
          </a:p>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Certificate View will load in a new tab.</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CSF Attribute will only show when it is selected for a certification. (The field will not be required on the certificate create page)</a:t>
            </a:r>
          </a:p>
          <a:p>
            <a:pPr marL="285750" marR="2000" indent="-285750">
              <a:buSzPts val="1200"/>
              <a:buFont typeface="Arial" panose="020B0604020202020204" pitchFamily="34" charset="0"/>
              <a:buChar char="•"/>
            </a:pPr>
            <a:r>
              <a:rPr lang="en-US" sz="1200" b="1" i="0" u="none" strike="noStrike" baseline="0" dirty="0">
                <a:solidFill>
                  <a:srgbClr val="606771"/>
                </a:solidFill>
                <a:latin typeface="Segoe UI" panose="020B0502040204020203" pitchFamily="34" charset="0"/>
              </a:rPr>
              <a:t>Record Information will only be available for Analyst and Admin</a:t>
            </a:r>
          </a:p>
        </p:txBody>
      </p:sp>
      <p:pic>
        <p:nvPicPr>
          <p:cNvPr id="15" name="Picture 14">
            <a:extLst>
              <a:ext uri="{FF2B5EF4-FFF2-40B4-BE49-F238E27FC236}">
                <a16:creationId xmlns:a16="http://schemas.microsoft.com/office/drawing/2014/main" id="{0182FA92-1A50-8F1C-92EE-7812092A6ECA}"/>
              </a:ext>
            </a:extLst>
          </p:cNvPr>
          <p:cNvPicPr>
            <a:picLocks noChangeAspect="1"/>
          </p:cNvPicPr>
          <p:nvPr/>
        </p:nvPicPr>
        <p:blipFill>
          <a:blip r:embed="rId3"/>
          <a:stretch>
            <a:fillRect/>
          </a:stretch>
        </p:blipFill>
        <p:spPr>
          <a:xfrm>
            <a:off x="638725" y="677038"/>
            <a:ext cx="5885350" cy="5987056"/>
          </a:xfrm>
          <a:prstGeom prst="rect">
            <a:avLst/>
          </a:prstGeom>
          <a:ln w="9525">
            <a:solidFill>
              <a:schemeClr val="tx1">
                <a:lumMod val="50000"/>
                <a:lumOff val="50000"/>
              </a:schemeClr>
            </a:solidFill>
          </a:ln>
        </p:spPr>
      </p:pic>
      <p:pic>
        <p:nvPicPr>
          <p:cNvPr id="16" name="Picture 15">
            <a:extLst>
              <a:ext uri="{FF2B5EF4-FFF2-40B4-BE49-F238E27FC236}">
                <a16:creationId xmlns:a16="http://schemas.microsoft.com/office/drawing/2014/main" id="{B42374F1-1CE3-B6C2-79F5-D7B02C7E3E2C}"/>
              </a:ext>
            </a:extLst>
          </p:cNvPr>
          <p:cNvPicPr>
            <a:picLocks noChangeAspect="1"/>
          </p:cNvPicPr>
          <p:nvPr/>
        </p:nvPicPr>
        <p:blipFill>
          <a:blip r:embed="rId4"/>
          <a:srcRect l="64207" t="34194" r="4959" b="33145"/>
          <a:stretch/>
        </p:blipFill>
        <p:spPr>
          <a:xfrm>
            <a:off x="3877414" y="1577941"/>
            <a:ext cx="2471135" cy="2054839"/>
          </a:xfrm>
          <a:prstGeom prst="rect">
            <a:avLst/>
          </a:prstGeom>
        </p:spPr>
      </p:pic>
      <p:pic>
        <p:nvPicPr>
          <p:cNvPr id="17" name="Picture 16">
            <a:extLst>
              <a:ext uri="{FF2B5EF4-FFF2-40B4-BE49-F238E27FC236}">
                <a16:creationId xmlns:a16="http://schemas.microsoft.com/office/drawing/2014/main" id="{3AB13121-35C5-4929-E791-4B2A92FAD6A1}"/>
              </a:ext>
            </a:extLst>
          </p:cNvPr>
          <p:cNvPicPr>
            <a:picLocks noChangeAspect="1"/>
          </p:cNvPicPr>
          <p:nvPr/>
        </p:nvPicPr>
        <p:blipFill>
          <a:blip r:embed="rId5"/>
          <a:stretch>
            <a:fillRect/>
          </a:stretch>
        </p:blipFill>
        <p:spPr>
          <a:xfrm>
            <a:off x="6248504" y="3806995"/>
            <a:ext cx="209579" cy="295316"/>
          </a:xfrm>
          <a:prstGeom prst="rect">
            <a:avLst/>
          </a:prstGeom>
        </p:spPr>
      </p:pic>
      <p:sp>
        <p:nvSpPr>
          <p:cNvPr id="7" name="TextBox 6">
            <a:extLst>
              <a:ext uri="{FF2B5EF4-FFF2-40B4-BE49-F238E27FC236}">
                <a16:creationId xmlns:a16="http://schemas.microsoft.com/office/drawing/2014/main" id="{84E79154-67E0-CF66-3C47-B522F040ED82}"/>
              </a:ext>
            </a:extLst>
          </p:cNvPr>
          <p:cNvSpPr txBox="1"/>
          <p:nvPr/>
        </p:nvSpPr>
        <p:spPr>
          <a:xfrm>
            <a:off x="6248504" y="3309614"/>
            <a:ext cx="6097772" cy="646331"/>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800" b="1" i="0" u="none" strike="noStrike" baseline="0" dirty="0">
                <a:solidFill>
                  <a:srgbClr val="FF0000"/>
                </a:solidFill>
                <a:latin typeface="Century Gothic" panose="020B0502020202020204" pitchFamily="34" charset="0"/>
              </a:rPr>
              <a:t>Update Screenshot, remove Record Information. </a:t>
            </a:r>
          </a:p>
        </p:txBody>
      </p:sp>
      <p:sp>
        <p:nvSpPr>
          <p:cNvPr id="3" name="TextBox 2">
            <a:extLst>
              <a:ext uri="{FF2B5EF4-FFF2-40B4-BE49-F238E27FC236}">
                <a16:creationId xmlns:a16="http://schemas.microsoft.com/office/drawing/2014/main" id="{F4A576D8-EAFD-E746-928C-F3BAB4BFA5E4}"/>
              </a:ext>
            </a:extLst>
          </p:cNvPr>
          <p:cNvSpPr txBox="1"/>
          <p:nvPr/>
        </p:nvSpPr>
        <p:spPr>
          <a:xfrm>
            <a:off x="3041584" y="2388730"/>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1152932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3F684-04B9-65CD-A8F8-EC99DD406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2E414-A962-3D6A-8F09-720B41475B19}"/>
              </a:ext>
            </a:extLst>
          </p:cNvPr>
          <p:cNvSpPr>
            <a:spLocks noGrp="1"/>
          </p:cNvSpPr>
          <p:nvPr>
            <p:ph type="title"/>
          </p:nvPr>
        </p:nvSpPr>
        <p:spPr/>
        <p:txBody>
          <a:bodyPr/>
          <a:lstStyle/>
          <a:p>
            <a:r>
              <a:rPr lang="en-US" sz="2800" dirty="0"/>
              <a:t>Wireframe Notes – 3.1 – External Single Certificate View</a:t>
            </a:r>
          </a:p>
        </p:txBody>
      </p:sp>
      <p:sp>
        <p:nvSpPr>
          <p:cNvPr id="3" name="Content Placeholder 2">
            <a:extLst>
              <a:ext uri="{FF2B5EF4-FFF2-40B4-BE49-F238E27FC236}">
                <a16:creationId xmlns:a16="http://schemas.microsoft.com/office/drawing/2014/main" id="{F86C29BC-AF5E-83D1-F6E9-5410ECFCB1A2}"/>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Clients.</a:t>
            </a:r>
          </a:p>
          <a:p>
            <a:pPr marR="2000" algn="l" rtl="0"/>
            <a:r>
              <a:rPr lang="en-US" sz="1400" b="0" i="0" u="none" strike="noStrike" baseline="0" dirty="0">
                <a:solidFill>
                  <a:srgbClr val="606771"/>
                </a:solidFill>
              </a:rPr>
              <a:t>Ability to Sort on all columns.</a:t>
            </a:r>
          </a:p>
          <a:p>
            <a:pPr marR="2000" algn="l" rtl="0"/>
            <a:r>
              <a:rPr lang="en-US" sz="1400" b="0" i="0" u="none" strike="noStrike" baseline="0" dirty="0">
                <a:solidFill>
                  <a:srgbClr val="606771"/>
                </a:solidFill>
              </a:rPr>
              <a:t>Ability to Filter by designated Search Categories.</a:t>
            </a:r>
          </a:p>
          <a:p>
            <a:pPr marR="2000" algn="l" rtl="0"/>
            <a:r>
              <a:rPr lang="en-US" sz="1400" b="0" i="0" u="none" strike="noStrike" baseline="0" dirty="0">
                <a:solidFill>
                  <a:srgbClr val="606771"/>
                </a:solidFill>
              </a:rPr>
              <a:t>Ability to scroll horizontally and vertically to see additional data fields.</a:t>
            </a:r>
          </a:p>
          <a:p>
            <a:pPr marR="2000" algn="l" rtl="0"/>
            <a:r>
              <a:rPr lang="en-US" sz="1400" b="0" i="0" u="none" strike="noStrike" baseline="0" dirty="0">
                <a:solidFill>
                  <a:srgbClr val="606771"/>
                </a:solidFill>
              </a:rPr>
              <a:t>Ability to multiselect for Download.</a:t>
            </a:r>
          </a:p>
          <a:p>
            <a:pPr marR="2000"/>
            <a:r>
              <a:rPr lang="en-US" sz="1400" dirty="0">
                <a:solidFill>
                  <a:srgbClr val="606771"/>
                </a:solidFill>
              </a:rPr>
              <a:t>Will Clients fall under the ‘Company’ data field or is there another way to associate them to a Product/Certificate?	</a:t>
            </a:r>
          </a:p>
          <a:p>
            <a:pPr marR="2000" lvl="1"/>
            <a:r>
              <a:rPr lang="en-US" sz="1400" dirty="0">
                <a:solidFill>
                  <a:srgbClr val="606771"/>
                </a:solidFill>
              </a:rPr>
              <a:t>When we grant permissions to clients it would be through Company - and there could be multiple companies associated with 1 client (ASSA ABLOY for example). However, on the partner side they would not be by Company but by new partner field.</a:t>
            </a:r>
          </a:p>
          <a:p>
            <a:pPr marR="2000" algn="l" rtl="0"/>
            <a:endParaRPr lang="en-US" sz="1400" dirty="0"/>
          </a:p>
        </p:txBody>
      </p:sp>
      <p:sp>
        <p:nvSpPr>
          <p:cNvPr id="4" name="Date Placeholder 3">
            <a:extLst>
              <a:ext uri="{FF2B5EF4-FFF2-40B4-BE49-F238E27FC236}">
                <a16:creationId xmlns:a16="http://schemas.microsoft.com/office/drawing/2014/main" id="{2FEA53B8-D918-019A-D13A-C93548A3DCD1}"/>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291CD4E8-ADA1-7D49-F52C-3510F68059B9}"/>
              </a:ext>
            </a:extLst>
          </p:cNvPr>
          <p:cNvSpPr>
            <a:spLocks noGrp="1"/>
          </p:cNvSpPr>
          <p:nvPr>
            <p:ph type="sldNum" sz="quarter" idx="12"/>
          </p:nvPr>
        </p:nvSpPr>
        <p:spPr/>
        <p:txBody>
          <a:bodyPr/>
          <a:lstStyle/>
          <a:p>
            <a:fld id="{330EA680-D336-4FF7-8B7A-9848BB0A1C32}" type="slidenum">
              <a:rPr lang="en-US" smtClean="0"/>
              <a:t>37</a:t>
            </a:fld>
            <a:endParaRPr lang="en-US"/>
          </a:p>
        </p:txBody>
      </p:sp>
    </p:spTree>
    <p:extLst>
      <p:ext uri="{BB962C8B-B14F-4D97-AF65-F5344CB8AC3E}">
        <p14:creationId xmlns:p14="http://schemas.microsoft.com/office/powerpoint/2010/main" val="25226770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C391D-A9E3-89DD-765A-F6FC9ED7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15568-3AE7-F71A-3B97-7A3763463A89}"/>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56AFB039-4336-2CC5-2582-7418755AED6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EA893253-A22D-1587-4EAB-90316F3129A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38</a:t>
            </a:fld>
            <a:endParaRPr lang="en-US" dirty="0"/>
          </a:p>
        </p:txBody>
      </p:sp>
      <p:sp>
        <p:nvSpPr>
          <p:cNvPr id="8" name="TextBox 7">
            <a:extLst>
              <a:ext uri="{FF2B5EF4-FFF2-40B4-BE49-F238E27FC236}">
                <a16:creationId xmlns:a16="http://schemas.microsoft.com/office/drawing/2014/main" id="{7DAAB60F-27F5-601E-A52C-70D3001751EE}"/>
              </a:ext>
            </a:extLst>
          </p:cNvPr>
          <p:cNvSpPr txBox="1"/>
          <p:nvPr/>
        </p:nvSpPr>
        <p:spPr>
          <a:xfrm>
            <a:off x="8431100" y="802227"/>
            <a:ext cx="3493167" cy="5078313"/>
          </a:xfrm>
          <a:prstGeom prst="rect">
            <a:avLst/>
          </a:prstGeom>
          <a:no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Wireframe updated for infinite scrolling instead of pagination.</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Add Certificates will only be available for Analyst and Admin users.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Edit/Delete Certificate will only be available for Analyst and Admin users.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Ability to toggle between List and Tile views.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The Tile view will display the same as 1.0 Certificate view.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List Sort by will allows users to sort on any column. </a:t>
            </a:r>
          </a:p>
          <a:p>
            <a:pPr marL="285750" marR="2000" indent="-28575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a:t>
            </a:r>
            <a:r>
              <a:rPr lang="en-US" sz="1200" b="1" i="0" u="none" strike="sngStrike" baseline="0" dirty="0">
                <a:solidFill>
                  <a:srgbClr val="606771"/>
                </a:solidFill>
                <a:latin typeface="Century Gothic" panose="020B0502020202020204" pitchFamily="34" charset="0"/>
              </a:rPr>
              <a:t>Preview</a:t>
            </a:r>
          </a:p>
          <a:p>
            <a:pPr marL="285750" marR="2000" indent="-285750">
              <a:buSzPts val="1200"/>
              <a:buFont typeface="Arial" panose="020B0604020202020204" pitchFamily="34" charset="0"/>
              <a:buChar char="•"/>
            </a:pPr>
            <a:endParaRPr lang="en-US" sz="1200" b="0" i="0" u="none" strike="noStrike" baseline="0" dirty="0">
              <a:solidFill>
                <a:srgbClr val="606771"/>
              </a:solidFill>
              <a:latin typeface="Century Gothic" panose="020B0502020202020204" pitchFamily="34" charset="0"/>
            </a:endParaRPr>
          </a:p>
          <a:p>
            <a:pPr marL="285750" marR="2000" indent="-285750">
              <a:buSzPts val="1200"/>
              <a:buFont typeface="Arial" panose="020B0604020202020204" pitchFamily="34" charset="0"/>
              <a:buChar char="•"/>
            </a:pPr>
            <a:endParaRPr lang="en-US" sz="1200" dirty="0">
              <a:latin typeface="Century Gothic" panose="020B0502020202020204" pitchFamily="34" charset="0"/>
            </a:endParaRPr>
          </a:p>
        </p:txBody>
      </p:sp>
      <p:pic>
        <p:nvPicPr>
          <p:cNvPr id="7" name="Picture 6">
            <a:extLst>
              <a:ext uri="{FF2B5EF4-FFF2-40B4-BE49-F238E27FC236}">
                <a16:creationId xmlns:a16="http://schemas.microsoft.com/office/drawing/2014/main" id="{BA2E17D6-AC17-3F4F-322F-EEF8C55FB5D1}"/>
              </a:ext>
            </a:extLst>
          </p:cNvPr>
          <p:cNvPicPr>
            <a:picLocks noChangeAspect="1"/>
          </p:cNvPicPr>
          <p:nvPr/>
        </p:nvPicPr>
        <p:blipFill>
          <a:blip r:embed="rId3"/>
          <a:srcRect b="83858"/>
          <a:stretch/>
        </p:blipFill>
        <p:spPr>
          <a:xfrm>
            <a:off x="598503" y="850292"/>
            <a:ext cx="7480943" cy="874006"/>
          </a:xfrm>
          <a:prstGeom prst="rect">
            <a:avLst/>
          </a:prstGeom>
        </p:spPr>
      </p:pic>
      <p:pic>
        <p:nvPicPr>
          <p:cNvPr id="11" name="Picture 10">
            <a:extLst>
              <a:ext uri="{FF2B5EF4-FFF2-40B4-BE49-F238E27FC236}">
                <a16:creationId xmlns:a16="http://schemas.microsoft.com/office/drawing/2014/main" id="{6749770F-83D9-D19E-ED15-23C4F707475C}"/>
              </a:ext>
            </a:extLst>
          </p:cNvPr>
          <p:cNvPicPr>
            <a:picLocks noChangeAspect="1"/>
          </p:cNvPicPr>
          <p:nvPr/>
        </p:nvPicPr>
        <p:blipFill>
          <a:blip r:embed="rId4"/>
          <a:stretch>
            <a:fillRect/>
          </a:stretch>
        </p:blipFill>
        <p:spPr>
          <a:xfrm>
            <a:off x="624380" y="1724298"/>
            <a:ext cx="7480943" cy="2963775"/>
          </a:xfrm>
          <a:prstGeom prst="rect">
            <a:avLst/>
          </a:prstGeom>
        </p:spPr>
      </p:pic>
      <p:sp>
        <p:nvSpPr>
          <p:cNvPr id="6" name="TextBox 5">
            <a:extLst>
              <a:ext uri="{FF2B5EF4-FFF2-40B4-BE49-F238E27FC236}">
                <a16:creationId xmlns:a16="http://schemas.microsoft.com/office/drawing/2014/main" id="{26C52746-B1E6-6E7D-EBF1-B7C19B0CFFFB}"/>
              </a:ext>
            </a:extLst>
          </p:cNvPr>
          <p:cNvSpPr txBox="1"/>
          <p:nvPr/>
        </p:nvSpPr>
        <p:spPr>
          <a:xfrm>
            <a:off x="1751714" y="4775147"/>
            <a:ext cx="6097772" cy="1477328"/>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800" b="1" i="0" u="none" strike="noStrike" baseline="0" dirty="0">
                <a:solidFill>
                  <a:srgbClr val="FF0000"/>
                </a:solidFill>
                <a:latin typeface="Century Gothic" panose="020B0502020202020204" pitchFamily="34" charset="0"/>
              </a:rPr>
              <a:t>Add Edit icon for GCC users</a:t>
            </a:r>
          </a:p>
          <a:p>
            <a:pPr marL="742950" marR="2000" lvl="1" indent="-285750">
              <a:buSzPts val="1200"/>
              <a:buFont typeface="Arial" panose="020B0604020202020204" pitchFamily="34" charset="0"/>
              <a:buChar char="•"/>
            </a:pPr>
            <a:r>
              <a:rPr lang="en-US" b="1" dirty="0">
                <a:solidFill>
                  <a:srgbClr val="FF0000"/>
                </a:solidFill>
                <a:latin typeface="Century Gothic" panose="020B0502020202020204" pitchFamily="34" charset="0"/>
              </a:rPr>
              <a:t>Update table based on how ASIN, UPC, </a:t>
            </a:r>
            <a:r>
              <a:rPr lang="en-US" b="1" dirty="0" err="1">
                <a:solidFill>
                  <a:srgbClr val="FF0000"/>
                </a:solidFill>
                <a:latin typeface="Century Gothic" panose="020B0502020202020204" pitchFamily="34" charset="0"/>
              </a:rPr>
              <a:t>etc</a:t>
            </a:r>
            <a:r>
              <a:rPr lang="en-US" b="1" dirty="0">
                <a:solidFill>
                  <a:srgbClr val="FF0000"/>
                </a:solidFill>
                <a:latin typeface="Century Gothic" panose="020B0502020202020204" pitchFamily="34" charset="0"/>
              </a:rPr>
              <a:t> will be handled. </a:t>
            </a:r>
          </a:p>
          <a:p>
            <a:pPr marL="742950" marR="2000" lvl="1" indent="-285750">
              <a:buSzPts val="1200"/>
              <a:buFont typeface="Arial" panose="020B0604020202020204" pitchFamily="34" charset="0"/>
              <a:buChar char="•"/>
            </a:pPr>
            <a:r>
              <a:rPr lang="en-US" sz="1800" b="1" i="0" u="none" strike="noStrike" baseline="0" dirty="0">
                <a:solidFill>
                  <a:srgbClr val="FF0000"/>
                </a:solidFill>
                <a:latin typeface="Century Gothic" panose="020B0502020202020204" pitchFamily="34" charset="0"/>
              </a:rPr>
              <a:t>Right align Add certificate button and make green primary to draw attention to it. </a:t>
            </a:r>
          </a:p>
        </p:txBody>
      </p:sp>
      <p:sp>
        <p:nvSpPr>
          <p:cNvPr id="3" name="TextBox 2">
            <a:extLst>
              <a:ext uri="{FF2B5EF4-FFF2-40B4-BE49-F238E27FC236}">
                <a16:creationId xmlns:a16="http://schemas.microsoft.com/office/drawing/2014/main" id="{3F3E837B-3690-9941-A713-2ACB9E30CA15}"/>
              </a:ext>
            </a:extLst>
          </p:cNvPr>
          <p:cNvSpPr txBox="1"/>
          <p:nvPr/>
        </p:nvSpPr>
        <p:spPr>
          <a:xfrm>
            <a:off x="3041584" y="2388730"/>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17729711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58101-E3DC-4E3A-F279-7DA99732A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8EBB7-7480-7DF8-0199-7511ED3A6964}"/>
              </a:ext>
            </a:extLst>
          </p:cNvPr>
          <p:cNvSpPr>
            <a:spLocks noGrp="1"/>
          </p:cNvSpPr>
          <p:nvPr>
            <p:ph type="title"/>
          </p:nvPr>
        </p:nvSpPr>
        <p:spPr/>
        <p:txBody>
          <a:bodyPr/>
          <a:lstStyle/>
          <a:p>
            <a:r>
              <a:rPr lang="en-US" sz="2800" dirty="0"/>
              <a:t>Wireframe Notes – 3.2 – Certificate List (GCC Only)</a:t>
            </a:r>
          </a:p>
        </p:txBody>
      </p:sp>
      <p:sp>
        <p:nvSpPr>
          <p:cNvPr id="3" name="Content Placeholder 2">
            <a:extLst>
              <a:ext uri="{FF2B5EF4-FFF2-40B4-BE49-F238E27FC236}">
                <a16:creationId xmlns:a16="http://schemas.microsoft.com/office/drawing/2014/main" id="{F3FE0DA2-A439-40C8-28CB-A2C43F57C672}"/>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Users.</a:t>
            </a:r>
          </a:p>
          <a:p>
            <a:pPr marR="2000" algn="l" rtl="0">
              <a:buSzPts val="1200"/>
              <a:buFont typeface="Symbol" panose="05050102010706020507" pitchFamily="18" charset="2"/>
              <a:buChar char="·"/>
            </a:pPr>
            <a:r>
              <a:rPr lang="en-US" sz="1400" b="0" i="0" u="none" strike="noStrike" baseline="0" dirty="0">
                <a:solidFill>
                  <a:srgbClr val="606771"/>
                </a:solidFill>
              </a:rPr>
              <a:t>Clicking anywhere on the row of a certificate will take the user to the Certificate List that shows details about the selected Certificate. </a:t>
            </a:r>
          </a:p>
          <a:p>
            <a:pPr marR="2000" algn="l" rtl="0">
              <a:buSzPts val="1200"/>
              <a:buFont typeface="Symbol" panose="05050102010706020507" pitchFamily="18" charset="2"/>
              <a:buChar char="·"/>
            </a:pPr>
            <a:r>
              <a:rPr lang="en-US" sz="1400" b="0" i="0" u="none" strike="noStrike" baseline="0" dirty="0">
                <a:solidFill>
                  <a:srgbClr val="606771"/>
                </a:solidFill>
              </a:rPr>
              <a:t>Ability to Sort on all columns.</a:t>
            </a:r>
          </a:p>
          <a:p>
            <a:pPr marR="2000" algn="l" rtl="0">
              <a:buSzPts val="1200"/>
              <a:buFont typeface="Symbol" panose="05050102010706020507" pitchFamily="18" charset="2"/>
              <a:buChar char="·"/>
            </a:pPr>
            <a:r>
              <a:rPr lang="en-US" sz="1400" b="0" i="0" u="none" strike="noStrike" baseline="0" dirty="0">
                <a:solidFill>
                  <a:srgbClr val="606771"/>
                </a:solidFill>
              </a:rPr>
              <a:t>Ability to Filter by designated Search Categories.</a:t>
            </a:r>
          </a:p>
          <a:p>
            <a:pPr marR="2000" algn="l" rtl="0">
              <a:buSzPts val="1200"/>
              <a:buFont typeface="Symbol" panose="05050102010706020507" pitchFamily="18" charset="2"/>
              <a:buChar char="·"/>
            </a:pPr>
            <a:r>
              <a:rPr lang="en-US" sz="1400" b="0" i="0" u="none" strike="noStrike" baseline="0" dirty="0">
                <a:solidFill>
                  <a:srgbClr val="606771"/>
                </a:solidFill>
              </a:rPr>
              <a:t>Ability to scroll horizontally and vertically to see additional data fields.</a:t>
            </a:r>
          </a:p>
          <a:p>
            <a:pPr marR="2000" algn="l" rtl="0">
              <a:buSzPts val="1200"/>
              <a:buFont typeface="Symbol" panose="05050102010706020507" pitchFamily="18" charset="2"/>
              <a:buChar char="·"/>
            </a:pPr>
            <a:r>
              <a:rPr lang="en-US" sz="1400" b="0" i="0" u="none" strike="noStrike" baseline="0" dirty="0">
                <a:solidFill>
                  <a:srgbClr val="606771"/>
                </a:solidFill>
              </a:rPr>
              <a:t>Ability to multiselect for Certificate Download.</a:t>
            </a:r>
          </a:p>
          <a:p>
            <a:pPr marR="2000" algn="l" rtl="0">
              <a:buSzPts val="1200"/>
              <a:buFont typeface="Symbol" panose="05050102010706020507" pitchFamily="18" charset="2"/>
              <a:buChar char="·"/>
            </a:pPr>
            <a:r>
              <a:rPr lang="en-US" sz="1400" b="0" i="0" u="none" strike="noStrike" baseline="0" dirty="0">
                <a:solidFill>
                  <a:srgbClr val="606771"/>
                </a:solidFill>
              </a:rPr>
              <a:t>Ability to Add a Certificate.</a:t>
            </a:r>
          </a:p>
          <a:p>
            <a:pPr marR="2000">
              <a:buSzPts val="1200"/>
              <a:buFont typeface="Symbol" panose="05050102010706020507" pitchFamily="18" charset="2"/>
              <a:buChar char="·"/>
            </a:pPr>
            <a:r>
              <a:rPr lang="en-US" sz="1400" dirty="0">
                <a:solidFill>
                  <a:srgbClr val="606771"/>
                </a:solidFill>
              </a:rPr>
              <a:t>Ability to Edit/Delete a selected Certificate.</a:t>
            </a:r>
          </a:p>
          <a:p>
            <a:pPr marR="2000">
              <a:buSzPts val="1200"/>
              <a:buFont typeface="Symbol" panose="05050102010706020507" pitchFamily="18" charset="2"/>
              <a:buChar char="·"/>
            </a:pPr>
            <a:r>
              <a:rPr lang="en-US" sz="1400" dirty="0">
                <a:solidFill>
                  <a:srgbClr val="606771"/>
                </a:solidFill>
              </a:rPr>
              <a:t>Note: Edit/Delete will be one at a time, no multiselect.	</a:t>
            </a:r>
          </a:p>
          <a:p>
            <a:pPr marR="2000">
              <a:buSzPts val="1200"/>
              <a:buFont typeface="Symbol" panose="05050102010706020507" pitchFamily="18" charset="2"/>
              <a:buChar char="·"/>
            </a:pPr>
            <a:r>
              <a:rPr lang="en-US" sz="1400" dirty="0">
                <a:solidFill>
                  <a:srgbClr val="606771"/>
                </a:solidFill>
              </a:rPr>
              <a:t>Excel download - based on filters can export full or filtered list</a:t>
            </a:r>
          </a:p>
          <a:p>
            <a:pPr marR="2000">
              <a:buSzPts val="1200"/>
              <a:buFont typeface="Symbol" panose="05050102010706020507" pitchFamily="18" charset="2"/>
              <a:buChar char="·"/>
            </a:pPr>
            <a:r>
              <a:rPr lang="en-US" sz="1400" dirty="0">
                <a:solidFill>
                  <a:srgbClr val="606771"/>
                </a:solidFill>
              </a:rPr>
              <a:t>*Wishlist: The ability to load the table as a user scrolls Lazy loading</a:t>
            </a:r>
            <a:r>
              <a:rPr lang="en-US" sz="1400" b="0" i="0" u="none" strike="noStrike" baseline="0" dirty="0">
                <a:solidFill>
                  <a:schemeClr val="accent6">
                    <a:lumMod val="50000"/>
                  </a:schemeClr>
                </a:solidFill>
              </a:rPr>
              <a:t>, rather than have the page control.</a:t>
            </a:r>
            <a:endParaRPr lang="en-US" sz="1400" dirty="0"/>
          </a:p>
        </p:txBody>
      </p:sp>
      <p:sp>
        <p:nvSpPr>
          <p:cNvPr id="4" name="Date Placeholder 3">
            <a:extLst>
              <a:ext uri="{FF2B5EF4-FFF2-40B4-BE49-F238E27FC236}">
                <a16:creationId xmlns:a16="http://schemas.microsoft.com/office/drawing/2014/main" id="{3FF7F3BE-A179-2FFA-BE4B-B04AA5C50738}"/>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3DE213A3-1BB7-DF2C-8F01-BBB9284835CA}"/>
              </a:ext>
            </a:extLst>
          </p:cNvPr>
          <p:cNvSpPr>
            <a:spLocks noGrp="1"/>
          </p:cNvSpPr>
          <p:nvPr>
            <p:ph type="sldNum" sz="quarter" idx="12"/>
          </p:nvPr>
        </p:nvSpPr>
        <p:spPr/>
        <p:txBody>
          <a:bodyPr/>
          <a:lstStyle/>
          <a:p>
            <a:fld id="{330EA680-D336-4FF7-8B7A-9848BB0A1C32}" type="slidenum">
              <a:rPr lang="en-US" smtClean="0"/>
              <a:t>39</a:t>
            </a:fld>
            <a:endParaRPr lang="en-US"/>
          </a:p>
        </p:txBody>
      </p:sp>
    </p:spTree>
    <p:extLst>
      <p:ext uri="{BB962C8B-B14F-4D97-AF65-F5344CB8AC3E}">
        <p14:creationId xmlns:p14="http://schemas.microsoft.com/office/powerpoint/2010/main" val="2466150600"/>
      </p:ext>
    </p:extLst>
  </p:cSld>
  <p:clrMapOvr>
    <a:masterClrMapping/>
  </p:clrMapOvr>
  <p:extLst>
    <p:ext uri="{6950BFC3-D8DA-4A85-94F7-54DA5524770B}">
      <p188:commentRel xmlns:p188="http://schemas.microsoft.com/office/powerpoint/2018/8/main" r:id="rId3"/>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2DEC-841E-20B6-8EF8-C272ABB91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A217A-45AA-42F4-8BE5-381628965220}"/>
              </a:ext>
            </a:extLst>
          </p:cNvPr>
          <p:cNvSpPr>
            <a:spLocks noGrp="1"/>
          </p:cNvSpPr>
          <p:nvPr>
            <p:ph type="title"/>
          </p:nvPr>
        </p:nvSpPr>
        <p:spPr>
          <a:xfrm>
            <a:off x="598503" y="193906"/>
            <a:ext cx="5432287" cy="487131"/>
          </a:xfrm>
        </p:spPr>
        <p:txBody>
          <a:bodyPr>
            <a:normAutofit fontScale="90000"/>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CA5D3090-F943-346A-21B4-89B20188450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3331A31D-F114-E9DA-69CE-246338307C1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40</a:t>
            </a:fld>
            <a:endParaRPr lang="en-US"/>
          </a:p>
        </p:txBody>
      </p:sp>
      <p:sp>
        <p:nvSpPr>
          <p:cNvPr id="12" name="TextBox 11">
            <a:extLst>
              <a:ext uri="{FF2B5EF4-FFF2-40B4-BE49-F238E27FC236}">
                <a16:creationId xmlns:a16="http://schemas.microsoft.com/office/drawing/2014/main" id="{6697992D-96DA-23CF-2C9E-36112BC8A72A}"/>
              </a:ext>
            </a:extLst>
          </p:cNvPr>
          <p:cNvSpPr txBox="1"/>
          <p:nvPr/>
        </p:nvSpPr>
        <p:spPr>
          <a:xfrm>
            <a:off x="780451" y="1110075"/>
            <a:ext cx="5068389" cy="4185761"/>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Notes:</a:t>
            </a:r>
          </a:p>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 </a:t>
            </a:r>
            <a:r>
              <a:rPr lang="en-US" sz="1400" b="1" dirty="0">
                <a:highlight>
                  <a:srgbClr val="FFFF00"/>
                </a:highlight>
                <a:latin typeface="Century Gothic" panose="020B0502020202020204" pitchFamily="34" charset="0"/>
              </a:rPr>
              <a:t>(As discussed prior, unless manually entered, you need instructional copy on the page for this like current </a:t>
            </a:r>
            <a:r>
              <a:rPr lang="en-US" sz="1400" b="1" dirty="0" err="1">
                <a:highlight>
                  <a:srgbClr val="FFFF00"/>
                </a:highlight>
                <a:latin typeface="Century Gothic" panose="020B0502020202020204" pitchFamily="34" charset="0"/>
              </a:rPr>
              <a:t>db</a:t>
            </a:r>
            <a:r>
              <a:rPr lang="en-US" sz="1400" b="1" dirty="0">
                <a:highlight>
                  <a:srgbClr val="FFFF00"/>
                </a:highlight>
                <a:latin typeface="Century Gothic" panose="020B0502020202020204" pitchFamily="34" charset="0"/>
              </a:rPr>
              <a:t>)</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 </a:t>
            </a:r>
            <a:r>
              <a:rPr lang="en-US" sz="1400" b="1" dirty="0">
                <a:solidFill>
                  <a:srgbClr val="FF0000"/>
                </a:solidFill>
                <a:latin typeface="Century Gothic" panose="020B0502020202020204" pitchFamily="34" charset="0"/>
              </a:rPr>
              <a:t>(Need to add option of none and multiselect)</a:t>
            </a:r>
          </a:p>
          <a:p>
            <a:pPr marL="285750" marR="2000" indent="-285750">
              <a:buSzPts val="1200"/>
              <a:buFont typeface="Arial" panose="020B0604020202020204" pitchFamily="34" charset="0"/>
              <a:buChar char="•"/>
            </a:pPr>
            <a:r>
              <a:rPr lang="en-US" sz="1400" b="1" strike="sngStrike" dirty="0">
                <a:solidFill>
                  <a:srgbClr val="002060"/>
                </a:solidFill>
                <a:latin typeface="Century Gothic" panose="020B0502020202020204" pitchFamily="34" charset="0"/>
              </a:rPr>
              <a:t>New Field: </a:t>
            </a:r>
            <a:r>
              <a:rPr lang="en-US" sz="1400" strike="sngStrike" dirty="0">
                <a:solidFill>
                  <a:srgbClr val="002060"/>
                </a:solidFill>
                <a:latin typeface="Century Gothic" panose="020B0502020202020204" pitchFamily="34" charset="0"/>
              </a:rPr>
              <a:t>Status Type: to signify if a client doesn’t want to move forward.  (</a:t>
            </a:r>
            <a:r>
              <a:rPr lang="en-US" sz="1400" strike="sngStrike" dirty="0">
                <a:solidFill>
                  <a:srgbClr val="FF0000"/>
                </a:solidFill>
                <a:latin typeface="Century Gothic" panose="020B0502020202020204" pitchFamily="34" charset="0"/>
              </a:rPr>
              <a:t>This was added based on meeting)</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Products will only show if they are associated with the certificate that is being displayed. </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Users can select from dropdown existing Products or add a new. Product Category, Type, and Subcategory are not editable on this page and are assigned when adding a new product. </a:t>
            </a: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6" name="Picture 5">
            <a:extLst>
              <a:ext uri="{FF2B5EF4-FFF2-40B4-BE49-F238E27FC236}">
                <a16:creationId xmlns:a16="http://schemas.microsoft.com/office/drawing/2014/main" id="{3125C919-DA38-25DB-1428-9DBD4DD42BA9}"/>
              </a:ext>
            </a:extLst>
          </p:cNvPr>
          <p:cNvPicPr>
            <a:picLocks noChangeAspect="1"/>
          </p:cNvPicPr>
          <p:nvPr/>
        </p:nvPicPr>
        <p:blipFill>
          <a:blip r:embed="rId3"/>
          <a:stretch>
            <a:fillRect/>
          </a:stretch>
        </p:blipFill>
        <p:spPr>
          <a:xfrm>
            <a:off x="6499917" y="94901"/>
            <a:ext cx="5500495" cy="6668198"/>
          </a:xfrm>
          <a:prstGeom prst="rect">
            <a:avLst/>
          </a:prstGeom>
        </p:spPr>
      </p:pic>
      <p:sp>
        <p:nvSpPr>
          <p:cNvPr id="7" name="TextBox 6">
            <a:extLst>
              <a:ext uri="{FF2B5EF4-FFF2-40B4-BE49-F238E27FC236}">
                <a16:creationId xmlns:a16="http://schemas.microsoft.com/office/drawing/2014/main" id="{E0220A14-1FD9-45E1-73E3-6C1E492A0A21}"/>
              </a:ext>
            </a:extLst>
          </p:cNvPr>
          <p:cNvSpPr txBox="1"/>
          <p:nvPr/>
        </p:nvSpPr>
        <p:spPr>
          <a:xfrm>
            <a:off x="265759" y="4947217"/>
            <a:ext cx="6097772" cy="1815882"/>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Update Screenshot, add record information.  </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Remove image section</a:t>
            </a:r>
          </a:p>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Change Product ID Manager to Products</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Company Contact should be two different fields. URL and Email (Phone?)</a:t>
            </a:r>
          </a:p>
          <a:p>
            <a:pPr marL="1200150" marR="2000" lvl="2"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Info should carry over from the Companies page fields, so it should not be open to edit here. When selecting company it would </a:t>
            </a:r>
            <a:r>
              <a:rPr lang="en-US" sz="1400" dirty="0" err="1">
                <a:solidFill>
                  <a:srgbClr val="FF0000"/>
                </a:solidFill>
                <a:latin typeface="Century Gothic" panose="020B0502020202020204" pitchFamily="34" charset="0"/>
              </a:rPr>
              <a:t>autopopulate</a:t>
            </a:r>
            <a:r>
              <a:rPr lang="en-US" sz="1400" dirty="0">
                <a:solidFill>
                  <a:srgbClr val="FF0000"/>
                </a:solidFill>
                <a:latin typeface="Century Gothic" panose="020B0502020202020204" pitchFamily="34" charset="0"/>
              </a:rPr>
              <a:t>. </a:t>
            </a:r>
            <a:endParaRPr lang="en-US" sz="1400" i="0" u="none" strike="noStrike" baseline="0" dirty="0">
              <a:solidFill>
                <a:srgbClr val="FF0000"/>
              </a:solidFill>
              <a:latin typeface="Century Gothic" panose="020B0502020202020204" pitchFamily="34" charset="0"/>
            </a:endParaRPr>
          </a:p>
        </p:txBody>
      </p:sp>
      <p:sp>
        <p:nvSpPr>
          <p:cNvPr id="3" name="TextBox 2">
            <a:extLst>
              <a:ext uri="{FF2B5EF4-FFF2-40B4-BE49-F238E27FC236}">
                <a16:creationId xmlns:a16="http://schemas.microsoft.com/office/drawing/2014/main" id="{69BD81F1-E161-A73E-8997-FD24DE233221}"/>
              </a:ext>
            </a:extLst>
          </p:cNvPr>
          <p:cNvSpPr txBox="1"/>
          <p:nvPr/>
        </p:nvSpPr>
        <p:spPr>
          <a:xfrm>
            <a:off x="6317967" y="1997839"/>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2645253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BE1DA-3939-F852-8D07-BB6984C42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4CFFD-1203-4EA4-E69C-74E500406D1A}"/>
              </a:ext>
            </a:extLst>
          </p:cNvPr>
          <p:cNvSpPr>
            <a:spLocks noGrp="1"/>
          </p:cNvSpPr>
          <p:nvPr>
            <p:ph type="title"/>
          </p:nvPr>
        </p:nvSpPr>
        <p:spPr>
          <a:xfrm>
            <a:off x="598503" y="193906"/>
            <a:ext cx="10515600" cy="487131"/>
          </a:xfrm>
        </p:spPr>
        <p:txBody>
          <a:bodyPr>
            <a:normAutofit/>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029DF9C5-3C94-764A-7AA9-9C4793CB307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24749CDA-B383-8988-844D-7521C0812A6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41</a:t>
            </a:fld>
            <a:endParaRPr lang="en-US"/>
          </a:p>
        </p:txBody>
      </p:sp>
      <p:sp>
        <p:nvSpPr>
          <p:cNvPr id="12" name="TextBox 11">
            <a:extLst>
              <a:ext uri="{FF2B5EF4-FFF2-40B4-BE49-F238E27FC236}">
                <a16:creationId xmlns:a16="http://schemas.microsoft.com/office/drawing/2014/main" id="{9A808762-98CE-F678-40FF-A69D972F3AAC}"/>
              </a:ext>
            </a:extLst>
          </p:cNvPr>
          <p:cNvSpPr txBox="1"/>
          <p:nvPr/>
        </p:nvSpPr>
        <p:spPr>
          <a:xfrm>
            <a:off x="901449" y="4664293"/>
            <a:ext cx="10847527" cy="1815882"/>
          </a:xfrm>
          <a:prstGeom prst="rect">
            <a:avLst/>
          </a:prstGeom>
          <a:noFill/>
        </p:spPr>
        <p:txBody>
          <a:bodyPr wrap="square">
            <a:spAutoFit/>
          </a:bodyPr>
          <a:lstStyle/>
          <a:p>
            <a:pPr marR="2000">
              <a:buSzPts val="1200"/>
            </a:pPr>
            <a:r>
              <a:rPr lang="en-US" sz="1400" b="1" dirty="0">
                <a:solidFill>
                  <a:srgbClr val="FF0000"/>
                </a:solidFill>
                <a:latin typeface="Century Gothic" panose="020B0502020202020204" pitchFamily="34" charset="0"/>
              </a:rPr>
              <a:t>Notes</a:t>
            </a:r>
            <a:r>
              <a:rPr lang="en-US" sz="1400" dirty="0">
                <a:solidFill>
                  <a:srgbClr val="FF0000"/>
                </a:solidFill>
                <a:latin typeface="Century Gothic" panose="020B0502020202020204" pitchFamily="34" charset="0"/>
              </a:rPr>
              <a:t>: </a:t>
            </a:r>
          </a:p>
          <a:p>
            <a:pPr marL="285750" marR="2000"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Both Company and Products will be managed on separate Admin pages. </a:t>
            </a:r>
            <a:br>
              <a:rPr lang="en-US" sz="1400" dirty="0">
                <a:solidFill>
                  <a:srgbClr val="FF0000"/>
                </a:solidFill>
                <a:latin typeface="Century Gothic" panose="020B0502020202020204" pitchFamily="34" charset="0"/>
              </a:rPr>
            </a:br>
            <a:r>
              <a:rPr lang="en-US" sz="1400" dirty="0">
                <a:solidFill>
                  <a:srgbClr val="FF0000"/>
                </a:solidFill>
                <a:latin typeface="Century Gothic" panose="020B0502020202020204" pitchFamily="34" charset="0"/>
              </a:rPr>
              <a:t>* Analyst may or not have access to these pages. The design of the system will enable this capability in the future.</a:t>
            </a:r>
          </a:p>
          <a:p>
            <a:pPr marL="285750" marR="2000"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Company</a:t>
            </a:r>
          </a:p>
          <a:p>
            <a:pPr marL="742950" marR="2000" lvl="1" indent="-285750">
              <a:buSzPts val="1200"/>
              <a:buFont typeface="Arial" panose="020B0604020202020204" pitchFamily="34" charset="0"/>
              <a:buChar char="•"/>
            </a:pPr>
            <a:r>
              <a:rPr lang="en-US" sz="1400" b="1" dirty="0">
                <a:solidFill>
                  <a:srgbClr val="FF0000"/>
                </a:solidFill>
                <a:latin typeface="Century Gothic" panose="020B0502020202020204" pitchFamily="34" charset="0"/>
              </a:rPr>
              <a:t>Company Name and …???</a:t>
            </a:r>
          </a:p>
          <a:p>
            <a:pPr marL="285750" marR="2000" indent="-285750">
              <a:buSzPts val="1200"/>
              <a:buFont typeface="Arial" panose="020B0604020202020204" pitchFamily="34" charset="0"/>
              <a:buChar char="•"/>
            </a:pPr>
            <a:r>
              <a:rPr lang="en-US" sz="1400" b="1" dirty="0">
                <a:solidFill>
                  <a:srgbClr val="FF0000"/>
                </a:solidFill>
                <a:latin typeface="Century Gothic" panose="020B0502020202020204" pitchFamily="34" charset="0"/>
              </a:rPr>
              <a:t>These are the Company DD on the Certificate page. Multi-select?</a:t>
            </a:r>
            <a:endParaRPr lang="en-US" sz="1400" b="1" dirty="0">
              <a:solidFill>
                <a:srgbClr val="606771"/>
              </a:solidFill>
              <a:latin typeface="Century Gothic" panose="020B0502020202020204" pitchFamily="34" charset="0"/>
            </a:endParaRPr>
          </a:p>
          <a:p>
            <a:pPr marL="742950" marR="2000" lvl="1" indent="-285750">
              <a:buSzPts val="1200"/>
              <a:buFont typeface="Arial" panose="020B0604020202020204" pitchFamily="34" charset="0"/>
              <a:buChar char="•"/>
            </a:pPr>
            <a:endParaRPr lang="en-US" sz="1400" dirty="0">
              <a:solidFill>
                <a:srgbClr val="606771"/>
              </a:solidFill>
              <a:latin typeface="Century Gothic" panose="020B0502020202020204" pitchFamily="34" charset="0"/>
            </a:endParaRP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18" name="Picture 17">
            <a:extLst>
              <a:ext uri="{FF2B5EF4-FFF2-40B4-BE49-F238E27FC236}">
                <a16:creationId xmlns:a16="http://schemas.microsoft.com/office/drawing/2014/main" id="{CDD4A23A-075D-8CF6-436C-2F7F0D8CCD45}"/>
              </a:ext>
            </a:extLst>
          </p:cNvPr>
          <p:cNvPicPr>
            <a:picLocks noChangeAspect="1"/>
          </p:cNvPicPr>
          <p:nvPr/>
        </p:nvPicPr>
        <p:blipFill>
          <a:blip r:embed="rId4"/>
          <a:stretch>
            <a:fillRect/>
          </a:stretch>
        </p:blipFill>
        <p:spPr>
          <a:xfrm>
            <a:off x="838200" y="808712"/>
            <a:ext cx="3953427" cy="3324689"/>
          </a:xfrm>
          <a:prstGeom prst="rect">
            <a:avLst/>
          </a:prstGeom>
        </p:spPr>
      </p:pic>
      <p:pic>
        <p:nvPicPr>
          <p:cNvPr id="20" name="Picture 19">
            <a:extLst>
              <a:ext uri="{FF2B5EF4-FFF2-40B4-BE49-F238E27FC236}">
                <a16:creationId xmlns:a16="http://schemas.microsoft.com/office/drawing/2014/main" id="{2C7D2526-9F3E-6809-7BC2-F69CEE4FEA02}"/>
              </a:ext>
            </a:extLst>
          </p:cNvPr>
          <p:cNvPicPr>
            <a:picLocks noChangeAspect="1"/>
          </p:cNvPicPr>
          <p:nvPr/>
        </p:nvPicPr>
        <p:blipFill>
          <a:blip r:embed="rId5"/>
          <a:stretch>
            <a:fillRect/>
          </a:stretch>
        </p:blipFill>
        <p:spPr>
          <a:xfrm>
            <a:off x="5314232" y="879635"/>
            <a:ext cx="4115374" cy="3334215"/>
          </a:xfrm>
          <a:prstGeom prst="rect">
            <a:avLst/>
          </a:prstGeom>
        </p:spPr>
      </p:pic>
      <p:sp>
        <p:nvSpPr>
          <p:cNvPr id="3" name="TextBox 2">
            <a:extLst>
              <a:ext uri="{FF2B5EF4-FFF2-40B4-BE49-F238E27FC236}">
                <a16:creationId xmlns:a16="http://schemas.microsoft.com/office/drawing/2014/main" id="{E08E2CF7-7005-A89E-1575-1781B7AC10DD}"/>
              </a:ext>
            </a:extLst>
          </p:cNvPr>
          <p:cNvSpPr txBox="1"/>
          <p:nvPr/>
        </p:nvSpPr>
        <p:spPr>
          <a:xfrm>
            <a:off x="1414915" y="1115581"/>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2962170263"/>
      </p:ext>
    </p:extLst>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40C1-D583-F70E-468B-C4E4C694D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82D6D-C1E0-1993-D36A-9014E6A24E84}"/>
              </a:ext>
            </a:extLst>
          </p:cNvPr>
          <p:cNvSpPr>
            <a:spLocks noGrp="1"/>
          </p:cNvSpPr>
          <p:nvPr>
            <p:ph type="title"/>
          </p:nvPr>
        </p:nvSpPr>
        <p:spPr>
          <a:xfrm>
            <a:off x="598503" y="193906"/>
            <a:ext cx="10515600" cy="487131"/>
          </a:xfrm>
        </p:spPr>
        <p:txBody>
          <a:bodyPr>
            <a:normAutofit/>
          </a:bodyPr>
          <a:lstStyle/>
          <a:p>
            <a:r>
              <a:rPr lang="en-US" sz="2800" dirty="0"/>
              <a:t>Wireframe Notes – 3.3 – Products </a:t>
            </a:r>
          </a:p>
        </p:txBody>
      </p:sp>
      <p:sp>
        <p:nvSpPr>
          <p:cNvPr id="4" name="Date Placeholder 3">
            <a:extLst>
              <a:ext uri="{FF2B5EF4-FFF2-40B4-BE49-F238E27FC236}">
                <a16:creationId xmlns:a16="http://schemas.microsoft.com/office/drawing/2014/main" id="{0C4B17E8-8BD1-2564-A30E-57418FC37B3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036F19B2-1DE7-8786-0D5A-52E7DD398F9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42</a:t>
            </a:fld>
            <a:endParaRPr lang="en-US"/>
          </a:p>
        </p:txBody>
      </p:sp>
      <p:sp>
        <p:nvSpPr>
          <p:cNvPr id="12" name="TextBox 11">
            <a:extLst>
              <a:ext uri="{FF2B5EF4-FFF2-40B4-BE49-F238E27FC236}">
                <a16:creationId xmlns:a16="http://schemas.microsoft.com/office/drawing/2014/main" id="{65CF7445-E5B4-6AE4-188B-DF9457D094D9}"/>
              </a:ext>
            </a:extLst>
          </p:cNvPr>
          <p:cNvSpPr txBox="1"/>
          <p:nvPr/>
        </p:nvSpPr>
        <p:spPr>
          <a:xfrm>
            <a:off x="617532" y="4313084"/>
            <a:ext cx="5238771" cy="2492990"/>
          </a:xfrm>
          <a:prstGeom prst="rect">
            <a:avLst/>
          </a:prstGeom>
          <a:solidFill>
            <a:schemeClr val="bg1"/>
          </a:solid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Product identifier management for multiple types: ASIN, UPC, GTIN, and EAN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Search functionality to quickly find products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Filtering options by type, status, and partners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Status tracking (Active/Inactive) for each product ID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Partner association (currently showing Amazon)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Creation date and creator tracking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Import and export capabilities for bulk management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Adding new identifiers with dedicated buttons for each type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Linking multiple identifier types to the same product ID (as shown with PROD-1001 and PROD-1002)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Table view with deletion options (x button) for each entry</a:t>
            </a:r>
            <a:endParaRPr lang="en-US" sz="1200" dirty="0">
              <a:latin typeface="Century Gothic" panose="020B0502020202020204" pitchFamily="34" charset="0"/>
            </a:endParaRPr>
          </a:p>
        </p:txBody>
      </p:sp>
      <p:pic>
        <p:nvPicPr>
          <p:cNvPr id="14" name="Picture 13">
            <a:extLst>
              <a:ext uri="{FF2B5EF4-FFF2-40B4-BE49-F238E27FC236}">
                <a16:creationId xmlns:a16="http://schemas.microsoft.com/office/drawing/2014/main" id="{9FCEA128-228E-4F0E-3846-417642C63A71}"/>
              </a:ext>
            </a:extLst>
          </p:cNvPr>
          <p:cNvPicPr>
            <a:picLocks noChangeAspect="1"/>
          </p:cNvPicPr>
          <p:nvPr/>
        </p:nvPicPr>
        <p:blipFill>
          <a:blip r:embed="rId3"/>
          <a:stretch>
            <a:fillRect/>
          </a:stretch>
        </p:blipFill>
        <p:spPr>
          <a:xfrm>
            <a:off x="711370" y="681038"/>
            <a:ext cx="9347030" cy="3307296"/>
          </a:xfrm>
          <a:prstGeom prst="rect">
            <a:avLst/>
          </a:prstGeom>
        </p:spPr>
      </p:pic>
      <p:sp>
        <p:nvSpPr>
          <p:cNvPr id="6" name="TextBox 5">
            <a:extLst>
              <a:ext uri="{FF2B5EF4-FFF2-40B4-BE49-F238E27FC236}">
                <a16:creationId xmlns:a16="http://schemas.microsoft.com/office/drawing/2014/main" id="{ECBB19BE-020D-1FD2-9756-41EA07BFD84C}"/>
              </a:ext>
            </a:extLst>
          </p:cNvPr>
          <p:cNvSpPr txBox="1"/>
          <p:nvPr/>
        </p:nvSpPr>
        <p:spPr>
          <a:xfrm>
            <a:off x="5561714" y="4107477"/>
            <a:ext cx="6097772" cy="3170099"/>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p:txBody>
      </p:sp>
      <p:sp>
        <p:nvSpPr>
          <p:cNvPr id="3" name="TextBox 2">
            <a:extLst>
              <a:ext uri="{FF2B5EF4-FFF2-40B4-BE49-F238E27FC236}">
                <a16:creationId xmlns:a16="http://schemas.microsoft.com/office/drawing/2014/main" id="{406DC716-D18C-93BA-294E-0EE5D37B31A2}"/>
              </a:ext>
            </a:extLst>
          </p:cNvPr>
          <p:cNvSpPr txBox="1"/>
          <p:nvPr/>
        </p:nvSpPr>
        <p:spPr>
          <a:xfrm>
            <a:off x="2810577" y="561895"/>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1361392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B114-369A-BDF9-AF39-177C30A25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AB16C-0A10-F71A-BF39-B7F3B3B9FF96}"/>
              </a:ext>
            </a:extLst>
          </p:cNvPr>
          <p:cNvSpPr>
            <a:spLocks noGrp="1"/>
          </p:cNvSpPr>
          <p:nvPr>
            <p:ph type="title"/>
          </p:nvPr>
        </p:nvSpPr>
        <p:spPr/>
        <p:txBody>
          <a:bodyPr/>
          <a:lstStyle/>
          <a:p>
            <a:r>
              <a:rPr lang="en-US" sz="2800" dirty="0"/>
              <a:t>Wireframe Notes – 3.3 – Add Certificate (GCC Only)</a:t>
            </a:r>
          </a:p>
        </p:txBody>
      </p:sp>
      <p:sp>
        <p:nvSpPr>
          <p:cNvPr id="3" name="Content Placeholder 2">
            <a:extLst>
              <a:ext uri="{FF2B5EF4-FFF2-40B4-BE49-F238E27FC236}">
                <a16:creationId xmlns:a16="http://schemas.microsoft.com/office/drawing/2014/main" id="{EB5E93FB-5332-ECA6-9089-AFF532D27CD9}"/>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Add Certificate View.</a:t>
            </a:r>
          </a:p>
          <a:p>
            <a:pPr marR="2000" algn="l" rtl="0">
              <a:buSzPts val="1200"/>
              <a:buFont typeface="Symbol" panose="05050102010706020507" pitchFamily="18" charset="2"/>
              <a:buChar char="·"/>
            </a:pPr>
            <a:r>
              <a:rPr lang="en-US" sz="1400" b="0" i="0" u="none" strike="noStrike" baseline="0" dirty="0">
                <a:solidFill>
                  <a:srgbClr val="606771"/>
                </a:solidFill>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a:t>
            </a:r>
            <a:r>
              <a:rPr lang="en-US" sz="1400" b="1" i="0" u="none" strike="noStrike" baseline="0" dirty="0">
                <a:solidFill>
                  <a:srgbClr val="606771"/>
                </a:solidFill>
              </a:rPr>
              <a:t>Last Edited By, </a:t>
            </a:r>
            <a:r>
              <a:rPr lang="en-US" sz="1400" i="0" u="none" strike="noStrike" baseline="0" dirty="0">
                <a:solidFill>
                  <a:srgbClr val="606771"/>
                </a:solidFill>
              </a:rPr>
              <a:t>Record</a:t>
            </a:r>
            <a:r>
              <a:rPr lang="en-US" sz="1400" b="0" i="0" u="none" strike="noStrike" baseline="0" dirty="0">
                <a:solidFill>
                  <a:srgbClr val="606771"/>
                </a:solidFill>
              </a:rPr>
              <a:t> Last Updated Date, Preview</a:t>
            </a:r>
          </a:p>
          <a:p>
            <a:pPr marR="2000" algn="l" rtl="0">
              <a:buSzPts val="1200"/>
              <a:buFont typeface="Symbol" panose="05050102010706020507" pitchFamily="18" charset="2"/>
              <a:buChar char="·"/>
            </a:pPr>
            <a:endParaRPr lang="en-US" sz="1400" b="0" i="0" u="none" strike="noStrike" baseline="0" dirty="0">
              <a:solidFill>
                <a:srgbClr val="606771"/>
              </a:solidFill>
            </a:endParaRPr>
          </a:p>
          <a:p>
            <a:pPr marR="2000" algn="l" rtl="0"/>
            <a:r>
              <a:rPr lang="en-US" sz="1400" b="0" i="0" u="none" strike="noStrike" baseline="0" dirty="0">
                <a:solidFill>
                  <a:srgbClr val="606771"/>
                </a:solidFill>
              </a:rPr>
              <a:t>Ability to Add a Certificate with all Required Data Fields.</a:t>
            </a:r>
          </a:p>
          <a:p>
            <a:pPr marR="2000" algn="l" rtl="0"/>
            <a:r>
              <a:rPr lang="en-US" sz="1400" b="0" i="0" u="none" strike="noStrike" baseline="0" dirty="0">
                <a:solidFill>
                  <a:srgbClr val="606771"/>
                </a:solidFill>
              </a:rPr>
              <a:t>**Which data fields are required to Add a Cert? </a:t>
            </a:r>
          </a:p>
          <a:p>
            <a:pPr marR="2000" lvl="1"/>
            <a:r>
              <a:rPr lang="en-US" sz="1000" b="0" i="0" u="none" strike="noStrike" baseline="0" dirty="0">
                <a:solidFill>
                  <a:srgbClr val="606771"/>
                </a:solidFill>
              </a:rPr>
              <a:t>Cert Type, Status, Effective Date, Expiration Date, Company, Product Category (required when you have product name), Product Type (required when you hav</a:t>
            </a:r>
            <a:r>
              <a:rPr lang="en-US" sz="1000" dirty="0">
                <a:solidFill>
                  <a:srgbClr val="606771"/>
                </a:solidFill>
              </a:rPr>
              <a:t>e product name), Location, Country, Partner. </a:t>
            </a:r>
          </a:p>
          <a:p>
            <a:pPr marR="2000" lvl="1"/>
            <a:r>
              <a:rPr lang="en-US" sz="1000" b="0" i="0" u="none" strike="noStrike" baseline="0" dirty="0">
                <a:solidFill>
                  <a:srgbClr val="606771"/>
                </a:solidFill>
              </a:rPr>
              <a:t>Need to make sure we have N/A option for Product Category, Product Type, Subcategory, Partner. </a:t>
            </a:r>
          </a:p>
          <a:p>
            <a:pPr marR="2000" lvl="1"/>
            <a:r>
              <a:rPr lang="en-US" sz="1000" dirty="0">
                <a:solidFill>
                  <a:srgbClr val="606771"/>
                </a:solidFill>
              </a:rPr>
              <a:t>Cer # is required – but auto generated by DB if not manually entered. </a:t>
            </a:r>
            <a:endParaRPr lang="en-US" sz="1000" b="0" i="0" u="none" strike="noStrike" baseline="0" dirty="0">
              <a:solidFill>
                <a:srgbClr val="606771"/>
              </a:solidFill>
            </a:endParaRPr>
          </a:p>
          <a:p>
            <a:pPr marR="2000" algn="l" rtl="0"/>
            <a:r>
              <a:rPr lang="en-US" sz="1400" b="0" i="0" u="none" strike="noStrike" baseline="0" dirty="0">
                <a:solidFill>
                  <a:srgbClr val="606771"/>
                </a:solidFill>
              </a:rPr>
              <a:t>Which data fields will be generated by the system after adding?</a:t>
            </a:r>
          </a:p>
          <a:p>
            <a:pPr marR="2000" lvl="1"/>
            <a:r>
              <a:rPr lang="en-US" sz="1000" dirty="0">
                <a:solidFill>
                  <a:srgbClr val="606771"/>
                </a:solidFill>
              </a:rPr>
              <a:t>Just Cert number.  It would pull in company contact fields from companies page.  System also needs to automatically remove expired and inactive certs from public view. </a:t>
            </a:r>
            <a:endParaRPr lang="en-US" sz="1000" b="0" i="0" u="none" strike="noStrike" baseline="0" dirty="0">
              <a:solidFill>
                <a:srgbClr val="606771"/>
              </a:solidFill>
            </a:endParaRPr>
          </a:p>
          <a:p>
            <a:pPr marR="2000" algn="l" rtl="0"/>
            <a:r>
              <a:rPr lang="en-US" sz="1400" b="0" i="0" u="none" strike="noStrike" baseline="0" dirty="0">
                <a:solidFill>
                  <a:srgbClr val="606771"/>
                </a:solidFill>
              </a:rPr>
              <a:t>Ability to upload an image to use for the Product. 	</a:t>
            </a:r>
          </a:p>
          <a:p>
            <a:pPr marR="2000" algn="l" rtl="0"/>
            <a:r>
              <a:rPr lang="en-US" sz="1400" b="0" i="0" u="none" strike="noStrike" baseline="0" dirty="0">
                <a:solidFill>
                  <a:srgbClr val="606771"/>
                </a:solidFill>
              </a:rPr>
              <a:t>**Should we incorporate Product Image?</a:t>
            </a:r>
            <a:endParaRPr lang="en-US" sz="1400" dirty="0"/>
          </a:p>
        </p:txBody>
      </p:sp>
      <p:sp>
        <p:nvSpPr>
          <p:cNvPr id="4" name="Date Placeholder 3">
            <a:extLst>
              <a:ext uri="{FF2B5EF4-FFF2-40B4-BE49-F238E27FC236}">
                <a16:creationId xmlns:a16="http://schemas.microsoft.com/office/drawing/2014/main" id="{927F3BFF-53BE-F52C-BF68-9A004444DA6C}"/>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94660574-C57F-36C7-912E-271AF1FC2175}"/>
              </a:ext>
            </a:extLst>
          </p:cNvPr>
          <p:cNvSpPr>
            <a:spLocks noGrp="1"/>
          </p:cNvSpPr>
          <p:nvPr>
            <p:ph type="sldNum" sz="quarter" idx="12"/>
          </p:nvPr>
        </p:nvSpPr>
        <p:spPr/>
        <p:txBody>
          <a:bodyPr/>
          <a:lstStyle/>
          <a:p>
            <a:fld id="{330EA680-D336-4FF7-8B7A-9848BB0A1C32}" type="slidenum">
              <a:rPr lang="en-US" smtClean="0"/>
              <a:t>43</a:t>
            </a:fld>
            <a:endParaRPr lang="en-US" dirty="0"/>
          </a:p>
        </p:txBody>
      </p:sp>
    </p:spTree>
    <p:extLst>
      <p:ext uri="{BB962C8B-B14F-4D97-AF65-F5344CB8AC3E}">
        <p14:creationId xmlns:p14="http://schemas.microsoft.com/office/powerpoint/2010/main" val="4226111771"/>
      </p:ext>
    </p:extLst>
  </p:cSld>
  <p:clrMapOvr>
    <a:masterClrMapping/>
  </p:clrMapOvr>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18DF6-1D90-C39E-2D36-49627515D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E59C9-0367-9241-BE81-8D150A9F70A7}"/>
              </a:ext>
            </a:extLst>
          </p:cNvPr>
          <p:cNvSpPr>
            <a:spLocks noGrp="1"/>
          </p:cNvSpPr>
          <p:nvPr>
            <p:ph type="title"/>
          </p:nvPr>
        </p:nvSpPr>
        <p:spPr>
          <a:xfrm>
            <a:off x="598503" y="193906"/>
            <a:ext cx="5793588" cy="487131"/>
          </a:xfrm>
        </p:spPr>
        <p:txBody>
          <a:bodyPr>
            <a:normAutofit fontScale="90000"/>
          </a:bodyPr>
          <a:lstStyle/>
          <a:p>
            <a:r>
              <a:rPr lang="en-US" sz="2800" dirty="0"/>
              <a:t>Wireframe Notes – 3.4 – Edit/Delete Certificate (GCC Only)</a:t>
            </a:r>
          </a:p>
        </p:txBody>
      </p:sp>
      <p:sp>
        <p:nvSpPr>
          <p:cNvPr id="4" name="Date Placeholder 3">
            <a:extLst>
              <a:ext uri="{FF2B5EF4-FFF2-40B4-BE49-F238E27FC236}">
                <a16:creationId xmlns:a16="http://schemas.microsoft.com/office/drawing/2014/main" id="{A25EAAE2-7CD7-05A1-490A-7746A6C1200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62196200-AB1D-EAC6-2993-F7095C7299E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44</a:t>
            </a:fld>
            <a:endParaRPr lang="en-US"/>
          </a:p>
        </p:txBody>
      </p:sp>
      <p:sp>
        <p:nvSpPr>
          <p:cNvPr id="17" name="TextBox 16">
            <a:extLst>
              <a:ext uri="{FF2B5EF4-FFF2-40B4-BE49-F238E27FC236}">
                <a16:creationId xmlns:a16="http://schemas.microsoft.com/office/drawing/2014/main" id="{28FDF536-DC4D-432D-C5EC-2B4075F8CAFF}"/>
              </a:ext>
            </a:extLst>
          </p:cNvPr>
          <p:cNvSpPr txBox="1"/>
          <p:nvPr/>
        </p:nvSpPr>
        <p:spPr>
          <a:xfrm>
            <a:off x="533400" y="952474"/>
            <a:ext cx="6096000" cy="4924425"/>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 </a:t>
            </a:r>
            <a:r>
              <a:rPr lang="en-US" sz="1400" dirty="0">
                <a:solidFill>
                  <a:srgbClr val="002060"/>
                </a:solidFill>
                <a:latin typeface="Century Gothic" panose="020B0502020202020204" pitchFamily="34" charset="0"/>
              </a:rPr>
              <a:t>Status Type: to signify if a client doesn’t want to move forward.  </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Edit/Delete Certificate View.</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Last Edited By, Record Last Updated Date, Preview</a:t>
            </a: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Company Contact: separate into two </a:t>
            </a:r>
            <a:r>
              <a:rPr lang="en-US" sz="1400" dirty="0">
                <a:solidFill>
                  <a:srgbClr val="FF0000"/>
                </a:solidFill>
                <a:latin typeface="Segoe UI" panose="020B0502040204020203" pitchFamily="34" charset="0"/>
              </a:rPr>
              <a:t>URL/Email (phone?)</a:t>
            </a:r>
            <a:endParaRPr lang="en-US" sz="1400" b="0" i="0" u="none" strike="noStrike" baseline="0" dirty="0">
              <a:solidFill>
                <a:srgbClr val="FF0000"/>
              </a:solidFill>
              <a:latin typeface="Segoe UI" panose="020B0502040204020203" pitchFamily="34" charset="0"/>
            </a:endParaRP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Ability to Edit/Delete the selected Certificate information and file.</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The Products section should only show products under the Cert# being viewed. </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Users can select from dropdown existing Products or add a new. Product Category, Type, and Subcategory are not editable on this page and are assigned when adding a new Product. (see current DB?)</a:t>
            </a:r>
          </a:p>
          <a:p>
            <a:pPr marL="285750" marR="2000" indent="-285750" algn="l" rtl="0">
              <a:buFont typeface="Arial" panose="020B0604020202020204" pitchFamily="34" charset="0"/>
              <a:buChar char="•"/>
            </a:pPr>
            <a:endParaRPr lang="en-US" sz="2000" dirty="0"/>
          </a:p>
          <a:p>
            <a:pPr marL="285750" marR="2000" indent="-285750">
              <a:buSzPts val="1200"/>
              <a:buFont typeface="Arial" panose="020B0604020202020204" pitchFamily="34" charset="0"/>
              <a:buChar char="•"/>
            </a:pPr>
            <a:endParaRPr lang="en-US" sz="1400" dirty="0">
              <a:solidFill>
                <a:srgbClr val="002060"/>
              </a:solidFill>
              <a:latin typeface="Century Gothic" panose="020B0502020202020204" pitchFamily="34" charset="0"/>
            </a:endParaRPr>
          </a:p>
        </p:txBody>
      </p:sp>
      <p:pic>
        <p:nvPicPr>
          <p:cNvPr id="19" name="Picture 18">
            <a:extLst>
              <a:ext uri="{FF2B5EF4-FFF2-40B4-BE49-F238E27FC236}">
                <a16:creationId xmlns:a16="http://schemas.microsoft.com/office/drawing/2014/main" id="{06D1B177-1163-666A-1A85-8A3AE07979E4}"/>
              </a:ext>
            </a:extLst>
          </p:cNvPr>
          <p:cNvPicPr>
            <a:picLocks noChangeAspect="1"/>
          </p:cNvPicPr>
          <p:nvPr/>
        </p:nvPicPr>
        <p:blipFill>
          <a:blip r:embed="rId4"/>
          <a:stretch>
            <a:fillRect/>
          </a:stretch>
        </p:blipFill>
        <p:spPr>
          <a:xfrm>
            <a:off x="6895883" y="0"/>
            <a:ext cx="5241218" cy="6858000"/>
          </a:xfrm>
          <a:prstGeom prst="rect">
            <a:avLst/>
          </a:prstGeom>
        </p:spPr>
      </p:pic>
      <p:sp>
        <p:nvSpPr>
          <p:cNvPr id="3" name="TextBox 2">
            <a:extLst>
              <a:ext uri="{FF2B5EF4-FFF2-40B4-BE49-F238E27FC236}">
                <a16:creationId xmlns:a16="http://schemas.microsoft.com/office/drawing/2014/main" id="{92C53BB9-9330-7A70-C559-0E1279BCAD65}"/>
              </a:ext>
            </a:extLst>
          </p:cNvPr>
          <p:cNvSpPr txBox="1"/>
          <p:nvPr/>
        </p:nvSpPr>
        <p:spPr>
          <a:xfrm>
            <a:off x="2148238" y="681037"/>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2030547082"/>
      </p:ext>
    </p:extLst>
  </p:cSld>
  <p:clrMapOvr>
    <a:masterClrMapping/>
  </p:clrMapOvr>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50694-6324-680F-918B-7A11F3306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A3ED9-D532-D500-0330-940265061081}"/>
              </a:ext>
            </a:extLst>
          </p:cNvPr>
          <p:cNvSpPr>
            <a:spLocks noGrp="1"/>
          </p:cNvSpPr>
          <p:nvPr>
            <p:ph type="title"/>
          </p:nvPr>
        </p:nvSpPr>
        <p:spPr/>
        <p:txBody>
          <a:bodyPr/>
          <a:lstStyle/>
          <a:p>
            <a:r>
              <a:rPr lang="en-US" sz="2800" dirty="0"/>
              <a:t>Wireframe Notes – 5.0 – Companies &amp; Products</a:t>
            </a:r>
          </a:p>
        </p:txBody>
      </p:sp>
      <p:sp>
        <p:nvSpPr>
          <p:cNvPr id="3" name="Content Placeholder 2">
            <a:extLst>
              <a:ext uri="{FF2B5EF4-FFF2-40B4-BE49-F238E27FC236}">
                <a16:creationId xmlns:a16="http://schemas.microsoft.com/office/drawing/2014/main" id="{7868535F-9BC4-6152-FD13-EB245CB8F5EA}"/>
              </a:ext>
            </a:extLst>
          </p:cNvPr>
          <p:cNvSpPr>
            <a:spLocks noGrp="1"/>
          </p:cNvSpPr>
          <p:nvPr>
            <p:ph idx="1"/>
          </p:nvPr>
        </p:nvSpPr>
        <p:spPr/>
        <p:txBody>
          <a:bodyPr/>
          <a:lstStyle/>
          <a:p>
            <a:pPr marR="2000" algn="l" rtl="0">
              <a:buSzPts val="1200"/>
              <a:buFont typeface="Symbol" panose="05050102010706020507" pitchFamily="18" charset="2"/>
              <a:buChar char="·"/>
            </a:pPr>
            <a:r>
              <a:rPr lang="en-US" sz="1800" dirty="0">
                <a:solidFill>
                  <a:srgbClr val="606771"/>
                </a:solidFill>
                <a:latin typeface="Segoe UI" panose="020B0502040204020203" pitchFamily="34" charset="0"/>
              </a:rPr>
              <a:t>Navigation only, not a page. </a:t>
            </a:r>
            <a:r>
              <a:rPr lang="en-US" sz="1800" b="0" i="0" u="none" strike="noStrike" baseline="0" dirty="0">
                <a:solidFill>
                  <a:srgbClr val="606771"/>
                </a:solidFill>
                <a:latin typeface="Segoe UI" panose="020B0502040204020203" pitchFamily="34" charset="0"/>
              </a:rPr>
              <a:t>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BE4C76B8-B6FC-C4D2-8783-22390BBA745D}"/>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E40A9DFE-9EEC-3D4A-BC2F-3C6FB4ED0B69}"/>
              </a:ext>
            </a:extLst>
          </p:cNvPr>
          <p:cNvSpPr>
            <a:spLocks noGrp="1"/>
          </p:cNvSpPr>
          <p:nvPr>
            <p:ph type="sldNum" sz="quarter" idx="12"/>
          </p:nvPr>
        </p:nvSpPr>
        <p:spPr/>
        <p:txBody>
          <a:bodyPr/>
          <a:lstStyle/>
          <a:p>
            <a:fld id="{330EA680-D336-4FF7-8B7A-9848BB0A1C32}" type="slidenum">
              <a:rPr lang="en-US" smtClean="0"/>
              <a:t>45</a:t>
            </a:fld>
            <a:endParaRPr lang="en-US"/>
          </a:p>
        </p:txBody>
      </p:sp>
    </p:spTree>
    <p:extLst>
      <p:ext uri="{BB962C8B-B14F-4D97-AF65-F5344CB8AC3E}">
        <p14:creationId xmlns:p14="http://schemas.microsoft.com/office/powerpoint/2010/main" val="3905066145"/>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1C464-CE0C-E50C-0EFA-7221D98E6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10536-8166-6937-1E92-48ABB7FE31D3}"/>
              </a:ext>
            </a:extLst>
          </p:cNvPr>
          <p:cNvSpPr>
            <a:spLocks noGrp="1"/>
          </p:cNvSpPr>
          <p:nvPr>
            <p:ph type="title"/>
          </p:nvPr>
        </p:nvSpPr>
        <p:spPr>
          <a:xfrm>
            <a:off x="598503" y="193906"/>
            <a:ext cx="10515600" cy="487131"/>
          </a:xfrm>
        </p:spPr>
        <p:txBody>
          <a:bodyPr>
            <a:normAutofit/>
          </a:bodyPr>
          <a:lstStyle/>
          <a:p>
            <a:r>
              <a:rPr lang="en-US" sz="2800" dirty="0"/>
              <a:t>Wireframe Notes – 5.1 – Companies</a:t>
            </a:r>
          </a:p>
        </p:txBody>
      </p:sp>
      <p:sp>
        <p:nvSpPr>
          <p:cNvPr id="4" name="Date Placeholder 3">
            <a:extLst>
              <a:ext uri="{FF2B5EF4-FFF2-40B4-BE49-F238E27FC236}">
                <a16:creationId xmlns:a16="http://schemas.microsoft.com/office/drawing/2014/main" id="{0449F3B1-E2EE-1246-5EA9-D46DDC52355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46C67CC4-93FB-3052-0130-E2077D848B18}"/>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46</a:t>
            </a:fld>
            <a:endParaRPr lang="en-US"/>
          </a:p>
        </p:txBody>
      </p:sp>
      <p:sp>
        <p:nvSpPr>
          <p:cNvPr id="7" name="TextBox 6">
            <a:extLst>
              <a:ext uri="{FF2B5EF4-FFF2-40B4-BE49-F238E27FC236}">
                <a16:creationId xmlns:a16="http://schemas.microsoft.com/office/drawing/2014/main" id="{B0F03C3F-3F4C-C3F7-6C62-3B574367C8B6}"/>
              </a:ext>
            </a:extLst>
          </p:cNvPr>
          <p:cNvSpPr txBox="1"/>
          <p:nvPr/>
        </p:nvSpPr>
        <p:spPr>
          <a:xfrm>
            <a:off x="703215" y="4807131"/>
            <a:ext cx="10790579" cy="2677656"/>
          </a:xfrm>
          <a:prstGeom prst="rect">
            <a:avLst/>
          </a:prstGeom>
          <a:noFill/>
        </p:spPr>
        <p:txBody>
          <a:bodyPr wrap="square">
            <a:spAutoFit/>
          </a:bodyPr>
          <a:lstStyle/>
          <a:p>
            <a:pPr marR="2000" algn="l" rtl="0">
              <a:buSzPts val="1200"/>
              <a:buFont typeface="Symbol" panose="05050102010706020507" pitchFamily="18" charset="2"/>
              <a:buChar char="·"/>
            </a:pPr>
            <a:r>
              <a:rPr lang="en-US" sz="1200" dirty="0">
                <a:latin typeface="Century Gothic" panose="020B0502020202020204" pitchFamily="34" charset="0"/>
              </a:rPr>
              <a:t> Company Management screen:</a:t>
            </a:r>
          </a:p>
          <a:p>
            <a:pPr marR="2000" lvl="1">
              <a:buSzPts val="1200"/>
              <a:buFont typeface="Symbol" panose="05050102010706020507" pitchFamily="18" charset="2"/>
              <a:buChar char="·"/>
            </a:pPr>
            <a:r>
              <a:rPr lang="en-US" sz="1200" dirty="0">
                <a:latin typeface="Century Gothic" panose="020B0502020202020204" pitchFamily="34" charset="0"/>
              </a:rPr>
              <a:t>Includes: Company Name, Company Contact</a:t>
            </a:r>
          </a:p>
          <a:p>
            <a:pPr marR="2000" lvl="1">
              <a:buSzPts val="1200"/>
              <a:buFont typeface="Symbol" panose="05050102010706020507" pitchFamily="18" charset="2"/>
              <a:buChar char="·"/>
            </a:pPr>
            <a:r>
              <a:rPr lang="en-US" sz="1200" dirty="0">
                <a:latin typeface="Century Gothic" panose="020B0502020202020204" pitchFamily="34" charset="0"/>
              </a:rPr>
              <a:t>Separate out Contact Email and Phone into two separate fields</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DISCUSS: Does this information populate under the cert if it’s listed here? If we aren’t  using this to auto populate that then we don’t need anything, but company name here.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Will import ever override current?</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The import will do a compare of the data to only upload new records.</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If existing </a:t>
            </a:r>
            <a:r>
              <a:rPr lang="en-US" sz="1200" b="1" dirty="0" err="1">
                <a:solidFill>
                  <a:srgbClr val="FF0000"/>
                </a:solidFill>
                <a:latin typeface="Century Gothic" panose="020B0502020202020204" pitchFamily="34" charset="0"/>
              </a:rPr>
              <a:t>Certficate</a:t>
            </a:r>
            <a:r>
              <a:rPr lang="en-US" sz="1200" b="1" dirty="0">
                <a:solidFill>
                  <a:srgbClr val="FF0000"/>
                </a:solidFill>
                <a:latin typeface="Century Gothic" panose="020B0502020202020204" pitchFamily="34" charset="0"/>
              </a:rPr>
              <a:t> # is uploaded it will update the fields that have changed. </a:t>
            </a:r>
          </a:p>
          <a:p>
            <a:pPr marR="2000" lvl="2">
              <a:buSzPts val="1200"/>
              <a:buFont typeface="Symbol" panose="05050102010706020507" pitchFamily="18" charset="2"/>
              <a:buChar char="·"/>
            </a:pPr>
            <a:r>
              <a:rPr lang="en-US" sz="1200" b="1" dirty="0">
                <a:solidFill>
                  <a:srgbClr val="FF0000"/>
                </a:solidFill>
                <a:latin typeface="Century Gothic" panose="020B0502020202020204" pitchFamily="34" charset="0"/>
              </a:rPr>
              <a:t>History table will be updated in the DB of the change.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email get used on the Cert? If so rename so more clear…</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Phone get used on the Cert? If so replace with URL on Cert. </a:t>
            </a:r>
            <a:br>
              <a:rPr lang="en-US" sz="1200" b="1" dirty="0">
                <a:solidFill>
                  <a:srgbClr val="FF0000"/>
                </a:solidFill>
                <a:latin typeface="Century Gothic" panose="020B0502020202020204" pitchFamily="34" charset="0"/>
              </a:rPr>
            </a:br>
            <a:r>
              <a:rPr lang="en-US" sz="1200" b="1" dirty="0">
                <a:solidFill>
                  <a:srgbClr val="FF0000"/>
                </a:solidFill>
                <a:latin typeface="Century Gothic" panose="020B0502020202020204" pitchFamily="34" charset="0"/>
              </a:rPr>
              <a:t>Only email and URL as contact options. </a:t>
            </a:r>
          </a:p>
          <a:p>
            <a:pPr marR="2000">
              <a:buSzPts val="1200"/>
              <a:buFont typeface="Symbol" panose="05050102010706020507" pitchFamily="18" charset="2"/>
              <a:buChar char="·"/>
            </a:pPr>
            <a:endParaRPr lang="en-US" sz="1200" b="1" dirty="0">
              <a:solidFill>
                <a:srgbClr val="FF0000"/>
              </a:solidFill>
              <a:latin typeface="Century Gothic" panose="020B0502020202020204" pitchFamily="34" charset="0"/>
            </a:endParaRPr>
          </a:p>
          <a:p>
            <a:pPr marR="2000" lvl="2">
              <a:buSzPts val="1200"/>
              <a:buFont typeface="Symbol" panose="05050102010706020507" pitchFamily="18" charset="2"/>
              <a:buChar char="·"/>
            </a:pPr>
            <a:endParaRPr lang="en-US" sz="1200" dirty="0">
              <a:latin typeface="Century Gothic" panose="020B0502020202020204" pitchFamily="34" charset="0"/>
            </a:endParaRPr>
          </a:p>
        </p:txBody>
      </p:sp>
      <p:pic>
        <p:nvPicPr>
          <p:cNvPr id="16" name="Picture 15">
            <a:extLst>
              <a:ext uri="{FF2B5EF4-FFF2-40B4-BE49-F238E27FC236}">
                <a16:creationId xmlns:a16="http://schemas.microsoft.com/office/drawing/2014/main" id="{F4D6CEF0-1435-466D-2F73-B22977DEDE1C}"/>
              </a:ext>
            </a:extLst>
          </p:cNvPr>
          <p:cNvPicPr>
            <a:picLocks noChangeAspect="1"/>
          </p:cNvPicPr>
          <p:nvPr/>
        </p:nvPicPr>
        <p:blipFill>
          <a:blip r:embed="rId3"/>
          <a:stretch>
            <a:fillRect/>
          </a:stretch>
        </p:blipFill>
        <p:spPr>
          <a:xfrm>
            <a:off x="598503" y="860128"/>
            <a:ext cx="11005896" cy="3947003"/>
          </a:xfrm>
          <a:prstGeom prst="rect">
            <a:avLst/>
          </a:prstGeom>
        </p:spPr>
      </p:pic>
      <p:sp>
        <p:nvSpPr>
          <p:cNvPr id="3" name="TextBox 2">
            <a:extLst>
              <a:ext uri="{FF2B5EF4-FFF2-40B4-BE49-F238E27FC236}">
                <a16:creationId xmlns:a16="http://schemas.microsoft.com/office/drawing/2014/main" id="{0513202C-A638-86DD-5D42-7135BEDF0BB5}"/>
              </a:ext>
            </a:extLst>
          </p:cNvPr>
          <p:cNvSpPr txBox="1"/>
          <p:nvPr/>
        </p:nvSpPr>
        <p:spPr>
          <a:xfrm>
            <a:off x="3041584" y="2388730"/>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574261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EB820-69B5-D4E1-F9A9-2E0251E87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61F42-C95C-6659-C358-270A845AF354}"/>
              </a:ext>
            </a:extLst>
          </p:cNvPr>
          <p:cNvSpPr>
            <a:spLocks noGrp="1"/>
          </p:cNvSpPr>
          <p:nvPr>
            <p:ph type="title"/>
          </p:nvPr>
        </p:nvSpPr>
        <p:spPr>
          <a:xfrm>
            <a:off x="598503" y="193906"/>
            <a:ext cx="10515600" cy="487131"/>
          </a:xfrm>
        </p:spPr>
        <p:txBody>
          <a:bodyPr>
            <a:normAutofit/>
          </a:bodyPr>
          <a:lstStyle/>
          <a:p>
            <a:r>
              <a:rPr lang="en-US" sz="2800" dirty="0"/>
              <a:t>Wireframe Notes – 5.2 – Product Types</a:t>
            </a:r>
          </a:p>
        </p:txBody>
      </p:sp>
      <p:sp>
        <p:nvSpPr>
          <p:cNvPr id="4" name="Date Placeholder 3">
            <a:extLst>
              <a:ext uri="{FF2B5EF4-FFF2-40B4-BE49-F238E27FC236}">
                <a16:creationId xmlns:a16="http://schemas.microsoft.com/office/drawing/2014/main" id="{8EE3E8F1-814D-63EA-EAD1-0F932C0E810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5A8B7C69-8430-7DFA-89CA-CD779994F4E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47</a:t>
            </a:fld>
            <a:endParaRPr lang="en-US"/>
          </a:p>
        </p:txBody>
      </p:sp>
      <p:sp>
        <p:nvSpPr>
          <p:cNvPr id="7" name="TextBox 6">
            <a:extLst>
              <a:ext uri="{FF2B5EF4-FFF2-40B4-BE49-F238E27FC236}">
                <a16:creationId xmlns:a16="http://schemas.microsoft.com/office/drawing/2014/main" id="{76A605F2-75AF-9295-F91D-7A7C0B8BB830}"/>
              </a:ext>
            </a:extLst>
          </p:cNvPr>
          <p:cNvSpPr txBox="1"/>
          <p:nvPr/>
        </p:nvSpPr>
        <p:spPr>
          <a:xfrm>
            <a:off x="598503" y="4788644"/>
            <a:ext cx="9975006" cy="830997"/>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Product Types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Product Categories, Types, and Type Subcategories.</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Edit/Delete Selected Line Item.</a:t>
            </a:r>
          </a:p>
          <a:p>
            <a:pPr marL="171450" marR="2000" indent="-171450" algn="l" rtl="0">
              <a:buFont typeface="Arial" panose="020B0604020202020204" pitchFamily="34" charset="0"/>
              <a:buChar char="•"/>
            </a:pPr>
            <a:r>
              <a:rPr lang="en-US" sz="1200" dirty="0">
                <a:solidFill>
                  <a:srgbClr val="606771"/>
                </a:solidFill>
                <a:latin typeface="Century Gothic" panose="020B0502020202020204" pitchFamily="34" charset="0"/>
              </a:rPr>
              <a:t>One-to-Many relationship between </a:t>
            </a:r>
            <a:r>
              <a:rPr lang="en-US" sz="1200" b="0" i="0" u="none" strike="noStrike" baseline="0" dirty="0">
                <a:solidFill>
                  <a:srgbClr val="606771"/>
                </a:solidFill>
                <a:latin typeface="Century Gothic" panose="020B0502020202020204" pitchFamily="34" charset="0"/>
              </a:rPr>
              <a:t>Product Categories, Types, and Type Subcategories.</a:t>
            </a:r>
            <a:endParaRPr lang="en-US" sz="1200" dirty="0">
              <a:latin typeface="Century Gothic" panose="020B0502020202020204" pitchFamily="34" charset="0"/>
            </a:endParaRPr>
          </a:p>
        </p:txBody>
      </p:sp>
      <p:pic>
        <p:nvPicPr>
          <p:cNvPr id="14" name="Picture 13">
            <a:extLst>
              <a:ext uri="{FF2B5EF4-FFF2-40B4-BE49-F238E27FC236}">
                <a16:creationId xmlns:a16="http://schemas.microsoft.com/office/drawing/2014/main" id="{BA3AB873-8B29-F49B-AB96-A74DD5A9554A}"/>
              </a:ext>
            </a:extLst>
          </p:cNvPr>
          <p:cNvPicPr>
            <a:picLocks noChangeAspect="1"/>
          </p:cNvPicPr>
          <p:nvPr/>
        </p:nvPicPr>
        <p:blipFill>
          <a:blip r:embed="rId4"/>
          <a:stretch>
            <a:fillRect/>
          </a:stretch>
        </p:blipFill>
        <p:spPr>
          <a:xfrm>
            <a:off x="598503" y="696372"/>
            <a:ext cx="9975006" cy="3966158"/>
          </a:xfrm>
          <a:prstGeom prst="rect">
            <a:avLst/>
          </a:prstGeom>
        </p:spPr>
      </p:pic>
    </p:spTree>
    <p:extLst>
      <p:ext uri="{BB962C8B-B14F-4D97-AF65-F5344CB8AC3E}">
        <p14:creationId xmlns:p14="http://schemas.microsoft.com/office/powerpoint/2010/main" val="4016462383"/>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A7CA-15FF-E9EB-D881-6505CBD08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BCA32-F8B5-7B75-E1B2-9F89E8BE7048}"/>
              </a:ext>
            </a:extLst>
          </p:cNvPr>
          <p:cNvSpPr>
            <a:spLocks noGrp="1"/>
          </p:cNvSpPr>
          <p:nvPr>
            <p:ph type="title"/>
          </p:nvPr>
        </p:nvSpPr>
        <p:spPr/>
        <p:txBody>
          <a:bodyPr/>
          <a:lstStyle/>
          <a:p>
            <a:r>
              <a:rPr lang="en-US" sz="2800" dirty="0"/>
              <a:t>Wireframe Notes – 7.0 – Administration</a:t>
            </a:r>
          </a:p>
        </p:txBody>
      </p:sp>
      <p:sp>
        <p:nvSpPr>
          <p:cNvPr id="3" name="Content Placeholder 2">
            <a:extLst>
              <a:ext uri="{FF2B5EF4-FFF2-40B4-BE49-F238E27FC236}">
                <a16:creationId xmlns:a16="http://schemas.microsoft.com/office/drawing/2014/main" id="{3FDF9918-21DF-AE60-8436-AE218D276C01}"/>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Admin Section does not have a main landing page.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09B755D2-56A8-1785-0C9A-B43E85262A0C}"/>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B739B08A-8BF9-7F54-C46A-34BEBC4FCEE7}"/>
              </a:ext>
            </a:extLst>
          </p:cNvPr>
          <p:cNvSpPr>
            <a:spLocks noGrp="1"/>
          </p:cNvSpPr>
          <p:nvPr>
            <p:ph type="sldNum" sz="quarter" idx="12"/>
          </p:nvPr>
        </p:nvSpPr>
        <p:spPr/>
        <p:txBody>
          <a:bodyPr/>
          <a:lstStyle/>
          <a:p>
            <a:fld id="{330EA680-D336-4FF7-8B7A-9848BB0A1C32}" type="slidenum">
              <a:rPr lang="en-US" smtClean="0"/>
              <a:t>48</a:t>
            </a:fld>
            <a:endParaRPr lang="en-US"/>
          </a:p>
        </p:txBody>
      </p:sp>
    </p:spTree>
    <p:extLst>
      <p:ext uri="{BB962C8B-B14F-4D97-AF65-F5344CB8AC3E}">
        <p14:creationId xmlns:p14="http://schemas.microsoft.com/office/powerpoint/2010/main" val="4237410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883C-DC79-3568-EACF-3C81D5148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3BA18-2B36-170C-72D7-BD26B41D5AF7}"/>
              </a:ext>
            </a:extLst>
          </p:cNvPr>
          <p:cNvSpPr>
            <a:spLocks noGrp="1"/>
          </p:cNvSpPr>
          <p:nvPr>
            <p:ph type="title"/>
          </p:nvPr>
        </p:nvSpPr>
        <p:spPr>
          <a:xfrm>
            <a:off x="598503" y="193906"/>
            <a:ext cx="10515600" cy="487131"/>
          </a:xfrm>
        </p:spPr>
        <p:txBody>
          <a:bodyPr>
            <a:normAutofit/>
          </a:bodyPr>
          <a:lstStyle/>
          <a:p>
            <a:r>
              <a:rPr lang="en-US" sz="2800" dirty="0"/>
              <a:t>Wireframe Notes – 7.1 – Role Management</a:t>
            </a:r>
          </a:p>
        </p:txBody>
      </p:sp>
      <p:sp>
        <p:nvSpPr>
          <p:cNvPr id="4" name="Date Placeholder 3">
            <a:extLst>
              <a:ext uri="{FF2B5EF4-FFF2-40B4-BE49-F238E27FC236}">
                <a16:creationId xmlns:a16="http://schemas.microsoft.com/office/drawing/2014/main" id="{822A952C-666F-C666-695D-200ADC08184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ECD032BD-682A-A53F-1CEC-88667C38E18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49</a:t>
            </a:fld>
            <a:endParaRPr lang="en-US"/>
          </a:p>
        </p:txBody>
      </p:sp>
      <p:sp>
        <p:nvSpPr>
          <p:cNvPr id="9" name="TextBox 8">
            <a:extLst>
              <a:ext uri="{FF2B5EF4-FFF2-40B4-BE49-F238E27FC236}">
                <a16:creationId xmlns:a16="http://schemas.microsoft.com/office/drawing/2014/main" id="{85FCD1B4-71BD-91D7-6CEF-ACC1C9125B74}"/>
              </a:ext>
            </a:extLst>
          </p:cNvPr>
          <p:cNvSpPr txBox="1"/>
          <p:nvPr/>
        </p:nvSpPr>
        <p:spPr>
          <a:xfrm>
            <a:off x="287382" y="5220249"/>
            <a:ext cx="9387841" cy="1015663"/>
          </a:xfrm>
          <a:prstGeom prst="rect">
            <a:avLst/>
          </a:prstGeom>
          <a:noFill/>
        </p:spPr>
        <p:txBody>
          <a:bodyPr wrap="square">
            <a:spAutoFit/>
          </a:bodyPr>
          <a:lstStyle/>
          <a:p>
            <a:pPr marL="285750" marR="2000" indent="-2857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Role Management (Page Level) Admin View.</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Manage which roles have access to which pages of the site.</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cancel changes.</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Admin Users have access to all pages by default.</a:t>
            </a:r>
          </a:p>
          <a:p>
            <a:pPr marL="285750" marR="2000" indent="-285750" algn="l" rtl="0">
              <a:buFont typeface="Arial" panose="020B0604020202020204" pitchFamily="34" charset="0"/>
              <a:buChar char="•"/>
            </a:pPr>
            <a:r>
              <a:rPr lang="en-US" sz="1200" dirty="0">
                <a:solidFill>
                  <a:srgbClr val="606771"/>
                </a:solidFill>
                <a:latin typeface="Century Gothic" panose="020B0502020202020204" pitchFamily="34" charset="0"/>
              </a:rPr>
              <a:t>Delete disabled for Admin, Admin Panel checkbox disabled for Admin.</a:t>
            </a:r>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D63468CE-8865-45BC-7FAD-78496288A3BA}"/>
              </a:ext>
            </a:extLst>
          </p:cNvPr>
          <p:cNvPicPr>
            <a:picLocks noChangeAspect="1"/>
          </p:cNvPicPr>
          <p:nvPr/>
        </p:nvPicPr>
        <p:blipFill>
          <a:blip r:embed="rId3"/>
          <a:stretch>
            <a:fillRect/>
          </a:stretch>
        </p:blipFill>
        <p:spPr>
          <a:xfrm>
            <a:off x="137281" y="1085523"/>
            <a:ext cx="10130125" cy="3984030"/>
          </a:xfrm>
          <a:prstGeom prst="rect">
            <a:avLst/>
          </a:prstGeom>
        </p:spPr>
      </p:pic>
    </p:spTree>
    <p:extLst>
      <p:ext uri="{BB962C8B-B14F-4D97-AF65-F5344CB8AC3E}">
        <p14:creationId xmlns:p14="http://schemas.microsoft.com/office/powerpoint/2010/main" val="30554913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2B2FE-6968-52B4-47AA-D11ECBF0A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3203F-71F5-B6FA-4289-26A39CFBAAE0}"/>
              </a:ext>
            </a:extLst>
          </p:cNvPr>
          <p:cNvSpPr>
            <a:spLocks noGrp="1"/>
          </p:cNvSpPr>
          <p:nvPr>
            <p:ph type="title"/>
          </p:nvPr>
        </p:nvSpPr>
        <p:spPr>
          <a:xfrm>
            <a:off x="598503" y="193906"/>
            <a:ext cx="10515600" cy="487131"/>
          </a:xfrm>
        </p:spPr>
        <p:txBody>
          <a:bodyPr>
            <a:normAutofit/>
          </a:bodyPr>
          <a:lstStyle/>
          <a:p>
            <a:r>
              <a:rPr lang="en-US" sz="2800" dirty="0"/>
              <a:t>Wireframe Notes – 7.1 – Role Management</a:t>
            </a:r>
          </a:p>
        </p:txBody>
      </p:sp>
      <p:sp>
        <p:nvSpPr>
          <p:cNvPr id="4" name="Date Placeholder 3">
            <a:extLst>
              <a:ext uri="{FF2B5EF4-FFF2-40B4-BE49-F238E27FC236}">
                <a16:creationId xmlns:a16="http://schemas.microsoft.com/office/drawing/2014/main" id="{AA8965CC-EEE0-D5CD-8C24-8F78E8C787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DBBE9C01-2988-A3E0-7268-206CAB9220F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50</a:t>
            </a:fld>
            <a:endParaRPr lang="en-US"/>
          </a:p>
        </p:txBody>
      </p:sp>
      <p:pic>
        <p:nvPicPr>
          <p:cNvPr id="6" name="Picture 5">
            <a:extLst>
              <a:ext uri="{FF2B5EF4-FFF2-40B4-BE49-F238E27FC236}">
                <a16:creationId xmlns:a16="http://schemas.microsoft.com/office/drawing/2014/main" id="{31647928-0930-A568-3556-2A1B6FC737AA}"/>
              </a:ext>
            </a:extLst>
          </p:cNvPr>
          <p:cNvPicPr>
            <a:picLocks noChangeAspect="1"/>
          </p:cNvPicPr>
          <p:nvPr/>
        </p:nvPicPr>
        <p:blipFill>
          <a:blip r:embed="rId4"/>
          <a:stretch>
            <a:fillRect/>
          </a:stretch>
        </p:blipFill>
        <p:spPr>
          <a:xfrm>
            <a:off x="664109" y="678935"/>
            <a:ext cx="9516211" cy="5679517"/>
          </a:xfrm>
          <a:prstGeom prst="rect">
            <a:avLst/>
          </a:prstGeom>
        </p:spPr>
      </p:pic>
    </p:spTree>
    <p:extLst>
      <p:ext uri="{BB962C8B-B14F-4D97-AF65-F5344CB8AC3E}">
        <p14:creationId xmlns:p14="http://schemas.microsoft.com/office/powerpoint/2010/main" val="189355083"/>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D107F-95BF-53F3-27F0-1AF188CADE1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D2D00BE-716A-9902-BFB2-769B989DF383}"/>
              </a:ext>
            </a:extLst>
          </p:cNvPr>
          <p:cNvPicPr>
            <a:picLocks noChangeAspect="1"/>
          </p:cNvPicPr>
          <p:nvPr/>
        </p:nvPicPr>
        <p:blipFill>
          <a:blip r:embed="rId4"/>
          <a:stretch>
            <a:fillRect/>
          </a:stretch>
        </p:blipFill>
        <p:spPr>
          <a:xfrm>
            <a:off x="501761" y="681037"/>
            <a:ext cx="10410749" cy="4656320"/>
          </a:xfrm>
          <a:prstGeom prst="rect">
            <a:avLst/>
          </a:prstGeom>
        </p:spPr>
      </p:pic>
      <p:sp>
        <p:nvSpPr>
          <p:cNvPr id="2" name="Title 1">
            <a:extLst>
              <a:ext uri="{FF2B5EF4-FFF2-40B4-BE49-F238E27FC236}">
                <a16:creationId xmlns:a16="http://schemas.microsoft.com/office/drawing/2014/main" id="{DB51A447-28DA-1A91-C7FE-8C8E67421EC7}"/>
              </a:ext>
            </a:extLst>
          </p:cNvPr>
          <p:cNvSpPr>
            <a:spLocks noGrp="1"/>
          </p:cNvSpPr>
          <p:nvPr>
            <p:ph type="title"/>
          </p:nvPr>
        </p:nvSpPr>
        <p:spPr>
          <a:xfrm>
            <a:off x="598503" y="193906"/>
            <a:ext cx="10515600" cy="487131"/>
          </a:xfrm>
        </p:spPr>
        <p:txBody>
          <a:bodyPr>
            <a:normAutofit/>
          </a:bodyPr>
          <a:lstStyle/>
          <a:p>
            <a:r>
              <a:rPr lang="en-US" sz="2800" dirty="0"/>
              <a:t>Wireframe Notes – 7.1.1 – User Management</a:t>
            </a:r>
          </a:p>
        </p:txBody>
      </p:sp>
      <p:sp>
        <p:nvSpPr>
          <p:cNvPr id="4" name="Date Placeholder 3">
            <a:extLst>
              <a:ext uri="{FF2B5EF4-FFF2-40B4-BE49-F238E27FC236}">
                <a16:creationId xmlns:a16="http://schemas.microsoft.com/office/drawing/2014/main" id="{584F21E2-54F7-3A2C-394B-28B481FCEB0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F8513A3A-90B5-A7D8-A005-FCE3C22E1C7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51</a:t>
            </a:fld>
            <a:endParaRPr lang="en-US"/>
          </a:p>
        </p:txBody>
      </p:sp>
      <p:sp>
        <p:nvSpPr>
          <p:cNvPr id="7" name="TextBox 6">
            <a:extLst>
              <a:ext uri="{FF2B5EF4-FFF2-40B4-BE49-F238E27FC236}">
                <a16:creationId xmlns:a16="http://schemas.microsoft.com/office/drawing/2014/main" id="{3EACE0A1-C0D6-1185-3C45-A2573D884E7A}"/>
              </a:ext>
            </a:extLst>
          </p:cNvPr>
          <p:cNvSpPr txBox="1"/>
          <p:nvPr/>
        </p:nvSpPr>
        <p:spPr>
          <a:xfrm>
            <a:off x="598503" y="5171745"/>
            <a:ext cx="7128679" cy="1015663"/>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Users (Roles)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a new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 a selected current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an only Edit one user at a time.</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navigate between admin screens via navigation.</a:t>
            </a:r>
            <a:endParaRPr lang="en-US" sz="1200" dirty="0">
              <a:latin typeface="Century Gothic" panose="020B0502020202020204" pitchFamily="34" charset="0"/>
            </a:endParaRPr>
          </a:p>
        </p:txBody>
      </p:sp>
    </p:spTree>
    <p:extLst>
      <p:ext uri="{BB962C8B-B14F-4D97-AF65-F5344CB8AC3E}">
        <p14:creationId xmlns:p14="http://schemas.microsoft.com/office/powerpoint/2010/main" val="227883026"/>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B292C-39AA-59BA-0679-BFBA0BD19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40939-CB50-B248-50B2-363345BB5F9F}"/>
              </a:ext>
            </a:extLst>
          </p:cNvPr>
          <p:cNvSpPr>
            <a:spLocks noGrp="1"/>
          </p:cNvSpPr>
          <p:nvPr>
            <p:ph type="title"/>
          </p:nvPr>
        </p:nvSpPr>
        <p:spPr>
          <a:xfrm>
            <a:off x="598503" y="193906"/>
            <a:ext cx="10515600" cy="487131"/>
          </a:xfrm>
        </p:spPr>
        <p:txBody>
          <a:bodyPr>
            <a:normAutofit/>
          </a:bodyPr>
          <a:lstStyle/>
          <a:p>
            <a:r>
              <a:rPr lang="en-US" sz="2800" dirty="0"/>
              <a:t>Wireframe Notes – 7.1.1 – Add User</a:t>
            </a:r>
          </a:p>
        </p:txBody>
      </p:sp>
      <p:sp>
        <p:nvSpPr>
          <p:cNvPr id="4" name="Date Placeholder 3">
            <a:extLst>
              <a:ext uri="{FF2B5EF4-FFF2-40B4-BE49-F238E27FC236}">
                <a16:creationId xmlns:a16="http://schemas.microsoft.com/office/drawing/2014/main" id="{D3F8F949-D2B4-5CE5-C9D9-F5C0BCDB835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86090A80-1A26-641A-AB26-EAC1AAEFD49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52</a:t>
            </a:fld>
            <a:endParaRPr lang="en-US"/>
          </a:p>
        </p:txBody>
      </p:sp>
      <p:sp>
        <p:nvSpPr>
          <p:cNvPr id="7" name="TextBox 6">
            <a:extLst>
              <a:ext uri="{FF2B5EF4-FFF2-40B4-BE49-F238E27FC236}">
                <a16:creationId xmlns:a16="http://schemas.microsoft.com/office/drawing/2014/main" id="{3CE5F2BF-E68D-CED3-B524-FDEAABF429BF}"/>
              </a:ext>
            </a:extLst>
          </p:cNvPr>
          <p:cNvSpPr txBox="1"/>
          <p:nvPr/>
        </p:nvSpPr>
        <p:spPr>
          <a:xfrm>
            <a:off x="8943033" y="58846"/>
            <a:ext cx="3248967" cy="6740307"/>
          </a:xfrm>
          <a:prstGeom prst="rect">
            <a:avLst/>
          </a:prstGeom>
          <a:noFill/>
        </p:spPr>
        <p:txBody>
          <a:bodyPr wrap="square">
            <a:spAutoFit/>
          </a:bodyPr>
          <a:lstStyle/>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This is the Add User Admin View.</a:t>
            </a:r>
          </a:p>
          <a:p>
            <a:pPr marL="285750" marR="2000" indent="-285750" algn="l" rtl="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Ability to Add a new User.</a:t>
            </a:r>
          </a:p>
          <a:p>
            <a:pPr marL="285750" marR="2000" indent="-285750" algn="l" rtl="0">
              <a:buFont typeface="Arial" panose="020B0604020202020204" pitchFamily="34" charset="0"/>
              <a:buChar char="•"/>
            </a:pPr>
            <a:r>
              <a:rPr lang="en-US" sz="1400" b="0" i="0" u="none" strike="sngStrike" baseline="0" dirty="0">
                <a:solidFill>
                  <a:srgbClr val="606771"/>
                </a:solidFill>
                <a:latin typeface="Century Gothic" panose="020B0502020202020204" pitchFamily="34" charset="0"/>
              </a:rPr>
              <a:t>Ability to Add another User after adding one.</a:t>
            </a:r>
          </a:p>
          <a:p>
            <a:pPr marL="285750" marR="2000" indent="-285750" algn="l" rtl="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Ability to Cancel Adding a User.</a:t>
            </a:r>
          </a:p>
          <a:p>
            <a:pPr marL="285750" marR="2000" indent="-285750" algn="l" rtl="0">
              <a:buFont typeface="Arial" panose="020B0604020202020204" pitchFamily="34" charset="0"/>
              <a:buChar char="•"/>
            </a:pPr>
            <a:r>
              <a:rPr lang="en-US" sz="1400" dirty="0">
                <a:solidFill>
                  <a:srgbClr val="606771"/>
                </a:solidFill>
                <a:latin typeface="Century Gothic" panose="020B0502020202020204" pitchFamily="34" charset="0"/>
              </a:rPr>
              <a:t>Ability to assign user roles</a:t>
            </a:r>
          </a:p>
          <a:p>
            <a:pPr marL="285750" marR="2000" indent="-285750" algn="l" rtl="0">
              <a:buFont typeface="Arial" panose="020B0604020202020204" pitchFamily="34" charset="0"/>
              <a:buChar char="•"/>
            </a:pPr>
            <a:endParaRPr lang="en-US" sz="1400" dirty="0">
              <a:solidFill>
                <a:srgbClr val="606771"/>
              </a:solidFill>
              <a:latin typeface="Century Gothic" panose="020B0502020202020204" pitchFamily="34" charset="0"/>
            </a:endParaRPr>
          </a:p>
          <a:p>
            <a:pPr marL="285750" marR="2000" indent="-285750" algn="l" rtl="0">
              <a:buFont typeface="Arial" panose="020B0604020202020204" pitchFamily="34" charset="0"/>
              <a:buChar char="•"/>
            </a:pPr>
            <a:endParaRPr lang="en-US" sz="1400" dirty="0">
              <a:solidFill>
                <a:srgbClr val="606771"/>
              </a:solidFill>
              <a:latin typeface="Century Gothic" panose="020B0502020202020204" pitchFamily="34" charset="0"/>
            </a:endParaRPr>
          </a:p>
          <a:p>
            <a:pPr marL="285750" marR="2000" indent="-285750" algn="l" rtl="0">
              <a:buFont typeface="Arial" panose="020B0604020202020204" pitchFamily="34" charset="0"/>
              <a:buChar char="•"/>
            </a:pPr>
            <a:endParaRPr lang="en-US" sz="1400" dirty="0">
              <a:solidFill>
                <a:srgbClr val="606771"/>
              </a:solidFill>
              <a:latin typeface="Century Gothic" panose="020B0502020202020204" pitchFamily="34" charset="0"/>
            </a:endParaRP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Where are we identifying the access they have – by company or partner designation. </a:t>
            </a:r>
          </a:p>
          <a:p>
            <a:pPr marL="285750" marR="2000" indent="-285750" algn="l" rtl="0">
              <a:buFont typeface="Arial" panose="020B0604020202020204" pitchFamily="34" charset="0"/>
              <a:buChar char="•"/>
            </a:pPr>
            <a:endParaRPr lang="en-US" sz="1400" b="1" dirty="0">
              <a:solidFill>
                <a:srgbClr val="FF0000"/>
              </a:solidFill>
              <a:latin typeface="Century Gothic" panose="020B0502020202020204" pitchFamily="34" charset="0"/>
            </a:endParaRP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This would be used to only show them certs and products related to those. </a:t>
            </a: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They also need to have multi-select</a:t>
            </a: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Add Company</a:t>
            </a: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Review: How is the admin setting this up originally since they are creating. </a:t>
            </a:r>
          </a:p>
          <a:p>
            <a:pPr marL="285750" marR="2000" indent="-285750" algn="l" rtl="0">
              <a:buFont typeface="Arial" panose="020B0604020202020204" pitchFamily="34" charset="0"/>
              <a:buChar char="•"/>
            </a:pPr>
            <a:endParaRPr lang="en-US" sz="1400" b="1" dirty="0">
              <a:solidFill>
                <a:srgbClr val="FF0000"/>
              </a:solidFill>
              <a:latin typeface="Century Gothic" panose="020B0502020202020204" pitchFamily="34" charset="0"/>
            </a:endParaRPr>
          </a:p>
          <a:p>
            <a:pPr marL="285750" marR="2000" indent="-285750" algn="l" rtl="0">
              <a:buFont typeface="Arial" panose="020B0604020202020204" pitchFamily="34" charset="0"/>
              <a:buChar char="•"/>
            </a:pPr>
            <a:r>
              <a:rPr lang="en-US" sz="1400" b="1" dirty="0">
                <a:solidFill>
                  <a:srgbClr val="FF0000"/>
                </a:solidFill>
                <a:latin typeface="Century Gothic" panose="020B0502020202020204" pitchFamily="34" charset="0"/>
              </a:rPr>
              <a:t>Do they need to reset after first login? Will admin always see their latest password don’t think that is suggested) </a:t>
            </a:r>
          </a:p>
          <a:p>
            <a:pPr marL="285750" marR="2000" indent="-285750" algn="l" rtl="0">
              <a:buFont typeface="Arial" panose="020B0604020202020204" pitchFamily="34" charset="0"/>
              <a:buChar char="•"/>
            </a:pPr>
            <a:r>
              <a:rPr lang="en-US" sz="2000" b="1" dirty="0">
                <a:solidFill>
                  <a:srgbClr val="FF0000"/>
                </a:solidFill>
                <a:latin typeface="Century Gothic" panose="020B0502020202020204" pitchFamily="34" charset="0"/>
              </a:rPr>
              <a:t>How do you manage user fields by user?</a:t>
            </a:r>
          </a:p>
        </p:txBody>
      </p:sp>
      <p:pic>
        <p:nvPicPr>
          <p:cNvPr id="12" name="Picture 11">
            <a:extLst>
              <a:ext uri="{FF2B5EF4-FFF2-40B4-BE49-F238E27FC236}">
                <a16:creationId xmlns:a16="http://schemas.microsoft.com/office/drawing/2014/main" id="{C1119489-513A-2BFB-5A34-DA9AC18E0BF0}"/>
              </a:ext>
            </a:extLst>
          </p:cNvPr>
          <p:cNvPicPr>
            <a:picLocks noChangeAspect="1"/>
          </p:cNvPicPr>
          <p:nvPr/>
        </p:nvPicPr>
        <p:blipFill>
          <a:blip r:embed="rId3"/>
          <a:srcRect r="19412"/>
          <a:stretch/>
        </p:blipFill>
        <p:spPr>
          <a:xfrm>
            <a:off x="720672" y="624675"/>
            <a:ext cx="8071636" cy="5608650"/>
          </a:xfrm>
          <a:prstGeom prst="rect">
            <a:avLst/>
          </a:prstGeom>
        </p:spPr>
      </p:pic>
      <p:sp>
        <p:nvSpPr>
          <p:cNvPr id="3" name="TextBox 2">
            <a:extLst>
              <a:ext uri="{FF2B5EF4-FFF2-40B4-BE49-F238E27FC236}">
                <a16:creationId xmlns:a16="http://schemas.microsoft.com/office/drawing/2014/main" id="{B6200B97-C6BC-9889-A498-91EC04C61686}"/>
              </a:ext>
            </a:extLst>
          </p:cNvPr>
          <p:cNvSpPr txBox="1"/>
          <p:nvPr/>
        </p:nvSpPr>
        <p:spPr>
          <a:xfrm>
            <a:off x="512637" y="954566"/>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38790086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4CAC2-92D1-81E6-AE69-3329944EE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2D024-4FC9-C202-A596-9A4D1116B173}"/>
              </a:ext>
            </a:extLst>
          </p:cNvPr>
          <p:cNvSpPr>
            <a:spLocks noGrp="1"/>
          </p:cNvSpPr>
          <p:nvPr>
            <p:ph type="title"/>
          </p:nvPr>
        </p:nvSpPr>
        <p:spPr>
          <a:xfrm>
            <a:off x="598503" y="193906"/>
            <a:ext cx="10515600" cy="487131"/>
          </a:xfrm>
        </p:spPr>
        <p:txBody>
          <a:bodyPr>
            <a:normAutofit/>
          </a:bodyPr>
          <a:lstStyle/>
          <a:p>
            <a:r>
              <a:rPr lang="en-US" sz="2800" dirty="0"/>
              <a:t>Wireframe Notes – 7.1.2 – Edit/Delete User</a:t>
            </a:r>
            <a:endParaRPr lang="en-US" sz="2800" dirty="0">
              <a:solidFill>
                <a:srgbClr val="FF0000"/>
              </a:solidFill>
            </a:endParaRPr>
          </a:p>
        </p:txBody>
      </p:sp>
      <p:sp>
        <p:nvSpPr>
          <p:cNvPr id="4" name="Date Placeholder 3">
            <a:extLst>
              <a:ext uri="{FF2B5EF4-FFF2-40B4-BE49-F238E27FC236}">
                <a16:creationId xmlns:a16="http://schemas.microsoft.com/office/drawing/2014/main" id="{DFEBF9CA-1606-74C5-DD90-462A4A434BF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A4578981-FF3F-34A3-EC5D-C1AE39F3C50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53</a:t>
            </a:fld>
            <a:endParaRPr lang="en-US"/>
          </a:p>
        </p:txBody>
      </p:sp>
      <p:sp>
        <p:nvSpPr>
          <p:cNvPr id="7" name="TextBox 6">
            <a:extLst>
              <a:ext uri="{FF2B5EF4-FFF2-40B4-BE49-F238E27FC236}">
                <a16:creationId xmlns:a16="http://schemas.microsoft.com/office/drawing/2014/main" id="{38D7AF2C-6AB3-77E5-89E8-345345535F15}"/>
              </a:ext>
            </a:extLst>
          </p:cNvPr>
          <p:cNvSpPr txBox="1"/>
          <p:nvPr/>
        </p:nvSpPr>
        <p:spPr>
          <a:xfrm>
            <a:off x="8943033" y="656371"/>
            <a:ext cx="3248967" cy="3077766"/>
          </a:xfrm>
          <a:prstGeom prst="rect">
            <a:avLst/>
          </a:prstGeom>
          <a:noFill/>
        </p:spPr>
        <p:txBody>
          <a:bodyPr wrap="square">
            <a:spAutoFit/>
          </a:bodyPr>
          <a:lstStyle/>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This is the Edit User Admin View.</a:t>
            </a:r>
          </a:p>
          <a:p>
            <a:pPr marL="285750" marR="2000" indent="-285750" algn="l" rtl="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Ability to Edit/Delete a new User.</a:t>
            </a:r>
          </a:p>
          <a:p>
            <a:pPr marL="285750" marR="2000" indent="-285750" algn="l" rtl="0">
              <a:buFont typeface="Arial" panose="020B0604020202020204" pitchFamily="34" charset="0"/>
              <a:buChar char="•"/>
            </a:pPr>
            <a:r>
              <a:rPr lang="en-US" sz="1400" b="0" i="0" u="none" strike="noStrike" baseline="0" dirty="0">
                <a:solidFill>
                  <a:srgbClr val="606771"/>
                </a:solidFill>
                <a:latin typeface="Century Gothic" panose="020B0502020202020204" pitchFamily="34" charset="0"/>
              </a:rPr>
              <a:t>Ability to Cancel Edit/Delete a User.</a:t>
            </a:r>
          </a:p>
          <a:p>
            <a:pPr marL="285750" marR="2000" indent="-285750" algn="l" rtl="0">
              <a:buFont typeface="Arial" panose="020B0604020202020204" pitchFamily="34" charset="0"/>
              <a:buChar char="•"/>
            </a:pPr>
            <a:r>
              <a:rPr lang="en-US" sz="1400" dirty="0">
                <a:solidFill>
                  <a:srgbClr val="606771"/>
                </a:solidFill>
                <a:latin typeface="Century Gothic" panose="020B0502020202020204" pitchFamily="34" charset="0"/>
              </a:rPr>
              <a:t>Ability to assign user roles</a:t>
            </a:r>
          </a:p>
          <a:p>
            <a:pPr marL="285750" marR="2000" indent="-285750" algn="l" rtl="0">
              <a:buFont typeface="Arial" panose="020B0604020202020204" pitchFamily="34" charset="0"/>
              <a:buChar char="•"/>
            </a:pPr>
            <a:endParaRPr lang="en-US" sz="1600" b="1" dirty="0">
              <a:solidFill>
                <a:srgbClr val="FF0000"/>
              </a:solidFill>
              <a:latin typeface="Century Gothic" panose="020B0502020202020204" pitchFamily="34" charset="0"/>
            </a:endParaRPr>
          </a:p>
          <a:p>
            <a:pPr marL="285750" marR="2000" indent="-285750" algn="l" rtl="0">
              <a:buFont typeface="Arial" panose="020B0604020202020204" pitchFamily="34" charset="0"/>
              <a:buChar char="•"/>
            </a:pPr>
            <a:r>
              <a:rPr lang="en-US" sz="1600" b="1" dirty="0">
                <a:solidFill>
                  <a:srgbClr val="FF0000"/>
                </a:solidFill>
                <a:latin typeface="Century Gothic" panose="020B0502020202020204" pitchFamily="34" charset="0"/>
              </a:rPr>
              <a:t>Add Company between Name and Email. </a:t>
            </a:r>
          </a:p>
          <a:p>
            <a:pPr marL="285750" marR="2000" indent="-285750" algn="l" rtl="0">
              <a:buFont typeface="Arial" panose="020B0604020202020204" pitchFamily="34" charset="0"/>
              <a:buChar char="•"/>
            </a:pPr>
            <a:r>
              <a:rPr lang="en-US" sz="1600" b="1" dirty="0">
                <a:solidFill>
                  <a:srgbClr val="FF0000"/>
                </a:solidFill>
                <a:latin typeface="Century Gothic" panose="020B0502020202020204" pitchFamily="34" charset="0"/>
              </a:rPr>
              <a:t>Revise screen for password. </a:t>
            </a:r>
            <a:br>
              <a:rPr lang="en-US" sz="1600" b="1" dirty="0">
                <a:solidFill>
                  <a:srgbClr val="FF0000"/>
                </a:solidFill>
                <a:latin typeface="Century Gothic" panose="020B0502020202020204" pitchFamily="34" charset="0"/>
              </a:rPr>
            </a:br>
            <a:r>
              <a:rPr lang="en-US" sz="1600" b="1" dirty="0">
                <a:solidFill>
                  <a:srgbClr val="FF0000"/>
                </a:solidFill>
                <a:latin typeface="Century Gothic" panose="020B0502020202020204" pitchFamily="34" charset="0"/>
              </a:rPr>
              <a:t>- (leave blank to keep current password)</a:t>
            </a:r>
          </a:p>
          <a:p>
            <a:pPr marL="285750" marR="2000" indent="-285750" algn="l" rtl="0">
              <a:buFont typeface="Arial" panose="020B0604020202020204" pitchFamily="34" charset="0"/>
              <a:buChar char="•"/>
            </a:pPr>
            <a:endParaRPr lang="en-US" sz="1400" dirty="0">
              <a:solidFill>
                <a:srgbClr val="606771"/>
              </a:solidFill>
              <a:latin typeface="Century Gothic" panose="020B0502020202020204" pitchFamily="34" charset="0"/>
            </a:endParaRPr>
          </a:p>
        </p:txBody>
      </p:sp>
      <p:pic>
        <p:nvPicPr>
          <p:cNvPr id="8" name="Picture 7">
            <a:extLst>
              <a:ext uri="{FF2B5EF4-FFF2-40B4-BE49-F238E27FC236}">
                <a16:creationId xmlns:a16="http://schemas.microsoft.com/office/drawing/2014/main" id="{A2A94C4D-10B1-C379-5CD7-BFAF55DBFFDC}"/>
              </a:ext>
            </a:extLst>
          </p:cNvPr>
          <p:cNvPicPr>
            <a:picLocks noChangeAspect="1"/>
          </p:cNvPicPr>
          <p:nvPr/>
        </p:nvPicPr>
        <p:blipFill>
          <a:blip r:embed="rId3"/>
          <a:srcRect r="9012"/>
          <a:stretch/>
        </p:blipFill>
        <p:spPr>
          <a:xfrm>
            <a:off x="598504" y="681037"/>
            <a:ext cx="8233998" cy="5143931"/>
          </a:xfrm>
          <a:prstGeom prst="rect">
            <a:avLst/>
          </a:prstGeom>
        </p:spPr>
      </p:pic>
      <p:sp>
        <p:nvSpPr>
          <p:cNvPr id="3" name="TextBox 2">
            <a:extLst>
              <a:ext uri="{FF2B5EF4-FFF2-40B4-BE49-F238E27FC236}">
                <a16:creationId xmlns:a16="http://schemas.microsoft.com/office/drawing/2014/main" id="{9B12D8BB-0B26-C0B9-28BB-43CB2F51AB4C}"/>
              </a:ext>
            </a:extLst>
          </p:cNvPr>
          <p:cNvSpPr txBox="1"/>
          <p:nvPr/>
        </p:nvSpPr>
        <p:spPr>
          <a:xfrm>
            <a:off x="512637" y="954566"/>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26822532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2B92-61A0-08BF-5BD2-A48E892B2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C2B6C-B6DE-503B-203B-F23FF739B406}"/>
              </a:ext>
            </a:extLst>
          </p:cNvPr>
          <p:cNvSpPr>
            <a:spLocks noGrp="1"/>
          </p:cNvSpPr>
          <p:nvPr>
            <p:ph type="title"/>
          </p:nvPr>
        </p:nvSpPr>
        <p:spPr/>
        <p:txBody>
          <a:bodyPr/>
          <a:lstStyle/>
          <a:p>
            <a:r>
              <a:rPr lang="en-US" sz="2800" dirty="0"/>
              <a:t>Wireframe Notes – 7.2 – Configuration Settings</a:t>
            </a:r>
          </a:p>
        </p:txBody>
      </p:sp>
      <p:sp>
        <p:nvSpPr>
          <p:cNvPr id="3" name="Content Placeholder 2">
            <a:extLst>
              <a:ext uri="{FF2B5EF4-FFF2-40B4-BE49-F238E27FC236}">
                <a16:creationId xmlns:a16="http://schemas.microsoft.com/office/drawing/2014/main" id="{BAF7FB9C-294B-4339-2CD9-94A681F75D6E}"/>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4520CDC9-5986-B197-BE1E-1C2E76E61EAD}"/>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933BC99A-BCD2-90A8-869B-501ED943BAA0}"/>
              </a:ext>
            </a:extLst>
          </p:cNvPr>
          <p:cNvSpPr>
            <a:spLocks noGrp="1"/>
          </p:cNvSpPr>
          <p:nvPr>
            <p:ph type="sldNum" sz="quarter" idx="12"/>
          </p:nvPr>
        </p:nvSpPr>
        <p:spPr/>
        <p:txBody>
          <a:bodyPr/>
          <a:lstStyle/>
          <a:p>
            <a:fld id="{330EA680-D336-4FF7-8B7A-9848BB0A1C32}" type="slidenum">
              <a:rPr lang="en-US" smtClean="0"/>
              <a:t>54</a:t>
            </a:fld>
            <a:endParaRPr lang="en-US"/>
          </a:p>
        </p:txBody>
      </p:sp>
    </p:spTree>
    <p:extLst>
      <p:ext uri="{BB962C8B-B14F-4D97-AF65-F5344CB8AC3E}">
        <p14:creationId xmlns:p14="http://schemas.microsoft.com/office/powerpoint/2010/main" val="4605637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16D1A-E7FD-990D-7C2D-7FCC64F65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26D1D-CBC7-C8EF-4445-E550EF95F160}"/>
              </a:ext>
            </a:extLst>
          </p:cNvPr>
          <p:cNvSpPr>
            <a:spLocks noGrp="1"/>
          </p:cNvSpPr>
          <p:nvPr>
            <p:ph type="title"/>
          </p:nvPr>
        </p:nvSpPr>
        <p:spPr/>
        <p:txBody>
          <a:bodyPr/>
          <a:lstStyle/>
          <a:p>
            <a:r>
              <a:rPr lang="en-US" sz="2800" dirty="0"/>
              <a:t>Wireframe Notes – 7.2.2 – Google Analytics</a:t>
            </a:r>
          </a:p>
        </p:txBody>
      </p:sp>
      <p:sp>
        <p:nvSpPr>
          <p:cNvPr id="3" name="Content Placeholder 2">
            <a:extLst>
              <a:ext uri="{FF2B5EF4-FFF2-40B4-BE49-F238E27FC236}">
                <a16:creationId xmlns:a16="http://schemas.microsoft.com/office/drawing/2014/main" id="{22589604-CEE0-2B8F-D424-4C51B1D6D758}"/>
              </a:ext>
            </a:extLst>
          </p:cNvPr>
          <p:cNvSpPr>
            <a:spLocks noGrp="1"/>
          </p:cNvSpPr>
          <p:nvPr>
            <p:ph idx="1"/>
          </p:nvPr>
        </p:nvSpPr>
        <p:spPr>
          <a:xfrm>
            <a:off x="6096000" y="905691"/>
            <a:ext cx="5782491" cy="5367518"/>
          </a:xfrm>
        </p:spPr>
        <p:txBody>
          <a:bodyPr>
            <a:normAutofit/>
          </a:bodyPr>
          <a:lstStyle/>
          <a:p>
            <a:pPr marR="2000" algn="l" rtl="0">
              <a:buSzPts val="1200"/>
              <a:buFont typeface="Symbol" panose="05050102010706020507" pitchFamily="18" charset="2"/>
              <a:buChar char="·"/>
            </a:pPr>
            <a:r>
              <a:rPr lang="en-US" sz="1600" dirty="0">
                <a:solidFill>
                  <a:srgbClr val="606771"/>
                </a:solidFill>
              </a:rPr>
              <a:t>Tracking page. Ability to update Tracking number. </a:t>
            </a:r>
          </a:p>
          <a:p>
            <a:pPr marR="2000" algn="l" rtl="0">
              <a:buSzPts val="1200"/>
              <a:buFont typeface="Symbol" panose="05050102010706020507" pitchFamily="18" charset="2"/>
              <a:buChar char="·"/>
            </a:pPr>
            <a:r>
              <a:rPr lang="en-US" sz="1600" dirty="0">
                <a:solidFill>
                  <a:srgbClr val="606771"/>
                </a:solidFill>
              </a:rPr>
              <a:t>Ability to view change history. </a:t>
            </a:r>
          </a:p>
          <a:p>
            <a:pPr marR="2000" algn="l" rtl="0">
              <a:buSzPts val="1200"/>
              <a:buFont typeface="Symbol" panose="05050102010706020507" pitchFamily="18" charset="2"/>
              <a:buChar char="·"/>
            </a:pPr>
            <a:endParaRPr lang="en-US" sz="1600" dirty="0">
              <a:solidFill>
                <a:srgbClr val="606771"/>
              </a:solidFill>
            </a:endParaRPr>
          </a:p>
          <a:p>
            <a:pPr marR="2000" algn="l" rtl="0">
              <a:buSzPts val="1200"/>
              <a:buFont typeface="Symbol" panose="05050102010706020507" pitchFamily="18" charset="2"/>
              <a:buChar char="·"/>
            </a:pPr>
            <a:endParaRPr lang="en-US" sz="1600" dirty="0">
              <a:solidFill>
                <a:srgbClr val="606771"/>
              </a:solidFill>
            </a:endParaRPr>
          </a:p>
          <a:p>
            <a:pPr marR="2000" algn="l" rtl="0">
              <a:buSzPts val="1200"/>
              <a:buFont typeface="Symbol" panose="05050102010706020507" pitchFamily="18" charset="2"/>
              <a:buChar char="·"/>
            </a:pPr>
            <a:r>
              <a:rPr lang="en-US" sz="1600" b="1" dirty="0">
                <a:solidFill>
                  <a:srgbClr val="FF0000"/>
                </a:solidFill>
              </a:rPr>
              <a:t>Tacking number should be grey out when disabled.</a:t>
            </a:r>
          </a:p>
          <a:p>
            <a:pPr marR="2000" algn="l" rtl="0"/>
            <a:endParaRPr lang="en-US" sz="600" b="0" i="0" u="none" strike="noStrike" baseline="0" dirty="0">
              <a:solidFill>
                <a:srgbClr val="606771"/>
              </a:solidFill>
            </a:endParaRPr>
          </a:p>
          <a:p>
            <a:pPr marR="2000" algn="l" rtl="0"/>
            <a:endParaRPr lang="en-US" sz="600" b="0" i="0" u="none" strike="noStrike" baseline="0" dirty="0">
              <a:solidFill>
                <a:srgbClr val="606771"/>
              </a:solidFill>
            </a:endParaRPr>
          </a:p>
        </p:txBody>
      </p:sp>
      <p:sp>
        <p:nvSpPr>
          <p:cNvPr id="4" name="Date Placeholder 3">
            <a:extLst>
              <a:ext uri="{FF2B5EF4-FFF2-40B4-BE49-F238E27FC236}">
                <a16:creationId xmlns:a16="http://schemas.microsoft.com/office/drawing/2014/main" id="{B6193578-00E8-010C-5133-DF8364A9CA49}"/>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609BBC38-9DA9-F27C-F684-4027C4AFC69F}"/>
              </a:ext>
            </a:extLst>
          </p:cNvPr>
          <p:cNvSpPr>
            <a:spLocks noGrp="1"/>
          </p:cNvSpPr>
          <p:nvPr>
            <p:ph type="sldNum" sz="quarter" idx="12"/>
          </p:nvPr>
        </p:nvSpPr>
        <p:spPr/>
        <p:txBody>
          <a:bodyPr/>
          <a:lstStyle/>
          <a:p>
            <a:fld id="{330EA680-D336-4FF7-8B7A-9848BB0A1C32}" type="slidenum">
              <a:rPr lang="en-US" smtClean="0"/>
              <a:t>55</a:t>
            </a:fld>
            <a:endParaRPr lang="en-US"/>
          </a:p>
        </p:txBody>
      </p:sp>
      <p:pic>
        <p:nvPicPr>
          <p:cNvPr id="7" name="Picture 6">
            <a:extLst>
              <a:ext uri="{FF2B5EF4-FFF2-40B4-BE49-F238E27FC236}">
                <a16:creationId xmlns:a16="http://schemas.microsoft.com/office/drawing/2014/main" id="{6CA3005E-1C2F-AB2B-F856-7C01F9FB341D}"/>
              </a:ext>
            </a:extLst>
          </p:cNvPr>
          <p:cNvPicPr>
            <a:picLocks noChangeAspect="1"/>
          </p:cNvPicPr>
          <p:nvPr/>
        </p:nvPicPr>
        <p:blipFill>
          <a:blip r:embed="rId3"/>
          <a:stretch>
            <a:fillRect/>
          </a:stretch>
        </p:blipFill>
        <p:spPr>
          <a:xfrm>
            <a:off x="780894" y="681037"/>
            <a:ext cx="5075409" cy="5486400"/>
          </a:xfrm>
          <a:prstGeom prst="rect">
            <a:avLst/>
          </a:prstGeom>
        </p:spPr>
      </p:pic>
      <p:sp>
        <p:nvSpPr>
          <p:cNvPr id="6" name="TextBox 5">
            <a:extLst>
              <a:ext uri="{FF2B5EF4-FFF2-40B4-BE49-F238E27FC236}">
                <a16:creationId xmlns:a16="http://schemas.microsoft.com/office/drawing/2014/main" id="{0E048384-1767-5D58-5FB2-4DCE9D752843}"/>
              </a:ext>
            </a:extLst>
          </p:cNvPr>
          <p:cNvSpPr txBox="1"/>
          <p:nvPr/>
        </p:nvSpPr>
        <p:spPr>
          <a:xfrm>
            <a:off x="512637" y="954566"/>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23593096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9209B-4F23-97D7-14CB-5BFBCE648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D91C1-B37A-A4CC-77C1-9F9C41DCA6A1}"/>
              </a:ext>
            </a:extLst>
          </p:cNvPr>
          <p:cNvSpPr>
            <a:spLocks noGrp="1"/>
          </p:cNvSpPr>
          <p:nvPr>
            <p:ph type="title"/>
          </p:nvPr>
        </p:nvSpPr>
        <p:spPr/>
        <p:txBody>
          <a:bodyPr/>
          <a:lstStyle/>
          <a:p>
            <a:r>
              <a:rPr lang="en-US" sz="2800" dirty="0"/>
              <a:t>Wireframe Notes – 7.3 – API Management (Draft)</a:t>
            </a:r>
          </a:p>
        </p:txBody>
      </p:sp>
      <p:sp>
        <p:nvSpPr>
          <p:cNvPr id="4" name="Date Placeholder 3">
            <a:extLst>
              <a:ext uri="{FF2B5EF4-FFF2-40B4-BE49-F238E27FC236}">
                <a16:creationId xmlns:a16="http://schemas.microsoft.com/office/drawing/2014/main" id="{26370A2B-D142-71AC-DEEA-DE9830AE46CC}"/>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C1E68917-2F12-BC1D-4CB6-67AC78DD1D59}"/>
              </a:ext>
            </a:extLst>
          </p:cNvPr>
          <p:cNvSpPr>
            <a:spLocks noGrp="1"/>
          </p:cNvSpPr>
          <p:nvPr>
            <p:ph type="sldNum" sz="quarter" idx="12"/>
          </p:nvPr>
        </p:nvSpPr>
        <p:spPr/>
        <p:txBody>
          <a:bodyPr/>
          <a:lstStyle/>
          <a:p>
            <a:fld id="{330EA680-D336-4FF7-8B7A-9848BB0A1C32}" type="slidenum">
              <a:rPr lang="en-US" smtClean="0"/>
              <a:t>56</a:t>
            </a:fld>
            <a:endParaRPr lang="en-US"/>
          </a:p>
        </p:txBody>
      </p:sp>
      <p:pic>
        <p:nvPicPr>
          <p:cNvPr id="9" name="Picture 8">
            <a:extLst>
              <a:ext uri="{FF2B5EF4-FFF2-40B4-BE49-F238E27FC236}">
                <a16:creationId xmlns:a16="http://schemas.microsoft.com/office/drawing/2014/main" id="{448241C7-9CDE-FAC8-DF38-DFAD34A7A2A7}"/>
              </a:ext>
            </a:extLst>
          </p:cNvPr>
          <p:cNvPicPr>
            <a:picLocks noChangeAspect="1"/>
          </p:cNvPicPr>
          <p:nvPr/>
        </p:nvPicPr>
        <p:blipFill>
          <a:blip r:embed="rId3"/>
          <a:srcRect t="3975"/>
          <a:stretch>
            <a:fillRect/>
          </a:stretch>
        </p:blipFill>
        <p:spPr>
          <a:xfrm>
            <a:off x="598503" y="903767"/>
            <a:ext cx="7554897" cy="5379388"/>
          </a:xfrm>
          <a:prstGeom prst="rect">
            <a:avLst/>
          </a:prstGeom>
        </p:spPr>
      </p:pic>
      <p:sp>
        <p:nvSpPr>
          <p:cNvPr id="6" name="TextBox 5">
            <a:extLst>
              <a:ext uri="{FF2B5EF4-FFF2-40B4-BE49-F238E27FC236}">
                <a16:creationId xmlns:a16="http://schemas.microsoft.com/office/drawing/2014/main" id="{A5751EFE-4EF3-9BFA-6407-33F343EC3EAA}"/>
              </a:ext>
            </a:extLst>
          </p:cNvPr>
          <p:cNvSpPr txBox="1"/>
          <p:nvPr/>
        </p:nvSpPr>
        <p:spPr>
          <a:xfrm>
            <a:off x="8610600" y="1713246"/>
            <a:ext cx="3404191" cy="1754326"/>
          </a:xfrm>
          <a:prstGeom prst="rect">
            <a:avLst/>
          </a:prstGeom>
          <a:noFill/>
        </p:spPr>
        <p:txBody>
          <a:bodyPr wrap="square">
            <a:spAutoFit/>
          </a:bodyPr>
          <a:lstStyle/>
          <a:p>
            <a:r>
              <a:rPr lang="en-US" sz="1800" b="1" dirty="0">
                <a:solidFill>
                  <a:srgbClr val="FF0000"/>
                </a:solidFill>
              </a:rPr>
              <a:t>update Screenshot</a:t>
            </a:r>
          </a:p>
          <a:p>
            <a:r>
              <a:rPr lang="en-US" b="1" dirty="0">
                <a:solidFill>
                  <a:srgbClr val="FF0000"/>
                </a:solidFill>
              </a:rPr>
              <a:t>- No night icon</a:t>
            </a:r>
            <a:endParaRPr lang="en-US" sz="1800" b="1" dirty="0">
              <a:solidFill>
                <a:srgbClr val="FF0000"/>
              </a:solidFill>
            </a:endParaRPr>
          </a:p>
          <a:p>
            <a:endParaRPr lang="en-US" b="1" dirty="0">
              <a:solidFill>
                <a:srgbClr val="FF0000"/>
              </a:solidFill>
            </a:endParaRPr>
          </a:p>
          <a:p>
            <a:r>
              <a:rPr lang="en-US" b="1" dirty="0">
                <a:solidFill>
                  <a:srgbClr val="FF0000"/>
                </a:solidFill>
              </a:rPr>
              <a:t>Per Carly: will rely on Anuki IDK: What type of info would be relevant for a page like this. </a:t>
            </a:r>
            <a:r>
              <a:rPr lang="en-US" sz="1800" b="1" dirty="0">
                <a:solidFill>
                  <a:srgbClr val="FF0000"/>
                </a:solidFill>
              </a:rPr>
              <a:t> </a:t>
            </a:r>
            <a:endParaRPr lang="en-US" dirty="0"/>
          </a:p>
        </p:txBody>
      </p:sp>
      <p:sp>
        <p:nvSpPr>
          <p:cNvPr id="3" name="TextBox 2">
            <a:extLst>
              <a:ext uri="{FF2B5EF4-FFF2-40B4-BE49-F238E27FC236}">
                <a16:creationId xmlns:a16="http://schemas.microsoft.com/office/drawing/2014/main" id="{C1050393-DB22-AEB0-E866-8A483CB1A2AE}"/>
              </a:ext>
            </a:extLst>
          </p:cNvPr>
          <p:cNvSpPr txBox="1"/>
          <p:nvPr/>
        </p:nvSpPr>
        <p:spPr>
          <a:xfrm>
            <a:off x="512637" y="954566"/>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35529528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027B-50EA-C780-DD5F-A0E05F705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F890F-C0E7-5BDD-0049-B437DA934CBA}"/>
              </a:ext>
            </a:extLst>
          </p:cNvPr>
          <p:cNvSpPr>
            <a:spLocks noGrp="1"/>
          </p:cNvSpPr>
          <p:nvPr>
            <p:ph type="title"/>
          </p:nvPr>
        </p:nvSpPr>
        <p:spPr/>
        <p:txBody>
          <a:bodyPr/>
          <a:lstStyle/>
          <a:p>
            <a:r>
              <a:rPr lang="en-US" sz="2800" dirty="0"/>
              <a:t>Wireframe Notes – 7.3 – Amazon API  Integration</a:t>
            </a:r>
          </a:p>
        </p:txBody>
      </p:sp>
      <p:sp>
        <p:nvSpPr>
          <p:cNvPr id="3" name="Content Placeholder 2">
            <a:extLst>
              <a:ext uri="{FF2B5EF4-FFF2-40B4-BE49-F238E27FC236}">
                <a16:creationId xmlns:a16="http://schemas.microsoft.com/office/drawing/2014/main" id="{2AB5384C-4706-E199-5503-B78F9D1DB197}"/>
              </a:ext>
            </a:extLst>
          </p:cNvPr>
          <p:cNvSpPr>
            <a:spLocks noGrp="1"/>
          </p:cNvSpPr>
          <p:nvPr>
            <p:ph idx="1"/>
          </p:nvPr>
        </p:nvSpPr>
        <p:spPr>
          <a:xfrm>
            <a:off x="598503" y="868055"/>
            <a:ext cx="10755297" cy="487132"/>
          </a:xfrm>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Sample JSON to send to Amazon</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1966A050-7991-D01F-C4B9-46FB1F5BA0E1}"/>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AF34D916-35B0-95AC-BE27-A17D8EEA920B}"/>
              </a:ext>
            </a:extLst>
          </p:cNvPr>
          <p:cNvSpPr>
            <a:spLocks noGrp="1"/>
          </p:cNvSpPr>
          <p:nvPr>
            <p:ph type="sldNum" sz="quarter" idx="12"/>
          </p:nvPr>
        </p:nvSpPr>
        <p:spPr/>
        <p:txBody>
          <a:bodyPr/>
          <a:lstStyle/>
          <a:p>
            <a:fld id="{330EA680-D336-4FF7-8B7A-9848BB0A1C32}" type="slidenum">
              <a:rPr lang="en-US" smtClean="0"/>
              <a:t>57</a:t>
            </a:fld>
            <a:endParaRPr lang="en-US"/>
          </a:p>
        </p:txBody>
      </p:sp>
      <p:sp>
        <p:nvSpPr>
          <p:cNvPr id="9" name="TextBox 8">
            <a:extLst>
              <a:ext uri="{FF2B5EF4-FFF2-40B4-BE49-F238E27FC236}">
                <a16:creationId xmlns:a16="http://schemas.microsoft.com/office/drawing/2014/main" id="{0946A382-1876-8A44-C690-F3D83AC68D63}"/>
              </a:ext>
            </a:extLst>
          </p:cNvPr>
          <p:cNvSpPr txBox="1"/>
          <p:nvPr/>
        </p:nvSpPr>
        <p:spPr>
          <a:xfrm>
            <a:off x="851984" y="1346942"/>
            <a:ext cx="5124167" cy="4524315"/>
          </a:xfrm>
          <a:prstGeom prst="rect">
            <a:avLst/>
          </a:prstGeom>
          <a:noFill/>
        </p:spPr>
        <p:txBody>
          <a:bodyPr wrap="square">
            <a:spAutoFit/>
          </a:bodyPr>
          <a:lstStyle/>
          <a:p>
            <a:r>
              <a:rPr lang="en-US" sz="1200" dirty="0"/>
              <a:t>[</a:t>
            </a:r>
          </a:p>
          <a:p>
            <a:r>
              <a:rPr lang="en-US" sz="1200" dirty="0"/>
              <a:t>  {</a:t>
            </a:r>
          </a:p>
          <a:p>
            <a:r>
              <a:rPr lang="en-US" sz="1200" dirty="0"/>
              <a:t>    "</a:t>
            </a:r>
            <a:r>
              <a:rPr lang="en-US" sz="1200" dirty="0" err="1"/>
              <a:t>product_name</a:t>
            </a:r>
            <a:r>
              <a:rPr lang="en-US" sz="1200" dirty="0"/>
              <a:t>": "</a:t>
            </a:r>
            <a:r>
              <a:rPr lang="en-US" sz="1200" dirty="0" err="1"/>
              <a:t>EcoSmart</a:t>
            </a:r>
            <a:r>
              <a:rPr lang="en-US" sz="1200" dirty="0"/>
              <a:t> LED Bulb",</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"123456789012",</a:t>
            </a:r>
          </a:p>
          <a:p>
            <a:r>
              <a:rPr lang="en-US" sz="1200" dirty="0"/>
              <a:t>    "</a:t>
            </a:r>
            <a:r>
              <a:rPr lang="en-US" sz="1200" dirty="0" err="1"/>
              <a:t>certification_country</a:t>
            </a:r>
            <a:r>
              <a:rPr lang="en-US" sz="1200" dirty="0"/>
              <a:t>": "US",</a:t>
            </a:r>
          </a:p>
          <a:p>
            <a:r>
              <a:rPr lang="en-US" sz="1200" dirty="0"/>
              <a:t>    "</a:t>
            </a:r>
            <a:r>
              <a:rPr lang="en-US" sz="1200" dirty="0" err="1"/>
              <a:t>certification_agency</a:t>
            </a:r>
            <a:r>
              <a:rPr lang="en-US" sz="1200" dirty="0"/>
              <a:t>": "</a:t>
            </a:r>
            <a:r>
              <a:rPr lang="en-US" sz="1200" dirty="0" err="1"/>
              <a:t>greencircle_energy_savings</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"2025-12-31",</a:t>
            </a:r>
          </a:p>
          <a:p>
            <a:r>
              <a:rPr lang="en-US" sz="1200" dirty="0"/>
              <a:t>    "</a:t>
            </a:r>
            <a:r>
              <a:rPr lang="en-US" sz="1200" dirty="0" err="1"/>
              <a:t>certification_status</a:t>
            </a:r>
            <a:r>
              <a:rPr lang="en-US" sz="1200" dirty="0"/>
              <a:t>": "certified"</a:t>
            </a:r>
          </a:p>
          <a:p>
            <a:r>
              <a:rPr lang="en-US" sz="1200" dirty="0"/>
              <a:t>  },</a:t>
            </a:r>
          </a:p>
          <a:p>
            <a:r>
              <a:rPr lang="en-US" sz="1200" dirty="0"/>
              <a:t>  {</a:t>
            </a:r>
          </a:p>
          <a:p>
            <a:r>
              <a:rPr lang="en-US" sz="1200" dirty="0"/>
              <a:t>    "</a:t>
            </a:r>
            <a:r>
              <a:rPr lang="en-US" sz="1200" dirty="0" err="1"/>
              <a:t>product_name</a:t>
            </a:r>
            <a:r>
              <a:rPr lang="en-US" sz="1200" dirty="0"/>
              <a:t>": "Recycled Office Chair",</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"9876543210987",</a:t>
            </a:r>
          </a:p>
          <a:p>
            <a:r>
              <a:rPr lang="en-US" sz="1200" dirty="0"/>
              <a:t>    "</a:t>
            </a:r>
            <a:r>
              <a:rPr lang="en-US" sz="1200" dirty="0" err="1"/>
              <a:t>certification_country</a:t>
            </a:r>
            <a:r>
              <a:rPr lang="en-US" sz="1200" dirty="0"/>
              <a:t>": "UK",</a:t>
            </a:r>
          </a:p>
          <a:p>
            <a:r>
              <a:rPr lang="en-US" sz="1200" dirty="0"/>
              <a:t>    "</a:t>
            </a:r>
            <a:r>
              <a:rPr lang="en-US" sz="1200" dirty="0" err="1"/>
              <a:t>certification_agency</a:t>
            </a:r>
            <a:r>
              <a:rPr lang="en-US" sz="1200" dirty="0"/>
              <a:t>": "</a:t>
            </a:r>
            <a:r>
              <a:rPr lang="en-US" sz="1200" dirty="0" err="1"/>
              <a:t>greencircle_recycled_content</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"2024-11-01",</a:t>
            </a:r>
          </a:p>
          <a:p>
            <a:r>
              <a:rPr lang="en-US" sz="1200" dirty="0"/>
              <a:t>    "</a:t>
            </a:r>
            <a:r>
              <a:rPr lang="en-US" sz="1200" dirty="0" err="1"/>
              <a:t>certification_status</a:t>
            </a:r>
            <a:r>
              <a:rPr lang="en-US" sz="1200" dirty="0"/>
              <a:t>": "not certified"</a:t>
            </a:r>
          </a:p>
          <a:p>
            <a:r>
              <a:rPr lang="en-US" sz="1200" dirty="0"/>
              <a:t>  }</a:t>
            </a:r>
          </a:p>
          <a:p>
            <a:r>
              <a:rPr lang="en-US" sz="1200" dirty="0"/>
              <a:t>]</a:t>
            </a:r>
          </a:p>
        </p:txBody>
      </p:sp>
    </p:spTree>
    <p:extLst>
      <p:ext uri="{BB962C8B-B14F-4D97-AF65-F5344CB8AC3E}">
        <p14:creationId xmlns:p14="http://schemas.microsoft.com/office/powerpoint/2010/main" val="22303297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91D98-1855-D154-0AF8-8F9247D42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30800-DCDF-CC65-B005-0058E6C0DDE2}"/>
              </a:ext>
            </a:extLst>
          </p:cNvPr>
          <p:cNvSpPr>
            <a:spLocks noGrp="1"/>
          </p:cNvSpPr>
          <p:nvPr>
            <p:ph type="title"/>
          </p:nvPr>
        </p:nvSpPr>
        <p:spPr>
          <a:xfrm>
            <a:off x="598503" y="193906"/>
            <a:ext cx="10515600" cy="487131"/>
          </a:xfrm>
        </p:spPr>
        <p:txBody>
          <a:bodyPr>
            <a:normAutofit/>
          </a:bodyPr>
          <a:lstStyle/>
          <a:p>
            <a:r>
              <a:rPr lang="en-US" sz="2800" dirty="0"/>
              <a:t>Wireframe Notes – 7.4.1 – Certificate Types</a:t>
            </a:r>
          </a:p>
        </p:txBody>
      </p:sp>
      <p:sp>
        <p:nvSpPr>
          <p:cNvPr id="4" name="Date Placeholder 3">
            <a:extLst>
              <a:ext uri="{FF2B5EF4-FFF2-40B4-BE49-F238E27FC236}">
                <a16:creationId xmlns:a16="http://schemas.microsoft.com/office/drawing/2014/main" id="{8F0429D1-C51C-95E2-66DD-A29D0D9DEA9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C226BFC0-4E52-0413-2D26-CA27CA9D81D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58</a:t>
            </a:fld>
            <a:endParaRPr lang="en-US"/>
          </a:p>
        </p:txBody>
      </p:sp>
      <p:sp>
        <p:nvSpPr>
          <p:cNvPr id="7" name="TextBox 6">
            <a:extLst>
              <a:ext uri="{FF2B5EF4-FFF2-40B4-BE49-F238E27FC236}">
                <a16:creationId xmlns:a16="http://schemas.microsoft.com/office/drawing/2014/main" id="{8C25EC88-52DE-9F79-6ECC-921516684BF6}"/>
              </a:ext>
            </a:extLst>
          </p:cNvPr>
          <p:cNvSpPr txBox="1"/>
          <p:nvPr/>
        </p:nvSpPr>
        <p:spPr>
          <a:xfrm>
            <a:off x="8961446" y="964351"/>
            <a:ext cx="2921876" cy="2431435"/>
          </a:xfrm>
          <a:prstGeom prst="rect">
            <a:avLst/>
          </a:prstGeom>
          <a:noFill/>
        </p:spPr>
        <p:txBody>
          <a:bodyPr wrap="square">
            <a:spAutoFit/>
          </a:bodyPr>
          <a:lstStyle/>
          <a:p>
            <a:pPr marL="285750" indent="-285750">
              <a:buFont typeface="Arial" panose="020B0604020202020204" pitchFamily="34" charset="0"/>
              <a:buChar char="•"/>
            </a:pPr>
            <a:r>
              <a:rPr lang="en-US" sz="1200" dirty="0">
                <a:latin typeface="Century Gothic" panose="020B0502020202020204" pitchFamily="34" charset="0"/>
              </a:rPr>
              <a:t>This is the Certificate Types Admin View.</a:t>
            </a:r>
          </a:p>
          <a:p>
            <a:pPr marL="285750" indent="-285750">
              <a:buFont typeface="Arial" panose="020B0604020202020204" pitchFamily="34" charset="0"/>
              <a:buChar char="•"/>
            </a:pPr>
            <a:r>
              <a:rPr lang="en-US" sz="1200" dirty="0">
                <a:latin typeface="Century Gothic" panose="020B0502020202020204" pitchFamily="34" charset="0"/>
              </a:rPr>
              <a:t>Ability to Add or Edit Certificate Types.</a:t>
            </a:r>
          </a:p>
          <a:p>
            <a:pPr marL="285750" indent="-285750">
              <a:buFont typeface="Arial" panose="020B0604020202020204" pitchFamily="34" charset="0"/>
              <a:buChar char="•"/>
            </a:pPr>
            <a:r>
              <a:rPr lang="en-US" sz="1200" dirty="0">
                <a:latin typeface="Century Gothic" panose="020B0502020202020204" pitchFamily="34" charset="0"/>
              </a:rPr>
              <a:t>The save row in the screenshot is </a:t>
            </a:r>
            <a:r>
              <a:rPr lang="en-US" sz="1200" b="1" dirty="0">
                <a:latin typeface="Century Gothic" panose="020B0502020202020204" pitchFamily="34" charset="0"/>
              </a:rPr>
              <a:t>to show </a:t>
            </a:r>
            <a:r>
              <a:rPr lang="en-US" sz="1200" dirty="0">
                <a:latin typeface="Century Gothic" panose="020B0502020202020204" pitchFamily="34" charset="0"/>
              </a:rPr>
              <a:t>the add view of the data grid. It would only be visible when a user clicks</a:t>
            </a:r>
          </a:p>
          <a:p>
            <a:pPr marL="285750" indent="-285750">
              <a:buFont typeface="Arial" panose="020B0604020202020204" pitchFamily="34" charset="0"/>
              <a:buChar char="•"/>
            </a:pPr>
            <a:endParaRPr lang="en-US" sz="1200" dirty="0">
              <a:latin typeface="Century Gothic" panose="020B0502020202020204" pitchFamily="34" charset="0"/>
            </a:endParaRPr>
          </a:p>
          <a:p>
            <a:pPr marL="285750" indent="-285750">
              <a:buFont typeface="Arial" panose="020B0604020202020204" pitchFamily="34" charset="0"/>
              <a:buChar char="•"/>
            </a:pPr>
            <a:endParaRPr lang="en-US" sz="1200" dirty="0">
              <a:latin typeface="Century Gothic" panose="020B0502020202020204" pitchFamily="34" charset="0"/>
            </a:endParaRPr>
          </a:p>
          <a:p>
            <a:pPr marL="285750" indent="-285750">
              <a:buFont typeface="Arial" panose="020B0604020202020204" pitchFamily="34" charset="0"/>
              <a:buChar char="•"/>
            </a:pPr>
            <a:r>
              <a:rPr lang="en-US" sz="1600" b="1" dirty="0">
                <a:solidFill>
                  <a:srgbClr val="FF0000"/>
                </a:solidFill>
                <a:latin typeface="Century Gothic" panose="020B0502020202020204" pitchFamily="34" charset="0"/>
              </a:rPr>
              <a:t>Update screenshot: Action alignment issue. </a:t>
            </a:r>
          </a:p>
        </p:txBody>
      </p:sp>
      <p:pic>
        <p:nvPicPr>
          <p:cNvPr id="8" name="Picture 7">
            <a:extLst>
              <a:ext uri="{FF2B5EF4-FFF2-40B4-BE49-F238E27FC236}">
                <a16:creationId xmlns:a16="http://schemas.microsoft.com/office/drawing/2014/main" id="{DB8117EF-DDBE-2910-3C50-709405E3B572}"/>
              </a:ext>
            </a:extLst>
          </p:cNvPr>
          <p:cNvPicPr>
            <a:picLocks noChangeAspect="1"/>
          </p:cNvPicPr>
          <p:nvPr/>
        </p:nvPicPr>
        <p:blipFill>
          <a:blip r:embed="rId3"/>
          <a:stretch>
            <a:fillRect/>
          </a:stretch>
        </p:blipFill>
        <p:spPr>
          <a:xfrm>
            <a:off x="726549" y="763837"/>
            <a:ext cx="7565237" cy="4173924"/>
          </a:xfrm>
          <a:prstGeom prst="rect">
            <a:avLst/>
          </a:prstGeom>
        </p:spPr>
      </p:pic>
    </p:spTree>
    <p:extLst>
      <p:ext uri="{BB962C8B-B14F-4D97-AF65-F5344CB8AC3E}">
        <p14:creationId xmlns:p14="http://schemas.microsoft.com/office/powerpoint/2010/main" val="30616146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617F9-7639-E783-A712-FC71B4A99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1D3D6-ACAE-7F85-6541-EE87163A007F}"/>
              </a:ext>
            </a:extLst>
          </p:cNvPr>
          <p:cNvSpPr>
            <a:spLocks noGrp="1"/>
          </p:cNvSpPr>
          <p:nvPr>
            <p:ph type="title"/>
          </p:nvPr>
        </p:nvSpPr>
        <p:spPr/>
        <p:txBody>
          <a:bodyPr/>
          <a:lstStyle/>
          <a:p>
            <a:r>
              <a:rPr lang="en-US" sz="2800" dirty="0"/>
              <a:t>Wireframe Notes – 7.5.1 – Certification Field Management</a:t>
            </a:r>
          </a:p>
        </p:txBody>
      </p:sp>
      <p:sp>
        <p:nvSpPr>
          <p:cNvPr id="4" name="Date Placeholder 3">
            <a:extLst>
              <a:ext uri="{FF2B5EF4-FFF2-40B4-BE49-F238E27FC236}">
                <a16:creationId xmlns:a16="http://schemas.microsoft.com/office/drawing/2014/main" id="{A1059555-A51C-E191-AF08-19AB706F4C3E}"/>
              </a:ext>
            </a:extLst>
          </p:cNvPr>
          <p:cNvSpPr>
            <a:spLocks noGrp="1"/>
          </p:cNvSpPr>
          <p:nvPr>
            <p:ph type="dt" sz="half" idx="10"/>
          </p:nvPr>
        </p:nvSpPr>
        <p:spPr/>
        <p:txBody>
          <a:bodyPr/>
          <a:lstStyle/>
          <a:p>
            <a:fld id="{FAAB834C-2F9F-4134-A8A6-8D28F07BEAB5}" type="datetime1">
              <a:rPr lang="en-US" smtClean="0"/>
              <a:t>6/21/2025</a:t>
            </a:fld>
            <a:endParaRPr lang="en-US"/>
          </a:p>
        </p:txBody>
      </p:sp>
      <p:sp>
        <p:nvSpPr>
          <p:cNvPr id="5" name="Slide Number Placeholder 4">
            <a:extLst>
              <a:ext uri="{FF2B5EF4-FFF2-40B4-BE49-F238E27FC236}">
                <a16:creationId xmlns:a16="http://schemas.microsoft.com/office/drawing/2014/main" id="{E5324E14-33CA-C3D1-A47E-2D46C8E7235D}"/>
              </a:ext>
            </a:extLst>
          </p:cNvPr>
          <p:cNvSpPr>
            <a:spLocks noGrp="1"/>
          </p:cNvSpPr>
          <p:nvPr>
            <p:ph type="sldNum" sz="quarter" idx="12"/>
          </p:nvPr>
        </p:nvSpPr>
        <p:spPr/>
        <p:txBody>
          <a:bodyPr/>
          <a:lstStyle/>
          <a:p>
            <a:fld id="{330EA680-D336-4FF7-8B7A-9848BB0A1C32}" type="slidenum">
              <a:rPr lang="en-US" smtClean="0"/>
              <a:t>59</a:t>
            </a:fld>
            <a:endParaRPr lang="en-US"/>
          </a:p>
        </p:txBody>
      </p:sp>
      <p:pic>
        <p:nvPicPr>
          <p:cNvPr id="9" name="Picture 8">
            <a:extLst>
              <a:ext uri="{FF2B5EF4-FFF2-40B4-BE49-F238E27FC236}">
                <a16:creationId xmlns:a16="http://schemas.microsoft.com/office/drawing/2014/main" id="{DF04AB7A-906B-F837-A2AD-0BBCBFC88114}"/>
              </a:ext>
            </a:extLst>
          </p:cNvPr>
          <p:cNvPicPr>
            <a:picLocks noChangeAspect="1"/>
          </p:cNvPicPr>
          <p:nvPr/>
        </p:nvPicPr>
        <p:blipFill>
          <a:blip r:embed="rId2"/>
          <a:stretch>
            <a:fillRect/>
          </a:stretch>
        </p:blipFill>
        <p:spPr>
          <a:xfrm>
            <a:off x="598503" y="720700"/>
            <a:ext cx="8997673" cy="5581019"/>
          </a:xfrm>
          <a:prstGeom prst="rect">
            <a:avLst/>
          </a:prstGeom>
        </p:spPr>
      </p:pic>
      <p:sp>
        <p:nvSpPr>
          <p:cNvPr id="10" name="TextBox 9">
            <a:extLst>
              <a:ext uri="{FF2B5EF4-FFF2-40B4-BE49-F238E27FC236}">
                <a16:creationId xmlns:a16="http://schemas.microsoft.com/office/drawing/2014/main" id="{2FE60A03-10BC-F14A-41BA-4B714213D061}"/>
              </a:ext>
            </a:extLst>
          </p:cNvPr>
          <p:cNvSpPr txBox="1"/>
          <p:nvPr/>
        </p:nvSpPr>
        <p:spPr>
          <a:xfrm>
            <a:off x="9596175" y="964351"/>
            <a:ext cx="2441749" cy="1015663"/>
          </a:xfrm>
          <a:prstGeom prst="rect">
            <a:avLst/>
          </a:prstGeom>
          <a:noFill/>
        </p:spPr>
        <p:txBody>
          <a:bodyPr wrap="square">
            <a:spAutoFit/>
          </a:bodyPr>
          <a:lstStyle/>
          <a:p>
            <a:pPr marL="285750" indent="-285750">
              <a:buFont typeface="Arial" panose="020B0604020202020204" pitchFamily="34" charset="0"/>
              <a:buChar char="•"/>
            </a:pPr>
            <a:r>
              <a:rPr lang="en-US" sz="1200" dirty="0">
                <a:latin typeface="Century Gothic" panose="020B0502020202020204" pitchFamily="34" charset="0"/>
              </a:rPr>
              <a:t>This is the Certificate Field Management View.</a:t>
            </a:r>
          </a:p>
          <a:p>
            <a:pPr marL="285750" indent="-285750">
              <a:buFont typeface="Arial" panose="020B0604020202020204" pitchFamily="34" charset="0"/>
              <a:buChar char="•"/>
            </a:pPr>
            <a:r>
              <a:rPr lang="en-US" sz="1200" dirty="0">
                <a:latin typeface="Century Gothic" panose="020B0502020202020204" pitchFamily="34" charset="0"/>
              </a:rPr>
              <a:t>Ability to Add or Edit Certificate Fields.</a:t>
            </a:r>
          </a:p>
          <a:p>
            <a:pPr marL="285750" indent="-285750">
              <a:buFont typeface="Arial" panose="020B0604020202020204" pitchFamily="34" charset="0"/>
              <a:buChar char="•"/>
            </a:pPr>
            <a:r>
              <a:rPr lang="en-US" sz="1200" dirty="0">
                <a:latin typeface="Century Gothic" panose="020B0502020202020204" pitchFamily="34" charset="0"/>
              </a:rPr>
              <a:t>All edits are inline. </a:t>
            </a:r>
          </a:p>
        </p:txBody>
      </p:sp>
      <p:sp>
        <p:nvSpPr>
          <p:cNvPr id="6" name="TextBox 5">
            <a:extLst>
              <a:ext uri="{FF2B5EF4-FFF2-40B4-BE49-F238E27FC236}">
                <a16:creationId xmlns:a16="http://schemas.microsoft.com/office/drawing/2014/main" id="{118F61D1-3D72-21DB-E401-B43AAFA83F9B}"/>
              </a:ext>
            </a:extLst>
          </p:cNvPr>
          <p:cNvSpPr txBox="1"/>
          <p:nvPr/>
        </p:nvSpPr>
        <p:spPr>
          <a:xfrm>
            <a:off x="9596174" y="3141877"/>
            <a:ext cx="2441749" cy="2308324"/>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rgbClr val="FF0000"/>
                </a:solidFill>
                <a:latin typeface="Century Gothic" panose="020B0502020202020204" pitchFamily="34" charset="0"/>
              </a:rPr>
              <a:t>Update screenshot: Action alignment issue. </a:t>
            </a:r>
          </a:p>
          <a:p>
            <a:pPr marL="285750" indent="-285750">
              <a:buFont typeface="Arial" panose="020B0604020202020204" pitchFamily="34" charset="0"/>
              <a:buChar char="•"/>
            </a:pPr>
            <a:endParaRPr lang="en-US" b="1" dirty="0">
              <a:solidFill>
                <a:srgbClr val="FF0000"/>
              </a:solidFill>
              <a:latin typeface="Century Gothic" panose="020B0502020202020204" pitchFamily="34" charset="0"/>
            </a:endParaRPr>
          </a:p>
          <a:p>
            <a:pPr marL="285750" indent="-285750">
              <a:buFont typeface="Arial" panose="020B0604020202020204" pitchFamily="34" charset="0"/>
              <a:buChar char="•"/>
            </a:pPr>
            <a:r>
              <a:rPr lang="en-US" b="1" dirty="0">
                <a:solidFill>
                  <a:srgbClr val="FF0000"/>
                </a:solidFill>
                <a:latin typeface="Century Gothic" panose="020B0502020202020204" pitchFamily="34" charset="0"/>
              </a:rPr>
              <a:t>Definitions for the controls.</a:t>
            </a:r>
          </a:p>
          <a:p>
            <a:pPr marL="285750" indent="-285750">
              <a:buFont typeface="Arial" panose="020B0604020202020204" pitchFamily="34" charset="0"/>
              <a:buChar char="•"/>
            </a:pPr>
            <a:endParaRPr lang="en-US" sz="1800" b="1" dirty="0">
              <a:solidFill>
                <a:srgbClr val="FF0000"/>
              </a:solidFill>
              <a:latin typeface="Century Gothic" panose="020B0502020202020204" pitchFamily="34" charset="0"/>
            </a:endParaRPr>
          </a:p>
        </p:txBody>
      </p:sp>
      <p:sp>
        <p:nvSpPr>
          <p:cNvPr id="3" name="TextBox 2">
            <a:extLst>
              <a:ext uri="{FF2B5EF4-FFF2-40B4-BE49-F238E27FC236}">
                <a16:creationId xmlns:a16="http://schemas.microsoft.com/office/drawing/2014/main" id="{7637D3AB-AE28-EF3D-AB69-E1F7060D647C}"/>
              </a:ext>
            </a:extLst>
          </p:cNvPr>
          <p:cNvSpPr txBox="1"/>
          <p:nvPr/>
        </p:nvSpPr>
        <p:spPr>
          <a:xfrm>
            <a:off x="512637" y="954566"/>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24436189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77C01-B1B5-352F-6A6C-F75A5F78F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75440-D068-0568-F453-6E3DF9A4C645}"/>
              </a:ext>
            </a:extLst>
          </p:cNvPr>
          <p:cNvSpPr>
            <a:spLocks noGrp="1"/>
          </p:cNvSpPr>
          <p:nvPr>
            <p:ph type="title"/>
          </p:nvPr>
        </p:nvSpPr>
        <p:spPr>
          <a:xfrm>
            <a:off x="598503" y="193906"/>
            <a:ext cx="10515600" cy="487131"/>
          </a:xfrm>
        </p:spPr>
        <p:txBody>
          <a:bodyPr>
            <a:normAutofit/>
          </a:bodyPr>
          <a:lstStyle/>
          <a:p>
            <a:r>
              <a:rPr lang="en-US" sz="2800" dirty="0"/>
              <a:t>Wireframe Notes – 5.2 – Products </a:t>
            </a:r>
          </a:p>
        </p:txBody>
      </p:sp>
      <p:sp>
        <p:nvSpPr>
          <p:cNvPr id="4" name="Date Placeholder 3">
            <a:extLst>
              <a:ext uri="{FF2B5EF4-FFF2-40B4-BE49-F238E27FC236}">
                <a16:creationId xmlns:a16="http://schemas.microsoft.com/office/drawing/2014/main" id="{6F47B057-D604-0405-DA03-17A84A77250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93DB6002-7D82-FD04-D410-015CBC400A3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60</a:t>
            </a:fld>
            <a:endParaRPr lang="en-US"/>
          </a:p>
        </p:txBody>
      </p:sp>
      <p:sp>
        <p:nvSpPr>
          <p:cNvPr id="12" name="TextBox 11">
            <a:extLst>
              <a:ext uri="{FF2B5EF4-FFF2-40B4-BE49-F238E27FC236}">
                <a16:creationId xmlns:a16="http://schemas.microsoft.com/office/drawing/2014/main" id="{A8D10791-8F37-A56F-1BA1-98A53F4553EE}"/>
              </a:ext>
            </a:extLst>
          </p:cNvPr>
          <p:cNvSpPr txBox="1"/>
          <p:nvPr/>
        </p:nvSpPr>
        <p:spPr>
          <a:xfrm>
            <a:off x="598503" y="4492345"/>
            <a:ext cx="10214809" cy="2677656"/>
          </a:xfrm>
          <a:prstGeom prst="rect">
            <a:avLst/>
          </a:prstGeom>
          <a:solidFill>
            <a:schemeClr val="bg1"/>
          </a:solid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Ability to manage all Products</a:t>
            </a: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Product identifier management for multiple types: ASIN, UPC, GTIN, and EAN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Search functionality to quickly find products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Filtering options by type, status, and partners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Status tracking (Active/Inactive) for each product ID  (</a:t>
            </a:r>
            <a:r>
              <a:rPr lang="en-US" dirty="0"/>
              <a:t>REVIEW: Will be tied to the status of the associated Certificate # but can be overwritten by selecting a different status under that column. </a:t>
            </a:r>
            <a:r>
              <a:rPr lang="en-US" sz="1200" dirty="0">
                <a:effectLst/>
                <a:latin typeface="Aptos" panose="020B0004020202020204" pitchFamily="34" charset="0"/>
                <a:ea typeface="Times New Roman" panose="02020603050405020304" pitchFamily="18" charset="0"/>
                <a:cs typeface="Aptos" panose="020B0004020202020204" pitchFamily="34" charset="0"/>
              </a:rPr>
              <a:t>)</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Partner association (currently showing Amazon)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Creation date and creator tracking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Import and export capabilities for bulk management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Adding new identifiers with dedicated buttons for each type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Linking multiple identifier types to the same product ID (as shown with PROD-1001 and PROD-1002)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Table view with deletion options for each entry</a:t>
            </a:r>
            <a:endParaRPr lang="en-US" sz="1200" dirty="0">
              <a:latin typeface="Century Gothic" panose="020B0502020202020204" pitchFamily="34" charset="0"/>
            </a:endParaRPr>
          </a:p>
        </p:txBody>
      </p:sp>
      <p:pic>
        <p:nvPicPr>
          <p:cNvPr id="14" name="Picture 13">
            <a:extLst>
              <a:ext uri="{FF2B5EF4-FFF2-40B4-BE49-F238E27FC236}">
                <a16:creationId xmlns:a16="http://schemas.microsoft.com/office/drawing/2014/main" id="{17107048-E3B1-882A-DAA9-4BB73E359699}"/>
              </a:ext>
            </a:extLst>
          </p:cNvPr>
          <p:cNvPicPr>
            <a:picLocks noChangeAspect="1"/>
          </p:cNvPicPr>
          <p:nvPr/>
        </p:nvPicPr>
        <p:blipFill>
          <a:blip r:embed="rId4"/>
          <a:stretch>
            <a:fillRect/>
          </a:stretch>
        </p:blipFill>
        <p:spPr>
          <a:xfrm>
            <a:off x="711370" y="681037"/>
            <a:ext cx="10289866" cy="3640903"/>
          </a:xfrm>
          <a:prstGeom prst="rect">
            <a:avLst/>
          </a:prstGeom>
        </p:spPr>
      </p:pic>
    </p:spTree>
    <p:extLst>
      <p:ext uri="{BB962C8B-B14F-4D97-AF65-F5344CB8AC3E}">
        <p14:creationId xmlns:p14="http://schemas.microsoft.com/office/powerpoint/2010/main" val="1506956132"/>
      </p:ext>
    </p:extLst>
  </p:cSld>
  <p:clrMapOvr>
    <a:masterClrMapping/>
  </p:clrMapOvr>
  <p:extLst>
    <p:ext uri="{6950BFC3-D8DA-4A85-94F7-54DA5524770B}">
      <p188:commentRel xmlns:p188="http://schemas.microsoft.com/office/powerpoint/2018/8/main" r:id="rId3"/>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B143-7AE0-08E3-C21B-CE535976D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990C-AD1B-6629-2983-F2D5B25336DA}"/>
              </a:ext>
            </a:extLst>
          </p:cNvPr>
          <p:cNvSpPr>
            <a:spLocks noGrp="1"/>
          </p:cNvSpPr>
          <p:nvPr>
            <p:ph type="title"/>
          </p:nvPr>
        </p:nvSpPr>
        <p:spPr>
          <a:xfrm>
            <a:off x="598503" y="193906"/>
            <a:ext cx="10515600" cy="487131"/>
          </a:xfrm>
        </p:spPr>
        <p:txBody>
          <a:bodyPr>
            <a:normAutofit/>
          </a:bodyPr>
          <a:lstStyle/>
          <a:p>
            <a:r>
              <a:rPr lang="en-US" sz="2800" dirty="0"/>
              <a:t>Wireframe Notes – 7.5.2 – CSF Attributes</a:t>
            </a:r>
          </a:p>
        </p:txBody>
      </p:sp>
      <p:sp>
        <p:nvSpPr>
          <p:cNvPr id="4" name="Date Placeholder 3">
            <a:extLst>
              <a:ext uri="{FF2B5EF4-FFF2-40B4-BE49-F238E27FC236}">
                <a16:creationId xmlns:a16="http://schemas.microsoft.com/office/drawing/2014/main" id="{7F2DE5F9-27FC-51FB-3CDE-BD29C3E7F14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EE0DFA24-972F-FACE-4507-0DACCEDC2DD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61</a:t>
            </a:fld>
            <a:endParaRPr lang="en-US"/>
          </a:p>
        </p:txBody>
      </p:sp>
      <p:sp>
        <p:nvSpPr>
          <p:cNvPr id="3" name="Content Placeholder 2">
            <a:extLst>
              <a:ext uri="{FF2B5EF4-FFF2-40B4-BE49-F238E27FC236}">
                <a16:creationId xmlns:a16="http://schemas.microsoft.com/office/drawing/2014/main" id="{3288FCDB-5B14-1D8B-08C3-EA5D50E609ED}"/>
              </a:ext>
            </a:extLst>
          </p:cNvPr>
          <p:cNvSpPr>
            <a:spLocks noGrp="1"/>
          </p:cNvSpPr>
          <p:nvPr>
            <p:ph idx="1"/>
          </p:nvPr>
        </p:nvSpPr>
        <p:spPr>
          <a:xfrm>
            <a:off x="9453259" y="1056721"/>
            <a:ext cx="2594542" cy="4865613"/>
          </a:xfrm>
        </p:spPr>
        <p:txBody>
          <a:bodyPr>
            <a:normAutofit/>
          </a:bodyPr>
          <a:lstStyle/>
          <a:p>
            <a:pPr marR="2000">
              <a:buSzPts val="1200"/>
            </a:pPr>
            <a:r>
              <a:rPr lang="en-US" sz="1200" b="0" i="0" u="none" strike="noStrike" baseline="0" dirty="0">
                <a:solidFill>
                  <a:srgbClr val="606771"/>
                </a:solidFill>
              </a:rPr>
              <a:t>This is the CSF Attributes View.</a:t>
            </a:r>
          </a:p>
          <a:p>
            <a:pPr marR="2000">
              <a:buSzPts val="1200"/>
            </a:pPr>
            <a:r>
              <a:rPr lang="en-US" sz="1200" b="0" i="0" u="none" strike="noStrike" baseline="0" dirty="0">
                <a:solidFill>
                  <a:srgbClr val="606771"/>
                </a:solidFill>
              </a:rPr>
              <a:t>Only Admins can edit this page. </a:t>
            </a:r>
          </a:p>
          <a:p>
            <a:pPr marR="2000"/>
            <a:r>
              <a:rPr lang="en-US" sz="1200" b="0" i="0" u="none" strike="noStrike" baseline="0" dirty="0">
                <a:solidFill>
                  <a:srgbClr val="606771"/>
                </a:solidFill>
              </a:rPr>
              <a:t>Ability to Add </a:t>
            </a:r>
            <a:r>
              <a:rPr lang="en-US" sz="1200" dirty="0">
                <a:solidFill>
                  <a:srgbClr val="606771"/>
                </a:solidFill>
              </a:rPr>
              <a:t>CSF Attributes</a:t>
            </a:r>
            <a:endParaRPr lang="en-US" sz="1200" b="0" i="0" u="none" strike="noStrike" baseline="0" dirty="0">
              <a:solidFill>
                <a:srgbClr val="606771"/>
              </a:solidFill>
            </a:endParaRPr>
          </a:p>
          <a:p>
            <a:pPr marR="2000"/>
            <a:r>
              <a:rPr lang="en-US" sz="1200" b="0" i="0" u="none" strike="noStrike" baseline="0" dirty="0">
                <a:solidFill>
                  <a:srgbClr val="606771"/>
                </a:solidFill>
              </a:rPr>
              <a:t>Ability to Edit/Delete Selected CSF Attributes.</a:t>
            </a:r>
          </a:p>
          <a:p>
            <a:pPr marR="2000"/>
            <a:endParaRPr lang="en-US" sz="1200" dirty="0">
              <a:solidFill>
                <a:srgbClr val="606771"/>
              </a:solidFill>
            </a:endParaRPr>
          </a:p>
          <a:p>
            <a:pPr marR="2000"/>
            <a:r>
              <a:rPr lang="en-US" sz="1200" b="1" dirty="0">
                <a:solidFill>
                  <a:srgbClr val="FF0000"/>
                </a:solidFill>
              </a:rPr>
              <a:t>Should not need to  import for this. Remove</a:t>
            </a:r>
          </a:p>
          <a:p>
            <a:pPr marR="2000"/>
            <a:r>
              <a:rPr lang="en-US" sz="1200" b="1" dirty="0">
                <a:solidFill>
                  <a:srgbClr val="FF0000"/>
                </a:solidFill>
              </a:rPr>
              <a:t>Do we need this if you it inline below. </a:t>
            </a:r>
          </a:p>
          <a:p>
            <a:pPr marR="2000"/>
            <a:r>
              <a:rPr lang="en-US" sz="1200" dirty="0"/>
              <a:t>Should add buttons on this screen and all screens to integrated into the grid?</a:t>
            </a:r>
          </a:p>
        </p:txBody>
      </p:sp>
      <p:pic>
        <p:nvPicPr>
          <p:cNvPr id="10" name="Picture 9">
            <a:extLst>
              <a:ext uri="{FF2B5EF4-FFF2-40B4-BE49-F238E27FC236}">
                <a16:creationId xmlns:a16="http://schemas.microsoft.com/office/drawing/2014/main" id="{B9E74D69-74B9-4EC8-074A-149B016B9CAB}"/>
              </a:ext>
            </a:extLst>
          </p:cNvPr>
          <p:cNvPicPr>
            <a:picLocks noChangeAspect="1"/>
          </p:cNvPicPr>
          <p:nvPr/>
        </p:nvPicPr>
        <p:blipFill>
          <a:blip r:embed="rId3"/>
          <a:stretch>
            <a:fillRect/>
          </a:stretch>
        </p:blipFill>
        <p:spPr>
          <a:xfrm>
            <a:off x="788389" y="785816"/>
            <a:ext cx="8664870" cy="5465754"/>
          </a:xfrm>
          <a:prstGeom prst="rect">
            <a:avLst/>
          </a:prstGeom>
        </p:spPr>
      </p:pic>
      <p:sp>
        <p:nvSpPr>
          <p:cNvPr id="6" name="TextBox 5">
            <a:extLst>
              <a:ext uri="{FF2B5EF4-FFF2-40B4-BE49-F238E27FC236}">
                <a16:creationId xmlns:a16="http://schemas.microsoft.com/office/drawing/2014/main" id="{9E6C94DE-65F4-6467-B0D4-75AA521D6F7F}"/>
              </a:ext>
            </a:extLst>
          </p:cNvPr>
          <p:cNvSpPr txBox="1"/>
          <p:nvPr/>
        </p:nvSpPr>
        <p:spPr>
          <a:xfrm>
            <a:off x="512637" y="954566"/>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7085990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F3508-36B3-B4F4-2F18-0DD85C457A1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13FBF8F-0F5B-8007-07A4-F4793D41FF59}"/>
              </a:ext>
            </a:extLst>
          </p:cNvPr>
          <p:cNvPicPr>
            <a:picLocks noChangeAspect="1"/>
          </p:cNvPicPr>
          <p:nvPr/>
        </p:nvPicPr>
        <p:blipFill>
          <a:blip r:embed="rId4"/>
          <a:stretch>
            <a:fillRect/>
          </a:stretch>
        </p:blipFill>
        <p:spPr>
          <a:xfrm>
            <a:off x="463100" y="681037"/>
            <a:ext cx="9839036" cy="5093053"/>
          </a:xfrm>
          <a:prstGeom prst="rect">
            <a:avLst/>
          </a:prstGeom>
        </p:spPr>
      </p:pic>
      <p:sp>
        <p:nvSpPr>
          <p:cNvPr id="2" name="Title 1">
            <a:extLst>
              <a:ext uri="{FF2B5EF4-FFF2-40B4-BE49-F238E27FC236}">
                <a16:creationId xmlns:a16="http://schemas.microsoft.com/office/drawing/2014/main" id="{E0AE21B2-1684-2279-195F-09FFC9B24E1A}"/>
              </a:ext>
            </a:extLst>
          </p:cNvPr>
          <p:cNvSpPr>
            <a:spLocks noGrp="1"/>
          </p:cNvSpPr>
          <p:nvPr>
            <p:ph type="title"/>
          </p:nvPr>
        </p:nvSpPr>
        <p:spPr>
          <a:xfrm>
            <a:off x="598503" y="193906"/>
            <a:ext cx="10515600" cy="487131"/>
          </a:xfrm>
        </p:spPr>
        <p:txBody>
          <a:bodyPr>
            <a:normAutofit/>
          </a:bodyPr>
          <a:lstStyle/>
          <a:p>
            <a:r>
              <a:rPr lang="en-US" sz="2800" dirty="0"/>
              <a:t>Wireframe Notes – 7.5.3 – Tags</a:t>
            </a:r>
          </a:p>
        </p:txBody>
      </p:sp>
      <p:sp>
        <p:nvSpPr>
          <p:cNvPr id="4" name="Date Placeholder 3">
            <a:extLst>
              <a:ext uri="{FF2B5EF4-FFF2-40B4-BE49-F238E27FC236}">
                <a16:creationId xmlns:a16="http://schemas.microsoft.com/office/drawing/2014/main" id="{3911C153-8313-9885-8ABA-71266B45549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291981D3-6B4C-80D2-5CBA-90874F748DB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62</a:t>
            </a:fld>
            <a:endParaRPr lang="en-US"/>
          </a:p>
        </p:txBody>
      </p:sp>
      <p:sp>
        <p:nvSpPr>
          <p:cNvPr id="3" name="Content Placeholder 2">
            <a:extLst>
              <a:ext uri="{FF2B5EF4-FFF2-40B4-BE49-F238E27FC236}">
                <a16:creationId xmlns:a16="http://schemas.microsoft.com/office/drawing/2014/main" id="{0B0EEA07-2167-16AF-2577-22D201F6EF77}"/>
              </a:ext>
            </a:extLst>
          </p:cNvPr>
          <p:cNvSpPr>
            <a:spLocks noGrp="1"/>
          </p:cNvSpPr>
          <p:nvPr>
            <p:ph idx="1"/>
          </p:nvPr>
        </p:nvSpPr>
        <p:spPr>
          <a:xfrm>
            <a:off x="463100" y="5576168"/>
            <a:ext cx="9053392" cy="1191974"/>
          </a:xfrm>
        </p:spPr>
        <p:txBody>
          <a:bodyPr>
            <a:normAutofit/>
          </a:bodyPr>
          <a:lstStyle/>
          <a:p>
            <a:pPr marR="2000">
              <a:buSzPts val="1200"/>
            </a:pPr>
            <a:r>
              <a:rPr lang="en-US" sz="1200" b="0" i="0" u="none" strike="noStrike" baseline="0" dirty="0">
                <a:solidFill>
                  <a:srgbClr val="606771"/>
                </a:solidFill>
              </a:rPr>
              <a:t>This is the Tags Admin View.</a:t>
            </a:r>
          </a:p>
          <a:p>
            <a:pPr marR="2000"/>
            <a:r>
              <a:rPr lang="en-US" sz="1200" b="0" i="0" u="none" strike="noStrike" baseline="0" dirty="0">
                <a:solidFill>
                  <a:srgbClr val="606771"/>
                </a:solidFill>
              </a:rPr>
              <a:t>Ability to Add, Edit/Delete Selected Tags.</a:t>
            </a:r>
          </a:p>
          <a:p>
            <a:pPr marR="2000"/>
            <a:r>
              <a:rPr lang="en-US" sz="1200" dirty="0">
                <a:solidFill>
                  <a:srgbClr val="606771"/>
                </a:solidFill>
              </a:rPr>
              <a:t>Ability to sort, export tags.</a:t>
            </a:r>
            <a:endParaRPr lang="en-US" sz="1200" dirty="0"/>
          </a:p>
        </p:txBody>
      </p:sp>
    </p:spTree>
    <p:extLst>
      <p:ext uri="{BB962C8B-B14F-4D97-AF65-F5344CB8AC3E}">
        <p14:creationId xmlns:p14="http://schemas.microsoft.com/office/powerpoint/2010/main" val="387276960"/>
      </p:ext>
    </p:extLst>
  </p:cSld>
  <p:clrMapOvr>
    <a:masterClrMapping/>
  </p:clrMapOvr>
  <p:extLst>
    <p:ext uri="{6950BFC3-D8DA-4A85-94F7-54DA5524770B}">
      <p188:commentRel xmlns:p188="http://schemas.microsoft.com/office/powerpoint/2018/8/main" r:id="rId3"/>
    </p:ext>
  </p:extLs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2BFCD-3CB3-A6A8-41D3-690E876A3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0B6E1-F0E5-2B63-44B4-1E06F8239CE6}"/>
              </a:ext>
            </a:extLst>
          </p:cNvPr>
          <p:cNvSpPr>
            <a:spLocks noGrp="1"/>
          </p:cNvSpPr>
          <p:nvPr>
            <p:ph type="title"/>
          </p:nvPr>
        </p:nvSpPr>
        <p:spPr>
          <a:xfrm>
            <a:off x="598503" y="193906"/>
            <a:ext cx="10515600" cy="487131"/>
          </a:xfrm>
        </p:spPr>
        <p:txBody>
          <a:bodyPr>
            <a:normAutofit/>
          </a:bodyPr>
          <a:lstStyle/>
          <a:p>
            <a:r>
              <a:rPr lang="en-US" sz="2800" dirty="0"/>
              <a:t>Wireframe Notes – 7.5.4 – Partners</a:t>
            </a:r>
          </a:p>
        </p:txBody>
      </p:sp>
      <p:sp>
        <p:nvSpPr>
          <p:cNvPr id="4" name="Date Placeholder 3">
            <a:extLst>
              <a:ext uri="{FF2B5EF4-FFF2-40B4-BE49-F238E27FC236}">
                <a16:creationId xmlns:a16="http://schemas.microsoft.com/office/drawing/2014/main" id="{680DB28F-8E9A-2C3F-204D-3C9437DA71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6/21/2025</a:t>
            </a:fld>
            <a:endParaRPr lang="en-US"/>
          </a:p>
        </p:txBody>
      </p:sp>
      <p:sp>
        <p:nvSpPr>
          <p:cNvPr id="5" name="Slide Number Placeholder 4">
            <a:extLst>
              <a:ext uri="{FF2B5EF4-FFF2-40B4-BE49-F238E27FC236}">
                <a16:creationId xmlns:a16="http://schemas.microsoft.com/office/drawing/2014/main" id="{ABAB12A8-7491-75C1-ED9E-F1CC9CBFA98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63</a:t>
            </a:fld>
            <a:endParaRPr lang="en-US"/>
          </a:p>
        </p:txBody>
      </p:sp>
      <p:sp>
        <p:nvSpPr>
          <p:cNvPr id="3" name="Content Placeholder 2">
            <a:extLst>
              <a:ext uri="{FF2B5EF4-FFF2-40B4-BE49-F238E27FC236}">
                <a16:creationId xmlns:a16="http://schemas.microsoft.com/office/drawing/2014/main" id="{93AD5815-FA52-075E-47C2-BFE6087EA455}"/>
              </a:ext>
            </a:extLst>
          </p:cNvPr>
          <p:cNvSpPr>
            <a:spLocks noGrp="1"/>
          </p:cNvSpPr>
          <p:nvPr>
            <p:ph idx="1"/>
          </p:nvPr>
        </p:nvSpPr>
        <p:spPr>
          <a:xfrm>
            <a:off x="693336" y="4844803"/>
            <a:ext cx="8169137" cy="1191974"/>
          </a:xfrm>
        </p:spPr>
        <p:txBody>
          <a:bodyPr>
            <a:normAutofit fontScale="92500" lnSpcReduction="10000"/>
          </a:bodyPr>
          <a:lstStyle/>
          <a:p>
            <a:pPr marR="2000">
              <a:buSzPts val="1200"/>
            </a:pPr>
            <a:r>
              <a:rPr lang="en-US" sz="1300" b="0" i="0" u="none" strike="noStrike" baseline="0" dirty="0">
                <a:solidFill>
                  <a:srgbClr val="606771"/>
                </a:solidFill>
              </a:rPr>
              <a:t>This is the Partners Admin View.</a:t>
            </a:r>
          </a:p>
          <a:p>
            <a:pPr marR="2000"/>
            <a:r>
              <a:rPr lang="en-US" sz="1300" b="0" i="0" u="none" strike="noStrike" baseline="0" dirty="0">
                <a:solidFill>
                  <a:srgbClr val="606771"/>
                </a:solidFill>
              </a:rPr>
              <a:t>Ability to Add </a:t>
            </a:r>
            <a:r>
              <a:rPr lang="en-US" sz="1300" dirty="0">
                <a:solidFill>
                  <a:srgbClr val="606771"/>
                </a:solidFill>
              </a:rPr>
              <a:t>new Partners</a:t>
            </a:r>
            <a:r>
              <a:rPr lang="en-US" sz="1300" b="0" i="0" u="none" strike="noStrike" baseline="0" dirty="0">
                <a:solidFill>
                  <a:srgbClr val="606771"/>
                </a:solidFill>
              </a:rPr>
              <a:t>.</a:t>
            </a:r>
          </a:p>
          <a:p>
            <a:pPr marR="2000"/>
            <a:r>
              <a:rPr lang="en-US" sz="1300" b="0" i="0" u="none" strike="noStrike" baseline="0" dirty="0">
                <a:solidFill>
                  <a:srgbClr val="606771"/>
                </a:solidFill>
              </a:rPr>
              <a:t>Ability to Edit/Delete Selected </a:t>
            </a:r>
            <a:r>
              <a:rPr lang="en-US" sz="1300" dirty="0">
                <a:solidFill>
                  <a:srgbClr val="606771"/>
                </a:solidFill>
              </a:rPr>
              <a:t>Partners</a:t>
            </a:r>
            <a:r>
              <a:rPr lang="en-US" sz="1300" b="0" i="0" u="none" strike="noStrike" baseline="0" dirty="0">
                <a:solidFill>
                  <a:srgbClr val="606771"/>
                </a:solidFill>
              </a:rPr>
              <a:t>.</a:t>
            </a:r>
          </a:p>
          <a:p>
            <a:pPr marR="2000"/>
            <a:r>
              <a:rPr lang="en-US" sz="1300" dirty="0">
                <a:solidFill>
                  <a:srgbClr val="606771"/>
                </a:solidFill>
              </a:rPr>
              <a:t>Ability to sort, export tags.</a:t>
            </a:r>
            <a:br>
              <a:rPr lang="en-US" sz="1200" b="0" i="0" u="none" strike="noStrike" baseline="0" dirty="0">
                <a:solidFill>
                  <a:srgbClr val="606771"/>
                </a:solidFill>
              </a:rPr>
            </a:br>
            <a:endParaRPr lang="en-US" sz="1200" dirty="0"/>
          </a:p>
        </p:txBody>
      </p:sp>
      <p:pic>
        <p:nvPicPr>
          <p:cNvPr id="7" name="Picture 6">
            <a:extLst>
              <a:ext uri="{FF2B5EF4-FFF2-40B4-BE49-F238E27FC236}">
                <a16:creationId xmlns:a16="http://schemas.microsoft.com/office/drawing/2014/main" id="{C59D24E9-06C0-E646-20A3-A9CD59F5B8FB}"/>
              </a:ext>
            </a:extLst>
          </p:cNvPr>
          <p:cNvPicPr>
            <a:picLocks noChangeAspect="1"/>
          </p:cNvPicPr>
          <p:nvPr/>
        </p:nvPicPr>
        <p:blipFill>
          <a:blip r:embed="rId4"/>
          <a:stretch>
            <a:fillRect/>
          </a:stretch>
        </p:blipFill>
        <p:spPr>
          <a:xfrm>
            <a:off x="598503" y="911177"/>
            <a:ext cx="10792129" cy="3817152"/>
          </a:xfrm>
          <a:prstGeom prst="rect">
            <a:avLst/>
          </a:prstGeom>
        </p:spPr>
      </p:pic>
    </p:spTree>
    <p:extLst>
      <p:ext uri="{BB962C8B-B14F-4D97-AF65-F5344CB8AC3E}">
        <p14:creationId xmlns:p14="http://schemas.microsoft.com/office/powerpoint/2010/main" val="3937413718"/>
      </p:ext>
    </p:extLst>
  </p:cSld>
  <p:clrMapOvr>
    <a:masterClrMapping/>
  </p:clrMapOvr>
  <p:extLst>
    <p:ext uri="{6950BFC3-D8DA-4A85-94F7-54DA5524770B}">
      <p188:commentRel xmlns:p188="http://schemas.microsoft.com/office/powerpoint/2018/8/main" r:id="rId3"/>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D3AB6-79DC-D2D8-C066-4110574FE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C10E4-CBA1-A558-9AE2-DE06C12C76A4}"/>
              </a:ext>
            </a:extLst>
          </p:cNvPr>
          <p:cNvSpPr>
            <a:spLocks noGrp="1"/>
          </p:cNvSpPr>
          <p:nvPr>
            <p:ph type="ctrTitle"/>
          </p:nvPr>
        </p:nvSpPr>
        <p:spPr>
          <a:xfrm>
            <a:off x="1524000" y="2351686"/>
            <a:ext cx="9144000" cy="2387600"/>
          </a:xfrm>
        </p:spPr>
        <p:txBody>
          <a:bodyPr/>
          <a:lstStyle/>
          <a:p>
            <a:r>
              <a:rPr lang="en-US" dirty="0"/>
              <a:t>Out of Scope </a:t>
            </a:r>
          </a:p>
        </p:txBody>
      </p:sp>
      <p:sp>
        <p:nvSpPr>
          <p:cNvPr id="8" name="Date Placeholder 7">
            <a:extLst>
              <a:ext uri="{FF2B5EF4-FFF2-40B4-BE49-F238E27FC236}">
                <a16:creationId xmlns:a16="http://schemas.microsoft.com/office/drawing/2014/main" id="{815DD766-3DDE-2266-293B-4903F4334AEE}"/>
              </a:ext>
            </a:extLst>
          </p:cNvPr>
          <p:cNvSpPr>
            <a:spLocks noGrp="1"/>
          </p:cNvSpPr>
          <p:nvPr>
            <p:ph type="dt" sz="half" idx="10"/>
          </p:nvPr>
        </p:nvSpPr>
        <p:spPr/>
        <p:txBody>
          <a:bodyPr/>
          <a:lstStyle/>
          <a:p>
            <a:fld id="{5948895C-732D-4B88-B65C-5D83E3577007}" type="datetime1">
              <a:rPr lang="en-US" smtClean="0"/>
              <a:t>6/21/2025</a:t>
            </a:fld>
            <a:endParaRPr lang="en-US"/>
          </a:p>
        </p:txBody>
      </p:sp>
      <p:sp>
        <p:nvSpPr>
          <p:cNvPr id="9" name="Slide Number Placeholder 8">
            <a:extLst>
              <a:ext uri="{FF2B5EF4-FFF2-40B4-BE49-F238E27FC236}">
                <a16:creationId xmlns:a16="http://schemas.microsoft.com/office/drawing/2014/main" id="{DCBE5510-3D63-790A-BAF2-8155124F2C8B}"/>
              </a:ext>
            </a:extLst>
          </p:cNvPr>
          <p:cNvSpPr>
            <a:spLocks noGrp="1"/>
          </p:cNvSpPr>
          <p:nvPr>
            <p:ph type="sldNum" sz="quarter" idx="12"/>
          </p:nvPr>
        </p:nvSpPr>
        <p:spPr/>
        <p:txBody>
          <a:bodyPr/>
          <a:lstStyle/>
          <a:p>
            <a:fld id="{330EA680-D336-4FF7-8B7A-9848BB0A1C32}" type="slidenum">
              <a:rPr lang="en-US" smtClean="0"/>
              <a:t>64</a:t>
            </a:fld>
            <a:endParaRPr lang="en-US"/>
          </a:p>
        </p:txBody>
      </p:sp>
      <p:pic>
        <p:nvPicPr>
          <p:cNvPr id="10" name="Picture 9" descr="GreenCircle Certified">
            <a:extLst>
              <a:ext uri="{FF2B5EF4-FFF2-40B4-BE49-F238E27FC236}">
                <a16:creationId xmlns:a16="http://schemas.microsoft.com/office/drawing/2014/main" id="{1C0CAF49-ED74-4F11-5CFE-2D47A9AB7A6E}"/>
              </a:ext>
            </a:extLst>
          </p:cNvPr>
          <p:cNvPicPr>
            <a:picLocks noChangeAspect="1"/>
          </p:cNvPicPr>
          <p:nvPr/>
        </p:nvPicPr>
        <p:blipFill>
          <a:blip r:embed="rId4"/>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3772603235"/>
      </p:ext>
    </p:extLst>
  </p:cSld>
  <p:clrMapOvr>
    <a:masterClrMapping/>
  </p:clrMapOvr>
  <p:extLst>
    <p:ext uri="{6950BFC3-D8DA-4A85-94F7-54DA5524770B}">
      <p188:commentRel xmlns:p188="http://schemas.microsoft.com/office/powerpoint/2018/8/main" r:id="rId3"/>
    </p:ext>
  </p:extLs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DF033-B05F-CD69-1F4A-A77171C7943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0CFBCA-F0E2-720C-F72D-B4018C6AD50E}"/>
              </a:ext>
            </a:extLst>
          </p:cNvPr>
          <p:cNvSpPr>
            <a:spLocks noGrp="1"/>
          </p:cNvSpPr>
          <p:nvPr>
            <p:ph sz="half" idx="1"/>
          </p:nvPr>
        </p:nvSpPr>
        <p:spPr>
          <a:xfrm>
            <a:off x="598503" y="782425"/>
            <a:ext cx="11017391" cy="5394538"/>
          </a:xfrm>
        </p:spPr>
        <p:txBody>
          <a:bodyPr>
            <a:normAutofit/>
          </a:bodyPr>
          <a:lstStyle/>
          <a:p>
            <a:pPr>
              <a:buNone/>
            </a:pPr>
            <a:r>
              <a:rPr lang="en-US" sz="1200" dirty="0"/>
              <a:t>The following items are not included in the initial scope of design and implementation:</a:t>
            </a:r>
          </a:p>
          <a:p>
            <a:pPr>
              <a:buFont typeface="+mj-lt"/>
              <a:buAutoNum type="arabicPeriod"/>
            </a:pPr>
            <a:r>
              <a:rPr lang="en-US" sz="1200" dirty="0"/>
              <a:t>Notifications &amp; Alerts</a:t>
            </a:r>
          </a:p>
          <a:p>
            <a:pPr marL="742950" lvl="1" indent="-285750">
              <a:buFont typeface="+mj-lt"/>
              <a:buAutoNum type="arabicPeriod"/>
            </a:pPr>
            <a:r>
              <a:rPr lang="en-US" sz="1200" dirty="0"/>
              <a:t>The system will not deliver notifications or real-time updates to users during this phase.</a:t>
            </a:r>
          </a:p>
          <a:p>
            <a:pPr>
              <a:buFont typeface="+mj-lt"/>
              <a:buAutoNum type="arabicPeriod"/>
            </a:pPr>
            <a:r>
              <a:rPr lang="en-US" sz="1200" dirty="0"/>
              <a:t>Undocumented Features</a:t>
            </a:r>
          </a:p>
          <a:p>
            <a:pPr marL="742950" lvl="1" indent="-285750">
              <a:buFont typeface="+mj-lt"/>
              <a:buAutoNum type="arabicPeriod"/>
            </a:pPr>
            <a:r>
              <a:rPr lang="en-US" sz="1200" dirty="0"/>
              <a:t>Any user stories or functional requirements not explicitly captured in this document or its supporting requirement documents are out of scope.</a:t>
            </a:r>
          </a:p>
          <a:p>
            <a:pPr>
              <a:buFont typeface="+mj-lt"/>
              <a:buAutoNum type="arabicPeriod"/>
            </a:pPr>
            <a:r>
              <a:rPr lang="en-US" sz="1200" dirty="0"/>
              <a:t>Clone Feature Enhancements</a:t>
            </a:r>
          </a:p>
          <a:p>
            <a:pPr marL="742950" lvl="1" indent="-285750">
              <a:buFont typeface="+mj-lt"/>
              <a:buAutoNum type="arabicPeriod"/>
            </a:pPr>
            <a:r>
              <a:rPr lang="en-US" sz="1200" dirty="0"/>
              <a:t>The "Clone" functionality — including selective field carry-over (e.g., Certification Type, Company, Dates, Location, Country, Company Contact) — will not be implemented in this phase.</a:t>
            </a:r>
          </a:p>
          <a:p>
            <a:pPr>
              <a:buFont typeface="+mj-lt"/>
              <a:buAutoNum type="arabicPeriod"/>
            </a:pPr>
            <a:r>
              <a:rPr lang="en-US" sz="1200" strike="sngStrike" dirty="0"/>
              <a:t>Bulk Upload for Product Identifiers</a:t>
            </a:r>
          </a:p>
          <a:p>
            <a:pPr marL="742950" lvl="1" indent="-285750">
              <a:buFont typeface="+mj-lt"/>
              <a:buAutoNum type="arabicPeriod"/>
            </a:pPr>
            <a:r>
              <a:rPr lang="en-US" sz="1200" strike="sngStrike" dirty="0"/>
              <a:t>Bulk upload capabilities (e.g., ASIN, UPC, GTIN, EAN) file upload will not be available. The current scope excludes any listing or association management of product identifiers under certifications.</a:t>
            </a:r>
          </a:p>
          <a:p>
            <a:pPr>
              <a:buFont typeface="+mj-lt"/>
              <a:buAutoNum type="arabicPeriod"/>
            </a:pPr>
            <a:r>
              <a:rPr lang="en-US" sz="1200" strike="sngStrike" dirty="0"/>
              <a:t>Product-Specific Fields</a:t>
            </a:r>
          </a:p>
          <a:p>
            <a:pPr marL="742950" lvl="1" indent="-285750">
              <a:buFont typeface="+mj-lt"/>
              <a:buAutoNum type="arabicPeriod"/>
            </a:pPr>
            <a:r>
              <a:rPr lang="en-US" sz="1200" strike="sngStrike" dirty="0"/>
              <a:t>Additional data fields specific to products associated with ASINs (or similar identifiers) will not be included, though they may be shown in wireframes for planning purposes.</a:t>
            </a:r>
          </a:p>
          <a:p>
            <a:pPr>
              <a:buFont typeface="+mj-lt"/>
              <a:buAutoNum type="arabicPeriod"/>
            </a:pPr>
            <a:r>
              <a:rPr lang="en-US" sz="1200" dirty="0"/>
              <a:t>Customized Reporting Widgets</a:t>
            </a:r>
          </a:p>
          <a:p>
            <a:pPr marL="742950" lvl="1" indent="-285750">
              <a:buFont typeface="+mj-lt"/>
              <a:buAutoNum type="arabicPeriod"/>
            </a:pPr>
            <a:r>
              <a:rPr lang="en-US" sz="1200" dirty="0"/>
              <a:t>Customizable dashboard widgets, including the ability for external users to view data specific to their profiles or needs, are out of scope.</a:t>
            </a:r>
          </a:p>
          <a:p>
            <a:pPr>
              <a:buFont typeface="+mj-lt"/>
              <a:buAutoNum type="arabicPeriod"/>
            </a:pPr>
            <a:r>
              <a:rPr lang="en-US" sz="1200" dirty="0"/>
              <a:t>Third-Party API Integrations</a:t>
            </a:r>
          </a:p>
          <a:p>
            <a:pPr marL="742950" lvl="1" indent="-285750">
              <a:buFont typeface="+mj-lt"/>
              <a:buAutoNum type="arabicPeriod"/>
            </a:pPr>
            <a:r>
              <a:rPr lang="en-US" sz="1200" dirty="0"/>
              <a:t>Integrations with third-party vendors or clients beyond those explicitly defined are excluded from the initial scope.</a:t>
            </a:r>
          </a:p>
        </p:txBody>
      </p:sp>
      <p:sp>
        <p:nvSpPr>
          <p:cNvPr id="4" name="Date Placeholder 3">
            <a:extLst>
              <a:ext uri="{FF2B5EF4-FFF2-40B4-BE49-F238E27FC236}">
                <a16:creationId xmlns:a16="http://schemas.microsoft.com/office/drawing/2014/main" id="{AF8C84C5-D12D-B6C4-B206-420E550AAA6F}"/>
              </a:ext>
            </a:extLst>
          </p:cNvPr>
          <p:cNvSpPr>
            <a:spLocks noGrp="1"/>
          </p:cNvSpPr>
          <p:nvPr>
            <p:ph type="dt" sz="half" idx="10"/>
          </p:nvPr>
        </p:nvSpPr>
        <p:spPr/>
        <p:txBody>
          <a:bodyPr/>
          <a:lstStyle/>
          <a:p>
            <a:fld id="{F0056A89-B657-4E56-81EA-47AEC42B3D30}" type="datetime1">
              <a:rPr lang="en-US" smtClean="0"/>
              <a:t>6/21/2025</a:t>
            </a:fld>
            <a:endParaRPr lang="en-US"/>
          </a:p>
        </p:txBody>
      </p:sp>
      <p:sp>
        <p:nvSpPr>
          <p:cNvPr id="5" name="Slide Number Placeholder 4">
            <a:extLst>
              <a:ext uri="{FF2B5EF4-FFF2-40B4-BE49-F238E27FC236}">
                <a16:creationId xmlns:a16="http://schemas.microsoft.com/office/drawing/2014/main" id="{526E6D04-E1FB-3B2E-8583-DDE9B7C01CB3}"/>
              </a:ext>
            </a:extLst>
          </p:cNvPr>
          <p:cNvSpPr>
            <a:spLocks noGrp="1"/>
          </p:cNvSpPr>
          <p:nvPr>
            <p:ph type="sldNum" sz="quarter" idx="12"/>
          </p:nvPr>
        </p:nvSpPr>
        <p:spPr/>
        <p:txBody>
          <a:bodyPr/>
          <a:lstStyle/>
          <a:p>
            <a:fld id="{330EA680-D336-4FF7-8B7A-9848BB0A1C32}" type="slidenum">
              <a:rPr lang="en-US" smtClean="0"/>
              <a:t>65</a:t>
            </a:fld>
            <a:endParaRPr lang="en-US"/>
          </a:p>
        </p:txBody>
      </p:sp>
      <p:sp>
        <p:nvSpPr>
          <p:cNvPr id="6" name="Title 5">
            <a:extLst>
              <a:ext uri="{FF2B5EF4-FFF2-40B4-BE49-F238E27FC236}">
                <a16:creationId xmlns:a16="http://schemas.microsoft.com/office/drawing/2014/main" id="{018492AF-5746-CA9B-9F58-091C688146FB}"/>
              </a:ext>
            </a:extLst>
          </p:cNvPr>
          <p:cNvSpPr>
            <a:spLocks noGrp="1"/>
          </p:cNvSpPr>
          <p:nvPr>
            <p:ph type="title"/>
          </p:nvPr>
        </p:nvSpPr>
        <p:spPr/>
        <p:txBody>
          <a:bodyPr/>
          <a:lstStyle/>
          <a:p>
            <a:r>
              <a:rPr lang="en-US" sz="2800" dirty="0"/>
              <a:t>Out of Scope – Initial Design Phase</a:t>
            </a:r>
          </a:p>
        </p:txBody>
      </p:sp>
      <p:sp>
        <p:nvSpPr>
          <p:cNvPr id="3" name="TextBox 2">
            <a:extLst>
              <a:ext uri="{FF2B5EF4-FFF2-40B4-BE49-F238E27FC236}">
                <a16:creationId xmlns:a16="http://schemas.microsoft.com/office/drawing/2014/main" id="{FAA9B783-E818-018F-50A9-F00C8AE05BE3}"/>
              </a:ext>
            </a:extLst>
          </p:cNvPr>
          <p:cNvSpPr txBox="1"/>
          <p:nvPr/>
        </p:nvSpPr>
        <p:spPr>
          <a:xfrm>
            <a:off x="598503" y="5807631"/>
            <a:ext cx="9976419" cy="276999"/>
          </a:xfrm>
          <a:prstGeom prst="rect">
            <a:avLst/>
          </a:prstGeom>
          <a:noFill/>
        </p:spPr>
        <p:txBody>
          <a:bodyPr wrap="square" rtlCol="0">
            <a:spAutoFit/>
          </a:bodyPr>
          <a:lstStyle/>
          <a:p>
            <a:r>
              <a:rPr lang="en-US" sz="1200" dirty="0">
                <a:solidFill>
                  <a:srgbClr val="C00000"/>
                </a:solidFill>
                <a:latin typeface="Century Gothic" panose="020B0502020202020204" pitchFamily="34" charset="0"/>
              </a:rPr>
              <a:t>*Note: This will be amended, based on any changes to the requirements. </a:t>
            </a:r>
          </a:p>
        </p:txBody>
      </p:sp>
      <p:sp>
        <p:nvSpPr>
          <p:cNvPr id="7" name="TextBox 6">
            <a:extLst>
              <a:ext uri="{FF2B5EF4-FFF2-40B4-BE49-F238E27FC236}">
                <a16:creationId xmlns:a16="http://schemas.microsoft.com/office/drawing/2014/main" id="{EF848A62-AE47-9728-5BC3-9C82A6A49C1D}"/>
              </a:ext>
            </a:extLst>
          </p:cNvPr>
          <p:cNvSpPr txBox="1"/>
          <p:nvPr/>
        </p:nvSpPr>
        <p:spPr>
          <a:xfrm>
            <a:off x="512637" y="954566"/>
            <a:ext cx="8487706" cy="2862322"/>
          </a:xfrm>
          <a:prstGeom prst="rect">
            <a:avLst/>
          </a:prstGeom>
          <a:solidFill>
            <a:schemeClr val="bg1">
              <a:lumMod val="95000"/>
            </a:schemeClr>
          </a:solidFill>
        </p:spPr>
        <p:txBody>
          <a:bodyPr wrap="square" rtlCol="0">
            <a:spAutoFit/>
          </a:bodyPr>
          <a:lstStyle/>
          <a:p>
            <a:pPr algn="ctr"/>
            <a:endParaRPr lang="en-US" sz="6000" b="1" dirty="0">
              <a:solidFill>
                <a:srgbClr val="FF0000"/>
              </a:solidFill>
            </a:endParaRPr>
          </a:p>
          <a:p>
            <a:pPr algn="ctr"/>
            <a:r>
              <a:rPr lang="en-US" sz="6000" b="1" dirty="0">
                <a:solidFill>
                  <a:srgbClr val="FF0000"/>
                </a:solidFill>
              </a:rPr>
              <a:t>Updates pending </a:t>
            </a:r>
          </a:p>
          <a:p>
            <a:endParaRPr lang="en-US" sz="6000" b="1" dirty="0">
              <a:solidFill>
                <a:srgbClr val="FF0000"/>
              </a:solidFill>
            </a:endParaRPr>
          </a:p>
        </p:txBody>
      </p:sp>
    </p:spTree>
    <p:extLst>
      <p:ext uri="{BB962C8B-B14F-4D97-AF65-F5344CB8AC3E}">
        <p14:creationId xmlns:p14="http://schemas.microsoft.com/office/powerpoint/2010/main" val="3708942547"/>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82370</TotalTime>
  <Words>13777</Words>
  <Application>Microsoft Office PowerPoint</Application>
  <PresentationFormat>Widescreen</PresentationFormat>
  <Paragraphs>1464</Paragraphs>
  <Slides>65</Slides>
  <Notes>59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65</vt:i4>
      </vt:variant>
    </vt:vector>
  </HeadingPairs>
  <TitlesOfParts>
    <vt:vector size="75" baseType="lpstr">
      <vt:lpstr>Aptos</vt:lpstr>
      <vt:lpstr>Arial</vt:lpstr>
      <vt:lpstr>Arial Narrow</vt:lpstr>
      <vt:lpstr>Calibri</vt:lpstr>
      <vt:lpstr>Century Gothic</vt:lpstr>
      <vt:lpstr>Courier New</vt:lpstr>
      <vt:lpstr>Segoe UI</vt:lpstr>
      <vt:lpstr>Symbol</vt:lpstr>
      <vt:lpstr>Wingdings</vt:lpstr>
      <vt:lpstr>office theme</vt:lpstr>
      <vt:lpstr>GreenCircle Certified  Database Project</vt:lpstr>
      <vt:lpstr>Project Timeline Updates</vt:lpstr>
      <vt:lpstr>GreenCircle Certified Database Site Map</vt:lpstr>
      <vt:lpstr>User Stories</vt:lpstr>
      <vt:lpstr>GCC: User Roles</vt:lpstr>
      <vt:lpstr>User Stories – Public User</vt:lpstr>
      <vt:lpstr>User Stories – Public User</vt:lpstr>
      <vt:lpstr>User Stories – External User (Client)</vt:lpstr>
      <vt:lpstr>User Stories – External User (Client)</vt:lpstr>
      <vt:lpstr>User Stories – External User (Partner)</vt:lpstr>
      <vt:lpstr>User Stories – External User (Partner)</vt:lpstr>
      <vt:lpstr>User Stories – GCC Analyst</vt:lpstr>
      <vt:lpstr>User Stories – GCC Analyst</vt:lpstr>
      <vt:lpstr>User Stories - Admin</vt:lpstr>
      <vt:lpstr>User Stories - Admin</vt:lpstr>
      <vt:lpstr>Login &amp; Notification Screens</vt:lpstr>
      <vt:lpstr>Notifications &amp; Alerts</vt:lpstr>
      <vt:lpstr>Notifications &amp; Alerts</vt:lpstr>
      <vt:lpstr>Wireframe Notes – 6.1 – Login</vt:lpstr>
      <vt:lpstr>Wireframe Notes – 6.2 – Forgot Password</vt:lpstr>
      <vt:lpstr>Wireframe Notes – 6.3 – Password Reset Confirmation</vt:lpstr>
      <vt:lpstr>Wireframe Notes – 6.4 – Reset Password</vt:lpstr>
      <vt:lpstr>Wireframe Notes – 6.5 – Password Reset Successful</vt:lpstr>
      <vt:lpstr>Wireframe Notes – 6.6 – 2FA Authenticate OTP</vt:lpstr>
      <vt:lpstr>Wireframe Notes – 6.7 – Sign-up Registration (out of Scope)</vt:lpstr>
      <vt:lpstr>Wireframes</vt:lpstr>
      <vt:lpstr>Wireframe Notes – 1.0 - Certificate List (Public Page)</vt:lpstr>
      <vt:lpstr>Wireframe Notes – 1.0 - Certificate List (Public Page) – Alt View 1</vt:lpstr>
      <vt:lpstr>Wireframe Notes – 1.0 - Certificate List (Public Page) – Alt View 2</vt:lpstr>
      <vt:lpstr>Wireframe Notes – 1.0 - Certificate List (Public Page)</vt:lpstr>
      <vt:lpstr>Wireframe Notes – 1.1 – Single Certificate View </vt:lpstr>
      <vt:lpstr>Wireframe Notes – 1.1 – Single Certificate View (Mobile View) </vt:lpstr>
      <vt:lpstr>Wireframe Notes – 2.0 – Home (Dashboard)</vt:lpstr>
      <vt:lpstr>Wireframe Notes – 3.0 – Certificate List (External)</vt:lpstr>
      <vt:lpstr>Wireframe Notes – 3.0 – Certificates List (External)</vt:lpstr>
      <vt:lpstr>Wireframe Notes – 3.1 – External Single Certificate View</vt:lpstr>
      <vt:lpstr>Wireframe Notes – 3.1 – External Single Certificate View</vt:lpstr>
      <vt:lpstr>Wireframe Notes – 3.2 – Certificate List (GCC Only)</vt:lpstr>
      <vt:lpstr>Wireframe Notes – 3.2 – Certificate List (GCC Only)</vt:lpstr>
      <vt:lpstr>Wireframe Notes – 3.3 – Add Certificate (GCC Only)</vt:lpstr>
      <vt:lpstr>Wireframe Notes – 3.3 – Add Certificate (GCC Only)</vt:lpstr>
      <vt:lpstr>Wireframe Notes – 3.3 – Products </vt:lpstr>
      <vt:lpstr>Wireframe Notes – 3.3 – Add Certificate (GCC Only)</vt:lpstr>
      <vt:lpstr>Wireframe Notes – 3.4 – Edit/Delete Certificate (GCC Only)</vt:lpstr>
      <vt:lpstr>Wireframe Notes – 5.0 – Companies &amp; Products</vt:lpstr>
      <vt:lpstr>Wireframe Notes – 5.1 – Companies</vt:lpstr>
      <vt:lpstr>Wireframe Notes – 5.2 – Product Types</vt:lpstr>
      <vt:lpstr>Wireframe Notes – 7.0 – Administration</vt:lpstr>
      <vt:lpstr>Wireframe Notes – 7.1 – Role Management</vt:lpstr>
      <vt:lpstr>Wireframe Notes – 7.1 – Role Management</vt:lpstr>
      <vt:lpstr>Wireframe Notes – 7.1.1 – User Management</vt:lpstr>
      <vt:lpstr>Wireframe Notes – 7.1.1 – Add User</vt:lpstr>
      <vt:lpstr>Wireframe Notes – 7.1.2 – Edit/Delete User</vt:lpstr>
      <vt:lpstr>Wireframe Notes – 7.2 – Configuration Settings</vt:lpstr>
      <vt:lpstr>Wireframe Notes – 7.2.2 – Google Analytics</vt:lpstr>
      <vt:lpstr>Wireframe Notes – 7.3 – API Management (Draft)</vt:lpstr>
      <vt:lpstr>Wireframe Notes – 7.3 – Amazon API  Integration</vt:lpstr>
      <vt:lpstr>Wireframe Notes – 7.4.1 – Certificate Types</vt:lpstr>
      <vt:lpstr>Wireframe Notes – 7.5.1 – Certification Field Management</vt:lpstr>
      <vt:lpstr>Wireframe Notes – 5.2 – Products </vt:lpstr>
      <vt:lpstr>Wireframe Notes – 7.5.2 – CSF Attributes</vt:lpstr>
      <vt:lpstr>Wireframe Notes – 7.5.3 – Tags</vt:lpstr>
      <vt:lpstr>Wireframe Notes – 7.5.4 – Partners</vt:lpstr>
      <vt:lpstr>Out of Scope </vt:lpstr>
      <vt:lpstr>Out of Scope – Initial Design Phase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Shawn West</dc:creator>
  <cp:lastModifiedBy>Shawn West</cp:lastModifiedBy>
  <cp:revision>15</cp:revision>
  <cp:lastPrinted>2025-06-16T04:02:37Z</cp:lastPrinted>
  <dcterms:created xsi:type="dcterms:W3CDTF">2025-01-22T16:07:21Z</dcterms:created>
  <dcterms:modified xsi:type="dcterms:W3CDTF">2025-06-22T03:26:05Z</dcterms:modified>
</cp:coreProperties>
</file>